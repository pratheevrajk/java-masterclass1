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66"/>
  </p:notesMasterIdLst>
  <p:sldIdLst>
    <p:sldId id="279" r:id="rId2"/>
    <p:sldId id="280" r:id="rId3"/>
    <p:sldId id="286" r:id="rId4"/>
    <p:sldId id="294" r:id="rId5"/>
    <p:sldId id="287" r:id="rId6"/>
    <p:sldId id="288" r:id="rId7"/>
    <p:sldId id="289" r:id="rId8"/>
    <p:sldId id="290" r:id="rId9"/>
    <p:sldId id="291" r:id="rId10"/>
    <p:sldId id="292" r:id="rId11"/>
    <p:sldId id="293" r:id="rId12"/>
    <p:sldId id="284" r:id="rId13"/>
    <p:sldId id="285" r:id="rId14"/>
    <p:sldId id="295" r:id="rId15"/>
    <p:sldId id="296" r:id="rId16"/>
    <p:sldId id="297" r:id="rId17"/>
    <p:sldId id="298" r:id="rId18"/>
    <p:sldId id="299" r:id="rId19"/>
    <p:sldId id="281" r:id="rId20"/>
    <p:sldId id="300" r:id="rId21"/>
    <p:sldId id="301" r:id="rId22"/>
    <p:sldId id="302" r:id="rId23"/>
    <p:sldId id="303" r:id="rId24"/>
    <p:sldId id="304" r:id="rId25"/>
    <p:sldId id="305" r:id="rId26"/>
    <p:sldId id="306" r:id="rId27"/>
    <p:sldId id="307" r:id="rId28"/>
    <p:sldId id="308" r:id="rId29"/>
    <p:sldId id="309" r:id="rId30"/>
    <p:sldId id="310" r:id="rId31"/>
    <p:sldId id="311" r:id="rId32"/>
    <p:sldId id="312" r:id="rId33"/>
    <p:sldId id="313" r:id="rId34"/>
    <p:sldId id="314" r:id="rId35"/>
    <p:sldId id="315" r:id="rId36"/>
    <p:sldId id="316" r:id="rId37"/>
    <p:sldId id="317" r:id="rId38"/>
    <p:sldId id="318" r:id="rId39"/>
    <p:sldId id="319" r:id="rId40"/>
    <p:sldId id="320" r:id="rId41"/>
    <p:sldId id="321" r:id="rId42"/>
    <p:sldId id="322" r:id="rId43"/>
    <p:sldId id="323" r:id="rId44"/>
    <p:sldId id="282" r:id="rId45"/>
    <p:sldId id="283" r:id="rId46"/>
    <p:sldId id="324" r:id="rId47"/>
    <p:sldId id="325" r:id="rId48"/>
    <p:sldId id="326" r:id="rId49"/>
    <p:sldId id="327" r:id="rId50"/>
    <p:sldId id="328" r:id="rId51"/>
    <p:sldId id="329" r:id="rId52"/>
    <p:sldId id="330" r:id="rId53"/>
    <p:sldId id="331" r:id="rId54"/>
    <p:sldId id="332" r:id="rId55"/>
    <p:sldId id="333" r:id="rId56"/>
    <p:sldId id="334" r:id="rId57"/>
    <p:sldId id="335" r:id="rId58"/>
    <p:sldId id="336" r:id="rId59"/>
    <p:sldId id="277" r:id="rId60"/>
    <p:sldId id="337" r:id="rId61"/>
    <p:sldId id="278" r:id="rId62"/>
    <p:sldId id="338" r:id="rId63"/>
    <p:sldId id="339" r:id="rId64"/>
    <p:sldId id="340" r:id="rId65"/>
  </p:sldIdLst>
  <p:sldSz cx="36576000" cy="20574000"/>
  <p:notesSz cx="6858000" cy="9144000"/>
  <p:defaultTextStyle>
    <a:defPPr marL="0" marR="0" indent="0" algn="l" defTabSz="1369222" rtl="0" fontAlgn="auto" latinLnBrk="1" hangingPunct="0">
      <a:lnSpc>
        <a:spcPct val="100000"/>
      </a:lnSpc>
      <a:spcBef>
        <a:spcPts val="0"/>
      </a:spcBef>
      <a:spcAft>
        <a:spcPts val="0"/>
      </a:spcAft>
      <a:buClrTx/>
      <a:buSzTx/>
      <a:buFontTx/>
      <a:buNone/>
      <a:tabLst/>
      <a:defRPr kumimoji="0" sz="2696" b="0" i="0" u="none" strike="noStrike" cap="none" spc="0" normalizeH="0" baseline="0">
        <a:ln>
          <a:noFill/>
        </a:ln>
        <a:solidFill>
          <a:srgbClr val="000000"/>
        </a:solidFill>
        <a:effectLst/>
        <a:uFillTx/>
      </a:defRPr>
    </a:defPPr>
    <a:lvl1pPr marL="0" marR="0" indent="0" algn="ctr" defTabSz="1236104" rtl="0" fontAlgn="auto" latinLnBrk="0" hangingPunct="0">
      <a:lnSpc>
        <a:spcPct val="100000"/>
      </a:lnSpc>
      <a:spcBef>
        <a:spcPts val="0"/>
      </a:spcBef>
      <a:spcAft>
        <a:spcPts val="0"/>
      </a:spcAft>
      <a:buClrTx/>
      <a:buSzTx/>
      <a:buFontTx/>
      <a:buNone/>
      <a:tabLst/>
      <a:defRPr kumimoji="0" sz="7488" b="0" i="0" u="none" strike="noStrike" cap="none" spc="0" normalizeH="0" baseline="0">
        <a:ln>
          <a:noFill/>
        </a:ln>
        <a:solidFill>
          <a:srgbClr val="000000"/>
        </a:solidFill>
        <a:effectLst/>
        <a:uFillTx/>
        <a:latin typeface="+mn-lt"/>
        <a:ea typeface="+mn-ea"/>
        <a:cs typeface="+mn-cs"/>
        <a:sym typeface="Helvetica Light"/>
      </a:defRPr>
    </a:lvl1pPr>
    <a:lvl2pPr marL="0" marR="0" indent="342306" algn="ctr" defTabSz="1236104" rtl="0" fontAlgn="auto" latinLnBrk="0" hangingPunct="0">
      <a:lnSpc>
        <a:spcPct val="100000"/>
      </a:lnSpc>
      <a:spcBef>
        <a:spcPts val="0"/>
      </a:spcBef>
      <a:spcAft>
        <a:spcPts val="0"/>
      </a:spcAft>
      <a:buClrTx/>
      <a:buSzTx/>
      <a:buFontTx/>
      <a:buNone/>
      <a:tabLst/>
      <a:defRPr kumimoji="0" sz="7488" b="0" i="0" u="none" strike="noStrike" cap="none" spc="0" normalizeH="0" baseline="0">
        <a:ln>
          <a:noFill/>
        </a:ln>
        <a:solidFill>
          <a:srgbClr val="000000"/>
        </a:solidFill>
        <a:effectLst/>
        <a:uFillTx/>
        <a:latin typeface="+mn-lt"/>
        <a:ea typeface="+mn-ea"/>
        <a:cs typeface="+mn-cs"/>
        <a:sym typeface="Helvetica Light"/>
      </a:defRPr>
    </a:lvl2pPr>
    <a:lvl3pPr marL="0" marR="0" indent="684612" algn="ctr" defTabSz="1236104" rtl="0" fontAlgn="auto" latinLnBrk="0" hangingPunct="0">
      <a:lnSpc>
        <a:spcPct val="100000"/>
      </a:lnSpc>
      <a:spcBef>
        <a:spcPts val="0"/>
      </a:spcBef>
      <a:spcAft>
        <a:spcPts val="0"/>
      </a:spcAft>
      <a:buClrTx/>
      <a:buSzTx/>
      <a:buFontTx/>
      <a:buNone/>
      <a:tabLst/>
      <a:defRPr kumimoji="0" sz="7488" b="0" i="0" u="none" strike="noStrike" cap="none" spc="0" normalizeH="0" baseline="0">
        <a:ln>
          <a:noFill/>
        </a:ln>
        <a:solidFill>
          <a:srgbClr val="000000"/>
        </a:solidFill>
        <a:effectLst/>
        <a:uFillTx/>
        <a:latin typeface="+mn-lt"/>
        <a:ea typeface="+mn-ea"/>
        <a:cs typeface="+mn-cs"/>
        <a:sym typeface="Helvetica Light"/>
      </a:defRPr>
    </a:lvl3pPr>
    <a:lvl4pPr marL="0" marR="0" indent="1026916" algn="ctr" defTabSz="1236104" rtl="0" fontAlgn="auto" latinLnBrk="0" hangingPunct="0">
      <a:lnSpc>
        <a:spcPct val="100000"/>
      </a:lnSpc>
      <a:spcBef>
        <a:spcPts val="0"/>
      </a:spcBef>
      <a:spcAft>
        <a:spcPts val="0"/>
      </a:spcAft>
      <a:buClrTx/>
      <a:buSzTx/>
      <a:buFontTx/>
      <a:buNone/>
      <a:tabLst/>
      <a:defRPr kumimoji="0" sz="7488" b="0" i="0" u="none" strike="noStrike" cap="none" spc="0" normalizeH="0" baseline="0">
        <a:ln>
          <a:noFill/>
        </a:ln>
        <a:solidFill>
          <a:srgbClr val="000000"/>
        </a:solidFill>
        <a:effectLst/>
        <a:uFillTx/>
        <a:latin typeface="+mn-lt"/>
        <a:ea typeface="+mn-ea"/>
        <a:cs typeface="+mn-cs"/>
        <a:sym typeface="Helvetica Light"/>
      </a:defRPr>
    </a:lvl4pPr>
    <a:lvl5pPr marL="0" marR="0" indent="1369222" algn="ctr" defTabSz="1236104" rtl="0" fontAlgn="auto" latinLnBrk="0" hangingPunct="0">
      <a:lnSpc>
        <a:spcPct val="100000"/>
      </a:lnSpc>
      <a:spcBef>
        <a:spcPts val="0"/>
      </a:spcBef>
      <a:spcAft>
        <a:spcPts val="0"/>
      </a:spcAft>
      <a:buClrTx/>
      <a:buSzTx/>
      <a:buFontTx/>
      <a:buNone/>
      <a:tabLst/>
      <a:defRPr kumimoji="0" sz="7488" b="0" i="0" u="none" strike="noStrike" cap="none" spc="0" normalizeH="0" baseline="0">
        <a:ln>
          <a:noFill/>
        </a:ln>
        <a:solidFill>
          <a:srgbClr val="000000"/>
        </a:solidFill>
        <a:effectLst/>
        <a:uFillTx/>
        <a:latin typeface="+mn-lt"/>
        <a:ea typeface="+mn-ea"/>
        <a:cs typeface="+mn-cs"/>
        <a:sym typeface="Helvetica Light"/>
      </a:defRPr>
    </a:lvl5pPr>
    <a:lvl6pPr marL="0" marR="0" indent="1711528" algn="ctr" defTabSz="1236104" rtl="0" fontAlgn="auto" latinLnBrk="0" hangingPunct="0">
      <a:lnSpc>
        <a:spcPct val="100000"/>
      </a:lnSpc>
      <a:spcBef>
        <a:spcPts val="0"/>
      </a:spcBef>
      <a:spcAft>
        <a:spcPts val="0"/>
      </a:spcAft>
      <a:buClrTx/>
      <a:buSzTx/>
      <a:buFontTx/>
      <a:buNone/>
      <a:tabLst/>
      <a:defRPr kumimoji="0" sz="7488" b="0" i="0" u="none" strike="noStrike" cap="none" spc="0" normalizeH="0" baseline="0">
        <a:ln>
          <a:noFill/>
        </a:ln>
        <a:solidFill>
          <a:srgbClr val="000000"/>
        </a:solidFill>
        <a:effectLst/>
        <a:uFillTx/>
        <a:latin typeface="+mn-lt"/>
        <a:ea typeface="+mn-ea"/>
        <a:cs typeface="+mn-cs"/>
        <a:sym typeface="Helvetica Light"/>
      </a:defRPr>
    </a:lvl6pPr>
    <a:lvl7pPr marL="0" marR="0" indent="2053834" algn="ctr" defTabSz="1236104" rtl="0" fontAlgn="auto" latinLnBrk="0" hangingPunct="0">
      <a:lnSpc>
        <a:spcPct val="100000"/>
      </a:lnSpc>
      <a:spcBef>
        <a:spcPts val="0"/>
      </a:spcBef>
      <a:spcAft>
        <a:spcPts val="0"/>
      </a:spcAft>
      <a:buClrTx/>
      <a:buSzTx/>
      <a:buFontTx/>
      <a:buNone/>
      <a:tabLst/>
      <a:defRPr kumimoji="0" sz="7488" b="0" i="0" u="none" strike="noStrike" cap="none" spc="0" normalizeH="0" baseline="0">
        <a:ln>
          <a:noFill/>
        </a:ln>
        <a:solidFill>
          <a:srgbClr val="000000"/>
        </a:solidFill>
        <a:effectLst/>
        <a:uFillTx/>
        <a:latin typeface="+mn-lt"/>
        <a:ea typeface="+mn-ea"/>
        <a:cs typeface="+mn-cs"/>
        <a:sym typeface="Helvetica Light"/>
      </a:defRPr>
    </a:lvl7pPr>
    <a:lvl8pPr marL="0" marR="0" indent="2396140" algn="ctr" defTabSz="1236104" rtl="0" fontAlgn="auto" latinLnBrk="0" hangingPunct="0">
      <a:lnSpc>
        <a:spcPct val="100000"/>
      </a:lnSpc>
      <a:spcBef>
        <a:spcPts val="0"/>
      </a:spcBef>
      <a:spcAft>
        <a:spcPts val="0"/>
      </a:spcAft>
      <a:buClrTx/>
      <a:buSzTx/>
      <a:buFontTx/>
      <a:buNone/>
      <a:tabLst/>
      <a:defRPr kumimoji="0" sz="7488" b="0" i="0" u="none" strike="noStrike" cap="none" spc="0" normalizeH="0" baseline="0">
        <a:ln>
          <a:noFill/>
        </a:ln>
        <a:solidFill>
          <a:srgbClr val="000000"/>
        </a:solidFill>
        <a:effectLst/>
        <a:uFillTx/>
        <a:latin typeface="+mn-lt"/>
        <a:ea typeface="+mn-ea"/>
        <a:cs typeface="+mn-cs"/>
        <a:sym typeface="Helvetica Light"/>
      </a:defRPr>
    </a:lvl8pPr>
    <a:lvl9pPr marL="0" marR="0" indent="2738446" algn="ctr" defTabSz="1236104" rtl="0" fontAlgn="auto" latinLnBrk="0" hangingPunct="0">
      <a:lnSpc>
        <a:spcPct val="100000"/>
      </a:lnSpc>
      <a:spcBef>
        <a:spcPts val="0"/>
      </a:spcBef>
      <a:spcAft>
        <a:spcPts val="0"/>
      </a:spcAft>
      <a:buClrTx/>
      <a:buSzTx/>
      <a:buFontTx/>
      <a:buNone/>
      <a:tabLst/>
      <a:defRPr kumimoji="0" sz="7488" b="0" i="0" u="none" strike="noStrike" cap="none" spc="0" normalizeH="0" baseline="0">
        <a:ln>
          <a:noFill/>
        </a:ln>
        <a:solidFill>
          <a:srgbClr val="000000"/>
        </a:solidFill>
        <a:effectLst/>
        <a:uFillTx/>
        <a:latin typeface="+mn-lt"/>
        <a:ea typeface="+mn-ea"/>
        <a:cs typeface="+mn-cs"/>
        <a:sym typeface="Helvetica Light"/>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1E1F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940675A-B579-460E-94D1-54222C63F5DA}">
  <a:tblStyle styleId="{4C3C2611-4C71-4FC5-86AE-919BDF0F9419}" styleName="">
    <a:tblBg/>
    <a:wholeTbl>
      <a:tcTxStyle b="off" i="off">
        <a:fontRef idx="minor">
          <a:srgbClr val="000000"/>
        </a:fontRef>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FFFFFF"/>
          </a:solidFill>
        </a:fill>
      </a:tcStyle>
    </a:wholeTbl>
    <a:band2H>
      <a:tcTxStyle/>
      <a:tcStyle>
        <a:tcBdr/>
        <a:fill>
          <a:solidFill>
            <a:srgbClr val="E3E5E8"/>
          </a:solidFill>
        </a:fill>
      </a:tcStyle>
    </a:band2H>
    <a:firstCol>
      <a:tcTxStyle b="on" i="off">
        <a:font>
          <a:latin typeface="Helvetica"/>
          <a:ea typeface="Helvetica"/>
          <a:cs typeface="Helvetica"/>
        </a:font>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398CCE"/>
          </a:solidFill>
        </a:fill>
      </a:tcStyle>
    </a:firstCol>
    <a:lastRow>
      <a:tcTxStyle b="off" i="off">
        <a:fontRef idx="minor">
          <a:srgbClr val="000000"/>
        </a:fontRef>
        <a:srgbClr val="000000"/>
      </a:tcTxStyle>
      <a:tcStyle>
        <a:tcBdr>
          <a:left>
            <a:ln w="12700" cap="flat">
              <a:noFill/>
              <a:miter lim="400000"/>
            </a:ln>
          </a:left>
          <a:right>
            <a:ln w="12700" cap="flat">
              <a:noFill/>
              <a:miter lim="400000"/>
            </a:ln>
          </a:right>
          <a:top>
            <a:ln w="12700" cap="flat">
              <a:solidFill>
                <a:srgbClr val="3797C6"/>
              </a:solidFill>
              <a:prstDash val="solid"/>
              <a:miter lim="400000"/>
            </a:ln>
          </a:top>
          <a:bottom>
            <a:ln w="12700" cap="flat">
              <a:noFill/>
              <a:miter lim="400000"/>
            </a:ln>
          </a:bottom>
          <a:insideH>
            <a:ln w="12700" cap="flat">
              <a:noFill/>
              <a:miter lim="400000"/>
            </a:ln>
          </a:insideH>
          <a:insideV>
            <a:ln w="12700" cap="flat">
              <a:noFill/>
              <a:miter lim="400000"/>
            </a:ln>
          </a:insideV>
        </a:tcBdr>
        <a:fill>
          <a:solidFill>
            <a:srgbClr val="FFFFFF"/>
          </a:solidFill>
        </a:fill>
      </a:tcStyle>
    </a:lastRow>
    <a:firstRow>
      <a:tcTxStyle b="on" i="off">
        <a:font>
          <a:latin typeface="Helvetica"/>
          <a:ea typeface="Helvetica"/>
          <a:cs typeface="Helvetica"/>
        </a:font>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solidFill>
        </a:fill>
      </a:tcStyle>
    </a:firstRow>
  </a:tblStyle>
  <a:tblStyle styleId="{C7B018BB-80A7-4F77-B60F-C8B233D01FF8}" styleName="">
    <a:tblBg/>
    <a:wholeTbl>
      <a:tcTxStyle b="off" i="off">
        <a:fontRef idx="minor">
          <a:srgbClr val="000000"/>
        </a:fontRef>
        <a:srgbClr val="000000"/>
      </a:tcTxStyle>
      <a:tcStyle>
        <a:tcBdr>
          <a:left>
            <a:ln w="12700" cap="flat">
              <a:solidFill>
                <a:srgbClr val="B8B8B8"/>
              </a:solidFill>
              <a:prstDash val="solid"/>
              <a:miter lim="400000"/>
            </a:ln>
          </a:left>
          <a:right>
            <a:ln w="12700" cap="flat">
              <a:solidFill>
                <a:srgbClr val="B8B8B8"/>
              </a:solidFill>
              <a:prstDash val="solid"/>
              <a:miter lim="400000"/>
            </a:ln>
          </a:right>
          <a:top>
            <a:ln w="12700" cap="flat">
              <a:solidFill>
                <a:srgbClr val="B8B8B8"/>
              </a:solidFill>
              <a:prstDash val="solid"/>
              <a:miter lim="400000"/>
            </a:ln>
          </a:top>
          <a:bottom>
            <a:ln w="12700" cap="flat">
              <a:solidFill>
                <a:srgbClr val="B8B8B8"/>
              </a:solidFill>
              <a:prstDash val="solid"/>
              <a:miter lim="400000"/>
            </a:ln>
          </a:bottom>
          <a:insideH>
            <a:ln w="12700" cap="flat">
              <a:solidFill>
                <a:srgbClr val="B8B8B8"/>
              </a:solidFill>
              <a:prstDash val="solid"/>
              <a:miter lim="400000"/>
            </a:ln>
          </a:insideH>
          <a:insideV>
            <a:ln w="12700" cap="flat">
              <a:solidFill>
                <a:srgbClr val="B8B8B8"/>
              </a:solidFill>
              <a:prstDash val="solid"/>
              <a:miter lim="400000"/>
            </a:ln>
          </a:insideV>
        </a:tcBdr>
        <a:fill>
          <a:solidFill>
            <a:srgbClr val="EBEBEB"/>
          </a:solidFill>
        </a:fill>
      </a:tcStyle>
    </a:wholeTbl>
    <a:band2H>
      <a:tcTxStyle/>
      <a:tcStyle>
        <a:tcBdr/>
        <a:fill>
          <a:solidFill>
            <a:srgbClr val="E1E0DA"/>
          </a:solidFill>
        </a:fill>
      </a:tcStyle>
    </a:band2H>
    <a:firstCol>
      <a:tcTxStyle b="on" i="off">
        <a:font>
          <a:latin typeface="Helvetica"/>
          <a:ea typeface="Helvetica"/>
          <a:cs typeface="Helvetica"/>
        </a:font>
        <a:srgbClr val="FFFFFF"/>
      </a:tcTxStyle>
      <a:tcStyle>
        <a:tcBdr>
          <a:left>
            <a:ln w="12700" cap="flat">
              <a:solidFill>
                <a:srgbClr val="606060"/>
              </a:solidFill>
              <a:prstDash val="solid"/>
              <a:miter lim="400000"/>
            </a:ln>
          </a:left>
          <a:right>
            <a:ln w="12700" cap="flat">
              <a:solidFill>
                <a:srgbClr val="606060"/>
              </a:solidFill>
              <a:prstDash val="solid"/>
              <a:miter lim="400000"/>
            </a:ln>
          </a:right>
          <a:top>
            <a:ln w="12700" cap="flat">
              <a:solidFill>
                <a:srgbClr val="606060"/>
              </a:solidFill>
              <a:prstDash val="solid"/>
              <a:miter lim="400000"/>
            </a:ln>
          </a:top>
          <a:bottom>
            <a:ln w="12700" cap="flat">
              <a:solidFill>
                <a:srgbClr val="606060"/>
              </a:solidFill>
              <a:prstDash val="solid"/>
              <a:miter lim="400000"/>
            </a:ln>
          </a:bottom>
          <a:insideH>
            <a:ln w="12700" cap="flat">
              <a:solidFill>
                <a:srgbClr val="606060"/>
              </a:solidFill>
              <a:prstDash val="solid"/>
              <a:miter lim="400000"/>
            </a:ln>
          </a:insideH>
          <a:insideV>
            <a:ln w="12700" cap="flat">
              <a:solidFill>
                <a:srgbClr val="606060"/>
              </a:solidFill>
              <a:prstDash val="solid"/>
              <a:miter lim="400000"/>
            </a:ln>
          </a:insideV>
        </a:tcBdr>
        <a:fill>
          <a:solidFill>
            <a:srgbClr val="5AC831"/>
          </a:solidFill>
        </a:fill>
      </a:tcStyle>
    </a:firstCol>
    <a:lastRow>
      <a:tcTxStyle b="off" i="off">
        <a:fontRef idx="minor">
          <a:srgbClr val="000000"/>
        </a:fontRef>
        <a:srgbClr val="000000"/>
      </a:tcTxStyle>
      <a:tcStyle>
        <a:tcBdr>
          <a:left>
            <a:ln w="12700" cap="flat">
              <a:solidFill>
                <a:srgbClr val="B8B8B8"/>
              </a:solidFill>
              <a:prstDash val="solid"/>
              <a:miter lim="400000"/>
            </a:ln>
          </a:left>
          <a:right>
            <a:ln w="12700" cap="flat">
              <a:solidFill>
                <a:srgbClr val="B8B8B8"/>
              </a:solidFill>
              <a:prstDash val="solid"/>
              <a:miter lim="400000"/>
            </a:ln>
          </a:right>
          <a:top>
            <a:ln w="25400" cap="flat">
              <a:solidFill>
                <a:srgbClr val="606060"/>
              </a:solidFill>
              <a:prstDash val="solid"/>
              <a:miter lim="400000"/>
            </a:ln>
          </a:top>
          <a:bottom>
            <a:ln w="12700" cap="flat">
              <a:solidFill>
                <a:srgbClr val="606060"/>
              </a:solidFill>
              <a:prstDash val="solid"/>
              <a:miter lim="400000"/>
            </a:ln>
          </a:bottom>
          <a:insideH>
            <a:ln w="12700" cap="flat">
              <a:solidFill>
                <a:srgbClr val="B8B8B8"/>
              </a:solidFill>
              <a:prstDash val="solid"/>
              <a:miter lim="400000"/>
            </a:ln>
          </a:insideH>
          <a:insideV>
            <a:ln w="12700" cap="flat">
              <a:solidFill>
                <a:srgbClr val="B8B8B8"/>
              </a:solidFill>
              <a:prstDash val="solid"/>
              <a:miter lim="400000"/>
            </a:ln>
          </a:insideV>
        </a:tcBdr>
        <a:fill>
          <a:solidFill>
            <a:srgbClr val="EBEBEB"/>
          </a:solidFill>
        </a:fill>
      </a:tcStyle>
    </a:lastRow>
    <a:firstRow>
      <a:tcTxStyle b="on" i="off">
        <a:font>
          <a:latin typeface="Helvetica"/>
          <a:ea typeface="Helvetica"/>
          <a:cs typeface="Helvetica"/>
        </a:font>
        <a:srgbClr val="FFFFFF"/>
      </a:tcTxStyle>
      <a:tcStyle>
        <a:tcBdr>
          <a:left>
            <a:ln w="12700" cap="flat">
              <a:solidFill>
                <a:srgbClr val="606060"/>
              </a:solidFill>
              <a:prstDash val="solid"/>
              <a:miter lim="400000"/>
            </a:ln>
          </a:left>
          <a:right>
            <a:ln w="12700" cap="flat">
              <a:solidFill>
                <a:srgbClr val="606060"/>
              </a:solidFill>
              <a:prstDash val="solid"/>
              <a:miter lim="400000"/>
            </a:ln>
          </a:right>
          <a:top>
            <a:ln w="12700" cap="flat">
              <a:solidFill>
                <a:srgbClr val="606060"/>
              </a:solidFill>
              <a:prstDash val="solid"/>
              <a:miter lim="400000"/>
            </a:ln>
          </a:top>
          <a:bottom>
            <a:ln w="12700" cap="flat">
              <a:solidFill>
                <a:srgbClr val="606060"/>
              </a:solidFill>
              <a:prstDash val="solid"/>
              <a:miter lim="400000"/>
            </a:ln>
          </a:bottom>
          <a:insideH>
            <a:ln w="12700" cap="flat">
              <a:solidFill>
                <a:srgbClr val="606060"/>
              </a:solidFill>
              <a:prstDash val="solid"/>
              <a:miter lim="400000"/>
            </a:ln>
          </a:insideH>
          <a:insideV>
            <a:ln w="12700" cap="flat">
              <a:solidFill>
                <a:srgbClr val="606060"/>
              </a:solidFill>
              <a:prstDash val="solid"/>
              <a:miter lim="400000"/>
            </a:ln>
          </a:insideV>
        </a:tcBdr>
        <a:fill>
          <a:solidFill>
            <a:schemeClr val="accent2"/>
          </a:solidFill>
        </a:fill>
      </a:tcStyle>
    </a:firstRow>
  </a:tblStyle>
  <a:tblStyle styleId="{EEE7283C-3CF3-47DC-8721-378D4A62B228}" styleName="">
    <a:tblBg/>
    <a:wholeTbl>
      <a:tcTxStyle b="off" i="off">
        <a:fontRef idx="minor">
          <a:srgbClr val="000000"/>
        </a:fontRef>
        <a:srgbClr val="000000"/>
      </a:tcTxStyle>
      <a:tcStyle>
        <a:tcBdr>
          <a:left>
            <a:ln w="12700" cap="flat">
              <a:solidFill>
                <a:srgbClr val="5D5D5D"/>
              </a:solidFill>
              <a:custDash>
                <a:ds d="200000" sp="200000"/>
              </a:custDash>
              <a:miter lim="400000"/>
            </a:ln>
          </a:left>
          <a:right>
            <a:ln w="12700" cap="flat">
              <a:solidFill>
                <a:srgbClr val="5D5D5D"/>
              </a:solidFill>
              <a:custDash>
                <a:ds d="200000" sp="200000"/>
              </a:custDash>
              <a:miter lim="400000"/>
            </a:ln>
          </a:right>
          <a:top>
            <a:ln w="12700" cap="flat">
              <a:solidFill>
                <a:srgbClr val="5D5D5D"/>
              </a:solidFill>
              <a:custDash>
                <a:ds d="200000" sp="200000"/>
              </a:custDash>
              <a:miter lim="400000"/>
            </a:ln>
          </a:top>
          <a:bottom>
            <a:ln w="12700" cap="flat">
              <a:solidFill>
                <a:srgbClr val="5D5D5D"/>
              </a:solidFill>
              <a:custDash>
                <a:ds d="200000" sp="200000"/>
              </a:custDash>
              <a:miter lim="400000"/>
            </a:ln>
          </a:bottom>
          <a:insideH>
            <a:ln w="12700" cap="flat">
              <a:solidFill>
                <a:srgbClr val="5D5D5D"/>
              </a:solidFill>
              <a:custDash>
                <a:ds d="200000" sp="200000"/>
              </a:custDash>
              <a:miter lim="400000"/>
            </a:ln>
          </a:insideH>
          <a:insideV>
            <a:ln w="12700" cap="flat">
              <a:solidFill>
                <a:srgbClr val="5D5D5D"/>
              </a:solidFill>
              <a:custDash>
                <a:ds d="200000" sp="200000"/>
              </a:custDash>
              <a:miter lim="400000"/>
            </a:ln>
          </a:insideV>
        </a:tcBdr>
        <a:fill>
          <a:solidFill>
            <a:srgbClr val="E6E4D7"/>
          </a:solidFill>
        </a:fill>
      </a:tcStyle>
    </a:wholeTbl>
    <a:band2H>
      <a:tcTxStyle/>
      <a:tcStyle>
        <a:tcBdr/>
        <a:fill>
          <a:solidFill>
            <a:srgbClr val="C3C2C2"/>
          </a:solidFill>
        </a:fill>
      </a:tcStyle>
    </a:band2H>
    <a:firstCol>
      <a:tcTxStyle b="on" i="off">
        <a:font>
          <a:latin typeface="Helvetica"/>
          <a:ea typeface="Helvetica"/>
          <a:cs typeface="Helvetica"/>
        </a:font>
        <a:srgbClr val="FFFFFF"/>
      </a:tcTxStyle>
      <a:tcStyle>
        <a:tcBdr>
          <a:left>
            <a:ln w="12700" cap="flat">
              <a:solidFill>
                <a:srgbClr val="5D5D5D"/>
              </a:solidFill>
              <a:prstDash val="solid"/>
              <a:miter lim="400000"/>
            </a:ln>
          </a:left>
          <a:right>
            <a:ln w="12700" cap="flat">
              <a:solidFill>
                <a:srgbClr val="5D5D5D"/>
              </a:solidFill>
              <a:prstDash val="solid"/>
              <a:miter lim="400000"/>
            </a:ln>
          </a:right>
          <a:top>
            <a:ln w="12700" cap="flat">
              <a:solidFill>
                <a:srgbClr val="5D5D5D"/>
              </a:solidFill>
              <a:prstDash val="solid"/>
              <a:miter lim="400000"/>
            </a:ln>
          </a:top>
          <a:bottom>
            <a:ln w="12700" cap="flat">
              <a:solidFill>
                <a:srgbClr val="5D5D5D"/>
              </a:solidFill>
              <a:prstDash val="solid"/>
              <a:miter lim="400000"/>
            </a:ln>
          </a:bottom>
          <a:insideH>
            <a:ln w="12700" cap="flat">
              <a:solidFill>
                <a:srgbClr val="5D5D5D"/>
              </a:solidFill>
              <a:prstDash val="solid"/>
              <a:miter lim="400000"/>
            </a:ln>
          </a:insideH>
          <a:insideV>
            <a:ln w="12700" cap="flat">
              <a:solidFill>
                <a:srgbClr val="5D5D5D"/>
              </a:solidFill>
              <a:prstDash val="solid"/>
              <a:miter lim="400000"/>
            </a:ln>
          </a:insideV>
        </a:tcBdr>
        <a:fill>
          <a:solidFill>
            <a:srgbClr val="909C99"/>
          </a:solidFill>
        </a:fill>
      </a:tcStyle>
    </a:firstCol>
    <a:lastRow>
      <a:tcTxStyle b="on" i="off">
        <a:font>
          <a:latin typeface="Helvetica"/>
          <a:ea typeface="Helvetica"/>
          <a:cs typeface="Helvetica"/>
        </a:font>
        <a:srgbClr val="FFFFFF"/>
      </a:tcTxStyle>
      <a:tcStyle>
        <a:tcBdr>
          <a:left>
            <a:ln w="12700" cap="flat">
              <a:solidFill>
                <a:srgbClr val="5D5D5D"/>
              </a:solidFill>
              <a:prstDash val="solid"/>
              <a:miter lim="400000"/>
            </a:ln>
          </a:left>
          <a:right>
            <a:ln w="12700" cap="flat">
              <a:solidFill>
                <a:srgbClr val="5D5D5D"/>
              </a:solidFill>
              <a:prstDash val="solid"/>
              <a:miter lim="400000"/>
            </a:ln>
          </a:right>
          <a:top>
            <a:ln w="12700" cap="flat">
              <a:solidFill>
                <a:srgbClr val="5D5D5D"/>
              </a:solidFill>
              <a:prstDash val="solid"/>
              <a:miter lim="400000"/>
            </a:ln>
          </a:top>
          <a:bottom>
            <a:ln w="12700" cap="flat">
              <a:solidFill>
                <a:srgbClr val="5D5D5D"/>
              </a:solidFill>
              <a:prstDash val="solid"/>
              <a:miter lim="400000"/>
            </a:ln>
          </a:bottom>
          <a:insideH>
            <a:ln w="12700" cap="flat">
              <a:solidFill>
                <a:srgbClr val="5D5D5D"/>
              </a:solidFill>
              <a:prstDash val="solid"/>
              <a:miter lim="400000"/>
            </a:ln>
          </a:insideH>
          <a:insideV>
            <a:ln w="12700" cap="flat">
              <a:solidFill>
                <a:srgbClr val="5D5D5D"/>
              </a:solidFill>
              <a:prstDash val="solid"/>
              <a:miter lim="400000"/>
            </a:ln>
          </a:insideV>
        </a:tcBdr>
        <a:fill>
          <a:solidFill>
            <a:srgbClr val="97764E"/>
          </a:solidFill>
        </a:fill>
      </a:tcStyle>
    </a:lastRow>
    <a:firstRow>
      <a:tcTxStyle b="on" i="off">
        <a:font>
          <a:latin typeface="Helvetica"/>
          <a:ea typeface="Helvetica"/>
          <a:cs typeface="Helvetica"/>
        </a:font>
        <a:srgbClr val="FFFFFF"/>
      </a:tcTxStyle>
      <a:tcStyle>
        <a:tcBdr>
          <a:left>
            <a:ln w="12700" cap="flat">
              <a:solidFill>
                <a:srgbClr val="5D5D5D"/>
              </a:solidFill>
              <a:prstDash val="solid"/>
              <a:miter lim="400000"/>
            </a:ln>
          </a:left>
          <a:right>
            <a:ln w="12700" cap="flat">
              <a:solidFill>
                <a:srgbClr val="5D5D5D"/>
              </a:solidFill>
              <a:prstDash val="solid"/>
              <a:miter lim="400000"/>
            </a:ln>
          </a:right>
          <a:top>
            <a:ln w="12700" cap="flat">
              <a:solidFill>
                <a:srgbClr val="5D5D5D"/>
              </a:solidFill>
              <a:prstDash val="solid"/>
              <a:miter lim="400000"/>
            </a:ln>
          </a:top>
          <a:bottom>
            <a:ln w="12700" cap="flat">
              <a:solidFill>
                <a:srgbClr val="5D5D5D"/>
              </a:solidFill>
              <a:prstDash val="solid"/>
              <a:miter lim="400000"/>
            </a:ln>
          </a:bottom>
          <a:insideH>
            <a:ln w="12700" cap="flat">
              <a:solidFill>
                <a:srgbClr val="5D5D5D"/>
              </a:solidFill>
              <a:prstDash val="solid"/>
              <a:miter lim="400000"/>
            </a:ln>
          </a:insideH>
          <a:insideV>
            <a:ln w="12700" cap="flat">
              <a:solidFill>
                <a:srgbClr val="5D5D5D"/>
              </a:solidFill>
              <a:prstDash val="solid"/>
              <a:miter lim="400000"/>
            </a:ln>
          </a:insideV>
        </a:tcBdr>
        <a:fill>
          <a:solidFill>
            <a:srgbClr val="97764E"/>
          </a:solidFill>
        </a:fill>
      </a:tcStyle>
    </a:firstRow>
  </a:tblStyle>
  <a:tblStyle styleId="{CF821DB8-F4EB-4A41-A1BA-3FCAFE7338EE}" styleName="">
    <a:tblBg/>
    <a:wholeTbl>
      <a:tcTxStyle b="off"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rgbClr val="EBEBEB"/>
          </a:solidFill>
        </a:fill>
      </a:tcStyle>
    </a:wholeTbl>
    <a:band2H>
      <a:tcTxStyle/>
      <a:tcStyle>
        <a:tcBdr/>
        <a:fill>
          <a:solidFill>
            <a:srgbClr val="DCE5E6"/>
          </a:solidFill>
        </a:fill>
      </a:tcStyle>
    </a:band2H>
    <a:firstCol>
      <a:tcTxStyle b="on" i="off">
        <a:font>
          <a:latin typeface="Helvetica"/>
          <a:ea typeface="Helvetica"/>
          <a:cs typeface="Helvetica"/>
        </a:font>
        <a:srgbClr val="FFFFFF"/>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rgbClr val="5E7790"/>
          </a:solidFill>
        </a:fill>
      </a:tcStyle>
    </a:firstCol>
    <a:lastRow>
      <a:tcTxStyle b="on" i="off">
        <a:font>
          <a:latin typeface="Helvetica"/>
          <a:ea typeface="Helvetica"/>
          <a:cs typeface="Helvetica"/>
        </a:font>
        <a:srgbClr val="FFFFFF"/>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rgbClr val="5E7790"/>
          </a:solidFill>
        </a:fill>
      </a:tcStyle>
    </a:lastRow>
    <a:firstRow>
      <a:tcTxStyle b="on" i="off">
        <a:font>
          <a:latin typeface="Helvetica"/>
          <a:ea typeface="Helvetica"/>
          <a:cs typeface="Helvetica"/>
        </a:font>
        <a:srgbClr val="FFFFFF"/>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rgbClr val="5E7790"/>
          </a:solidFill>
        </a:fill>
      </a:tcStyle>
    </a:firstRow>
  </a:tblStyle>
  <a:tblStyle styleId="{33BA23B1-9221-436E-865A-0063620EA4FD}" styleName="">
    <a:tblBg/>
    <a:wholeTbl>
      <a:tcTxStyle b="off" i="off">
        <a:fontRef idx="minor">
          <a:srgbClr val="000000"/>
        </a:fontRef>
        <a:srgbClr val="000000"/>
      </a:tcTxStyle>
      <a:tcStyle>
        <a:tcBdr>
          <a:left>
            <a:ln w="12700" cap="flat">
              <a:solidFill>
                <a:srgbClr val="FFFFFF"/>
              </a:solidFill>
              <a:prstDash val="solid"/>
              <a:miter lim="400000"/>
            </a:ln>
          </a:left>
          <a:right>
            <a:ln w="12700" cap="flat">
              <a:solidFill>
                <a:srgbClr val="FFFFFF"/>
              </a:solidFill>
              <a:prstDash val="solid"/>
              <a:miter lim="400000"/>
            </a:ln>
          </a:right>
          <a:top>
            <a:ln w="12700" cap="flat">
              <a:solidFill>
                <a:srgbClr val="FFFFFF"/>
              </a:solidFill>
              <a:prstDash val="solid"/>
              <a:miter lim="400000"/>
            </a:ln>
          </a:top>
          <a:bottom>
            <a:ln w="12700" cap="flat">
              <a:solidFill>
                <a:srgbClr val="FFFFFF"/>
              </a:solidFill>
              <a:prstDash val="solid"/>
              <a:miter lim="400000"/>
            </a:ln>
          </a:bottom>
          <a:insideH>
            <a:ln w="12700" cap="flat">
              <a:solidFill>
                <a:srgbClr val="FFFFFF"/>
              </a:solidFill>
              <a:prstDash val="solid"/>
              <a:miter lim="400000"/>
            </a:ln>
          </a:insideH>
          <a:insideV>
            <a:ln w="12700" cap="flat">
              <a:solidFill>
                <a:srgbClr val="FFFFFF"/>
              </a:solidFill>
              <a:prstDash val="solid"/>
              <a:miter lim="400000"/>
            </a:ln>
          </a:insideV>
        </a:tcBdr>
        <a:fill>
          <a:solidFill>
            <a:srgbClr val="D0D1D2"/>
          </a:solidFill>
        </a:fill>
      </a:tcStyle>
    </a:wholeTbl>
    <a:band2H>
      <a:tcTxStyle/>
      <a:tcStyle>
        <a:tcBdr/>
        <a:fill>
          <a:solidFill>
            <a:srgbClr val="DEDEDF"/>
          </a:solidFill>
        </a:fill>
      </a:tcStyle>
    </a:band2H>
    <a:firstCol>
      <a:tcTxStyle b="on" i="off">
        <a:font>
          <a:latin typeface="Helvetica"/>
          <a:ea typeface="Helvetica"/>
          <a:cs typeface="Helvetica"/>
        </a:font>
        <a:srgbClr val="FFFFFF"/>
      </a:tcTxStyle>
      <a:tcStyle>
        <a:tcBdr>
          <a:left>
            <a:ln w="12700" cap="flat">
              <a:solidFill>
                <a:srgbClr val="FFFFFF"/>
              </a:solidFill>
              <a:prstDash val="solid"/>
              <a:miter lim="400000"/>
            </a:ln>
          </a:left>
          <a:right>
            <a:ln w="12700" cap="flat">
              <a:solidFill>
                <a:srgbClr val="FFFFFF"/>
              </a:solidFill>
              <a:prstDash val="solid"/>
              <a:miter lim="400000"/>
            </a:ln>
          </a:right>
          <a:top>
            <a:ln w="12700" cap="flat">
              <a:solidFill>
                <a:srgbClr val="FFFFFF"/>
              </a:solidFill>
              <a:prstDash val="solid"/>
              <a:miter lim="400000"/>
            </a:ln>
          </a:top>
          <a:bottom>
            <a:ln w="12700" cap="flat">
              <a:solidFill>
                <a:srgbClr val="FFFFFF"/>
              </a:solidFill>
              <a:prstDash val="solid"/>
              <a:miter lim="400000"/>
            </a:ln>
          </a:bottom>
          <a:insideH>
            <a:ln w="12700" cap="flat">
              <a:solidFill>
                <a:srgbClr val="FFFFFF"/>
              </a:solidFill>
              <a:prstDash val="solid"/>
              <a:miter lim="400000"/>
            </a:ln>
          </a:insideH>
          <a:insideV>
            <a:ln w="12700" cap="flat">
              <a:solidFill>
                <a:srgbClr val="FFFFFF"/>
              </a:solidFill>
              <a:prstDash val="solid"/>
              <a:miter lim="400000"/>
            </a:ln>
          </a:insideV>
        </a:tcBdr>
        <a:fill>
          <a:solidFill>
            <a:srgbClr val="535761"/>
          </a:solidFill>
        </a:fill>
      </a:tcStyle>
    </a:firstCol>
    <a:lastRow>
      <a:tcTxStyle b="on" i="off">
        <a:font>
          <a:latin typeface="Helvetica"/>
          <a:ea typeface="Helvetica"/>
          <a:cs typeface="Helvetica"/>
        </a:font>
        <a:srgbClr val="FFFFFF"/>
      </a:tcTxStyle>
      <a:tcStyle>
        <a:tcBdr>
          <a:left>
            <a:ln w="12700" cap="flat">
              <a:solidFill>
                <a:srgbClr val="FFFFFF"/>
              </a:solidFill>
              <a:prstDash val="solid"/>
              <a:miter lim="400000"/>
            </a:ln>
          </a:left>
          <a:right>
            <a:ln w="12700" cap="flat">
              <a:solidFill>
                <a:srgbClr val="FFFFFF"/>
              </a:solidFill>
              <a:prstDash val="solid"/>
              <a:miter lim="400000"/>
            </a:ln>
          </a:right>
          <a:top>
            <a:ln w="12700" cap="flat">
              <a:solidFill>
                <a:srgbClr val="FFFFFF"/>
              </a:solidFill>
              <a:prstDash val="solid"/>
              <a:miter lim="400000"/>
            </a:ln>
          </a:top>
          <a:bottom>
            <a:ln w="12700" cap="flat">
              <a:solidFill>
                <a:srgbClr val="FFFFFF"/>
              </a:solidFill>
              <a:prstDash val="solid"/>
              <a:miter lim="400000"/>
            </a:ln>
          </a:bottom>
          <a:insideH>
            <a:ln w="12700" cap="flat">
              <a:solidFill>
                <a:srgbClr val="FFFFFF"/>
              </a:solidFill>
              <a:prstDash val="solid"/>
              <a:miter lim="400000"/>
            </a:ln>
          </a:insideH>
          <a:insideV>
            <a:ln w="12700" cap="flat">
              <a:solidFill>
                <a:srgbClr val="FFFFFF"/>
              </a:solidFill>
              <a:prstDash val="solid"/>
              <a:miter lim="400000"/>
            </a:ln>
          </a:insideV>
        </a:tcBdr>
        <a:fill>
          <a:solidFill>
            <a:srgbClr val="909398"/>
          </a:solidFill>
        </a:fill>
      </a:tcStyle>
    </a:lastRow>
    <a:firstRow>
      <a:tcTxStyle b="on" i="off">
        <a:font>
          <a:latin typeface="Helvetica"/>
          <a:ea typeface="Helvetica"/>
          <a:cs typeface="Helvetica"/>
        </a:font>
        <a:srgbClr val="FFFFFF"/>
      </a:tcTxStyle>
      <a:tcStyle>
        <a:tcBdr>
          <a:left>
            <a:ln w="12700" cap="flat">
              <a:solidFill>
                <a:srgbClr val="FFFFFF"/>
              </a:solidFill>
              <a:prstDash val="solid"/>
              <a:miter lim="400000"/>
            </a:ln>
          </a:left>
          <a:right>
            <a:ln w="12700" cap="flat">
              <a:solidFill>
                <a:srgbClr val="FFFFFF"/>
              </a:solidFill>
              <a:prstDash val="solid"/>
              <a:miter lim="400000"/>
            </a:ln>
          </a:right>
          <a:top>
            <a:ln w="12700" cap="flat">
              <a:solidFill>
                <a:srgbClr val="FFFFFF"/>
              </a:solidFill>
              <a:prstDash val="solid"/>
              <a:miter lim="400000"/>
            </a:ln>
          </a:top>
          <a:bottom>
            <a:ln w="12700" cap="flat">
              <a:solidFill>
                <a:srgbClr val="FFFFFF"/>
              </a:solidFill>
              <a:prstDash val="solid"/>
              <a:miter lim="400000"/>
            </a:ln>
          </a:bottom>
          <a:insideH>
            <a:ln w="12700" cap="flat">
              <a:solidFill>
                <a:srgbClr val="FFFFFF"/>
              </a:solidFill>
              <a:prstDash val="solid"/>
              <a:miter lim="400000"/>
            </a:ln>
          </a:insideH>
          <a:insideV>
            <a:ln w="12700" cap="flat">
              <a:solidFill>
                <a:srgbClr val="FFFFFF"/>
              </a:solidFill>
              <a:prstDash val="solid"/>
              <a:miter lim="400000"/>
            </a:ln>
          </a:insideV>
        </a:tcBdr>
        <a:fill>
          <a:solidFill>
            <a:srgbClr val="767C85"/>
          </a:solidFill>
        </a:fill>
      </a:tcStyle>
    </a:firstRow>
  </a:tblStyle>
  <a:tblStyle styleId="{2708684C-4D16-4618-839F-0558EEFCDFE6}" styleName="">
    <a:tblBg/>
    <a:wholeTbl>
      <a:tcTxStyle b="off" i="off">
        <a:fontRef idx="minor">
          <a:srgbClr val="000000"/>
        </a:fontRef>
        <a:srgbClr val="000000"/>
      </a:tcTxStyle>
      <a:tcStyle>
        <a:tcBdr>
          <a:left>
            <a:ln w="12700" cap="flat">
              <a:solidFill>
                <a:srgbClr val="000000"/>
              </a:solidFill>
              <a:custDash>
                <a:ds d="200000" sp="200000"/>
              </a:custDash>
              <a:miter lim="400000"/>
            </a:ln>
          </a:left>
          <a:right>
            <a:ln w="12700" cap="flat">
              <a:solidFill>
                <a:srgbClr val="000000"/>
              </a:solidFill>
              <a:custDash>
                <a:ds d="200000" sp="200000"/>
              </a:custDash>
              <a:miter lim="400000"/>
            </a:ln>
          </a:right>
          <a:top>
            <a:ln w="12700" cap="flat">
              <a:solidFill>
                <a:srgbClr val="000000"/>
              </a:solidFill>
              <a:custDash>
                <a:ds d="200000" sp="200000"/>
              </a:custDash>
              <a:miter lim="400000"/>
            </a:ln>
          </a:top>
          <a:bottom>
            <a:ln w="12700" cap="flat">
              <a:solidFill>
                <a:srgbClr val="000000"/>
              </a:solidFill>
              <a:custDash>
                <a:ds d="200000" sp="200000"/>
              </a:custDash>
              <a:miter lim="400000"/>
            </a:ln>
          </a:bottom>
          <a:insideH>
            <a:ln w="12700" cap="flat">
              <a:solidFill>
                <a:srgbClr val="000000"/>
              </a:solidFill>
              <a:custDash>
                <a:ds d="200000" sp="200000"/>
              </a:custDash>
              <a:miter lim="400000"/>
            </a:ln>
          </a:insideH>
          <a:insideV>
            <a:ln w="12700" cap="flat">
              <a:solidFill>
                <a:srgbClr val="000000"/>
              </a:solidFill>
              <a:custDash>
                <a:ds d="200000" sp="200000"/>
              </a:custDash>
              <a:miter lim="400000"/>
            </a:ln>
          </a:insideV>
        </a:tcBdr>
        <a:fill>
          <a:noFill/>
        </a:fill>
      </a:tcStyle>
    </a:wholeTbl>
    <a:band2H>
      <a:tcTxStyle/>
      <a:tcStyle>
        <a:tcBdr/>
        <a:fill>
          <a:solidFill>
            <a:srgbClr val="EDEEEE"/>
          </a:solidFill>
        </a:fill>
      </a:tcStyle>
    </a:band2H>
    <a:firstCol>
      <a:tcTxStyle b="on" i="off">
        <a:font>
          <a:latin typeface="Helvetica"/>
          <a:ea typeface="Helvetica"/>
          <a:cs typeface="Helvetica"/>
        </a:font>
        <a:srgbClr val="000000"/>
      </a:tcTxStyle>
      <a:tcStyle>
        <a:tcBdr>
          <a:left>
            <a:ln w="12700" cap="flat">
              <a:noFill/>
              <a:miter lim="400000"/>
            </a:ln>
          </a:left>
          <a:right>
            <a:ln w="12700" cap="flat">
              <a:solidFill>
                <a:srgbClr val="000000"/>
              </a:solidFill>
              <a:prstDash val="solid"/>
              <a:miter lim="400000"/>
            </a:ln>
          </a:right>
          <a:top>
            <a:ln w="12700" cap="flat">
              <a:solidFill>
                <a:srgbClr val="000000"/>
              </a:solidFill>
              <a:custDash>
                <a:ds d="200000" sp="200000"/>
              </a:custDash>
              <a:miter lim="400000"/>
            </a:ln>
          </a:top>
          <a:bottom>
            <a:ln w="12700" cap="flat">
              <a:solidFill>
                <a:srgbClr val="000000"/>
              </a:solidFill>
              <a:custDash>
                <a:ds d="200000" sp="200000"/>
              </a:custDash>
              <a:miter lim="400000"/>
            </a:ln>
          </a:bottom>
          <a:insideH>
            <a:ln w="12700" cap="flat">
              <a:solidFill>
                <a:srgbClr val="000000"/>
              </a:solidFill>
              <a:custDash>
                <a:ds d="200000" sp="200000"/>
              </a:custDash>
              <a:miter lim="400000"/>
            </a:ln>
          </a:insideH>
          <a:insideV>
            <a:ln w="12700" cap="flat">
              <a:solidFill>
                <a:srgbClr val="000000"/>
              </a:solidFill>
              <a:custDash>
                <a:ds d="200000" sp="200000"/>
              </a:custDash>
              <a:miter lim="400000"/>
            </a:ln>
          </a:insideV>
        </a:tcBdr>
        <a:fill>
          <a:noFill/>
        </a:fill>
      </a:tcStyle>
    </a:firstCol>
    <a:lastRow>
      <a:tcTxStyle b="on" i="off">
        <a:font>
          <a:latin typeface="Helvetica"/>
          <a:ea typeface="Helvetica"/>
          <a:cs typeface="Helvetica"/>
        </a:font>
        <a:srgbClr val="000000"/>
      </a:tcTxStyle>
      <a:tcStyle>
        <a:tcBdr>
          <a:left>
            <a:ln w="12700" cap="flat">
              <a:solidFill>
                <a:srgbClr val="000000"/>
              </a:solidFill>
              <a:custDash>
                <a:ds d="200000" sp="200000"/>
              </a:custDash>
              <a:miter lim="400000"/>
            </a:ln>
          </a:left>
          <a:right>
            <a:ln w="12700" cap="flat">
              <a:solidFill>
                <a:srgbClr val="000000"/>
              </a:solidFill>
              <a:custDash>
                <a:ds d="200000" sp="200000"/>
              </a:custDash>
              <a:miter lim="400000"/>
            </a:ln>
          </a:right>
          <a:top>
            <a:ln w="12700" cap="flat">
              <a:solidFill>
                <a:srgbClr val="000000"/>
              </a:solidFill>
              <a:prstDash val="solid"/>
              <a:miter lim="400000"/>
            </a:ln>
          </a:top>
          <a:bottom>
            <a:ln w="12700" cap="flat">
              <a:noFill/>
              <a:miter lim="400000"/>
            </a:ln>
          </a:bottom>
          <a:insideH>
            <a:ln w="12700" cap="flat">
              <a:solidFill>
                <a:srgbClr val="000000"/>
              </a:solidFill>
              <a:custDash>
                <a:ds d="200000" sp="200000"/>
              </a:custDash>
              <a:miter lim="400000"/>
            </a:ln>
          </a:insideH>
          <a:insideV>
            <a:ln w="12700" cap="flat">
              <a:solidFill>
                <a:srgbClr val="000000"/>
              </a:solidFill>
              <a:custDash>
                <a:ds d="200000" sp="200000"/>
              </a:custDash>
              <a:miter lim="400000"/>
            </a:ln>
          </a:insideV>
        </a:tcBdr>
        <a:fill>
          <a:noFill/>
        </a:fill>
      </a:tcStyle>
    </a:lastRow>
    <a:firstRow>
      <a:tcTxStyle b="on" i="off">
        <a:font>
          <a:latin typeface="Helvetica"/>
          <a:ea typeface="Helvetica"/>
          <a:cs typeface="Helvetica"/>
        </a:font>
        <a:srgbClr val="000000"/>
      </a:tcTxStyle>
      <a:tcStyle>
        <a:tcBdr>
          <a:left>
            <a:ln w="12700" cap="flat">
              <a:solidFill>
                <a:srgbClr val="000000"/>
              </a:solidFill>
              <a:custDash>
                <a:ds d="200000" sp="200000"/>
              </a:custDash>
              <a:miter lim="400000"/>
            </a:ln>
          </a:left>
          <a:right>
            <a:ln w="12700" cap="flat">
              <a:solidFill>
                <a:srgbClr val="000000"/>
              </a:solidFill>
              <a:custDash>
                <a:ds d="200000" sp="200000"/>
              </a:custDash>
              <a:miter lim="400000"/>
            </a:ln>
          </a:right>
          <a:top>
            <a:ln w="12700" cap="flat">
              <a:noFill/>
              <a:miter lim="400000"/>
            </a:ln>
          </a:top>
          <a:bottom>
            <a:ln w="12700" cap="flat">
              <a:solidFill>
                <a:srgbClr val="000000"/>
              </a:solidFill>
              <a:prstDash val="solid"/>
              <a:miter lim="400000"/>
            </a:ln>
          </a:bottom>
          <a:insideH>
            <a:ln w="12700" cap="flat">
              <a:solidFill>
                <a:srgbClr val="000000"/>
              </a:solidFill>
              <a:custDash>
                <a:ds d="200000" sp="200000"/>
              </a:custDash>
              <a:miter lim="400000"/>
            </a:ln>
          </a:insideH>
          <a:insideV>
            <a:ln w="12700" cap="flat">
              <a:solidFill>
                <a:srgbClr val="000000"/>
              </a:solidFill>
              <a:custDash>
                <a:ds d="200000" sp="200000"/>
              </a:custDash>
              <a:miter lim="400000"/>
            </a:ln>
          </a:insideV>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7132" autoAdjust="0"/>
    <p:restoredTop sz="94660"/>
  </p:normalViewPr>
  <p:slideViewPr>
    <p:cSldViewPr snapToGrid="0">
      <p:cViewPr varScale="1">
        <p:scale>
          <a:sx n="24" d="100"/>
          <a:sy n="24" d="100"/>
        </p:scale>
        <p:origin x="692" y="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notesMaster" Target="notesMasters/notesMaster1.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16" name="Shape 116"/>
          <p:cNvSpPr>
            <a:spLocks noGrp="1" noRot="1" noChangeAspect="1"/>
          </p:cNvSpPr>
          <p:nvPr>
            <p:ph type="sldImg"/>
          </p:nvPr>
        </p:nvSpPr>
        <p:spPr>
          <a:xfrm>
            <a:off x="381000" y="685800"/>
            <a:ext cx="6096000" cy="3429000"/>
          </a:xfrm>
          <a:prstGeom prst="rect">
            <a:avLst/>
          </a:prstGeom>
        </p:spPr>
        <p:txBody>
          <a:bodyPr/>
          <a:lstStyle/>
          <a:p>
            <a:endParaRPr/>
          </a:p>
        </p:txBody>
      </p:sp>
      <p:sp>
        <p:nvSpPr>
          <p:cNvPr id="117" name="Shape 117"/>
          <p:cNvSpPr>
            <a:spLocks noGrp="1"/>
          </p:cNvSpPr>
          <p:nvPr>
            <p:ph type="body" sz="quarter" idx="1"/>
          </p:nvPr>
        </p:nvSpPr>
        <p:spPr>
          <a:xfrm>
            <a:off x="914400" y="4343400"/>
            <a:ext cx="5029200" cy="4114800"/>
          </a:xfrm>
          <a:prstGeom prst="rect">
            <a:avLst/>
          </a:prstGeom>
        </p:spPr>
        <p:txBody>
          <a:bodyPr/>
          <a:lstStyle/>
          <a:p>
            <a:endParaRPr/>
          </a:p>
        </p:txBody>
      </p:sp>
    </p:spTree>
    <p:extLst>
      <p:ext uri="{BB962C8B-B14F-4D97-AF65-F5344CB8AC3E}">
        <p14:creationId xmlns:p14="http://schemas.microsoft.com/office/powerpoint/2010/main" val="2478303747"/>
      </p:ext>
    </p:extLst>
  </p:cSld>
  <p:clrMap bg1="lt1" tx1="dk1" bg2="lt2" tx2="dk2" accent1="accent1" accent2="accent2" accent3="accent3" accent4="accent4" accent5="accent5" accent6="accent6" hlink="hlink" folHlink="folHlink"/>
  <p:notesStyle>
    <a:lvl1pPr defTabSz="684612" latinLnBrk="0">
      <a:lnSpc>
        <a:spcPct val="117999"/>
      </a:lnSpc>
      <a:defRPr sz="3294">
        <a:latin typeface="Helvetica Neue"/>
        <a:ea typeface="Helvetica Neue"/>
        <a:cs typeface="Helvetica Neue"/>
        <a:sym typeface="Helvetica Neue"/>
      </a:defRPr>
    </a:lvl1pPr>
    <a:lvl2pPr indent="342306" defTabSz="684612" latinLnBrk="0">
      <a:lnSpc>
        <a:spcPct val="117999"/>
      </a:lnSpc>
      <a:defRPr sz="3294">
        <a:latin typeface="Helvetica Neue"/>
        <a:ea typeface="Helvetica Neue"/>
        <a:cs typeface="Helvetica Neue"/>
        <a:sym typeface="Helvetica Neue"/>
      </a:defRPr>
    </a:lvl2pPr>
    <a:lvl3pPr indent="684612" defTabSz="684612" latinLnBrk="0">
      <a:lnSpc>
        <a:spcPct val="117999"/>
      </a:lnSpc>
      <a:defRPr sz="3294">
        <a:latin typeface="Helvetica Neue"/>
        <a:ea typeface="Helvetica Neue"/>
        <a:cs typeface="Helvetica Neue"/>
        <a:sym typeface="Helvetica Neue"/>
      </a:defRPr>
    </a:lvl3pPr>
    <a:lvl4pPr indent="1026916" defTabSz="684612" latinLnBrk="0">
      <a:lnSpc>
        <a:spcPct val="117999"/>
      </a:lnSpc>
      <a:defRPr sz="3294">
        <a:latin typeface="Helvetica Neue"/>
        <a:ea typeface="Helvetica Neue"/>
        <a:cs typeface="Helvetica Neue"/>
        <a:sym typeface="Helvetica Neue"/>
      </a:defRPr>
    </a:lvl4pPr>
    <a:lvl5pPr indent="1369222" defTabSz="684612" latinLnBrk="0">
      <a:lnSpc>
        <a:spcPct val="117999"/>
      </a:lnSpc>
      <a:defRPr sz="3294">
        <a:latin typeface="Helvetica Neue"/>
        <a:ea typeface="Helvetica Neue"/>
        <a:cs typeface="Helvetica Neue"/>
        <a:sym typeface="Helvetica Neue"/>
      </a:defRPr>
    </a:lvl5pPr>
    <a:lvl6pPr indent="1711528" defTabSz="684612" latinLnBrk="0">
      <a:lnSpc>
        <a:spcPct val="117999"/>
      </a:lnSpc>
      <a:defRPr sz="3294">
        <a:latin typeface="Helvetica Neue"/>
        <a:ea typeface="Helvetica Neue"/>
        <a:cs typeface="Helvetica Neue"/>
        <a:sym typeface="Helvetica Neue"/>
      </a:defRPr>
    </a:lvl6pPr>
    <a:lvl7pPr indent="2053834" defTabSz="684612" latinLnBrk="0">
      <a:lnSpc>
        <a:spcPct val="117999"/>
      </a:lnSpc>
      <a:defRPr sz="3294">
        <a:latin typeface="Helvetica Neue"/>
        <a:ea typeface="Helvetica Neue"/>
        <a:cs typeface="Helvetica Neue"/>
        <a:sym typeface="Helvetica Neue"/>
      </a:defRPr>
    </a:lvl7pPr>
    <a:lvl8pPr indent="2396140" defTabSz="684612" latinLnBrk="0">
      <a:lnSpc>
        <a:spcPct val="117999"/>
      </a:lnSpc>
      <a:defRPr sz="3294">
        <a:latin typeface="Helvetica Neue"/>
        <a:ea typeface="Helvetica Neue"/>
        <a:cs typeface="Helvetica Neue"/>
        <a:sym typeface="Helvetica Neue"/>
      </a:defRPr>
    </a:lvl8pPr>
    <a:lvl9pPr indent="2738446" defTabSz="684612" latinLnBrk="0">
      <a:lnSpc>
        <a:spcPct val="117999"/>
      </a:lnSpc>
      <a:defRPr sz="3294">
        <a:latin typeface="Helvetica Neue"/>
        <a:ea typeface="Helvetica Neue"/>
        <a:cs typeface="Helvetica Neue"/>
        <a:sym typeface="Helvetica Neue"/>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232909946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47140523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83222050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228227362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67140703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107997074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312759329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81737183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419178007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255077506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100068532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22701586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51917651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75633054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219029283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399458233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168167407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154244991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246298030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223869473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2997824684"/>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316931182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265179437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2561139096"/>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1375277758"/>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106410397"/>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1718752105"/>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3424679646"/>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2915557810"/>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3699483200"/>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3698127675"/>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3040673806"/>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1421979459"/>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1947849805"/>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356692325"/>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120192008"/>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292669907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4276930643"/>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720180365"/>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2457003318"/>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2699746128"/>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182307080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161934453"/>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72088728"/>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43003176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2547335204"/>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603828507"/>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322024008"/>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3664772592"/>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319354938"/>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2312358977"/>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129329368"/>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372067650"/>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1008481997"/>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848267005"/>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4169868042"/>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348780556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3118575134"/>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2922512627"/>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3571627516"/>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2950047503"/>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2163037008"/>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3978908408"/>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179118713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x">
  <p:cSld name="Photo - Horizontal">
    <p:spTree>
      <p:nvGrpSpPr>
        <p:cNvPr id="1" name=""/>
        <p:cNvGrpSpPr/>
        <p:nvPr/>
      </p:nvGrpSpPr>
      <p:grpSpPr>
        <a:xfrm>
          <a:off x="0" y="0"/>
          <a:ext cx="0" cy="0"/>
          <a:chOff x="0" y="0"/>
          <a:chExt cx="0" cy="0"/>
        </a:xfrm>
      </p:grpSpPr>
      <p:sp>
        <p:nvSpPr>
          <p:cNvPr id="20" name="Shape 20"/>
          <p:cNvSpPr>
            <a:spLocks noGrp="1"/>
          </p:cNvSpPr>
          <p:nvPr>
            <p:ph type="pic" idx="13"/>
          </p:nvPr>
        </p:nvSpPr>
        <p:spPr>
          <a:xfrm>
            <a:off x="4688955" y="1009652"/>
            <a:ext cx="27203402" cy="13106400"/>
          </a:xfrm>
          <a:prstGeom prst="rect">
            <a:avLst/>
          </a:prstGeom>
        </p:spPr>
        <p:txBody>
          <a:bodyPr lIns="91439" tIns="45719" rIns="91439" bIns="45719" anchor="t">
            <a:noAutofit/>
          </a:bodyPr>
          <a:lstStyle/>
          <a:p>
            <a:endParaRPr/>
          </a:p>
        </p:txBody>
      </p:sp>
      <p:sp>
        <p:nvSpPr>
          <p:cNvPr id="21" name="Shape 21"/>
          <p:cNvSpPr>
            <a:spLocks noGrp="1"/>
          </p:cNvSpPr>
          <p:nvPr>
            <p:ph type="title"/>
          </p:nvPr>
        </p:nvSpPr>
        <p:spPr>
          <a:xfrm>
            <a:off x="952500" y="14173202"/>
            <a:ext cx="34671000" cy="3009900"/>
          </a:xfrm>
          <a:prstGeom prst="rect">
            <a:avLst/>
          </a:prstGeom>
        </p:spPr>
        <p:txBody>
          <a:bodyPr anchor="b"/>
          <a:lstStyle/>
          <a:p>
            <a:r>
              <a:t>Title Text</a:t>
            </a:r>
          </a:p>
        </p:txBody>
      </p:sp>
      <p:sp>
        <p:nvSpPr>
          <p:cNvPr id="22" name="Shape 22"/>
          <p:cNvSpPr>
            <a:spLocks noGrp="1"/>
          </p:cNvSpPr>
          <p:nvPr>
            <p:ph type="body" sz="quarter" idx="1"/>
          </p:nvPr>
        </p:nvSpPr>
        <p:spPr>
          <a:xfrm>
            <a:off x="952500" y="17278351"/>
            <a:ext cx="34671000" cy="2381250"/>
          </a:xfrm>
          <a:prstGeom prst="rect">
            <a:avLst/>
          </a:prstGeom>
        </p:spPr>
        <p:txBody>
          <a:bodyPr anchor="t"/>
          <a:lstStyle>
            <a:lvl1pPr marL="0" indent="0" algn="ctr">
              <a:spcBef>
                <a:spcPts val="0"/>
              </a:spcBef>
              <a:buSzTx/>
              <a:buNone/>
              <a:defRPr sz="6600"/>
            </a:lvl1pPr>
            <a:lvl2pPr marL="0" indent="342882" algn="ctr">
              <a:spcBef>
                <a:spcPts val="0"/>
              </a:spcBef>
              <a:buSzTx/>
              <a:buNone/>
              <a:defRPr sz="6600"/>
            </a:lvl2pPr>
            <a:lvl3pPr marL="0" indent="685764" algn="ctr">
              <a:spcBef>
                <a:spcPts val="0"/>
              </a:spcBef>
              <a:buSzTx/>
              <a:buNone/>
              <a:defRPr sz="6600"/>
            </a:lvl3pPr>
            <a:lvl4pPr marL="0" indent="1028644" algn="ctr">
              <a:spcBef>
                <a:spcPts val="0"/>
              </a:spcBef>
              <a:buSzTx/>
              <a:buNone/>
              <a:defRPr sz="6600"/>
            </a:lvl4pPr>
            <a:lvl5pPr marL="0" indent="1371526" algn="ctr">
              <a:spcBef>
                <a:spcPts val="0"/>
              </a:spcBef>
              <a:buSzTx/>
              <a:buNone/>
              <a:defRPr sz="6600"/>
            </a:lvl5pPr>
          </a:lstStyle>
          <a:p>
            <a:r>
              <a:t>Body Level One</a:t>
            </a:r>
          </a:p>
          <a:p>
            <a:pPr lvl="1"/>
            <a:r>
              <a:t>Body Level Two</a:t>
            </a:r>
          </a:p>
          <a:p>
            <a:pPr lvl="2"/>
            <a:r>
              <a:t>Body Level Three</a:t>
            </a:r>
          </a:p>
          <a:p>
            <a:pPr lvl="3"/>
            <a:r>
              <a:t>Body Level Four</a:t>
            </a:r>
          </a:p>
          <a:p>
            <a:pPr lvl="4"/>
            <a:r>
              <a:t>Body Level Five</a:t>
            </a:r>
          </a:p>
        </p:txBody>
      </p:sp>
      <p:sp>
        <p:nvSpPr>
          <p:cNvPr id="23" name="Shape 23"/>
          <p:cNvSpPr>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2.xml><?xml version="1.0" encoding="utf-8"?>
<p:sldLayout xmlns:a="http://schemas.openxmlformats.org/drawingml/2006/main" xmlns:r="http://schemas.openxmlformats.org/officeDocument/2006/relationships" xmlns:p="http://schemas.openxmlformats.org/presentationml/2006/main" type="tx">
  <p:cSld name="Title - Center">
    <p:spTree>
      <p:nvGrpSpPr>
        <p:cNvPr id="1" name=""/>
        <p:cNvGrpSpPr/>
        <p:nvPr/>
      </p:nvGrpSpPr>
      <p:grpSpPr>
        <a:xfrm>
          <a:off x="0" y="0"/>
          <a:ext cx="0" cy="0"/>
          <a:chOff x="0" y="0"/>
          <a:chExt cx="0" cy="0"/>
        </a:xfrm>
      </p:grpSpPr>
      <p:sp>
        <p:nvSpPr>
          <p:cNvPr id="30" name="Shape 30"/>
          <p:cNvSpPr>
            <a:spLocks noGrp="1"/>
          </p:cNvSpPr>
          <p:nvPr>
            <p:ph type="title"/>
          </p:nvPr>
        </p:nvSpPr>
        <p:spPr>
          <a:xfrm>
            <a:off x="2667000" y="6800852"/>
            <a:ext cx="31242000" cy="6972300"/>
          </a:xfrm>
          <a:prstGeom prst="rect">
            <a:avLst/>
          </a:prstGeom>
        </p:spPr>
        <p:txBody>
          <a:bodyPr/>
          <a:lstStyle/>
          <a:p>
            <a:r>
              <a:t>Title Text</a:t>
            </a:r>
          </a:p>
        </p:txBody>
      </p:sp>
      <p:sp>
        <p:nvSpPr>
          <p:cNvPr id="31" name="Shape 31"/>
          <p:cNvSpPr>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3.xml><?xml version="1.0" encoding="utf-8"?>
<p:sldLayout xmlns:a="http://schemas.openxmlformats.org/drawingml/2006/main" xmlns:r="http://schemas.openxmlformats.org/officeDocument/2006/relationships" xmlns:p="http://schemas.openxmlformats.org/presentationml/2006/main" type="tx">
  <p:cSld name="Photo - Vertical">
    <p:spTree>
      <p:nvGrpSpPr>
        <p:cNvPr id="1" name=""/>
        <p:cNvGrpSpPr/>
        <p:nvPr/>
      </p:nvGrpSpPr>
      <p:grpSpPr>
        <a:xfrm>
          <a:off x="0" y="0"/>
          <a:ext cx="0" cy="0"/>
          <a:chOff x="0" y="0"/>
          <a:chExt cx="0" cy="0"/>
        </a:xfrm>
      </p:grpSpPr>
      <p:sp>
        <p:nvSpPr>
          <p:cNvPr id="38" name="Shape 38"/>
          <p:cNvSpPr>
            <a:spLocks noGrp="1"/>
          </p:cNvSpPr>
          <p:nvPr>
            <p:ph type="pic" sz="half" idx="13"/>
          </p:nvPr>
        </p:nvSpPr>
        <p:spPr>
          <a:xfrm>
            <a:off x="19748973" y="1657352"/>
            <a:ext cx="14287502" cy="17259300"/>
          </a:xfrm>
          <a:prstGeom prst="rect">
            <a:avLst/>
          </a:prstGeom>
        </p:spPr>
        <p:txBody>
          <a:bodyPr lIns="91439" tIns="45719" rIns="91439" bIns="45719" anchor="t">
            <a:noAutofit/>
          </a:bodyPr>
          <a:lstStyle/>
          <a:p>
            <a:endParaRPr/>
          </a:p>
        </p:txBody>
      </p:sp>
      <p:sp>
        <p:nvSpPr>
          <p:cNvPr id="39" name="Shape 39"/>
          <p:cNvSpPr>
            <a:spLocks noGrp="1"/>
          </p:cNvSpPr>
          <p:nvPr>
            <p:ph type="title"/>
          </p:nvPr>
        </p:nvSpPr>
        <p:spPr>
          <a:xfrm>
            <a:off x="2476503" y="1657350"/>
            <a:ext cx="15335250" cy="8420100"/>
          </a:xfrm>
          <a:prstGeom prst="rect">
            <a:avLst/>
          </a:prstGeom>
        </p:spPr>
        <p:txBody>
          <a:bodyPr anchor="b"/>
          <a:lstStyle>
            <a:lvl1pPr>
              <a:defRPr sz="12598"/>
            </a:lvl1pPr>
          </a:lstStyle>
          <a:p>
            <a:r>
              <a:t>Title Text</a:t>
            </a:r>
          </a:p>
        </p:txBody>
      </p:sp>
      <p:sp>
        <p:nvSpPr>
          <p:cNvPr id="40" name="Shape 40"/>
          <p:cNvSpPr>
            <a:spLocks noGrp="1"/>
          </p:cNvSpPr>
          <p:nvPr>
            <p:ph type="body" sz="quarter" idx="1"/>
          </p:nvPr>
        </p:nvSpPr>
        <p:spPr>
          <a:xfrm>
            <a:off x="2476503" y="10267950"/>
            <a:ext cx="15335250" cy="8648700"/>
          </a:xfrm>
          <a:prstGeom prst="rect">
            <a:avLst/>
          </a:prstGeom>
        </p:spPr>
        <p:txBody>
          <a:bodyPr anchor="t"/>
          <a:lstStyle>
            <a:lvl1pPr marL="0" indent="0" algn="ctr">
              <a:spcBef>
                <a:spcPts val="0"/>
              </a:spcBef>
              <a:buSzTx/>
              <a:buNone/>
              <a:defRPr sz="6600"/>
            </a:lvl1pPr>
            <a:lvl2pPr marL="0" indent="342882" algn="ctr">
              <a:spcBef>
                <a:spcPts val="0"/>
              </a:spcBef>
              <a:buSzTx/>
              <a:buNone/>
              <a:defRPr sz="6600"/>
            </a:lvl2pPr>
            <a:lvl3pPr marL="0" indent="685764" algn="ctr">
              <a:spcBef>
                <a:spcPts val="0"/>
              </a:spcBef>
              <a:buSzTx/>
              <a:buNone/>
              <a:defRPr sz="6600"/>
            </a:lvl3pPr>
            <a:lvl4pPr marL="0" indent="1028644" algn="ctr">
              <a:spcBef>
                <a:spcPts val="0"/>
              </a:spcBef>
              <a:buSzTx/>
              <a:buNone/>
              <a:defRPr sz="6600"/>
            </a:lvl4pPr>
            <a:lvl5pPr marL="0" indent="1371526" algn="ctr">
              <a:spcBef>
                <a:spcPts val="0"/>
              </a:spcBef>
              <a:buSzTx/>
              <a:buNone/>
              <a:defRPr sz="6600"/>
            </a:lvl5pPr>
          </a:lstStyle>
          <a:p>
            <a:r>
              <a:t>Body Level One</a:t>
            </a:r>
          </a:p>
          <a:p>
            <a:pPr lvl="1"/>
            <a:r>
              <a:t>Body Level Two</a:t>
            </a:r>
          </a:p>
          <a:p>
            <a:pPr lvl="2"/>
            <a:r>
              <a:t>Body Level Three</a:t>
            </a:r>
          </a:p>
          <a:p>
            <a:pPr lvl="3"/>
            <a:r>
              <a:t>Body Level Four</a:t>
            </a:r>
          </a:p>
          <a:p>
            <a:pPr lvl="4"/>
            <a:r>
              <a:t>Body Level Five</a:t>
            </a:r>
          </a:p>
        </p:txBody>
      </p:sp>
      <p:sp>
        <p:nvSpPr>
          <p:cNvPr id="41" name="Shape 41"/>
          <p:cNvSpPr>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4.xml><?xml version="1.0" encoding="utf-8"?>
<p:sldLayout xmlns:a="http://schemas.openxmlformats.org/drawingml/2006/main" xmlns:r="http://schemas.openxmlformats.org/officeDocument/2006/relationships" xmlns:p="http://schemas.openxmlformats.org/presentationml/2006/main" type="tx">
  <p:cSld name="Title - Top">
    <p:spTree>
      <p:nvGrpSpPr>
        <p:cNvPr id="1" name=""/>
        <p:cNvGrpSpPr/>
        <p:nvPr/>
      </p:nvGrpSpPr>
      <p:grpSpPr>
        <a:xfrm>
          <a:off x="0" y="0"/>
          <a:ext cx="0" cy="0"/>
          <a:chOff x="0" y="0"/>
          <a:chExt cx="0" cy="0"/>
        </a:xfrm>
      </p:grpSpPr>
      <p:sp>
        <p:nvSpPr>
          <p:cNvPr id="48" name="Shape 48"/>
          <p:cNvSpPr>
            <a:spLocks noGrp="1"/>
          </p:cNvSpPr>
          <p:nvPr>
            <p:ph type="title"/>
          </p:nvPr>
        </p:nvSpPr>
        <p:spPr>
          <a:prstGeom prst="rect">
            <a:avLst/>
          </a:prstGeom>
        </p:spPr>
        <p:txBody>
          <a:bodyPr/>
          <a:lstStyle/>
          <a:p>
            <a:r>
              <a:t>Title Text</a:t>
            </a:r>
          </a:p>
        </p:txBody>
      </p:sp>
      <p:sp>
        <p:nvSpPr>
          <p:cNvPr id="49" name="Shape 49"/>
          <p:cNvSpPr>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5.xml><?xml version="1.0" encoding="utf-8"?>
<p:sldLayout xmlns:a="http://schemas.openxmlformats.org/drawingml/2006/main" xmlns:r="http://schemas.openxmlformats.org/officeDocument/2006/relationships" xmlns:p="http://schemas.openxmlformats.org/presentationml/2006/main" type="tx">
  <p:cSld name="Title &amp; Bullets">
    <p:spTree>
      <p:nvGrpSpPr>
        <p:cNvPr id="1" name=""/>
        <p:cNvGrpSpPr/>
        <p:nvPr/>
      </p:nvGrpSpPr>
      <p:grpSpPr>
        <a:xfrm>
          <a:off x="0" y="0"/>
          <a:ext cx="0" cy="0"/>
          <a:chOff x="0" y="0"/>
          <a:chExt cx="0" cy="0"/>
        </a:xfrm>
      </p:grpSpPr>
      <p:sp>
        <p:nvSpPr>
          <p:cNvPr id="56" name="Shape 56"/>
          <p:cNvSpPr>
            <a:spLocks noGrp="1"/>
          </p:cNvSpPr>
          <p:nvPr>
            <p:ph type="title"/>
          </p:nvPr>
        </p:nvSpPr>
        <p:spPr>
          <a:prstGeom prst="rect">
            <a:avLst/>
          </a:prstGeom>
        </p:spPr>
        <p:txBody>
          <a:bodyPr/>
          <a:lstStyle/>
          <a:p>
            <a:r>
              <a:t>Title Text</a:t>
            </a:r>
          </a:p>
        </p:txBody>
      </p:sp>
      <p:sp>
        <p:nvSpPr>
          <p:cNvPr id="57" name="Shape 57"/>
          <p:cNvSpPr>
            <a:spLocks noGrp="1"/>
          </p:cNvSpPr>
          <p:nvPr>
            <p:ph type="body" idx="1"/>
          </p:nvPr>
        </p:nvSpPr>
        <p:spPr>
          <a:prstGeom prst="rect">
            <a:avLst/>
          </a:prstGeom>
        </p:spPr>
        <p:txBody>
          <a:bodyPr/>
          <a:lstStyle/>
          <a:p>
            <a:r>
              <a:t>Body Level One</a:t>
            </a:r>
          </a:p>
          <a:p>
            <a:pPr lvl="1"/>
            <a:r>
              <a:t>Body Level Two</a:t>
            </a:r>
          </a:p>
          <a:p>
            <a:pPr lvl="2"/>
            <a:r>
              <a:t>Body Level Three</a:t>
            </a:r>
          </a:p>
          <a:p>
            <a:pPr lvl="3"/>
            <a:r>
              <a:t>Body Level Four</a:t>
            </a:r>
          </a:p>
          <a:p>
            <a:pPr lvl="4"/>
            <a:r>
              <a:t>Body Level Five</a:t>
            </a:r>
          </a:p>
        </p:txBody>
      </p:sp>
      <p:sp>
        <p:nvSpPr>
          <p:cNvPr id="58" name="Shape 58"/>
          <p:cNvSpPr>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6.xml><?xml version="1.0" encoding="utf-8"?>
<p:sldLayout xmlns:a="http://schemas.openxmlformats.org/drawingml/2006/main" xmlns:r="http://schemas.openxmlformats.org/officeDocument/2006/relationships" xmlns:p="http://schemas.openxmlformats.org/presentationml/2006/main" type="tx">
  <p:cSld name="Title, Bullets &amp; Photo">
    <p:spTree>
      <p:nvGrpSpPr>
        <p:cNvPr id="1" name=""/>
        <p:cNvGrpSpPr/>
        <p:nvPr/>
      </p:nvGrpSpPr>
      <p:grpSpPr>
        <a:xfrm>
          <a:off x="0" y="0"/>
          <a:ext cx="0" cy="0"/>
          <a:chOff x="0" y="0"/>
          <a:chExt cx="0" cy="0"/>
        </a:xfrm>
      </p:grpSpPr>
      <p:sp>
        <p:nvSpPr>
          <p:cNvPr id="65" name="Shape 65"/>
          <p:cNvSpPr>
            <a:spLocks noGrp="1"/>
          </p:cNvSpPr>
          <p:nvPr>
            <p:ph type="pic" sz="half" idx="13"/>
          </p:nvPr>
        </p:nvSpPr>
        <p:spPr>
          <a:xfrm>
            <a:off x="19754850" y="4857753"/>
            <a:ext cx="14287500" cy="13811250"/>
          </a:xfrm>
          <a:prstGeom prst="rect">
            <a:avLst/>
          </a:prstGeom>
        </p:spPr>
        <p:txBody>
          <a:bodyPr lIns="91439" tIns="45719" rIns="91439" bIns="45719" anchor="t">
            <a:noAutofit/>
          </a:bodyPr>
          <a:lstStyle/>
          <a:p>
            <a:endParaRPr/>
          </a:p>
        </p:txBody>
      </p:sp>
      <p:sp>
        <p:nvSpPr>
          <p:cNvPr id="66" name="Shape 66"/>
          <p:cNvSpPr>
            <a:spLocks noGrp="1"/>
          </p:cNvSpPr>
          <p:nvPr>
            <p:ph type="title"/>
          </p:nvPr>
        </p:nvSpPr>
        <p:spPr>
          <a:prstGeom prst="rect">
            <a:avLst/>
          </a:prstGeom>
        </p:spPr>
        <p:txBody>
          <a:bodyPr/>
          <a:lstStyle/>
          <a:p>
            <a:r>
              <a:t>Title Text</a:t>
            </a:r>
          </a:p>
        </p:txBody>
      </p:sp>
      <p:sp>
        <p:nvSpPr>
          <p:cNvPr id="67" name="Shape 67"/>
          <p:cNvSpPr>
            <a:spLocks noGrp="1"/>
          </p:cNvSpPr>
          <p:nvPr>
            <p:ph type="body" sz="half" idx="1"/>
          </p:nvPr>
        </p:nvSpPr>
        <p:spPr>
          <a:xfrm>
            <a:off x="2533650" y="4857753"/>
            <a:ext cx="15011400" cy="13811250"/>
          </a:xfrm>
          <a:prstGeom prst="rect">
            <a:avLst/>
          </a:prstGeom>
        </p:spPr>
        <p:txBody>
          <a:bodyPr/>
          <a:lstStyle>
            <a:lvl1pPr marL="838154" indent="-838154">
              <a:spcBef>
                <a:spcPts val="6750"/>
              </a:spcBef>
              <a:defRPr sz="6750"/>
            </a:lvl1pPr>
            <a:lvl2pPr marL="1676310" indent="-838154">
              <a:spcBef>
                <a:spcPts val="6750"/>
              </a:spcBef>
              <a:defRPr sz="6750"/>
            </a:lvl2pPr>
            <a:lvl3pPr marL="2514464" indent="-838154">
              <a:spcBef>
                <a:spcPts val="6750"/>
              </a:spcBef>
              <a:defRPr sz="6750"/>
            </a:lvl3pPr>
            <a:lvl4pPr marL="3352620" indent="-838154">
              <a:spcBef>
                <a:spcPts val="6750"/>
              </a:spcBef>
              <a:defRPr sz="6750"/>
            </a:lvl4pPr>
            <a:lvl5pPr marL="4190774" indent="-838154">
              <a:spcBef>
                <a:spcPts val="6750"/>
              </a:spcBef>
              <a:defRPr sz="6750"/>
            </a:lvl5pPr>
          </a:lstStyle>
          <a:p>
            <a:r>
              <a:t>Body Level One</a:t>
            </a:r>
          </a:p>
          <a:p>
            <a:pPr lvl="1"/>
            <a:r>
              <a:t>Body Level Two</a:t>
            </a:r>
          </a:p>
          <a:p>
            <a:pPr lvl="2"/>
            <a:r>
              <a:t>Body Level Three</a:t>
            </a:r>
          </a:p>
          <a:p>
            <a:pPr lvl="3"/>
            <a:r>
              <a:t>Body Level Four</a:t>
            </a:r>
          </a:p>
          <a:p>
            <a:pPr lvl="4"/>
            <a:r>
              <a:t>Body Level Five</a:t>
            </a:r>
          </a:p>
        </p:txBody>
      </p:sp>
      <p:sp>
        <p:nvSpPr>
          <p:cNvPr id="68" name="Shape 68"/>
          <p:cNvSpPr>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7.xml><?xml version="1.0" encoding="utf-8"?>
<p:sldLayout xmlns:a="http://schemas.openxmlformats.org/drawingml/2006/main" xmlns:r="http://schemas.openxmlformats.org/officeDocument/2006/relationships" xmlns:p="http://schemas.openxmlformats.org/presentationml/2006/main" type="tx">
  <p:cSld name="Bullets">
    <p:spTree>
      <p:nvGrpSpPr>
        <p:cNvPr id="1" name=""/>
        <p:cNvGrpSpPr/>
        <p:nvPr/>
      </p:nvGrpSpPr>
      <p:grpSpPr>
        <a:xfrm>
          <a:off x="0" y="0"/>
          <a:ext cx="0" cy="0"/>
          <a:chOff x="0" y="0"/>
          <a:chExt cx="0" cy="0"/>
        </a:xfrm>
      </p:grpSpPr>
      <p:sp>
        <p:nvSpPr>
          <p:cNvPr id="75" name="Shape 75"/>
          <p:cNvSpPr>
            <a:spLocks noGrp="1"/>
          </p:cNvSpPr>
          <p:nvPr>
            <p:ph type="body" idx="1"/>
          </p:nvPr>
        </p:nvSpPr>
        <p:spPr>
          <a:xfrm>
            <a:off x="2533650" y="2667001"/>
            <a:ext cx="31508700" cy="15220950"/>
          </a:xfrm>
          <a:prstGeom prst="rect">
            <a:avLst/>
          </a:prstGeom>
        </p:spPr>
        <p:txBody>
          <a:bodyPr/>
          <a:lstStyle/>
          <a:p>
            <a:r>
              <a:t>Body Level One</a:t>
            </a:r>
          </a:p>
          <a:p>
            <a:pPr lvl="1"/>
            <a:r>
              <a:t>Body Level Two</a:t>
            </a:r>
          </a:p>
          <a:p>
            <a:pPr lvl="2"/>
            <a:r>
              <a:t>Body Level Three</a:t>
            </a:r>
          </a:p>
          <a:p>
            <a:pPr lvl="3"/>
            <a:r>
              <a:t>Body Level Four</a:t>
            </a:r>
          </a:p>
          <a:p>
            <a:pPr lvl="4"/>
            <a:r>
              <a:t>Body Level Five</a:t>
            </a:r>
          </a:p>
        </p:txBody>
      </p:sp>
      <p:sp>
        <p:nvSpPr>
          <p:cNvPr id="76" name="Shape 76"/>
          <p:cNvSpPr>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8.xml><?xml version="1.0" encoding="utf-8"?>
<p:sldLayout xmlns:a="http://schemas.openxmlformats.org/drawingml/2006/main" xmlns:r="http://schemas.openxmlformats.org/officeDocument/2006/relationships" xmlns:p="http://schemas.openxmlformats.org/presentationml/2006/main" type="tx">
  <p:cSld name="Photo - 3 Up">
    <p:spTree>
      <p:nvGrpSpPr>
        <p:cNvPr id="1" name=""/>
        <p:cNvGrpSpPr/>
        <p:nvPr/>
      </p:nvGrpSpPr>
      <p:grpSpPr>
        <a:xfrm>
          <a:off x="0" y="0"/>
          <a:ext cx="0" cy="0"/>
          <a:chOff x="0" y="0"/>
          <a:chExt cx="0" cy="0"/>
        </a:xfrm>
      </p:grpSpPr>
      <p:sp>
        <p:nvSpPr>
          <p:cNvPr id="83" name="Shape 83"/>
          <p:cNvSpPr>
            <a:spLocks noGrp="1"/>
          </p:cNvSpPr>
          <p:nvPr>
            <p:ph type="pic" sz="quarter" idx="13"/>
          </p:nvPr>
        </p:nvSpPr>
        <p:spPr>
          <a:xfrm>
            <a:off x="23641053" y="10572751"/>
            <a:ext cx="11106150" cy="8324850"/>
          </a:xfrm>
          <a:prstGeom prst="rect">
            <a:avLst/>
          </a:prstGeom>
        </p:spPr>
        <p:txBody>
          <a:bodyPr lIns="91439" tIns="45719" rIns="91439" bIns="45719" anchor="t">
            <a:noAutofit/>
          </a:bodyPr>
          <a:lstStyle/>
          <a:p>
            <a:endParaRPr/>
          </a:p>
        </p:txBody>
      </p:sp>
      <p:sp>
        <p:nvSpPr>
          <p:cNvPr id="84" name="Shape 84"/>
          <p:cNvSpPr>
            <a:spLocks noGrp="1"/>
          </p:cNvSpPr>
          <p:nvPr>
            <p:ph type="pic" sz="quarter" idx="14"/>
          </p:nvPr>
        </p:nvSpPr>
        <p:spPr>
          <a:xfrm>
            <a:off x="23641053" y="1695451"/>
            <a:ext cx="11106150" cy="8324850"/>
          </a:xfrm>
          <a:prstGeom prst="rect">
            <a:avLst/>
          </a:prstGeom>
        </p:spPr>
        <p:txBody>
          <a:bodyPr lIns="91439" tIns="45719" rIns="91439" bIns="45719" anchor="t">
            <a:noAutofit/>
          </a:bodyPr>
          <a:lstStyle/>
          <a:p>
            <a:endParaRPr/>
          </a:p>
        </p:txBody>
      </p:sp>
      <p:sp>
        <p:nvSpPr>
          <p:cNvPr id="85" name="Shape 85"/>
          <p:cNvSpPr>
            <a:spLocks noGrp="1"/>
          </p:cNvSpPr>
          <p:nvPr>
            <p:ph type="pic" idx="15"/>
          </p:nvPr>
        </p:nvSpPr>
        <p:spPr>
          <a:xfrm>
            <a:off x="1809750" y="1695451"/>
            <a:ext cx="21259800" cy="17202150"/>
          </a:xfrm>
          <a:prstGeom prst="rect">
            <a:avLst/>
          </a:prstGeom>
        </p:spPr>
        <p:txBody>
          <a:bodyPr lIns="91439" tIns="45719" rIns="91439" bIns="45719" anchor="t">
            <a:noAutofit/>
          </a:bodyPr>
          <a:lstStyle/>
          <a:p>
            <a:endParaRPr/>
          </a:p>
        </p:txBody>
      </p:sp>
      <p:sp>
        <p:nvSpPr>
          <p:cNvPr id="86" name="Shape 86"/>
          <p:cNvSpPr>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9.xml><?xml version="1.0" encoding="utf-8"?>
<p:sldLayout xmlns:a="http://schemas.openxmlformats.org/drawingml/2006/main" xmlns:r="http://schemas.openxmlformats.org/officeDocument/2006/relationships" xmlns:p="http://schemas.openxmlformats.org/presentationml/2006/main" type="tx">
  <p:cSld name="Quote">
    <p:spTree>
      <p:nvGrpSpPr>
        <p:cNvPr id="1" name=""/>
        <p:cNvGrpSpPr/>
        <p:nvPr/>
      </p:nvGrpSpPr>
      <p:grpSpPr>
        <a:xfrm>
          <a:off x="0" y="0"/>
          <a:ext cx="0" cy="0"/>
          <a:chOff x="0" y="0"/>
          <a:chExt cx="0" cy="0"/>
        </a:xfrm>
      </p:grpSpPr>
      <p:sp>
        <p:nvSpPr>
          <p:cNvPr id="93" name="Shape 93"/>
          <p:cNvSpPr>
            <a:spLocks noGrp="1"/>
          </p:cNvSpPr>
          <p:nvPr>
            <p:ph type="body" sz="quarter" idx="13"/>
          </p:nvPr>
        </p:nvSpPr>
        <p:spPr>
          <a:xfrm>
            <a:off x="3581403" y="13430251"/>
            <a:ext cx="29432250" cy="979755"/>
          </a:xfrm>
          <a:prstGeom prst="rect">
            <a:avLst/>
          </a:prstGeom>
        </p:spPr>
        <p:txBody>
          <a:bodyPr anchor="t">
            <a:spAutoFit/>
          </a:bodyPr>
          <a:lstStyle>
            <a:lvl1pPr marL="0" indent="0" algn="ctr">
              <a:spcBef>
                <a:spcPts val="0"/>
              </a:spcBef>
              <a:buSzTx/>
              <a:buNone/>
              <a:defRPr sz="5700">
                <a:latin typeface="Helvetica"/>
                <a:ea typeface="Helvetica"/>
                <a:cs typeface="Helvetica"/>
                <a:sym typeface="Helvetica"/>
              </a:defRPr>
            </a:lvl1pPr>
          </a:lstStyle>
          <a:p>
            <a:r>
              <a:t>–Johnny Appleseed</a:t>
            </a:r>
          </a:p>
        </p:txBody>
      </p:sp>
      <p:sp>
        <p:nvSpPr>
          <p:cNvPr id="94" name="Shape 94"/>
          <p:cNvSpPr>
            <a:spLocks noGrp="1"/>
          </p:cNvSpPr>
          <p:nvPr>
            <p:ph type="body" sz="quarter" idx="14"/>
          </p:nvPr>
        </p:nvSpPr>
        <p:spPr>
          <a:xfrm>
            <a:off x="3581403" y="9083251"/>
            <a:ext cx="29432250" cy="1302601"/>
          </a:xfrm>
          <a:prstGeom prst="rect">
            <a:avLst/>
          </a:prstGeom>
        </p:spPr>
        <p:txBody>
          <a:bodyPr>
            <a:spAutoFit/>
          </a:bodyPr>
          <a:lstStyle>
            <a:lvl1pPr marL="0" indent="0" algn="ctr">
              <a:spcBef>
                <a:spcPts val="0"/>
              </a:spcBef>
              <a:buSzTx/>
              <a:buNone/>
            </a:lvl1pPr>
          </a:lstStyle>
          <a:p>
            <a:r>
              <a:t>“Type a quote here.” </a:t>
            </a:r>
          </a:p>
        </p:txBody>
      </p:sp>
      <p:sp>
        <p:nvSpPr>
          <p:cNvPr id="95" name="Shape 95"/>
          <p:cNvSpPr>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0.xml><?xml version="1.0" encoding="utf-8"?>
<p:sldLayout xmlns:a="http://schemas.openxmlformats.org/drawingml/2006/main" xmlns:r="http://schemas.openxmlformats.org/officeDocument/2006/relationships" xmlns:p="http://schemas.openxmlformats.org/presentationml/2006/main" type="tx">
  <p:cSld name="Photo">
    <p:spTree>
      <p:nvGrpSpPr>
        <p:cNvPr id="1" name=""/>
        <p:cNvGrpSpPr/>
        <p:nvPr/>
      </p:nvGrpSpPr>
      <p:grpSpPr>
        <a:xfrm>
          <a:off x="0" y="0"/>
          <a:ext cx="0" cy="0"/>
          <a:chOff x="0" y="0"/>
          <a:chExt cx="0" cy="0"/>
        </a:xfrm>
      </p:grpSpPr>
      <p:sp>
        <p:nvSpPr>
          <p:cNvPr id="102" name="Shape 102"/>
          <p:cNvSpPr>
            <a:spLocks noGrp="1"/>
          </p:cNvSpPr>
          <p:nvPr>
            <p:ph type="pic" idx="13"/>
          </p:nvPr>
        </p:nvSpPr>
        <p:spPr>
          <a:xfrm>
            <a:off x="0" y="2"/>
            <a:ext cx="36576000" cy="20574000"/>
          </a:xfrm>
          <a:prstGeom prst="rect">
            <a:avLst/>
          </a:prstGeom>
        </p:spPr>
        <p:txBody>
          <a:bodyPr lIns="91439" tIns="45719" rIns="91439" bIns="45719" anchor="t">
            <a:noAutofit/>
          </a:bodyPr>
          <a:lstStyle/>
          <a:p>
            <a:endParaRPr/>
          </a:p>
        </p:txBody>
      </p:sp>
      <p:sp>
        <p:nvSpPr>
          <p:cNvPr id="103" name="Shape 103"/>
          <p:cNvSpPr>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1.xml><?xml version="1.0" encoding="utf-8"?>
<p:sldLayout xmlns:a="http://schemas.openxmlformats.org/drawingml/2006/main" xmlns:r="http://schemas.openxmlformats.org/officeDocument/2006/relationships" xmlns:p="http://schemas.openxmlformats.org/presentationml/2006/main" type="tx">
  <p:cSld name="Blank">
    <p:spTree>
      <p:nvGrpSpPr>
        <p:cNvPr id="1" name=""/>
        <p:cNvGrpSpPr/>
        <p:nvPr/>
      </p:nvGrpSpPr>
      <p:grpSpPr>
        <a:xfrm>
          <a:off x="0" y="0"/>
          <a:ext cx="0" cy="0"/>
          <a:chOff x="0" y="0"/>
          <a:chExt cx="0" cy="0"/>
        </a:xfrm>
      </p:grpSpPr>
      <p:sp>
        <p:nvSpPr>
          <p:cNvPr id="110" name="Shape 110"/>
          <p:cNvSpPr>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2"/>
          <p:cNvSpPr>
            <a:spLocks noGrp="1"/>
          </p:cNvSpPr>
          <p:nvPr>
            <p:ph type="title"/>
          </p:nvPr>
        </p:nvSpPr>
        <p:spPr>
          <a:xfrm>
            <a:off x="2533650" y="1428750"/>
            <a:ext cx="31508700" cy="3429000"/>
          </a:xfrm>
          <a:prstGeom prst="rect">
            <a:avLst/>
          </a:prstGeom>
          <a:ln w="12700">
            <a:miter lim="400000"/>
          </a:ln>
          <a:extLst>
            <a:ext uri="{C572A759-6A51-4108-AA02-DFA0A04FC94B}">
              <ma14:wrappingTextBoxFlag xmlns:ma14="http://schemas.microsoft.com/office/mac/drawingml/2011/main" xmlns="" val="1"/>
            </a:ext>
          </a:extLst>
        </p:spPr>
        <p:txBody>
          <a:bodyPr lIns="50800" tIns="50800" rIns="50800" bIns="50800" anchor="ctr">
            <a:normAutofit/>
          </a:bodyPr>
          <a:lstStyle/>
          <a:p>
            <a:r>
              <a:t>Title Text</a:t>
            </a:r>
          </a:p>
        </p:txBody>
      </p:sp>
      <p:sp>
        <p:nvSpPr>
          <p:cNvPr id="3" name="Shape 3"/>
          <p:cNvSpPr>
            <a:spLocks noGrp="1"/>
          </p:cNvSpPr>
          <p:nvPr>
            <p:ph type="body" idx="1"/>
          </p:nvPr>
        </p:nvSpPr>
        <p:spPr>
          <a:xfrm>
            <a:off x="2533650" y="4857753"/>
            <a:ext cx="31508700" cy="13811250"/>
          </a:xfrm>
          <a:prstGeom prst="rect">
            <a:avLst/>
          </a:prstGeom>
          <a:ln w="12700">
            <a:miter lim="400000"/>
          </a:ln>
          <a:extLst>
            <a:ext uri="{C572A759-6A51-4108-AA02-DFA0A04FC94B}">
              <ma14:wrappingTextBoxFlag xmlns:ma14="http://schemas.microsoft.com/office/mac/drawingml/2011/main" xmlns="" val="1"/>
            </a:ext>
          </a:extLst>
        </p:spPr>
        <p:txBody>
          <a:bodyPr lIns="50800" tIns="50800" rIns="50800" bIns="50800" anchor="ctr">
            <a:normAutofit/>
          </a:bodyPr>
          <a:lstStyle/>
          <a:p>
            <a:r>
              <a:t>Body Level One</a:t>
            </a:r>
          </a:p>
          <a:p>
            <a:pPr lvl="1"/>
            <a:r>
              <a:t>Body Level Two</a:t>
            </a:r>
          </a:p>
          <a:p>
            <a:pPr lvl="2"/>
            <a:r>
              <a:t>Body Level Three</a:t>
            </a:r>
          </a:p>
          <a:p>
            <a:pPr lvl="3"/>
            <a:r>
              <a:t>Body Level Four</a:t>
            </a:r>
          </a:p>
          <a:p>
            <a:pPr lvl="4"/>
            <a:r>
              <a:t>Body Level Five</a:t>
            </a:r>
          </a:p>
        </p:txBody>
      </p:sp>
      <p:sp>
        <p:nvSpPr>
          <p:cNvPr id="4" name="Shape 4"/>
          <p:cNvSpPr>
            <a:spLocks noGrp="1"/>
          </p:cNvSpPr>
          <p:nvPr>
            <p:ph type="sldNum" sz="quarter" idx="2"/>
          </p:nvPr>
        </p:nvSpPr>
        <p:spPr>
          <a:xfrm>
            <a:off x="17880931" y="19621502"/>
            <a:ext cx="795089" cy="656590"/>
          </a:xfrm>
          <a:prstGeom prst="rect">
            <a:avLst/>
          </a:prstGeom>
          <a:ln w="12700">
            <a:miter lim="400000"/>
          </a:ln>
        </p:spPr>
        <p:txBody>
          <a:bodyPr wrap="none" lIns="50800" tIns="50800" rIns="50800" bIns="50800">
            <a:spAutoFit/>
          </a:bodyPr>
          <a:lstStyle>
            <a:lvl1pPr>
              <a:defRPr sz="3600"/>
            </a:lvl1pPr>
          </a:lstStyle>
          <a:p>
            <a:fld id="{86CB4B4D-7CA3-9044-876B-883B54F8677D}" type="slidenum">
              <a:t>‹#›</a:t>
            </a:fld>
            <a:endParaRPr/>
          </a:p>
        </p:txBody>
      </p:sp>
    </p:spTree>
  </p:cSld>
  <p:clrMap bg1="lt1" tx1="dk1" bg2="lt2" tx2="dk2" accent1="accent1" accent2="accent2" accent3="accent3" accent4="accent4" accent5="accent5" accent6="accent6" hlink="hlink" folHlink="folHlink"/>
  <p:sldLayoutIdLst>
    <p:sldLayoutId id="2147483650"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 id="2147483660" r:id="rId11"/>
  </p:sldLayoutIdLst>
  <p:transition spd="med"/>
  <p:txStyles>
    <p:titleStyle>
      <a:lvl1pPr marL="0" marR="0" indent="0" algn="ctr" defTabSz="1238182" rtl="0" latinLnBrk="0">
        <a:lnSpc>
          <a:spcPct val="100000"/>
        </a:lnSpc>
        <a:spcBef>
          <a:spcPts val="0"/>
        </a:spcBef>
        <a:spcAft>
          <a:spcPts val="0"/>
        </a:spcAft>
        <a:buClrTx/>
        <a:buSzTx/>
        <a:buFontTx/>
        <a:buNone/>
        <a:tabLst/>
        <a:defRPr sz="16800" b="0" i="0" u="none" strike="noStrike" cap="none" spc="0" baseline="0">
          <a:ln>
            <a:noFill/>
          </a:ln>
          <a:solidFill>
            <a:srgbClr val="000000"/>
          </a:solidFill>
          <a:uFillTx/>
          <a:latin typeface="+mn-lt"/>
          <a:ea typeface="+mn-ea"/>
          <a:cs typeface="+mn-cs"/>
          <a:sym typeface="Helvetica Light"/>
        </a:defRPr>
      </a:lvl1pPr>
      <a:lvl2pPr marL="0" marR="0" indent="342882" algn="ctr" defTabSz="1238182" rtl="0" latinLnBrk="0">
        <a:lnSpc>
          <a:spcPct val="100000"/>
        </a:lnSpc>
        <a:spcBef>
          <a:spcPts val="0"/>
        </a:spcBef>
        <a:spcAft>
          <a:spcPts val="0"/>
        </a:spcAft>
        <a:buClrTx/>
        <a:buSzTx/>
        <a:buFontTx/>
        <a:buNone/>
        <a:tabLst/>
        <a:defRPr sz="16800" b="0" i="0" u="none" strike="noStrike" cap="none" spc="0" baseline="0">
          <a:ln>
            <a:noFill/>
          </a:ln>
          <a:solidFill>
            <a:srgbClr val="000000"/>
          </a:solidFill>
          <a:uFillTx/>
          <a:latin typeface="+mn-lt"/>
          <a:ea typeface="+mn-ea"/>
          <a:cs typeface="+mn-cs"/>
          <a:sym typeface="Helvetica Light"/>
        </a:defRPr>
      </a:lvl2pPr>
      <a:lvl3pPr marL="0" marR="0" indent="685764" algn="ctr" defTabSz="1238182" rtl="0" latinLnBrk="0">
        <a:lnSpc>
          <a:spcPct val="100000"/>
        </a:lnSpc>
        <a:spcBef>
          <a:spcPts val="0"/>
        </a:spcBef>
        <a:spcAft>
          <a:spcPts val="0"/>
        </a:spcAft>
        <a:buClrTx/>
        <a:buSzTx/>
        <a:buFontTx/>
        <a:buNone/>
        <a:tabLst/>
        <a:defRPr sz="16800" b="0" i="0" u="none" strike="noStrike" cap="none" spc="0" baseline="0">
          <a:ln>
            <a:noFill/>
          </a:ln>
          <a:solidFill>
            <a:srgbClr val="000000"/>
          </a:solidFill>
          <a:uFillTx/>
          <a:latin typeface="+mn-lt"/>
          <a:ea typeface="+mn-ea"/>
          <a:cs typeface="+mn-cs"/>
          <a:sym typeface="Helvetica Light"/>
        </a:defRPr>
      </a:lvl3pPr>
      <a:lvl4pPr marL="0" marR="0" indent="1028644" algn="ctr" defTabSz="1238182" rtl="0" latinLnBrk="0">
        <a:lnSpc>
          <a:spcPct val="100000"/>
        </a:lnSpc>
        <a:spcBef>
          <a:spcPts val="0"/>
        </a:spcBef>
        <a:spcAft>
          <a:spcPts val="0"/>
        </a:spcAft>
        <a:buClrTx/>
        <a:buSzTx/>
        <a:buFontTx/>
        <a:buNone/>
        <a:tabLst/>
        <a:defRPr sz="16800" b="0" i="0" u="none" strike="noStrike" cap="none" spc="0" baseline="0">
          <a:ln>
            <a:noFill/>
          </a:ln>
          <a:solidFill>
            <a:srgbClr val="000000"/>
          </a:solidFill>
          <a:uFillTx/>
          <a:latin typeface="+mn-lt"/>
          <a:ea typeface="+mn-ea"/>
          <a:cs typeface="+mn-cs"/>
          <a:sym typeface="Helvetica Light"/>
        </a:defRPr>
      </a:lvl4pPr>
      <a:lvl5pPr marL="0" marR="0" indent="1371526" algn="ctr" defTabSz="1238182" rtl="0" latinLnBrk="0">
        <a:lnSpc>
          <a:spcPct val="100000"/>
        </a:lnSpc>
        <a:spcBef>
          <a:spcPts val="0"/>
        </a:spcBef>
        <a:spcAft>
          <a:spcPts val="0"/>
        </a:spcAft>
        <a:buClrTx/>
        <a:buSzTx/>
        <a:buFontTx/>
        <a:buNone/>
        <a:tabLst/>
        <a:defRPr sz="16800" b="0" i="0" u="none" strike="noStrike" cap="none" spc="0" baseline="0">
          <a:ln>
            <a:noFill/>
          </a:ln>
          <a:solidFill>
            <a:srgbClr val="000000"/>
          </a:solidFill>
          <a:uFillTx/>
          <a:latin typeface="+mn-lt"/>
          <a:ea typeface="+mn-ea"/>
          <a:cs typeface="+mn-cs"/>
          <a:sym typeface="Helvetica Light"/>
        </a:defRPr>
      </a:lvl5pPr>
      <a:lvl6pPr marL="0" marR="0" indent="1714408" algn="ctr" defTabSz="1238182" rtl="0" latinLnBrk="0">
        <a:lnSpc>
          <a:spcPct val="100000"/>
        </a:lnSpc>
        <a:spcBef>
          <a:spcPts val="0"/>
        </a:spcBef>
        <a:spcAft>
          <a:spcPts val="0"/>
        </a:spcAft>
        <a:buClrTx/>
        <a:buSzTx/>
        <a:buFontTx/>
        <a:buNone/>
        <a:tabLst/>
        <a:defRPr sz="16800" b="0" i="0" u="none" strike="noStrike" cap="none" spc="0" baseline="0">
          <a:ln>
            <a:noFill/>
          </a:ln>
          <a:solidFill>
            <a:srgbClr val="000000"/>
          </a:solidFill>
          <a:uFillTx/>
          <a:latin typeface="+mn-lt"/>
          <a:ea typeface="+mn-ea"/>
          <a:cs typeface="+mn-cs"/>
          <a:sym typeface="Helvetica Light"/>
        </a:defRPr>
      </a:lvl6pPr>
      <a:lvl7pPr marL="0" marR="0" indent="2057290" algn="ctr" defTabSz="1238182" rtl="0" latinLnBrk="0">
        <a:lnSpc>
          <a:spcPct val="100000"/>
        </a:lnSpc>
        <a:spcBef>
          <a:spcPts val="0"/>
        </a:spcBef>
        <a:spcAft>
          <a:spcPts val="0"/>
        </a:spcAft>
        <a:buClrTx/>
        <a:buSzTx/>
        <a:buFontTx/>
        <a:buNone/>
        <a:tabLst/>
        <a:defRPr sz="16800" b="0" i="0" u="none" strike="noStrike" cap="none" spc="0" baseline="0">
          <a:ln>
            <a:noFill/>
          </a:ln>
          <a:solidFill>
            <a:srgbClr val="000000"/>
          </a:solidFill>
          <a:uFillTx/>
          <a:latin typeface="+mn-lt"/>
          <a:ea typeface="+mn-ea"/>
          <a:cs typeface="+mn-cs"/>
          <a:sym typeface="Helvetica Light"/>
        </a:defRPr>
      </a:lvl7pPr>
      <a:lvl8pPr marL="0" marR="0" indent="2400170" algn="ctr" defTabSz="1238182" rtl="0" latinLnBrk="0">
        <a:lnSpc>
          <a:spcPct val="100000"/>
        </a:lnSpc>
        <a:spcBef>
          <a:spcPts val="0"/>
        </a:spcBef>
        <a:spcAft>
          <a:spcPts val="0"/>
        </a:spcAft>
        <a:buClrTx/>
        <a:buSzTx/>
        <a:buFontTx/>
        <a:buNone/>
        <a:tabLst/>
        <a:defRPr sz="16800" b="0" i="0" u="none" strike="noStrike" cap="none" spc="0" baseline="0">
          <a:ln>
            <a:noFill/>
          </a:ln>
          <a:solidFill>
            <a:srgbClr val="000000"/>
          </a:solidFill>
          <a:uFillTx/>
          <a:latin typeface="+mn-lt"/>
          <a:ea typeface="+mn-ea"/>
          <a:cs typeface="+mn-cs"/>
          <a:sym typeface="Helvetica Light"/>
        </a:defRPr>
      </a:lvl8pPr>
      <a:lvl9pPr marL="0" marR="0" indent="2743052" algn="ctr" defTabSz="1238182" rtl="0" latinLnBrk="0">
        <a:lnSpc>
          <a:spcPct val="100000"/>
        </a:lnSpc>
        <a:spcBef>
          <a:spcPts val="0"/>
        </a:spcBef>
        <a:spcAft>
          <a:spcPts val="0"/>
        </a:spcAft>
        <a:buClrTx/>
        <a:buSzTx/>
        <a:buFontTx/>
        <a:buNone/>
        <a:tabLst/>
        <a:defRPr sz="16800" b="0" i="0" u="none" strike="noStrike" cap="none" spc="0" baseline="0">
          <a:ln>
            <a:noFill/>
          </a:ln>
          <a:solidFill>
            <a:srgbClr val="000000"/>
          </a:solidFill>
          <a:uFillTx/>
          <a:latin typeface="+mn-lt"/>
          <a:ea typeface="+mn-ea"/>
          <a:cs typeface="+mn-cs"/>
          <a:sym typeface="Helvetica Light"/>
        </a:defRPr>
      </a:lvl9pPr>
    </p:titleStyle>
    <p:bodyStyle>
      <a:lvl1pPr marL="952448" marR="0" indent="-952448" algn="l" defTabSz="1238182" rtl="0" latinLnBrk="0">
        <a:lnSpc>
          <a:spcPct val="100000"/>
        </a:lnSpc>
        <a:spcBef>
          <a:spcPts val="8850"/>
        </a:spcBef>
        <a:spcAft>
          <a:spcPts val="0"/>
        </a:spcAft>
        <a:buClrTx/>
        <a:buSzPct val="75000"/>
        <a:buFontTx/>
        <a:buChar char="•"/>
        <a:tabLst/>
        <a:defRPr sz="7798" b="0" i="0" u="none" strike="noStrike" cap="none" spc="0" baseline="0">
          <a:ln>
            <a:noFill/>
          </a:ln>
          <a:solidFill>
            <a:srgbClr val="000000"/>
          </a:solidFill>
          <a:uFillTx/>
          <a:latin typeface="+mn-lt"/>
          <a:ea typeface="+mn-ea"/>
          <a:cs typeface="+mn-cs"/>
          <a:sym typeface="Helvetica Light"/>
        </a:defRPr>
      </a:lvl1pPr>
      <a:lvl2pPr marL="1904898" marR="0" indent="-952448" algn="l" defTabSz="1238182" rtl="0" latinLnBrk="0">
        <a:lnSpc>
          <a:spcPct val="100000"/>
        </a:lnSpc>
        <a:spcBef>
          <a:spcPts val="8850"/>
        </a:spcBef>
        <a:spcAft>
          <a:spcPts val="0"/>
        </a:spcAft>
        <a:buClrTx/>
        <a:buSzPct val="75000"/>
        <a:buFontTx/>
        <a:buChar char="•"/>
        <a:tabLst/>
        <a:defRPr sz="7798" b="0" i="0" u="none" strike="noStrike" cap="none" spc="0" baseline="0">
          <a:ln>
            <a:noFill/>
          </a:ln>
          <a:solidFill>
            <a:srgbClr val="000000"/>
          </a:solidFill>
          <a:uFillTx/>
          <a:latin typeface="+mn-lt"/>
          <a:ea typeface="+mn-ea"/>
          <a:cs typeface="+mn-cs"/>
          <a:sym typeface="Helvetica Light"/>
        </a:defRPr>
      </a:lvl2pPr>
      <a:lvl3pPr marL="2857346" marR="0" indent="-952448" algn="l" defTabSz="1238182" rtl="0" latinLnBrk="0">
        <a:lnSpc>
          <a:spcPct val="100000"/>
        </a:lnSpc>
        <a:spcBef>
          <a:spcPts val="8850"/>
        </a:spcBef>
        <a:spcAft>
          <a:spcPts val="0"/>
        </a:spcAft>
        <a:buClrTx/>
        <a:buSzPct val="75000"/>
        <a:buFontTx/>
        <a:buChar char="•"/>
        <a:tabLst/>
        <a:defRPr sz="7798" b="0" i="0" u="none" strike="noStrike" cap="none" spc="0" baseline="0">
          <a:ln>
            <a:noFill/>
          </a:ln>
          <a:solidFill>
            <a:srgbClr val="000000"/>
          </a:solidFill>
          <a:uFillTx/>
          <a:latin typeface="+mn-lt"/>
          <a:ea typeface="+mn-ea"/>
          <a:cs typeface="+mn-cs"/>
          <a:sym typeface="Helvetica Light"/>
        </a:defRPr>
      </a:lvl3pPr>
      <a:lvl4pPr marL="3809796" marR="0" indent="-952448" algn="l" defTabSz="1238182" rtl="0" latinLnBrk="0">
        <a:lnSpc>
          <a:spcPct val="100000"/>
        </a:lnSpc>
        <a:spcBef>
          <a:spcPts val="8850"/>
        </a:spcBef>
        <a:spcAft>
          <a:spcPts val="0"/>
        </a:spcAft>
        <a:buClrTx/>
        <a:buSzPct val="75000"/>
        <a:buFontTx/>
        <a:buChar char="•"/>
        <a:tabLst/>
        <a:defRPr sz="7798" b="0" i="0" u="none" strike="noStrike" cap="none" spc="0" baseline="0">
          <a:ln>
            <a:noFill/>
          </a:ln>
          <a:solidFill>
            <a:srgbClr val="000000"/>
          </a:solidFill>
          <a:uFillTx/>
          <a:latin typeface="+mn-lt"/>
          <a:ea typeface="+mn-ea"/>
          <a:cs typeface="+mn-cs"/>
          <a:sym typeface="Helvetica Light"/>
        </a:defRPr>
      </a:lvl4pPr>
      <a:lvl5pPr marL="4762244" marR="0" indent="-952448" algn="l" defTabSz="1238182" rtl="0" latinLnBrk="0">
        <a:lnSpc>
          <a:spcPct val="100000"/>
        </a:lnSpc>
        <a:spcBef>
          <a:spcPts val="8850"/>
        </a:spcBef>
        <a:spcAft>
          <a:spcPts val="0"/>
        </a:spcAft>
        <a:buClrTx/>
        <a:buSzPct val="75000"/>
        <a:buFontTx/>
        <a:buChar char="•"/>
        <a:tabLst/>
        <a:defRPr sz="7798" b="0" i="0" u="none" strike="noStrike" cap="none" spc="0" baseline="0">
          <a:ln>
            <a:noFill/>
          </a:ln>
          <a:solidFill>
            <a:srgbClr val="000000"/>
          </a:solidFill>
          <a:uFillTx/>
          <a:latin typeface="+mn-lt"/>
          <a:ea typeface="+mn-ea"/>
          <a:cs typeface="+mn-cs"/>
          <a:sym typeface="Helvetica Light"/>
        </a:defRPr>
      </a:lvl5pPr>
      <a:lvl6pPr marL="5714692" marR="0" indent="-952448" algn="l" defTabSz="1238182" rtl="0" latinLnBrk="0">
        <a:lnSpc>
          <a:spcPct val="100000"/>
        </a:lnSpc>
        <a:spcBef>
          <a:spcPts val="8850"/>
        </a:spcBef>
        <a:spcAft>
          <a:spcPts val="0"/>
        </a:spcAft>
        <a:buClrTx/>
        <a:buSzPct val="75000"/>
        <a:buFontTx/>
        <a:buChar char="•"/>
        <a:tabLst/>
        <a:defRPr sz="7798" b="0" i="0" u="none" strike="noStrike" cap="none" spc="0" baseline="0">
          <a:ln>
            <a:noFill/>
          </a:ln>
          <a:solidFill>
            <a:srgbClr val="000000"/>
          </a:solidFill>
          <a:uFillTx/>
          <a:latin typeface="+mn-lt"/>
          <a:ea typeface="+mn-ea"/>
          <a:cs typeface="+mn-cs"/>
          <a:sym typeface="Helvetica Light"/>
        </a:defRPr>
      </a:lvl6pPr>
      <a:lvl7pPr marL="6667142" marR="0" indent="-952448" algn="l" defTabSz="1238182" rtl="0" latinLnBrk="0">
        <a:lnSpc>
          <a:spcPct val="100000"/>
        </a:lnSpc>
        <a:spcBef>
          <a:spcPts val="8850"/>
        </a:spcBef>
        <a:spcAft>
          <a:spcPts val="0"/>
        </a:spcAft>
        <a:buClrTx/>
        <a:buSzPct val="75000"/>
        <a:buFontTx/>
        <a:buChar char="•"/>
        <a:tabLst/>
        <a:defRPr sz="7798" b="0" i="0" u="none" strike="noStrike" cap="none" spc="0" baseline="0">
          <a:ln>
            <a:noFill/>
          </a:ln>
          <a:solidFill>
            <a:srgbClr val="000000"/>
          </a:solidFill>
          <a:uFillTx/>
          <a:latin typeface="+mn-lt"/>
          <a:ea typeface="+mn-ea"/>
          <a:cs typeface="+mn-cs"/>
          <a:sym typeface="Helvetica Light"/>
        </a:defRPr>
      </a:lvl7pPr>
      <a:lvl8pPr marL="7619590" marR="0" indent="-952448" algn="l" defTabSz="1238182" rtl="0" latinLnBrk="0">
        <a:lnSpc>
          <a:spcPct val="100000"/>
        </a:lnSpc>
        <a:spcBef>
          <a:spcPts val="8850"/>
        </a:spcBef>
        <a:spcAft>
          <a:spcPts val="0"/>
        </a:spcAft>
        <a:buClrTx/>
        <a:buSzPct val="75000"/>
        <a:buFontTx/>
        <a:buChar char="•"/>
        <a:tabLst/>
        <a:defRPr sz="7798" b="0" i="0" u="none" strike="noStrike" cap="none" spc="0" baseline="0">
          <a:ln>
            <a:noFill/>
          </a:ln>
          <a:solidFill>
            <a:srgbClr val="000000"/>
          </a:solidFill>
          <a:uFillTx/>
          <a:latin typeface="+mn-lt"/>
          <a:ea typeface="+mn-ea"/>
          <a:cs typeface="+mn-cs"/>
          <a:sym typeface="Helvetica Light"/>
        </a:defRPr>
      </a:lvl8pPr>
      <a:lvl9pPr marL="8572040" marR="0" indent="-952448" algn="l" defTabSz="1238182" rtl="0" latinLnBrk="0">
        <a:lnSpc>
          <a:spcPct val="100000"/>
        </a:lnSpc>
        <a:spcBef>
          <a:spcPts val="8850"/>
        </a:spcBef>
        <a:spcAft>
          <a:spcPts val="0"/>
        </a:spcAft>
        <a:buClrTx/>
        <a:buSzPct val="75000"/>
        <a:buFontTx/>
        <a:buChar char="•"/>
        <a:tabLst/>
        <a:defRPr sz="7798" b="0" i="0" u="none" strike="noStrike" cap="none" spc="0" baseline="0">
          <a:ln>
            <a:noFill/>
          </a:ln>
          <a:solidFill>
            <a:srgbClr val="000000"/>
          </a:solidFill>
          <a:uFillTx/>
          <a:latin typeface="+mn-lt"/>
          <a:ea typeface="+mn-ea"/>
          <a:cs typeface="+mn-cs"/>
          <a:sym typeface="Helvetica Light"/>
        </a:defRPr>
      </a:lvl9pPr>
    </p:bodyStyle>
    <p:otherStyle>
      <a:lvl1pPr marL="0" marR="0" indent="0" algn="ctr" defTabSz="1238182" rtl="0" latinLnBrk="0">
        <a:lnSpc>
          <a:spcPct val="100000"/>
        </a:lnSpc>
        <a:spcBef>
          <a:spcPts val="0"/>
        </a:spcBef>
        <a:spcAft>
          <a:spcPts val="0"/>
        </a:spcAft>
        <a:buClrTx/>
        <a:buSzTx/>
        <a:buFontTx/>
        <a:buNone/>
        <a:tabLst/>
        <a:defRPr sz="3600" b="0" i="0" u="none" strike="noStrike" cap="none" spc="0" baseline="0">
          <a:ln>
            <a:noFill/>
          </a:ln>
          <a:solidFill>
            <a:schemeClr val="tx1"/>
          </a:solidFill>
          <a:uFillTx/>
          <a:latin typeface="+mn-lt"/>
          <a:ea typeface="+mn-ea"/>
          <a:cs typeface="+mn-cs"/>
          <a:sym typeface="Helvetica Light"/>
        </a:defRPr>
      </a:lvl1pPr>
      <a:lvl2pPr marL="0" marR="0" indent="342882" algn="ctr" defTabSz="1238182" rtl="0" latinLnBrk="0">
        <a:lnSpc>
          <a:spcPct val="100000"/>
        </a:lnSpc>
        <a:spcBef>
          <a:spcPts val="0"/>
        </a:spcBef>
        <a:spcAft>
          <a:spcPts val="0"/>
        </a:spcAft>
        <a:buClrTx/>
        <a:buSzTx/>
        <a:buFontTx/>
        <a:buNone/>
        <a:tabLst/>
        <a:defRPr sz="3600" b="0" i="0" u="none" strike="noStrike" cap="none" spc="0" baseline="0">
          <a:ln>
            <a:noFill/>
          </a:ln>
          <a:solidFill>
            <a:schemeClr val="tx1"/>
          </a:solidFill>
          <a:uFillTx/>
          <a:latin typeface="+mn-lt"/>
          <a:ea typeface="+mn-ea"/>
          <a:cs typeface="+mn-cs"/>
          <a:sym typeface="Helvetica Light"/>
        </a:defRPr>
      </a:lvl2pPr>
      <a:lvl3pPr marL="0" marR="0" indent="685764" algn="ctr" defTabSz="1238182" rtl="0" latinLnBrk="0">
        <a:lnSpc>
          <a:spcPct val="100000"/>
        </a:lnSpc>
        <a:spcBef>
          <a:spcPts val="0"/>
        </a:spcBef>
        <a:spcAft>
          <a:spcPts val="0"/>
        </a:spcAft>
        <a:buClrTx/>
        <a:buSzTx/>
        <a:buFontTx/>
        <a:buNone/>
        <a:tabLst/>
        <a:defRPr sz="3600" b="0" i="0" u="none" strike="noStrike" cap="none" spc="0" baseline="0">
          <a:ln>
            <a:noFill/>
          </a:ln>
          <a:solidFill>
            <a:schemeClr val="tx1"/>
          </a:solidFill>
          <a:uFillTx/>
          <a:latin typeface="+mn-lt"/>
          <a:ea typeface="+mn-ea"/>
          <a:cs typeface="+mn-cs"/>
          <a:sym typeface="Helvetica Light"/>
        </a:defRPr>
      </a:lvl3pPr>
      <a:lvl4pPr marL="0" marR="0" indent="1028644" algn="ctr" defTabSz="1238182" rtl="0" latinLnBrk="0">
        <a:lnSpc>
          <a:spcPct val="100000"/>
        </a:lnSpc>
        <a:spcBef>
          <a:spcPts val="0"/>
        </a:spcBef>
        <a:spcAft>
          <a:spcPts val="0"/>
        </a:spcAft>
        <a:buClrTx/>
        <a:buSzTx/>
        <a:buFontTx/>
        <a:buNone/>
        <a:tabLst/>
        <a:defRPr sz="3600" b="0" i="0" u="none" strike="noStrike" cap="none" spc="0" baseline="0">
          <a:ln>
            <a:noFill/>
          </a:ln>
          <a:solidFill>
            <a:schemeClr val="tx1"/>
          </a:solidFill>
          <a:uFillTx/>
          <a:latin typeface="+mn-lt"/>
          <a:ea typeface="+mn-ea"/>
          <a:cs typeface="+mn-cs"/>
          <a:sym typeface="Helvetica Light"/>
        </a:defRPr>
      </a:lvl4pPr>
      <a:lvl5pPr marL="0" marR="0" indent="1371526" algn="ctr" defTabSz="1238182" rtl="0" latinLnBrk="0">
        <a:lnSpc>
          <a:spcPct val="100000"/>
        </a:lnSpc>
        <a:spcBef>
          <a:spcPts val="0"/>
        </a:spcBef>
        <a:spcAft>
          <a:spcPts val="0"/>
        </a:spcAft>
        <a:buClrTx/>
        <a:buSzTx/>
        <a:buFontTx/>
        <a:buNone/>
        <a:tabLst/>
        <a:defRPr sz="3600" b="0" i="0" u="none" strike="noStrike" cap="none" spc="0" baseline="0">
          <a:ln>
            <a:noFill/>
          </a:ln>
          <a:solidFill>
            <a:schemeClr val="tx1"/>
          </a:solidFill>
          <a:uFillTx/>
          <a:latin typeface="+mn-lt"/>
          <a:ea typeface="+mn-ea"/>
          <a:cs typeface="+mn-cs"/>
          <a:sym typeface="Helvetica Light"/>
        </a:defRPr>
      </a:lvl5pPr>
      <a:lvl6pPr marL="0" marR="0" indent="1714408" algn="ctr" defTabSz="1238182" rtl="0" latinLnBrk="0">
        <a:lnSpc>
          <a:spcPct val="100000"/>
        </a:lnSpc>
        <a:spcBef>
          <a:spcPts val="0"/>
        </a:spcBef>
        <a:spcAft>
          <a:spcPts val="0"/>
        </a:spcAft>
        <a:buClrTx/>
        <a:buSzTx/>
        <a:buFontTx/>
        <a:buNone/>
        <a:tabLst/>
        <a:defRPr sz="3600" b="0" i="0" u="none" strike="noStrike" cap="none" spc="0" baseline="0">
          <a:ln>
            <a:noFill/>
          </a:ln>
          <a:solidFill>
            <a:schemeClr val="tx1"/>
          </a:solidFill>
          <a:uFillTx/>
          <a:latin typeface="+mn-lt"/>
          <a:ea typeface="+mn-ea"/>
          <a:cs typeface="+mn-cs"/>
          <a:sym typeface="Helvetica Light"/>
        </a:defRPr>
      </a:lvl6pPr>
      <a:lvl7pPr marL="0" marR="0" indent="2057290" algn="ctr" defTabSz="1238182" rtl="0" latinLnBrk="0">
        <a:lnSpc>
          <a:spcPct val="100000"/>
        </a:lnSpc>
        <a:spcBef>
          <a:spcPts val="0"/>
        </a:spcBef>
        <a:spcAft>
          <a:spcPts val="0"/>
        </a:spcAft>
        <a:buClrTx/>
        <a:buSzTx/>
        <a:buFontTx/>
        <a:buNone/>
        <a:tabLst/>
        <a:defRPr sz="3600" b="0" i="0" u="none" strike="noStrike" cap="none" spc="0" baseline="0">
          <a:ln>
            <a:noFill/>
          </a:ln>
          <a:solidFill>
            <a:schemeClr val="tx1"/>
          </a:solidFill>
          <a:uFillTx/>
          <a:latin typeface="+mn-lt"/>
          <a:ea typeface="+mn-ea"/>
          <a:cs typeface="+mn-cs"/>
          <a:sym typeface="Helvetica Light"/>
        </a:defRPr>
      </a:lvl7pPr>
      <a:lvl8pPr marL="0" marR="0" indent="2400170" algn="ctr" defTabSz="1238182" rtl="0" latinLnBrk="0">
        <a:lnSpc>
          <a:spcPct val="100000"/>
        </a:lnSpc>
        <a:spcBef>
          <a:spcPts val="0"/>
        </a:spcBef>
        <a:spcAft>
          <a:spcPts val="0"/>
        </a:spcAft>
        <a:buClrTx/>
        <a:buSzTx/>
        <a:buFontTx/>
        <a:buNone/>
        <a:tabLst/>
        <a:defRPr sz="3600" b="0" i="0" u="none" strike="noStrike" cap="none" spc="0" baseline="0">
          <a:ln>
            <a:noFill/>
          </a:ln>
          <a:solidFill>
            <a:schemeClr val="tx1"/>
          </a:solidFill>
          <a:uFillTx/>
          <a:latin typeface="+mn-lt"/>
          <a:ea typeface="+mn-ea"/>
          <a:cs typeface="+mn-cs"/>
          <a:sym typeface="Helvetica Light"/>
        </a:defRPr>
      </a:lvl8pPr>
      <a:lvl9pPr marL="0" marR="0" indent="2743052" algn="ctr" defTabSz="1238182" rtl="0" latinLnBrk="0">
        <a:lnSpc>
          <a:spcPct val="100000"/>
        </a:lnSpc>
        <a:spcBef>
          <a:spcPts val="0"/>
        </a:spcBef>
        <a:spcAft>
          <a:spcPts val="0"/>
        </a:spcAft>
        <a:buClrTx/>
        <a:buSzTx/>
        <a:buFontTx/>
        <a:buNone/>
        <a:tabLst/>
        <a:defRPr sz="3600" b="0" i="0" u="none" strike="noStrike" cap="none" spc="0" baseline="0">
          <a:ln>
            <a:noFill/>
          </a:ln>
          <a:solidFill>
            <a:schemeClr val="tx1"/>
          </a:solidFill>
          <a:uFillTx/>
          <a:latin typeface="+mn-lt"/>
          <a:ea typeface="+mn-ea"/>
          <a:cs typeface="+mn-cs"/>
          <a:sym typeface="Helvetica Light"/>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5.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5.xml"/><Relationship Id="rId5" Type="http://schemas.openxmlformats.org/officeDocument/2006/relationships/image" Target="../media/image4.png"/><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5.xml"/><Relationship Id="rId5" Type="http://schemas.openxmlformats.org/officeDocument/2006/relationships/image" Target="../media/image4.png"/><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5.xml"/><Relationship Id="rId5" Type="http://schemas.openxmlformats.org/officeDocument/2006/relationships/image" Target="../media/image6.png"/><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5.xml"/><Relationship Id="rId5" Type="http://schemas.openxmlformats.org/officeDocument/2006/relationships/image" Target="../media/image8.png"/><Relationship Id="rId4" Type="http://schemas.openxmlformats.org/officeDocument/2006/relationships/image" Target="../media/image7.png"/></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5.xml"/><Relationship Id="rId5" Type="http://schemas.openxmlformats.org/officeDocument/2006/relationships/image" Target="../media/image8.png"/><Relationship Id="rId4" Type="http://schemas.openxmlformats.org/officeDocument/2006/relationships/image" Target="../media/image7.png"/></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5.xml"/><Relationship Id="rId5" Type="http://schemas.openxmlformats.org/officeDocument/2006/relationships/image" Target="../media/image10.png"/><Relationship Id="rId4" Type="http://schemas.openxmlformats.org/officeDocument/2006/relationships/image" Target="../media/image9.png"/></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xml"/><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1.xml"/><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2.xml"/><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3.xml"/><Relationship Id="rId1" Type="http://schemas.openxmlformats.org/officeDocument/2006/relationships/slideLayout" Target="../slideLayouts/slideLayout5.xml"/><Relationship Id="rId4" Type="http://schemas.openxmlformats.org/officeDocument/2006/relationships/image" Target="../media/image11.png"/></Relationships>
</file>

<file path=ppt/slides/_rels/slide14.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15.png"/><Relationship Id="rId2" Type="http://schemas.openxmlformats.org/officeDocument/2006/relationships/notesSlide" Target="../notesSlides/notesSlide14.xml"/><Relationship Id="rId1" Type="http://schemas.openxmlformats.org/officeDocument/2006/relationships/slideLayout" Target="../slideLayouts/slideLayout5.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s>
</file>

<file path=ppt/slides/_rels/slide1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5.xml"/><Relationship Id="rId1" Type="http://schemas.openxmlformats.org/officeDocument/2006/relationships/slideLayout" Target="../slideLayouts/slideLayout5.xml"/><Relationship Id="rId5" Type="http://schemas.openxmlformats.org/officeDocument/2006/relationships/image" Target="../media/image17.png"/><Relationship Id="rId4" Type="http://schemas.openxmlformats.org/officeDocument/2006/relationships/image" Target="../media/image16.png"/></Relationships>
</file>

<file path=ppt/slides/_rels/slide1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6.xml"/><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7.xml"/><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8.xml"/><Relationship Id="rId1" Type="http://schemas.openxmlformats.org/officeDocument/2006/relationships/slideLayout" Target="../slideLayouts/slideLayout5.xml"/><Relationship Id="rId6" Type="http://schemas.openxmlformats.org/officeDocument/2006/relationships/image" Target="../media/image20.png"/><Relationship Id="rId5" Type="http://schemas.openxmlformats.org/officeDocument/2006/relationships/image" Target="../media/image19.png"/><Relationship Id="rId4" Type="http://schemas.openxmlformats.org/officeDocument/2006/relationships/image" Target="../media/image18.png"/></Relationships>
</file>

<file path=ppt/slides/_rels/slide1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9.xml"/><Relationship Id="rId1" Type="http://schemas.openxmlformats.org/officeDocument/2006/relationships/slideLayout" Target="../slideLayouts/slideLayout5.xml"/><Relationship Id="rId5" Type="http://schemas.openxmlformats.org/officeDocument/2006/relationships/image" Target="../media/image22.png"/><Relationship Id="rId4" Type="http://schemas.openxmlformats.org/officeDocument/2006/relationships/image" Target="../media/image21.png"/></Relationships>
</file>

<file path=ppt/slides/_rels/slide2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0.xml"/><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26.png"/><Relationship Id="rId2" Type="http://schemas.openxmlformats.org/officeDocument/2006/relationships/notesSlide" Target="../notesSlides/notesSlide21.xml"/><Relationship Id="rId1" Type="http://schemas.openxmlformats.org/officeDocument/2006/relationships/slideLayout" Target="../slideLayouts/slideLayout5.xml"/><Relationship Id="rId6" Type="http://schemas.openxmlformats.org/officeDocument/2006/relationships/image" Target="../media/image25.png"/><Relationship Id="rId5" Type="http://schemas.openxmlformats.org/officeDocument/2006/relationships/image" Target="../media/image24.png"/><Relationship Id="rId4" Type="http://schemas.openxmlformats.org/officeDocument/2006/relationships/image" Target="../media/image23.png"/></Relationships>
</file>

<file path=ppt/slides/_rels/slide2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2.xml"/><Relationship Id="rId1" Type="http://schemas.openxmlformats.org/officeDocument/2006/relationships/slideLayout" Target="../slideLayouts/slideLayout5.xml"/><Relationship Id="rId5" Type="http://schemas.openxmlformats.org/officeDocument/2006/relationships/image" Target="../media/image28.png"/><Relationship Id="rId4" Type="http://schemas.openxmlformats.org/officeDocument/2006/relationships/image" Target="../media/image27.png"/></Relationships>
</file>

<file path=ppt/slides/_rels/slide2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3.xml"/><Relationship Id="rId1" Type="http://schemas.openxmlformats.org/officeDocument/2006/relationships/slideLayout" Target="../slideLayouts/slideLayout5.xml"/><Relationship Id="rId5" Type="http://schemas.openxmlformats.org/officeDocument/2006/relationships/image" Target="../media/image30.png"/><Relationship Id="rId4" Type="http://schemas.openxmlformats.org/officeDocument/2006/relationships/image" Target="../media/image29.png"/></Relationships>
</file>

<file path=ppt/slides/_rels/slide2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4.xml"/><Relationship Id="rId1" Type="http://schemas.openxmlformats.org/officeDocument/2006/relationships/slideLayout" Target="../slideLayouts/slideLayout5.xml"/><Relationship Id="rId5" Type="http://schemas.openxmlformats.org/officeDocument/2006/relationships/image" Target="../media/image32.png"/><Relationship Id="rId4" Type="http://schemas.openxmlformats.org/officeDocument/2006/relationships/image" Target="../media/image31.png"/></Relationships>
</file>

<file path=ppt/slides/_rels/slide2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5.xml"/><Relationship Id="rId1" Type="http://schemas.openxmlformats.org/officeDocument/2006/relationships/slideLayout" Target="../slideLayouts/slideLayout5.xml"/><Relationship Id="rId4" Type="http://schemas.openxmlformats.org/officeDocument/2006/relationships/image" Target="../media/image33.png"/></Relationships>
</file>

<file path=ppt/slides/_rels/slide26.xml.rels><?xml version="1.0" encoding="UTF-8" standalone="yes"?>
<Relationships xmlns="http://schemas.openxmlformats.org/package/2006/relationships"><Relationship Id="rId8" Type="http://schemas.openxmlformats.org/officeDocument/2006/relationships/image" Target="../media/image38.png"/><Relationship Id="rId3" Type="http://schemas.openxmlformats.org/officeDocument/2006/relationships/image" Target="../media/image2.png"/><Relationship Id="rId7" Type="http://schemas.openxmlformats.org/officeDocument/2006/relationships/image" Target="../media/image37.png"/><Relationship Id="rId2" Type="http://schemas.openxmlformats.org/officeDocument/2006/relationships/notesSlide" Target="../notesSlides/notesSlide26.xml"/><Relationship Id="rId1" Type="http://schemas.openxmlformats.org/officeDocument/2006/relationships/slideLayout" Target="../slideLayouts/slideLayout5.xml"/><Relationship Id="rId6" Type="http://schemas.openxmlformats.org/officeDocument/2006/relationships/image" Target="../media/image36.png"/><Relationship Id="rId11" Type="http://schemas.openxmlformats.org/officeDocument/2006/relationships/image" Target="../media/image41.png"/><Relationship Id="rId5" Type="http://schemas.openxmlformats.org/officeDocument/2006/relationships/image" Target="../media/image35.png"/><Relationship Id="rId10" Type="http://schemas.openxmlformats.org/officeDocument/2006/relationships/image" Target="../media/image40.png"/><Relationship Id="rId4" Type="http://schemas.openxmlformats.org/officeDocument/2006/relationships/image" Target="../media/image34.png"/><Relationship Id="rId9" Type="http://schemas.openxmlformats.org/officeDocument/2006/relationships/image" Target="../media/image39.png"/></Relationships>
</file>

<file path=ppt/slides/_rels/slide27.xml.rels><?xml version="1.0" encoding="UTF-8" standalone="yes"?>
<Relationships xmlns="http://schemas.openxmlformats.org/package/2006/relationships"><Relationship Id="rId8" Type="http://schemas.openxmlformats.org/officeDocument/2006/relationships/image" Target="../media/image38.png"/><Relationship Id="rId3" Type="http://schemas.openxmlformats.org/officeDocument/2006/relationships/image" Target="../media/image2.png"/><Relationship Id="rId7" Type="http://schemas.openxmlformats.org/officeDocument/2006/relationships/image" Target="../media/image37.png"/><Relationship Id="rId2" Type="http://schemas.openxmlformats.org/officeDocument/2006/relationships/notesSlide" Target="../notesSlides/notesSlide27.xml"/><Relationship Id="rId1" Type="http://schemas.openxmlformats.org/officeDocument/2006/relationships/slideLayout" Target="../slideLayouts/slideLayout5.xml"/><Relationship Id="rId6" Type="http://schemas.openxmlformats.org/officeDocument/2006/relationships/image" Target="../media/image36.png"/><Relationship Id="rId11" Type="http://schemas.openxmlformats.org/officeDocument/2006/relationships/image" Target="../media/image41.png"/><Relationship Id="rId5" Type="http://schemas.openxmlformats.org/officeDocument/2006/relationships/image" Target="../media/image35.png"/><Relationship Id="rId10" Type="http://schemas.openxmlformats.org/officeDocument/2006/relationships/image" Target="../media/image40.png"/><Relationship Id="rId4" Type="http://schemas.openxmlformats.org/officeDocument/2006/relationships/image" Target="../media/image34.png"/><Relationship Id="rId9" Type="http://schemas.openxmlformats.org/officeDocument/2006/relationships/image" Target="../media/image39.png"/></Relationships>
</file>

<file path=ppt/slides/_rels/slide2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8.xml"/><Relationship Id="rId1" Type="http://schemas.openxmlformats.org/officeDocument/2006/relationships/slideLayout" Target="../slideLayouts/slideLayout5.xml"/><Relationship Id="rId6" Type="http://schemas.openxmlformats.org/officeDocument/2006/relationships/image" Target="../media/image44.png"/><Relationship Id="rId5" Type="http://schemas.openxmlformats.org/officeDocument/2006/relationships/image" Target="../media/image43.png"/><Relationship Id="rId4" Type="http://schemas.openxmlformats.org/officeDocument/2006/relationships/image" Target="../media/image42.png"/></Relationships>
</file>

<file path=ppt/slides/_rels/slide2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9.xml"/><Relationship Id="rId1" Type="http://schemas.openxmlformats.org/officeDocument/2006/relationships/slideLayout" Target="../slideLayouts/slideLayout5.xml"/><Relationship Id="rId4" Type="http://schemas.openxmlformats.org/officeDocument/2006/relationships/image" Target="../media/image45.png"/></Relationships>
</file>

<file path=ppt/slides/_rels/slide3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0.xml"/><Relationship Id="rId1" Type="http://schemas.openxmlformats.org/officeDocument/2006/relationships/slideLayout" Target="../slideLayouts/slideLayout5.xml"/><Relationship Id="rId4" Type="http://schemas.openxmlformats.org/officeDocument/2006/relationships/image" Target="../media/image46.png"/></Relationships>
</file>

<file path=ppt/slides/_rels/slide3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1.xml"/><Relationship Id="rId1" Type="http://schemas.openxmlformats.org/officeDocument/2006/relationships/slideLayout" Target="../slideLayouts/slideLayout5.xml"/><Relationship Id="rId6" Type="http://schemas.openxmlformats.org/officeDocument/2006/relationships/image" Target="../media/image49.png"/><Relationship Id="rId5" Type="http://schemas.openxmlformats.org/officeDocument/2006/relationships/image" Target="../media/image48.png"/><Relationship Id="rId4" Type="http://schemas.openxmlformats.org/officeDocument/2006/relationships/image" Target="../media/image47.png"/></Relationships>
</file>

<file path=ppt/slides/_rels/slide3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2.xml"/><Relationship Id="rId1" Type="http://schemas.openxmlformats.org/officeDocument/2006/relationships/slideLayout" Target="../slideLayouts/slideLayout5.xml"/><Relationship Id="rId6" Type="http://schemas.openxmlformats.org/officeDocument/2006/relationships/image" Target="../media/image49.png"/><Relationship Id="rId5" Type="http://schemas.openxmlformats.org/officeDocument/2006/relationships/image" Target="../media/image48.png"/><Relationship Id="rId4" Type="http://schemas.openxmlformats.org/officeDocument/2006/relationships/image" Target="../media/image47.png"/></Relationships>
</file>

<file path=ppt/slides/_rels/slide3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3.xml"/><Relationship Id="rId1" Type="http://schemas.openxmlformats.org/officeDocument/2006/relationships/slideLayout" Target="../slideLayouts/slideLayout5.xml"/></Relationships>
</file>

<file path=ppt/slides/_rels/slide3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4.xml"/><Relationship Id="rId1" Type="http://schemas.openxmlformats.org/officeDocument/2006/relationships/slideLayout" Target="../slideLayouts/slideLayout5.xml"/><Relationship Id="rId4" Type="http://schemas.openxmlformats.org/officeDocument/2006/relationships/image" Target="../media/image50.png"/></Relationships>
</file>

<file path=ppt/slides/_rels/slide3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5.xml"/><Relationship Id="rId1" Type="http://schemas.openxmlformats.org/officeDocument/2006/relationships/slideLayout" Target="../slideLayouts/slideLayout5.xml"/><Relationship Id="rId4" Type="http://schemas.openxmlformats.org/officeDocument/2006/relationships/image" Target="../media/image51.png"/></Relationships>
</file>

<file path=ppt/slides/_rels/slide3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6.xml"/><Relationship Id="rId1" Type="http://schemas.openxmlformats.org/officeDocument/2006/relationships/slideLayout" Target="../slideLayouts/slideLayout5.xml"/><Relationship Id="rId4" Type="http://schemas.openxmlformats.org/officeDocument/2006/relationships/image" Target="../media/image52.png"/></Relationships>
</file>

<file path=ppt/slides/_rels/slide3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7.xml"/><Relationship Id="rId1" Type="http://schemas.openxmlformats.org/officeDocument/2006/relationships/slideLayout" Target="../slideLayouts/slideLayout5.xml"/></Relationships>
</file>

<file path=ppt/slides/_rels/slide3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8.xml"/><Relationship Id="rId1" Type="http://schemas.openxmlformats.org/officeDocument/2006/relationships/slideLayout" Target="../slideLayouts/slideLayout5.xml"/><Relationship Id="rId5" Type="http://schemas.openxmlformats.org/officeDocument/2006/relationships/image" Target="../media/image54.png"/><Relationship Id="rId4" Type="http://schemas.openxmlformats.org/officeDocument/2006/relationships/image" Target="../media/image53.png"/></Relationships>
</file>

<file path=ppt/slides/_rels/slide3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9.xml"/><Relationship Id="rId1" Type="http://schemas.openxmlformats.org/officeDocument/2006/relationships/slideLayout" Target="../slideLayouts/slideLayout5.xml"/></Relationships>
</file>

<file path=ppt/slides/_rels/slide4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0.xml"/><Relationship Id="rId1" Type="http://schemas.openxmlformats.org/officeDocument/2006/relationships/slideLayout" Target="../slideLayouts/slideLayout5.xml"/></Relationships>
</file>

<file path=ppt/slides/_rels/slide4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1.xml"/><Relationship Id="rId1" Type="http://schemas.openxmlformats.org/officeDocument/2006/relationships/slideLayout" Target="../slideLayouts/slideLayout5.xml"/></Relationships>
</file>

<file path=ppt/slides/_rels/slide4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2.xml"/><Relationship Id="rId1" Type="http://schemas.openxmlformats.org/officeDocument/2006/relationships/slideLayout" Target="../slideLayouts/slideLayout5.xml"/></Relationships>
</file>

<file path=ppt/slides/_rels/slide4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3.xml"/><Relationship Id="rId1" Type="http://schemas.openxmlformats.org/officeDocument/2006/relationships/slideLayout" Target="../slideLayouts/slideLayout5.xml"/></Relationships>
</file>

<file path=ppt/slides/_rels/slide4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4.xml"/><Relationship Id="rId1" Type="http://schemas.openxmlformats.org/officeDocument/2006/relationships/slideLayout" Target="../slideLayouts/slideLayout5.xml"/></Relationships>
</file>

<file path=ppt/slides/_rels/slide4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5.xml"/><Relationship Id="rId1" Type="http://schemas.openxmlformats.org/officeDocument/2006/relationships/slideLayout" Target="../slideLayouts/slideLayout5.xml"/><Relationship Id="rId5" Type="http://schemas.openxmlformats.org/officeDocument/2006/relationships/image" Target="../media/image56.png"/><Relationship Id="rId4" Type="http://schemas.openxmlformats.org/officeDocument/2006/relationships/image" Target="../media/image55.png"/></Relationships>
</file>

<file path=ppt/slides/_rels/slide4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6.xml"/><Relationship Id="rId1" Type="http://schemas.openxmlformats.org/officeDocument/2006/relationships/slideLayout" Target="../slideLayouts/slideLayout5.xml"/></Relationships>
</file>

<file path=ppt/slides/_rels/slide4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7.xml"/><Relationship Id="rId1" Type="http://schemas.openxmlformats.org/officeDocument/2006/relationships/slideLayout" Target="../slideLayouts/slideLayout5.xml"/></Relationships>
</file>

<file path=ppt/slides/_rels/slide4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8.xml"/><Relationship Id="rId1" Type="http://schemas.openxmlformats.org/officeDocument/2006/relationships/slideLayout" Target="../slideLayouts/slideLayout5.xml"/></Relationships>
</file>

<file path=ppt/slides/_rels/slide4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9.xml"/><Relationship Id="rId1" Type="http://schemas.openxmlformats.org/officeDocument/2006/relationships/slideLayout" Target="../slideLayouts/slideLayout5.xml"/></Relationships>
</file>

<file path=ppt/slides/_rels/slide5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0.xml"/><Relationship Id="rId1" Type="http://schemas.openxmlformats.org/officeDocument/2006/relationships/slideLayout" Target="../slideLayouts/slideLayout5.xml"/></Relationships>
</file>

<file path=ppt/slides/_rels/slide5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1.xml"/><Relationship Id="rId1" Type="http://schemas.openxmlformats.org/officeDocument/2006/relationships/slideLayout" Target="../slideLayouts/slideLayout5.xml"/><Relationship Id="rId4" Type="http://schemas.openxmlformats.org/officeDocument/2006/relationships/image" Target="../media/image57.png"/></Relationships>
</file>

<file path=ppt/slides/_rels/slide5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2.xml"/><Relationship Id="rId1" Type="http://schemas.openxmlformats.org/officeDocument/2006/relationships/slideLayout" Target="../slideLayouts/slideLayout5.xml"/><Relationship Id="rId4" Type="http://schemas.openxmlformats.org/officeDocument/2006/relationships/image" Target="../media/image58.png"/></Relationships>
</file>

<file path=ppt/slides/_rels/slide5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3.xml"/><Relationship Id="rId1" Type="http://schemas.openxmlformats.org/officeDocument/2006/relationships/slideLayout" Target="../slideLayouts/slideLayout5.xml"/><Relationship Id="rId4" Type="http://schemas.openxmlformats.org/officeDocument/2006/relationships/image" Target="../media/image58.png"/></Relationships>
</file>

<file path=ppt/slides/_rels/slide5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4.xml"/><Relationship Id="rId1" Type="http://schemas.openxmlformats.org/officeDocument/2006/relationships/slideLayout" Target="../slideLayouts/slideLayout5.xml"/><Relationship Id="rId4" Type="http://schemas.openxmlformats.org/officeDocument/2006/relationships/image" Target="../media/image58.png"/></Relationships>
</file>

<file path=ppt/slides/_rels/slide55.xml.rels><?xml version="1.0" encoding="UTF-8" standalone="yes"?>
<Relationships xmlns="http://schemas.openxmlformats.org/package/2006/relationships"><Relationship Id="rId8" Type="http://schemas.openxmlformats.org/officeDocument/2006/relationships/image" Target="../media/image63.png"/><Relationship Id="rId13" Type="http://schemas.openxmlformats.org/officeDocument/2006/relationships/image" Target="../media/image68.png"/><Relationship Id="rId3" Type="http://schemas.openxmlformats.org/officeDocument/2006/relationships/image" Target="../media/image2.png"/><Relationship Id="rId7" Type="http://schemas.openxmlformats.org/officeDocument/2006/relationships/image" Target="../media/image62.png"/><Relationship Id="rId12" Type="http://schemas.openxmlformats.org/officeDocument/2006/relationships/image" Target="../media/image67.png"/><Relationship Id="rId2" Type="http://schemas.openxmlformats.org/officeDocument/2006/relationships/notesSlide" Target="../notesSlides/notesSlide55.xml"/><Relationship Id="rId1" Type="http://schemas.openxmlformats.org/officeDocument/2006/relationships/slideLayout" Target="../slideLayouts/slideLayout5.xml"/><Relationship Id="rId6" Type="http://schemas.openxmlformats.org/officeDocument/2006/relationships/image" Target="../media/image61.png"/><Relationship Id="rId11" Type="http://schemas.openxmlformats.org/officeDocument/2006/relationships/image" Target="../media/image66.png"/><Relationship Id="rId5" Type="http://schemas.openxmlformats.org/officeDocument/2006/relationships/image" Target="../media/image60.png"/><Relationship Id="rId15" Type="http://schemas.openxmlformats.org/officeDocument/2006/relationships/image" Target="../media/image70.png"/><Relationship Id="rId10" Type="http://schemas.openxmlformats.org/officeDocument/2006/relationships/image" Target="../media/image65.png"/><Relationship Id="rId4" Type="http://schemas.openxmlformats.org/officeDocument/2006/relationships/image" Target="../media/image59.png"/><Relationship Id="rId9" Type="http://schemas.openxmlformats.org/officeDocument/2006/relationships/image" Target="../media/image64.png"/><Relationship Id="rId14" Type="http://schemas.openxmlformats.org/officeDocument/2006/relationships/image" Target="../media/image69.png"/></Relationships>
</file>

<file path=ppt/slides/_rels/slide56.xml.rels><?xml version="1.0" encoding="UTF-8" standalone="yes"?>
<Relationships xmlns="http://schemas.openxmlformats.org/package/2006/relationships"><Relationship Id="rId8" Type="http://schemas.openxmlformats.org/officeDocument/2006/relationships/image" Target="../media/image75.png"/><Relationship Id="rId3" Type="http://schemas.openxmlformats.org/officeDocument/2006/relationships/image" Target="../media/image2.png"/><Relationship Id="rId7" Type="http://schemas.openxmlformats.org/officeDocument/2006/relationships/image" Target="../media/image74.png"/><Relationship Id="rId2" Type="http://schemas.openxmlformats.org/officeDocument/2006/relationships/notesSlide" Target="../notesSlides/notesSlide56.xml"/><Relationship Id="rId1" Type="http://schemas.openxmlformats.org/officeDocument/2006/relationships/slideLayout" Target="../slideLayouts/slideLayout5.xml"/><Relationship Id="rId6" Type="http://schemas.openxmlformats.org/officeDocument/2006/relationships/image" Target="../media/image73.png"/><Relationship Id="rId5" Type="http://schemas.openxmlformats.org/officeDocument/2006/relationships/image" Target="../media/image72.png"/><Relationship Id="rId4" Type="http://schemas.openxmlformats.org/officeDocument/2006/relationships/image" Target="../media/image71.png"/><Relationship Id="rId9" Type="http://schemas.openxmlformats.org/officeDocument/2006/relationships/image" Target="../media/image76.png"/></Relationships>
</file>

<file path=ppt/slides/_rels/slide57.xml.rels><?xml version="1.0" encoding="UTF-8" standalone="yes"?>
<Relationships xmlns="http://schemas.openxmlformats.org/package/2006/relationships"><Relationship Id="rId8" Type="http://schemas.openxmlformats.org/officeDocument/2006/relationships/image" Target="../media/image75.png"/><Relationship Id="rId3" Type="http://schemas.openxmlformats.org/officeDocument/2006/relationships/image" Target="../media/image2.png"/><Relationship Id="rId7" Type="http://schemas.openxmlformats.org/officeDocument/2006/relationships/image" Target="../media/image74.png"/><Relationship Id="rId2" Type="http://schemas.openxmlformats.org/officeDocument/2006/relationships/notesSlide" Target="../notesSlides/notesSlide57.xml"/><Relationship Id="rId1" Type="http://schemas.openxmlformats.org/officeDocument/2006/relationships/slideLayout" Target="../slideLayouts/slideLayout5.xml"/><Relationship Id="rId6" Type="http://schemas.openxmlformats.org/officeDocument/2006/relationships/image" Target="../media/image73.png"/><Relationship Id="rId5" Type="http://schemas.openxmlformats.org/officeDocument/2006/relationships/image" Target="../media/image72.png"/><Relationship Id="rId4" Type="http://schemas.openxmlformats.org/officeDocument/2006/relationships/image" Target="../media/image71.png"/><Relationship Id="rId9" Type="http://schemas.openxmlformats.org/officeDocument/2006/relationships/image" Target="../media/image76.png"/></Relationships>
</file>

<file path=ppt/slides/_rels/slide58.xml.rels><?xml version="1.0" encoding="UTF-8" standalone="yes"?>
<Relationships xmlns="http://schemas.openxmlformats.org/package/2006/relationships"><Relationship Id="rId8" Type="http://schemas.openxmlformats.org/officeDocument/2006/relationships/image" Target="../media/image81.png"/><Relationship Id="rId3" Type="http://schemas.openxmlformats.org/officeDocument/2006/relationships/image" Target="../media/image2.png"/><Relationship Id="rId7" Type="http://schemas.openxmlformats.org/officeDocument/2006/relationships/image" Target="../media/image80.png"/><Relationship Id="rId2" Type="http://schemas.openxmlformats.org/officeDocument/2006/relationships/notesSlide" Target="../notesSlides/notesSlide58.xml"/><Relationship Id="rId1" Type="http://schemas.openxmlformats.org/officeDocument/2006/relationships/slideLayout" Target="../slideLayouts/slideLayout5.xml"/><Relationship Id="rId6" Type="http://schemas.openxmlformats.org/officeDocument/2006/relationships/image" Target="../media/image79.png"/><Relationship Id="rId5" Type="http://schemas.openxmlformats.org/officeDocument/2006/relationships/image" Target="../media/image78.png"/><Relationship Id="rId10" Type="http://schemas.openxmlformats.org/officeDocument/2006/relationships/image" Target="../media/image83.png"/><Relationship Id="rId4" Type="http://schemas.openxmlformats.org/officeDocument/2006/relationships/image" Target="../media/image77.png"/><Relationship Id="rId9" Type="http://schemas.openxmlformats.org/officeDocument/2006/relationships/image" Target="../media/image82.png"/></Relationships>
</file>

<file path=ppt/slides/_rels/slide5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9.xml"/><Relationship Id="rId1" Type="http://schemas.openxmlformats.org/officeDocument/2006/relationships/slideLayout" Target="../slideLayouts/slideLayout5.xml"/></Relationships>
</file>

<file path=ppt/slides/_rels/slide6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0.xml"/><Relationship Id="rId1" Type="http://schemas.openxmlformats.org/officeDocument/2006/relationships/slideLayout" Target="../slideLayouts/slideLayout5.xml"/></Relationships>
</file>

<file path=ppt/slides/_rels/slide6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1.xml"/><Relationship Id="rId1" Type="http://schemas.openxmlformats.org/officeDocument/2006/relationships/slideLayout" Target="../slideLayouts/slideLayout5.xml"/></Relationships>
</file>

<file path=ppt/slides/_rels/slide6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2.xml"/><Relationship Id="rId1" Type="http://schemas.openxmlformats.org/officeDocument/2006/relationships/slideLayout" Target="../slideLayouts/slideLayout5.xml"/></Relationships>
</file>

<file path=ppt/slides/_rels/slide6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3.xml"/><Relationship Id="rId1" Type="http://schemas.openxmlformats.org/officeDocument/2006/relationships/slideLayout" Target="../slideLayouts/slideLayout5.xml"/></Relationships>
</file>

<file path=ppt/slides/_rels/slide6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4.xml"/><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 name="Shape 126"/>
          <p:cNvSpPr/>
          <p:nvPr/>
        </p:nvSpPr>
        <p:spPr>
          <a:xfrm>
            <a:off x="952498" y="459786"/>
            <a:ext cx="23519259" cy="1815882"/>
          </a:xfrm>
          <a:prstGeom prst="rect">
            <a:avLst/>
          </a:prstGeom>
          <a:ln w="12700">
            <a:miter lim="400000"/>
          </a:ln>
          <a:extLst>
            <a:ext uri="{C572A759-6A51-4108-AA02-DFA0A04FC94B}">
              <ma14:wrappingTextBoxFlag xmlns="" xmlns:ma14="http://schemas.microsoft.com/office/mac/drawingml/2011/main" val="1"/>
            </a:ext>
          </a:extLst>
        </p:spPr>
        <p:txBody>
          <a:bodyPr wrap="none" lIns="76200" tIns="76200" rIns="76200" bIns="76200">
            <a:spAutoFit/>
          </a:bodyPr>
          <a:lstStyle>
            <a:lvl1pPr algn="l">
              <a:defRPr sz="7000">
                <a:latin typeface="Alright Sans"/>
                <a:ea typeface="Alright Sans"/>
                <a:cs typeface="Alright Sans"/>
                <a:sym typeface="Alright Sans"/>
              </a:defRPr>
            </a:lvl1pPr>
          </a:lstStyle>
          <a:p>
            <a:pPr>
              <a:defRPr sz="3000">
                <a:latin typeface="Alright Sans"/>
                <a:ea typeface="Alright Sans"/>
                <a:cs typeface="Alright Sans"/>
                <a:sym typeface="Alright Sans"/>
              </a:defRPr>
            </a:pPr>
            <a:r>
              <a:rPr lang="en-US" sz="10800" dirty="0">
                <a:latin typeface="Open Sans" panose="020B0606030504020204" pitchFamily="34" charset="0"/>
                <a:ea typeface="Open Sans" panose="020B0606030504020204" pitchFamily="34" charset="0"/>
                <a:cs typeface="Open Sans" panose="020B0606030504020204" pitchFamily="34" charset="0"/>
              </a:rPr>
              <a:t>Introduction to Lambda Expressions</a:t>
            </a:r>
          </a:p>
        </p:txBody>
      </p:sp>
      <p:sp>
        <p:nvSpPr>
          <p:cNvPr id="128" name="Shape 128"/>
          <p:cNvSpPr/>
          <p:nvPr/>
        </p:nvSpPr>
        <p:spPr>
          <a:xfrm>
            <a:off x="952500" y="18210515"/>
            <a:ext cx="34782668" cy="2"/>
          </a:xfrm>
          <a:prstGeom prst="line">
            <a:avLst/>
          </a:prstGeom>
          <a:ln w="76200">
            <a:solidFill>
              <a:schemeClr val="accent1">
                <a:satOff val="-3355"/>
                <a:lumOff val="26614"/>
              </a:schemeClr>
            </a:solidFill>
            <a:miter lim="400000"/>
          </a:ln>
        </p:spPr>
        <p:txBody>
          <a:bodyPr lIns="76200" tIns="76200" rIns="76200" bIns="76200" anchor="ctr"/>
          <a:lstStyle/>
          <a:p>
            <a:pPr>
              <a:defRPr sz="3200"/>
            </a:pPr>
            <a:endParaRPr sz="4800"/>
          </a:p>
        </p:txBody>
      </p:sp>
      <p:pic>
        <p:nvPicPr>
          <p:cNvPr id="129" name="Logo.png"/>
          <p:cNvPicPr>
            <a:picLocks noChangeAspect="1"/>
          </p:cNvPicPr>
          <p:nvPr/>
        </p:nvPicPr>
        <p:blipFill>
          <a:blip r:embed="rId3"/>
          <a:stretch>
            <a:fillRect/>
          </a:stretch>
        </p:blipFill>
        <p:spPr>
          <a:xfrm>
            <a:off x="14650974" y="18489726"/>
            <a:ext cx="6321552" cy="1392336"/>
          </a:xfrm>
          <a:prstGeom prst="rect">
            <a:avLst/>
          </a:prstGeom>
          <a:ln w="12700">
            <a:miter lim="400000"/>
          </a:ln>
        </p:spPr>
      </p:pic>
      <p:sp>
        <p:nvSpPr>
          <p:cNvPr id="9" name="Shape 127"/>
          <p:cNvSpPr/>
          <p:nvPr/>
        </p:nvSpPr>
        <p:spPr>
          <a:xfrm flipV="1">
            <a:off x="952499" y="2203340"/>
            <a:ext cx="34782670" cy="38132"/>
          </a:xfrm>
          <a:prstGeom prst="line">
            <a:avLst/>
          </a:prstGeom>
          <a:ln w="152400">
            <a:solidFill>
              <a:schemeClr val="accent1">
                <a:satOff val="-3355"/>
                <a:lumOff val="26614"/>
              </a:schemeClr>
            </a:solidFill>
            <a:miter lim="400000"/>
          </a:ln>
        </p:spPr>
        <p:txBody>
          <a:bodyPr lIns="76200" tIns="76200" rIns="76200" bIns="76200" anchor="ctr"/>
          <a:lstStyle/>
          <a:p>
            <a:pPr>
              <a:defRPr sz="3200"/>
            </a:pPr>
            <a:endParaRPr sz="4800"/>
          </a:p>
        </p:txBody>
      </p:sp>
      <p:sp>
        <p:nvSpPr>
          <p:cNvPr id="10" name="Shape 131"/>
          <p:cNvSpPr/>
          <p:nvPr/>
        </p:nvSpPr>
        <p:spPr>
          <a:xfrm>
            <a:off x="952500" y="18489726"/>
            <a:ext cx="16008688" cy="1308050"/>
          </a:xfrm>
          <a:prstGeom prst="rect">
            <a:avLst/>
          </a:prstGeom>
          <a:ln w="12700">
            <a:miter lim="400000"/>
          </a:ln>
          <a:extLst>
            <a:ext uri="{C572A759-6A51-4108-AA02-DFA0A04FC94B}">
              <ma14:wrappingTextBoxFlag xmlns:ma14="http://schemas.microsoft.com/office/mac/drawingml/2011/main" xmlns="" val="1"/>
            </a:ext>
          </a:extLst>
        </p:spPr>
        <p:txBody>
          <a:bodyPr lIns="76200" tIns="76200" rIns="76200" bIns="76200">
            <a:spAutoFit/>
          </a:bodyPr>
          <a:lstStyle/>
          <a:p>
            <a:pPr algn="l">
              <a:defRPr sz="2000">
                <a:latin typeface="Alright Sans"/>
                <a:ea typeface="Alright Sans"/>
                <a:cs typeface="Alright Sans"/>
                <a:sym typeface="Alright Sans"/>
              </a:defRPr>
            </a:pPr>
            <a:r>
              <a:rPr lang="en-US" sz="3000" dirty="0">
                <a:latin typeface="Open Sans" panose="020B0606030504020204" pitchFamily="34" charset="0"/>
                <a:ea typeface="Open Sans" panose="020B0606030504020204" pitchFamily="34" charset="0"/>
                <a:cs typeface="Open Sans" panose="020B0606030504020204" pitchFamily="34" charset="0"/>
              </a:rPr>
              <a:t>COMPLETE JAVA MASTERCLASS</a:t>
            </a:r>
          </a:p>
          <a:p>
            <a:pPr algn="l">
              <a:defRPr sz="3000">
                <a:latin typeface="Alright Sans"/>
                <a:ea typeface="Alright Sans"/>
                <a:cs typeface="Alright Sans"/>
                <a:sym typeface="Alright Sans"/>
              </a:defRPr>
            </a:pPr>
            <a:r>
              <a:rPr lang="en-US" sz="4500" dirty="0">
                <a:latin typeface="Open Sans" panose="020B0606030504020204" pitchFamily="34" charset="0"/>
                <a:ea typeface="Open Sans" panose="020B0606030504020204" pitchFamily="34" charset="0"/>
                <a:cs typeface="Open Sans" panose="020B0606030504020204" pitchFamily="34" charset="0"/>
              </a:rPr>
              <a:t>Introduction to Lambda Expressions</a:t>
            </a:r>
          </a:p>
        </p:txBody>
      </p:sp>
      <p:sp>
        <p:nvSpPr>
          <p:cNvPr id="8" name="Rectangle 7">
            <a:extLst>
              <a:ext uri="{FF2B5EF4-FFF2-40B4-BE49-F238E27FC236}">
                <a16:creationId xmlns:a16="http://schemas.microsoft.com/office/drawing/2014/main" id="{89DBB243-EF27-4345-872D-E76597E95619}"/>
              </a:ext>
            </a:extLst>
          </p:cNvPr>
          <p:cNvSpPr/>
          <p:nvPr/>
        </p:nvSpPr>
        <p:spPr>
          <a:xfrm>
            <a:off x="952501" y="4285903"/>
            <a:ext cx="34782670" cy="14203823"/>
          </a:xfrm>
          <a:prstGeom prst="rect">
            <a:avLst/>
          </a:prstGeom>
        </p:spPr>
        <p:txBody>
          <a:bodyPr wrap="square">
            <a:normAutofit/>
          </a:bodyPr>
          <a:lstStyle/>
          <a:p>
            <a:pPr algn="l">
              <a:spcAft>
                <a:spcPts val="5022"/>
              </a:spcAft>
            </a:pPr>
            <a:r>
              <a:rPr lang="en-US" sz="6400" dirty="0">
                <a:latin typeface="Open Sans" panose="020B0606030504020204" pitchFamily="34" charset="0"/>
                <a:ea typeface="Open Sans" panose="020B0606030504020204" pitchFamily="34" charset="0"/>
                <a:cs typeface="Open Sans" panose="020B0606030504020204" pitchFamily="34" charset="0"/>
              </a:rPr>
              <a:t>Welcome to the Lambda Expressions section of the course.</a:t>
            </a:r>
          </a:p>
          <a:p>
            <a:pPr algn="l">
              <a:spcAft>
                <a:spcPts val="5022"/>
              </a:spcAft>
            </a:pPr>
            <a:r>
              <a:rPr lang="en-US" sz="6400" dirty="0">
                <a:latin typeface="Open Sans" panose="020B0606030504020204" pitchFamily="34" charset="0"/>
                <a:ea typeface="Open Sans" panose="020B0606030504020204" pitchFamily="34" charset="0"/>
                <a:cs typeface="Open Sans" panose="020B0606030504020204" pitchFamily="34" charset="0"/>
              </a:rPr>
              <a:t>While I considered introducing this topic earlier, it’s important to have a solid understanding of core Java concepts before tackling lambda expressions. These expressions, introduced in Java with JDK 8, are now an essential feature and are supported by various methods within Java’s interfaces and classes.</a:t>
            </a:r>
          </a:p>
          <a:p>
            <a:pPr algn="l">
              <a:spcAft>
                <a:spcPts val="5022"/>
              </a:spcAft>
            </a:pPr>
            <a:r>
              <a:rPr lang="en-US" sz="6400" dirty="0">
                <a:latin typeface="Open Sans" panose="020B0606030504020204" pitchFamily="34" charset="0"/>
                <a:ea typeface="Open Sans" panose="020B0606030504020204" pitchFamily="34" charset="0"/>
                <a:cs typeface="Open Sans" panose="020B0606030504020204" pitchFamily="34" charset="0"/>
              </a:rPr>
              <a:t>Lambda expressions can be a bit challenging to grasp initially, especially when trying to unlock their full potential. That’s why it made sense to first build a strong foundation before exploring these more advanced features.</a:t>
            </a:r>
          </a:p>
          <a:p>
            <a:pPr algn="l">
              <a:spcAft>
                <a:spcPts val="5022"/>
              </a:spcAft>
            </a:pPr>
            <a:r>
              <a:rPr lang="en-US" sz="6400" dirty="0">
                <a:latin typeface="Open Sans" panose="020B0606030504020204" pitchFamily="34" charset="0"/>
                <a:ea typeface="Open Sans" panose="020B0606030504020204" pitchFamily="34" charset="0"/>
                <a:cs typeface="Open Sans" panose="020B0606030504020204" pitchFamily="34" charset="0"/>
              </a:rPr>
              <a:t>Think of a lambda expression as a shorthand for an anonymous class that implements a functional interface—an interface that contains only a single abstract method. This makes your code more concise and easier to understand.</a:t>
            </a:r>
          </a:p>
        </p:txBody>
      </p:sp>
    </p:spTree>
    <p:extLst>
      <p:ext uri="{BB962C8B-B14F-4D97-AF65-F5344CB8AC3E}">
        <p14:creationId xmlns:p14="http://schemas.microsoft.com/office/powerpoint/2010/main" val="3120547782"/>
      </p:ext>
    </p:extLst>
  </p:cSld>
  <p:clrMapOvr>
    <a:masterClrMapping/>
  </p:clrMapOvr>
  <p:transition spd="slow"/>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 name="Shape 126"/>
          <p:cNvSpPr/>
          <p:nvPr/>
        </p:nvSpPr>
        <p:spPr>
          <a:xfrm>
            <a:off x="952498" y="459786"/>
            <a:ext cx="23519259" cy="1815882"/>
          </a:xfrm>
          <a:prstGeom prst="rect">
            <a:avLst/>
          </a:prstGeom>
          <a:ln w="12700">
            <a:miter lim="400000"/>
          </a:ln>
          <a:extLst>
            <a:ext uri="{C572A759-6A51-4108-AA02-DFA0A04FC94B}">
              <ma14:wrappingTextBoxFlag xmlns:ma14="http://schemas.microsoft.com/office/mac/drawingml/2011/main" xmlns="" val="1"/>
            </a:ext>
          </a:extLst>
        </p:spPr>
        <p:txBody>
          <a:bodyPr wrap="none" lIns="76200" tIns="76200" rIns="76200" bIns="76200">
            <a:spAutoFit/>
          </a:bodyPr>
          <a:lstStyle>
            <a:lvl1pPr algn="l">
              <a:defRPr sz="7000">
                <a:latin typeface="Alright Sans"/>
                <a:ea typeface="Alright Sans"/>
                <a:cs typeface="Alright Sans"/>
                <a:sym typeface="Alright Sans"/>
              </a:defRPr>
            </a:lvl1pPr>
          </a:lstStyle>
          <a:p>
            <a:pPr>
              <a:defRPr sz="3000">
                <a:latin typeface="Alright Sans"/>
                <a:ea typeface="Alright Sans"/>
                <a:cs typeface="Alright Sans"/>
                <a:sym typeface="Alright Sans"/>
              </a:defRPr>
            </a:pPr>
            <a:r>
              <a:rPr lang="en-US" sz="10800" dirty="0">
                <a:latin typeface="Open Sans" panose="020B0606030504020204" pitchFamily="34" charset="0"/>
                <a:ea typeface="Open Sans" panose="020B0606030504020204" pitchFamily="34" charset="0"/>
                <a:cs typeface="Open Sans" panose="020B0606030504020204" pitchFamily="34" charset="0"/>
              </a:rPr>
              <a:t>Introduction to Lambda Expressions</a:t>
            </a:r>
          </a:p>
        </p:txBody>
      </p:sp>
      <p:sp>
        <p:nvSpPr>
          <p:cNvPr id="128" name="Shape 128"/>
          <p:cNvSpPr/>
          <p:nvPr/>
        </p:nvSpPr>
        <p:spPr>
          <a:xfrm>
            <a:off x="952500" y="18210515"/>
            <a:ext cx="34782668" cy="2"/>
          </a:xfrm>
          <a:prstGeom prst="line">
            <a:avLst/>
          </a:prstGeom>
          <a:ln w="76200">
            <a:solidFill>
              <a:schemeClr val="accent1">
                <a:satOff val="-3355"/>
                <a:lumOff val="26614"/>
              </a:schemeClr>
            </a:solidFill>
            <a:miter lim="400000"/>
          </a:ln>
        </p:spPr>
        <p:txBody>
          <a:bodyPr lIns="76200" tIns="76200" rIns="76200" bIns="76200" anchor="ctr"/>
          <a:lstStyle/>
          <a:p>
            <a:pPr>
              <a:defRPr sz="3200"/>
            </a:pPr>
            <a:endParaRPr sz="4800"/>
          </a:p>
        </p:txBody>
      </p:sp>
      <p:pic>
        <p:nvPicPr>
          <p:cNvPr id="129" name="Logo.png"/>
          <p:cNvPicPr>
            <a:picLocks noChangeAspect="1"/>
          </p:cNvPicPr>
          <p:nvPr/>
        </p:nvPicPr>
        <p:blipFill>
          <a:blip r:embed="rId3"/>
          <a:stretch>
            <a:fillRect/>
          </a:stretch>
        </p:blipFill>
        <p:spPr>
          <a:xfrm>
            <a:off x="14650974" y="18489726"/>
            <a:ext cx="6321552" cy="1392336"/>
          </a:xfrm>
          <a:prstGeom prst="rect">
            <a:avLst/>
          </a:prstGeom>
          <a:ln w="12700">
            <a:miter lim="400000"/>
          </a:ln>
        </p:spPr>
      </p:pic>
      <p:sp>
        <p:nvSpPr>
          <p:cNvPr id="9" name="Shape 127"/>
          <p:cNvSpPr/>
          <p:nvPr/>
        </p:nvSpPr>
        <p:spPr>
          <a:xfrm flipV="1">
            <a:off x="952499" y="2203340"/>
            <a:ext cx="34782670" cy="38132"/>
          </a:xfrm>
          <a:prstGeom prst="line">
            <a:avLst/>
          </a:prstGeom>
          <a:ln w="152400">
            <a:solidFill>
              <a:schemeClr val="accent1">
                <a:satOff val="-3355"/>
                <a:lumOff val="26614"/>
              </a:schemeClr>
            </a:solidFill>
            <a:miter lim="400000"/>
          </a:ln>
        </p:spPr>
        <p:txBody>
          <a:bodyPr lIns="76200" tIns="76200" rIns="76200" bIns="76200" anchor="ctr"/>
          <a:lstStyle/>
          <a:p>
            <a:pPr>
              <a:defRPr sz="3200"/>
            </a:pPr>
            <a:endParaRPr sz="4800"/>
          </a:p>
        </p:txBody>
      </p:sp>
      <p:sp>
        <p:nvSpPr>
          <p:cNvPr id="10" name="Shape 131"/>
          <p:cNvSpPr/>
          <p:nvPr/>
        </p:nvSpPr>
        <p:spPr>
          <a:xfrm>
            <a:off x="952500" y="18489726"/>
            <a:ext cx="16008688" cy="1308050"/>
          </a:xfrm>
          <a:prstGeom prst="rect">
            <a:avLst/>
          </a:prstGeom>
          <a:ln w="12700">
            <a:miter lim="400000"/>
          </a:ln>
          <a:extLst>
            <a:ext uri="{C572A759-6A51-4108-AA02-DFA0A04FC94B}">
              <ma14:wrappingTextBoxFlag xmlns="" xmlns:ma14="http://schemas.microsoft.com/office/mac/drawingml/2011/main" val="1"/>
            </a:ext>
          </a:extLst>
        </p:spPr>
        <p:txBody>
          <a:bodyPr lIns="76200" tIns="76200" rIns="76200" bIns="76200">
            <a:spAutoFit/>
          </a:bodyPr>
          <a:lstStyle/>
          <a:p>
            <a:pPr algn="l">
              <a:defRPr sz="2000">
                <a:latin typeface="Alright Sans"/>
                <a:ea typeface="Alright Sans"/>
                <a:cs typeface="Alright Sans"/>
                <a:sym typeface="Alright Sans"/>
              </a:defRPr>
            </a:pPr>
            <a:r>
              <a:rPr lang="en-US" sz="3000" dirty="0">
                <a:latin typeface="Open Sans" panose="020B0606030504020204" pitchFamily="34" charset="0"/>
                <a:ea typeface="Open Sans" panose="020B0606030504020204" pitchFamily="34" charset="0"/>
                <a:cs typeface="Open Sans" panose="020B0606030504020204" pitchFamily="34" charset="0"/>
              </a:rPr>
              <a:t>COMPLETE JAVA MASTERCLASS</a:t>
            </a:r>
          </a:p>
          <a:p>
            <a:pPr algn="l">
              <a:defRPr sz="3000">
                <a:latin typeface="Alright Sans"/>
                <a:ea typeface="Alright Sans"/>
                <a:cs typeface="Alright Sans"/>
                <a:sym typeface="Alright Sans"/>
              </a:defRPr>
            </a:pPr>
            <a:r>
              <a:rPr lang="en-US" sz="4500" dirty="0">
                <a:latin typeface="Open Sans" panose="020B0606030504020204" pitchFamily="34" charset="0"/>
                <a:ea typeface="Open Sans" panose="020B0606030504020204" pitchFamily="34" charset="0"/>
                <a:cs typeface="Open Sans" panose="020B0606030504020204" pitchFamily="34" charset="0"/>
              </a:rPr>
              <a:t>Introduction to Lambda Expressions</a:t>
            </a:r>
          </a:p>
        </p:txBody>
      </p:sp>
      <p:sp>
        <p:nvSpPr>
          <p:cNvPr id="8" name="Rectangle 7">
            <a:extLst>
              <a:ext uri="{FF2B5EF4-FFF2-40B4-BE49-F238E27FC236}">
                <a16:creationId xmlns:a16="http://schemas.microsoft.com/office/drawing/2014/main" id="{89DBB243-EF27-4345-872D-E76597E95619}"/>
              </a:ext>
            </a:extLst>
          </p:cNvPr>
          <p:cNvSpPr/>
          <p:nvPr/>
        </p:nvSpPr>
        <p:spPr>
          <a:xfrm>
            <a:off x="952501" y="4285904"/>
            <a:ext cx="34782670" cy="13520182"/>
          </a:xfrm>
          <a:prstGeom prst="rect">
            <a:avLst/>
          </a:prstGeom>
        </p:spPr>
        <p:txBody>
          <a:bodyPr wrap="square">
            <a:normAutofit/>
          </a:bodyPr>
          <a:lstStyle/>
          <a:p>
            <a:pPr algn="l">
              <a:spcAft>
                <a:spcPts val="5022"/>
              </a:spcAft>
            </a:pPr>
            <a:r>
              <a:rPr lang="en-US" sz="6400" dirty="0">
                <a:latin typeface="Open Sans" panose="020B0606030504020204" pitchFamily="34" charset="0"/>
                <a:ea typeface="Open Sans" panose="020B0606030504020204" pitchFamily="34" charset="0"/>
                <a:cs typeface="Open Sans" panose="020B0606030504020204" pitchFamily="34" charset="0"/>
              </a:rPr>
              <a:t>Lambda expressions allow you to pass blocks of code as parameters, offering a powerful and flexible way to write cleaner and more functional code with minimal effort. These compact and expressive constructs can greatly simplify your programming tasks.</a:t>
            </a:r>
          </a:p>
          <a:p>
            <a:pPr algn="l">
              <a:spcAft>
                <a:spcPts val="5022"/>
              </a:spcAft>
            </a:pPr>
            <a:r>
              <a:rPr lang="en-US" sz="6400" dirty="0">
                <a:latin typeface="Open Sans" panose="020B0606030504020204" pitchFamily="34" charset="0"/>
                <a:ea typeface="Open Sans" panose="020B0606030504020204" pitchFamily="34" charset="0"/>
                <a:cs typeface="Open Sans" panose="020B0606030504020204" pitchFamily="34" charset="0"/>
              </a:rPr>
              <a:t>Method references build on this concept, providing an even more concise way to refer to existing methods using lambda expression syntax.</a:t>
            </a:r>
          </a:p>
          <a:p>
            <a:pPr algn="l">
              <a:spcAft>
                <a:spcPts val="5022"/>
              </a:spcAft>
            </a:pPr>
            <a:r>
              <a:rPr lang="en-US" sz="6400" dirty="0">
                <a:latin typeface="Open Sans" panose="020B0606030504020204" pitchFamily="34" charset="0"/>
                <a:ea typeface="Open Sans" panose="020B0606030504020204" pitchFamily="34" charset="0"/>
                <a:cs typeface="Open Sans" panose="020B0606030504020204" pitchFamily="34" charset="0"/>
              </a:rPr>
              <a:t>By the end of this section, I hope you’ll be excited about the new possibilities that lambda expressions bring and feel ready to use them effectively in your projects.</a:t>
            </a:r>
          </a:p>
          <a:p>
            <a:pPr algn="l">
              <a:spcAft>
                <a:spcPts val="5022"/>
              </a:spcAft>
            </a:pPr>
            <a:r>
              <a:rPr lang="en-US" sz="6400" dirty="0">
                <a:latin typeface="Open Sans" panose="020B0606030504020204" pitchFamily="34" charset="0"/>
                <a:ea typeface="Open Sans" panose="020B0606030504020204" pitchFamily="34" charset="0"/>
                <a:cs typeface="Open Sans" panose="020B0606030504020204" pitchFamily="34" charset="0"/>
              </a:rPr>
              <a:t>In the final part of this section, I’ll introduce you to some handy default and static methods available on many interfaces. These methods can help you reduce repetitive coding tasks, so be sure to explore this part in detail.</a:t>
            </a:r>
          </a:p>
          <a:p>
            <a:pPr algn="l">
              <a:spcAft>
                <a:spcPts val="5022"/>
              </a:spcAft>
            </a:pPr>
            <a:r>
              <a:rPr lang="en-US" sz="6400" dirty="0">
                <a:latin typeface="Open Sans" panose="020B0606030504020204" pitchFamily="34" charset="0"/>
                <a:ea typeface="Open Sans" panose="020B0606030504020204" pitchFamily="34" charset="0"/>
                <a:cs typeface="Open Sans" panose="020B0606030504020204" pitchFamily="34" charset="0"/>
              </a:rPr>
              <a:t>Let’s get started!</a:t>
            </a:r>
          </a:p>
        </p:txBody>
      </p:sp>
    </p:spTree>
    <p:extLst>
      <p:ext uri="{BB962C8B-B14F-4D97-AF65-F5344CB8AC3E}">
        <p14:creationId xmlns:p14="http://schemas.microsoft.com/office/powerpoint/2010/main" val="4147493476"/>
      </p:ext>
    </p:extLst>
  </p:cSld>
  <p:clrMapOvr>
    <a:masterClrMapping/>
  </p:clrMapOvr>
  <p:transition spd="slow"/>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 name="Shape 126"/>
          <p:cNvSpPr/>
          <p:nvPr/>
        </p:nvSpPr>
        <p:spPr>
          <a:xfrm>
            <a:off x="952498" y="459786"/>
            <a:ext cx="15557144" cy="1815882"/>
          </a:xfrm>
          <a:prstGeom prst="rect">
            <a:avLst/>
          </a:prstGeom>
          <a:ln w="12700">
            <a:miter lim="400000"/>
          </a:ln>
          <a:extLst>
            <a:ext uri="{C572A759-6A51-4108-AA02-DFA0A04FC94B}">
              <ma14:wrappingTextBoxFlag xmlns:ma14="http://schemas.microsoft.com/office/mac/drawingml/2011/main" xmlns="" val="1"/>
            </a:ext>
          </a:extLst>
        </p:spPr>
        <p:txBody>
          <a:bodyPr wrap="none" lIns="76200" tIns="76200" rIns="76200" bIns="76200">
            <a:spAutoFit/>
          </a:bodyPr>
          <a:lstStyle>
            <a:lvl1pPr algn="l">
              <a:defRPr sz="7000">
                <a:latin typeface="Alright Sans"/>
                <a:ea typeface="Alright Sans"/>
                <a:cs typeface="Alright Sans"/>
                <a:sym typeface="Alright Sans"/>
              </a:defRPr>
            </a:lvl1pPr>
          </a:lstStyle>
          <a:p>
            <a:pPr>
              <a:defRPr sz="3000">
                <a:latin typeface="Alright Sans"/>
                <a:ea typeface="Alright Sans"/>
                <a:cs typeface="Alright Sans"/>
                <a:sym typeface="Alright Sans"/>
              </a:defRPr>
            </a:pPr>
            <a:r>
              <a:rPr lang="en-US" sz="10800" dirty="0">
                <a:latin typeface="Open Sans" panose="020B0606030504020204" pitchFamily="34" charset="0"/>
                <a:ea typeface="Open Sans" panose="020B0606030504020204" pitchFamily="34" charset="0"/>
                <a:cs typeface="Open Sans" panose="020B0606030504020204" pitchFamily="34" charset="0"/>
              </a:rPr>
              <a:t>The Lambda Expression</a:t>
            </a:r>
          </a:p>
        </p:txBody>
      </p:sp>
      <p:sp>
        <p:nvSpPr>
          <p:cNvPr id="128" name="Shape 128"/>
          <p:cNvSpPr/>
          <p:nvPr/>
        </p:nvSpPr>
        <p:spPr>
          <a:xfrm>
            <a:off x="952500" y="18210515"/>
            <a:ext cx="34782668" cy="2"/>
          </a:xfrm>
          <a:prstGeom prst="line">
            <a:avLst/>
          </a:prstGeom>
          <a:ln w="76200">
            <a:solidFill>
              <a:schemeClr val="accent1">
                <a:satOff val="-3355"/>
                <a:lumOff val="26614"/>
              </a:schemeClr>
            </a:solidFill>
            <a:miter lim="400000"/>
          </a:ln>
        </p:spPr>
        <p:txBody>
          <a:bodyPr lIns="76200" tIns="76200" rIns="76200" bIns="76200" anchor="ctr"/>
          <a:lstStyle/>
          <a:p>
            <a:pPr>
              <a:defRPr sz="3200"/>
            </a:pPr>
            <a:endParaRPr sz="4800"/>
          </a:p>
        </p:txBody>
      </p:sp>
      <p:pic>
        <p:nvPicPr>
          <p:cNvPr id="129" name="Logo.png"/>
          <p:cNvPicPr>
            <a:picLocks noChangeAspect="1"/>
          </p:cNvPicPr>
          <p:nvPr/>
        </p:nvPicPr>
        <p:blipFill>
          <a:blip r:embed="rId3"/>
          <a:stretch>
            <a:fillRect/>
          </a:stretch>
        </p:blipFill>
        <p:spPr>
          <a:xfrm>
            <a:off x="14650974" y="18489726"/>
            <a:ext cx="6321552" cy="1392336"/>
          </a:xfrm>
          <a:prstGeom prst="rect">
            <a:avLst/>
          </a:prstGeom>
          <a:ln w="12700">
            <a:miter lim="400000"/>
          </a:ln>
        </p:spPr>
      </p:pic>
      <p:sp>
        <p:nvSpPr>
          <p:cNvPr id="9" name="Shape 127"/>
          <p:cNvSpPr/>
          <p:nvPr/>
        </p:nvSpPr>
        <p:spPr>
          <a:xfrm flipV="1">
            <a:off x="952499" y="2203340"/>
            <a:ext cx="34782670" cy="38132"/>
          </a:xfrm>
          <a:prstGeom prst="line">
            <a:avLst/>
          </a:prstGeom>
          <a:ln w="152400">
            <a:solidFill>
              <a:schemeClr val="accent1">
                <a:satOff val="-3355"/>
                <a:lumOff val="26614"/>
              </a:schemeClr>
            </a:solidFill>
            <a:miter lim="400000"/>
          </a:ln>
        </p:spPr>
        <p:txBody>
          <a:bodyPr lIns="76200" tIns="76200" rIns="76200" bIns="76200" anchor="ctr"/>
          <a:lstStyle/>
          <a:p>
            <a:pPr>
              <a:defRPr sz="3200"/>
            </a:pPr>
            <a:endParaRPr sz="4800"/>
          </a:p>
        </p:txBody>
      </p:sp>
      <p:sp>
        <p:nvSpPr>
          <p:cNvPr id="10" name="Shape 131"/>
          <p:cNvSpPr/>
          <p:nvPr/>
        </p:nvSpPr>
        <p:spPr>
          <a:xfrm>
            <a:off x="952500" y="18489726"/>
            <a:ext cx="16008688" cy="1138773"/>
          </a:xfrm>
          <a:prstGeom prst="rect">
            <a:avLst/>
          </a:prstGeom>
          <a:ln w="12700">
            <a:miter lim="400000"/>
          </a:ln>
          <a:extLst>
            <a:ext uri="{C572A759-6A51-4108-AA02-DFA0A04FC94B}">
              <ma14:wrappingTextBoxFlag xmlns="" xmlns:ma14="http://schemas.microsoft.com/office/mac/drawingml/2011/main" val="1"/>
            </a:ext>
          </a:extLst>
        </p:spPr>
        <p:txBody>
          <a:bodyPr lIns="76200" tIns="76200" rIns="76200" bIns="76200">
            <a:spAutoFit/>
          </a:bodyPr>
          <a:lstStyle/>
          <a:p>
            <a:pPr algn="l">
              <a:defRPr sz="2000">
                <a:latin typeface="Alright Sans"/>
                <a:ea typeface="Alright Sans"/>
                <a:cs typeface="Alright Sans"/>
                <a:sym typeface="Alright Sans"/>
              </a:defRPr>
            </a:pPr>
            <a:r>
              <a:rPr lang="en-US" sz="3000" dirty="0">
                <a:latin typeface="Open Sans" panose="020B0606030504020204" pitchFamily="34" charset="0"/>
                <a:ea typeface="Open Sans" panose="020B0606030504020204" pitchFamily="34" charset="0"/>
                <a:cs typeface="Open Sans" panose="020B0606030504020204" pitchFamily="34" charset="0"/>
              </a:rPr>
              <a:t>COMPLETE JAVA MASTERCLASS</a:t>
            </a:r>
          </a:p>
          <a:p>
            <a:pPr algn="l">
              <a:defRPr sz="3000">
                <a:latin typeface="Alright Sans"/>
                <a:ea typeface="Alright Sans"/>
                <a:cs typeface="Alright Sans"/>
                <a:sym typeface="Alright Sans"/>
              </a:defRPr>
            </a:pPr>
            <a:r>
              <a:rPr lang="en-US" sz="3400" dirty="0">
                <a:latin typeface="Open Sans" panose="020B0606030504020204" pitchFamily="34" charset="0"/>
                <a:ea typeface="Open Sans" panose="020B0606030504020204" pitchFamily="34" charset="0"/>
                <a:cs typeface="Open Sans" panose="020B0606030504020204" pitchFamily="34" charset="0"/>
              </a:rPr>
              <a:t>Introduction to the Lambda Expression, and Functional Interfaces</a:t>
            </a:r>
          </a:p>
        </p:txBody>
      </p:sp>
      <p:sp>
        <p:nvSpPr>
          <p:cNvPr id="8" name="Rectangle 7">
            <a:extLst>
              <a:ext uri="{FF2B5EF4-FFF2-40B4-BE49-F238E27FC236}">
                <a16:creationId xmlns:a16="http://schemas.microsoft.com/office/drawing/2014/main" id="{89DBB243-EF27-4345-872D-E76597E95619}"/>
              </a:ext>
            </a:extLst>
          </p:cNvPr>
          <p:cNvSpPr/>
          <p:nvPr/>
        </p:nvSpPr>
        <p:spPr>
          <a:xfrm>
            <a:off x="952501" y="5533114"/>
            <a:ext cx="34782670" cy="11593351"/>
          </a:xfrm>
          <a:prstGeom prst="rect">
            <a:avLst/>
          </a:prstGeom>
        </p:spPr>
        <p:txBody>
          <a:bodyPr wrap="square">
            <a:normAutofit/>
          </a:bodyPr>
          <a:lstStyle/>
          <a:p>
            <a:pPr algn="l">
              <a:spcAft>
                <a:spcPts val="5022"/>
              </a:spcAft>
            </a:pPr>
            <a:r>
              <a:rPr lang="en-US" sz="6400" dirty="0">
                <a:latin typeface="Open Sans" panose="020B0606030504020204" pitchFamily="34" charset="0"/>
                <a:ea typeface="Open Sans" panose="020B0606030504020204" pitchFamily="34" charset="0"/>
                <a:cs typeface="Open Sans" panose="020B0606030504020204" pitchFamily="34" charset="0"/>
              </a:rPr>
              <a:t>The syntax of this lambda expression is on the left below.</a:t>
            </a:r>
          </a:p>
          <a:p>
            <a:pPr algn="l">
              <a:spcAft>
                <a:spcPts val="5022"/>
              </a:spcAft>
            </a:pPr>
            <a:r>
              <a:rPr lang="en-US" sz="6400" dirty="0">
                <a:latin typeface="Open Sans" panose="020B0606030504020204" pitchFamily="34" charset="0"/>
                <a:ea typeface="Open Sans" panose="020B0606030504020204" pitchFamily="34" charset="0"/>
                <a:cs typeface="Open Sans" panose="020B0606030504020204" pitchFamily="34" charset="0"/>
              </a:rPr>
              <a:t>This was passed directly as a method argument, for a parameter type that was a Comparator.</a:t>
            </a:r>
          </a:p>
          <a:p>
            <a:pPr algn="l">
              <a:spcAft>
                <a:spcPts val="5022"/>
              </a:spcAft>
            </a:pPr>
            <a:r>
              <a:rPr lang="en-US" sz="6400" dirty="0">
                <a:latin typeface="Open Sans" panose="020B0606030504020204" pitchFamily="34" charset="0"/>
                <a:ea typeface="Open Sans" panose="020B0606030504020204" pitchFamily="34" charset="0"/>
                <a:cs typeface="Open Sans" panose="020B0606030504020204" pitchFamily="34" charset="0"/>
              </a:rPr>
              <a:t>The Comparator's abstract method, compare, is shown here on the right side.</a:t>
            </a:r>
          </a:p>
          <a:p>
            <a:pPr algn="l">
              <a:spcAft>
                <a:spcPts val="5022"/>
              </a:spcAft>
            </a:pPr>
            <a:r>
              <a:rPr lang="en-US" sz="6400" dirty="0">
                <a:latin typeface="Open Sans" panose="020B0606030504020204" pitchFamily="34" charset="0"/>
                <a:ea typeface="Open Sans" panose="020B0606030504020204" pitchFamily="34" charset="0"/>
                <a:cs typeface="Open Sans" panose="020B0606030504020204" pitchFamily="34" charset="0"/>
              </a:rPr>
              <a:t>The lambda expression parameters are determined by the associated interface's method, the functional method.  More on the functional method, shortly.</a:t>
            </a:r>
          </a:p>
          <a:p>
            <a:pPr algn="l">
              <a:spcAft>
                <a:spcPts val="5022"/>
              </a:spcAft>
            </a:pPr>
            <a:r>
              <a:rPr lang="en-US" sz="6400" dirty="0">
                <a:latin typeface="Open Sans" panose="020B0606030504020204" pitchFamily="34" charset="0"/>
                <a:ea typeface="Open Sans" panose="020B0606030504020204" pitchFamily="34" charset="0"/>
                <a:cs typeface="Open Sans" panose="020B0606030504020204" pitchFamily="34" charset="0"/>
              </a:rPr>
              <a:t>In the case of a Comparator, and it's compare method, there are two arguments.</a:t>
            </a:r>
          </a:p>
          <a:p>
            <a:pPr algn="l">
              <a:spcAft>
                <a:spcPts val="5022"/>
              </a:spcAft>
            </a:pPr>
            <a:r>
              <a:rPr lang="en-US" sz="6400" dirty="0">
                <a:latin typeface="Open Sans" panose="020B0606030504020204" pitchFamily="34" charset="0"/>
                <a:ea typeface="Open Sans" panose="020B0606030504020204" pitchFamily="34" charset="0"/>
                <a:cs typeface="Open Sans" panose="020B0606030504020204" pitchFamily="34" charset="0"/>
              </a:rPr>
              <a:t>This is why we get o1, and o2 in parentheses, in the generated lambda expression.</a:t>
            </a:r>
          </a:p>
        </p:txBody>
      </p:sp>
      <p:graphicFrame>
        <p:nvGraphicFramePr>
          <p:cNvPr id="2" name="Table 1">
            <a:extLst>
              <a:ext uri="{FF2B5EF4-FFF2-40B4-BE49-F238E27FC236}">
                <a16:creationId xmlns:a16="http://schemas.microsoft.com/office/drawing/2014/main" id="{C78970B2-8373-40AA-7558-DA0012C39152}"/>
              </a:ext>
            </a:extLst>
          </p:cNvPr>
          <p:cNvGraphicFramePr>
            <a:graphicFrameLocks noGrp="1"/>
          </p:cNvGraphicFramePr>
          <p:nvPr/>
        </p:nvGraphicFramePr>
        <p:xfrm>
          <a:off x="952498" y="2671681"/>
          <a:ext cx="34782669" cy="2467828"/>
        </p:xfrm>
        <a:graphic>
          <a:graphicData uri="http://schemas.openxmlformats.org/drawingml/2006/table">
            <a:tbl>
              <a:tblPr firstRow="1" bandRow="1">
                <a:tableStyleId>{5C22544A-7EE6-4342-B048-85BDC9FD1C3A}</a:tableStyleId>
              </a:tblPr>
              <a:tblGrid>
                <a:gridCol w="23475045">
                  <a:extLst>
                    <a:ext uri="{9D8B030D-6E8A-4147-A177-3AD203B41FA5}">
                      <a16:colId xmlns:a16="http://schemas.microsoft.com/office/drawing/2014/main" val="2844207666"/>
                    </a:ext>
                  </a:extLst>
                </a:gridCol>
                <a:gridCol w="11307624">
                  <a:extLst>
                    <a:ext uri="{9D8B030D-6E8A-4147-A177-3AD203B41FA5}">
                      <a16:colId xmlns:a16="http://schemas.microsoft.com/office/drawing/2014/main" val="1891655341"/>
                    </a:ext>
                  </a:extLst>
                </a:gridCol>
              </a:tblGrid>
              <a:tr h="1049574">
                <a:tc>
                  <a:txBody>
                    <a:bodyPr/>
                    <a:lstStyle/>
                    <a:p>
                      <a:pPr marL="180000" algn="l"/>
                      <a:r>
                        <a:rPr lang="en-US" sz="5400" dirty="0">
                          <a:solidFill>
                            <a:schemeClr val="tx1"/>
                          </a:solidFill>
                          <a:latin typeface="Open Sans" panose="020B0606030504020204" pitchFamily="34" charset="0"/>
                          <a:ea typeface="Open Sans" panose="020B0606030504020204" pitchFamily="34" charset="0"/>
                          <a:cs typeface="Open Sans" panose="020B0606030504020204" pitchFamily="34" charset="0"/>
                        </a:rPr>
                        <a:t>The generated Lambda Expression</a:t>
                      </a:r>
                      <a:endParaRPr lang="en-PH" sz="5400" dirty="0">
                        <a:solidFill>
                          <a:schemeClr val="tx1"/>
                        </a:solidFill>
                        <a:latin typeface="Open Sans" panose="020B0606030504020204" pitchFamily="34" charset="0"/>
                        <a:ea typeface="Open Sans" panose="020B0606030504020204" pitchFamily="34" charset="0"/>
                        <a:cs typeface="Open Sans" panose="020B0606030504020204" pitchFamily="34" charset="0"/>
                      </a:endParaRPr>
                    </a:p>
                  </a:txBody>
                  <a:tcPr marL="86794" marR="86794" marT="43397" marB="43397">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BE4D5"/>
                    </a:solidFill>
                  </a:tcPr>
                </a:tc>
                <a:tc>
                  <a:txBody>
                    <a:bodyPr/>
                    <a:lstStyle/>
                    <a:p>
                      <a:pPr marL="180000" algn="l"/>
                      <a:r>
                        <a:rPr lang="en-US" sz="5400" dirty="0">
                          <a:solidFill>
                            <a:schemeClr val="tx1"/>
                          </a:solidFill>
                          <a:latin typeface="Open Sans" panose="020B0606030504020204" pitchFamily="34" charset="0"/>
                          <a:ea typeface="Open Sans" panose="020B0606030504020204" pitchFamily="34" charset="0"/>
                          <a:cs typeface="Open Sans" panose="020B0606030504020204" pitchFamily="34" charset="0"/>
                        </a:rPr>
                        <a:t>Comparator’s Abstract Method</a:t>
                      </a:r>
                      <a:endParaRPr lang="en-PH" sz="5400" dirty="0">
                        <a:solidFill>
                          <a:schemeClr val="tx1"/>
                        </a:solidFill>
                        <a:latin typeface="Open Sans" panose="020B0606030504020204" pitchFamily="34" charset="0"/>
                        <a:ea typeface="Open Sans" panose="020B0606030504020204" pitchFamily="34" charset="0"/>
                        <a:cs typeface="Open Sans" panose="020B0606030504020204" pitchFamily="34" charset="0"/>
                      </a:endParaRPr>
                    </a:p>
                  </a:txBody>
                  <a:tcPr marL="86794" marR="86794" marT="43397" marB="43397">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BE4D5"/>
                    </a:solidFill>
                  </a:tcPr>
                </a:tc>
                <a:extLst>
                  <a:ext uri="{0D108BD9-81ED-4DB2-BD59-A6C34878D82A}">
                    <a16:rowId xmlns:a16="http://schemas.microsoft.com/office/drawing/2014/main" val="3978129174"/>
                  </a:ext>
                </a:extLst>
              </a:tr>
              <a:tr h="1418254">
                <a:tc>
                  <a:txBody>
                    <a:bodyPr/>
                    <a:lstStyle/>
                    <a:p>
                      <a:pPr marL="180000" marR="0" lvl="0" indent="0" algn="l" defTabSz="914400" rtl="0" eaLnBrk="1" fontAlgn="auto" latinLnBrk="0" hangingPunct="1">
                        <a:lnSpc>
                          <a:spcPct val="100000"/>
                        </a:lnSpc>
                        <a:spcBef>
                          <a:spcPts val="0"/>
                        </a:spcBef>
                        <a:spcAft>
                          <a:spcPts val="1000"/>
                        </a:spcAft>
                        <a:buClr>
                          <a:srgbClr val="000000"/>
                        </a:buClr>
                        <a:buSzTx/>
                        <a:buFont typeface="Arial" panose="020B0604020202020204" pitchFamily="34" charset="0"/>
                        <a:buNone/>
                        <a:tabLst/>
                        <a:defRPr/>
                      </a:pPr>
                      <a:endParaRPr lang="en-US" sz="5400" b="0" dirty="0">
                        <a:solidFill>
                          <a:schemeClr val="tx1"/>
                        </a:solidFill>
                        <a:latin typeface="Open Sans" panose="020B0606030504020204" pitchFamily="34" charset="0"/>
                        <a:ea typeface="Open Sans" panose="020B0606030504020204" pitchFamily="34" charset="0"/>
                        <a:cs typeface="Open Sans" panose="020B0606030504020204" pitchFamily="34" charset="0"/>
                      </a:endParaRPr>
                    </a:p>
                  </a:txBody>
                  <a:tcPr marL="86794" marR="86794" marT="43397" marB="43397">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180000" marR="0" lvl="0" indent="0" algn="l" defTabSz="914400" rtl="0" eaLnBrk="1" fontAlgn="auto" latinLnBrk="0" hangingPunct="1">
                        <a:lnSpc>
                          <a:spcPct val="100000"/>
                        </a:lnSpc>
                        <a:spcBef>
                          <a:spcPts val="0"/>
                        </a:spcBef>
                        <a:spcAft>
                          <a:spcPts val="1000"/>
                        </a:spcAft>
                        <a:buClr>
                          <a:srgbClr val="000000"/>
                        </a:buClr>
                        <a:buSzTx/>
                        <a:buFont typeface="Arial" panose="020B0604020202020204" pitchFamily="34" charset="0"/>
                        <a:buNone/>
                        <a:tabLst/>
                        <a:defRPr/>
                      </a:pPr>
                      <a:endParaRPr lang="en-US" sz="5400" b="0" dirty="0">
                        <a:solidFill>
                          <a:schemeClr val="tx1"/>
                        </a:solidFill>
                        <a:latin typeface="Open Sans" panose="020B0606030504020204" pitchFamily="34" charset="0"/>
                        <a:ea typeface="Open Sans" panose="020B0606030504020204" pitchFamily="34" charset="0"/>
                        <a:cs typeface="Open Sans" panose="020B0606030504020204" pitchFamily="34" charset="0"/>
                      </a:endParaRPr>
                    </a:p>
                  </a:txBody>
                  <a:tcPr marL="86794" marR="86794" marT="43397" marB="43397">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640325450"/>
                  </a:ext>
                </a:extLst>
              </a:tr>
            </a:tbl>
          </a:graphicData>
        </a:graphic>
      </p:graphicFrame>
      <p:pic>
        <p:nvPicPr>
          <p:cNvPr id="4" name="Picture 3">
            <a:extLst>
              <a:ext uri="{FF2B5EF4-FFF2-40B4-BE49-F238E27FC236}">
                <a16:creationId xmlns:a16="http://schemas.microsoft.com/office/drawing/2014/main" id="{2464BBBC-4CC5-4F17-DB93-D87B62EB71A2}"/>
              </a:ext>
            </a:extLst>
          </p:cNvPr>
          <p:cNvPicPr>
            <a:picLocks noChangeAspect="1"/>
          </p:cNvPicPr>
          <p:nvPr/>
        </p:nvPicPr>
        <p:blipFill>
          <a:blip r:embed="rId4"/>
          <a:stretch>
            <a:fillRect/>
          </a:stretch>
        </p:blipFill>
        <p:spPr>
          <a:xfrm>
            <a:off x="1064167" y="4013069"/>
            <a:ext cx="22619048" cy="868572"/>
          </a:xfrm>
          <a:prstGeom prst="rect">
            <a:avLst/>
          </a:prstGeom>
        </p:spPr>
      </p:pic>
      <p:pic>
        <p:nvPicPr>
          <p:cNvPr id="6" name="Picture 5">
            <a:extLst>
              <a:ext uri="{FF2B5EF4-FFF2-40B4-BE49-F238E27FC236}">
                <a16:creationId xmlns:a16="http://schemas.microsoft.com/office/drawing/2014/main" id="{2F84D3DF-9813-2204-629C-AA995E467079}"/>
              </a:ext>
            </a:extLst>
          </p:cNvPr>
          <p:cNvPicPr>
            <a:picLocks noChangeAspect="1"/>
          </p:cNvPicPr>
          <p:nvPr/>
        </p:nvPicPr>
        <p:blipFill>
          <a:blip r:embed="rId5"/>
          <a:stretch>
            <a:fillRect/>
          </a:stretch>
        </p:blipFill>
        <p:spPr>
          <a:xfrm>
            <a:off x="24939318" y="3994408"/>
            <a:ext cx="10422857" cy="940952"/>
          </a:xfrm>
          <a:prstGeom prst="rect">
            <a:avLst/>
          </a:prstGeom>
        </p:spPr>
      </p:pic>
    </p:spTree>
    <p:extLst>
      <p:ext uri="{BB962C8B-B14F-4D97-AF65-F5344CB8AC3E}">
        <p14:creationId xmlns:p14="http://schemas.microsoft.com/office/powerpoint/2010/main" val="1810574273"/>
      </p:ext>
    </p:extLst>
  </p:cSld>
  <p:clrMapOvr>
    <a:masterClrMapping/>
  </p:clrMapOvr>
  <p:transition spd="slow"/>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 name="Shape 126"/>
          <p:cNvSpPr/>
          <p:nvPr/>
        </p:nvSpPr>
        <p:spPr>
          <a:xfrm>
            <a:off x="952498" y="459786"/>
            <a:ext cx="15557144" cy="1815882"/>
          </a:xfrm>
          <a:prstGeom prst="rect">
            <a:avLst/>
          </a:prstGeom>
          <a:ln w="12700">
            <a:miter lim="400000"/>
          </a:ln>
          <a:extLst>
            <a:ext uri="{C572A759-6A51-4108-AA02-DFA0A04FC94B}">
              <ma14:wrappingTextBoxFlag xmlns="" xmlns:ma14="http://schemas.microsoft.com/office/mac/drawingml/2011/main" val="1"/>
            </a:ext>
          </a:extLst>
        </p:spPr>
        <p:txBody>
          <a:bodyPr wrap="none" lIns="76200" tIns="76200" rIns="76200" bIns="76200">
            <a:spAutoFit/>
          </a:bodyPr>
          <a:lstStyle>
            <a:lvl1pPr algn="l">
              <a:defRPr sz="7000">
                <a:latin typeface="Alright Sans"/>
                <a:ea typeface="Alright Sans"/>
                <a:cs typeface="Alright Sans"/>
                <a:sym typeface="Alright Sans"/>
              </a:defRPr>
            </a:lvl1pPr>
          </a:lstStyle>
          <a:p>
            <a:pPr>
              <a:defRPr sz="3000">
                <a:latin typeface="Alright Sans"/>
                <a:ea typeface="Alright Sans"/>
                <a:cs typeface="Alright Sans"/>
                <a:sym typeface="Alright Sans"/>
              </a:defRPr>
            </a:pPr>
            <a:r>
              <a:rPr lang="en-US" sz="10800" dirty="0">
                <a:latin typeface="Open Sans" panose="020B0606030504020204" pitchFamily="34" charset="0"/>
                <a:ea typeface="Open Sans" panose="020B0606030504020204" pitchFamily="34" charset="0"/>
                <a:cs typeface="Open Sans" panose="020B0606030504020204" pitchFamily="34" charset="0"/>
              </a:rPr>
              <a:t>The Lambda Expression</a:t>
            </a:r>
          </a:p>
        </p:txBody>
      </p:sp>
      <p:sp>
        <p:nvSpPr>
          <p:cNvPr id="128" name="Shape 128"/>
          <p:cNvSpPr/>
          <p:nvPr/>
        </p:nvSpPr>
        <p:spPr>
          <a:xfrm>
            <a:off x="952500" y="18210515"/>
            <a:ext cx="34782668" cy="2"/>
          </a:xfrm>
          <a:prstGeom prst="line">
            <a:avLst/>
          </a:prstGeom>
          <a:ln w="76200">
            <a:solidFill>
              <a:schemeClr val="accent1">
                <a:satOff val="-3355"/>
                <a:lumOff val="26614"/>
              </a:schemeClr>
            </a:solidFill>
            <a:miter lim="400000"/>
          </a:ln>
        </p:spPr>
        <p:txBody>
          <a:bodyPr lIns="76200" tIns="76200" rIns="76200" bIns="76200" anchor="ctr"/>
          <a:lstStyle/>
          <a:p>
            <a:pPr>
              <a:defRPr sz="3200"/>
            </a:pPr>
            <a:endParaRPr sz="4800"/>
          </a:p>
        </p:txBody>
      </p:sp>
      <p:pic>
        <p:nvPicPr>
          <p:cNvPr id="129" name="Logo.png"/>
          <p:cNvPicPr>
            <a:picLocks noChangeAspect="1"/>
          </p:cNvPicPr>
          <p:nvPr/>
        </p:nvPicPr>
        <p:blipFill>
          <a:blip r:embed="rId3"/>
          <a:stretch>
            <a:fillRect/>
          </a:stretch>
        </p:blipFill>
        <p:spPr>
          <a:xfrm>
            <a:off x="14650974" y="18489726"/>
            <a:ext cx="6321552" cy="1392336"/>
          </a:xfrm>
          <a:prstGeom prst="rect">
            <a:avLst/>
          </a:prstGeom>
          <a:ln w="12700">
            <a:miter lim="400000"/>
          </a:ln>
        </p:spPr>
      </p:pic>
      <p:sp>
        <p:nvSpPr>
          <p:cNvPr id="9" name="Shape 127"/>
          <p:cNvSpPr/>
          <p:nvPr/>
        </p:nvSpPr>
        <p:spPr>
          <a:xfrm flipV="1">
            <a:off x="952499" y="2203340"/>
            <a:ext cx="34782670" cy="38132"/>
          </a:xfrm>
          <a:prstGeom prst="line">
            <a:avLst/>
          </a:prstGeom>
          <a:ln w="152400">
            <a:solidFill>
              <a:schemeClr val="accent1">
                <a:satOff val="-3355"/>
                <a:lumOff val="26614"/>
              </a:schemeClr>
            </a:solidFill>
            <a:miter lim="400000"/>
          </a:ln>
        </p:spPr>
        <p:txBody>
          <a:bodyPr lIns="76200" tIns="76200" rIns="76200" bIns="76200" anchor="ctr"/>
          <a:lstStyle/>
          <a:p>
            <a:pPr>
              <a:defRPr sz="3200"/>
            </a:pPr>
            <a:endParaRPr sz="4800"/>
          </a:p>
        </p:txBody>
      </p:sp>
      <p:sp>
        <p:nvSpPr>
          <p:cNvPr id="10" name="Shape 131"/>
          <p:cNvSpPr/>
          <p:nvPr/>
        </p:nvSpPr>
        <p:spPr>
          <a:xfrm>
            <a:off x="952500" y="18489726"/>
            <a:ext cx="16008688" cy="1138773"/>
          </a:xfrm>
          <a:prstGeom prst="rect">
            <a:avLst/>
          </a:prstGeom>
          <a:ln w="12700">
            <a:miter lim="400000"/>
          </a:ln>
          <a:extLst>
            <a:ext uri="{C572A759-6A51-4108-AA02-DFA0A04FC94B}">
              <ma14:wrappingTextBoxFlag xmlns:ma14="http://schemas.microsoft.com/office/mac/drawingml/2011/main" xmlns="" val="1"/>
            </a:ext>
          </a:extLst>
        </p:spPr>
        <p:txBody>
          <a:bodyPr lIns="76200" tIns="76200" rIns="76200" bIns="76200">
            <a:spAutoFit/>
          </a:bodyPr>
          <a:lstStyle/>
          <a:p>
            <a:pPr algn="l">
              <a:defRPr sz="2000">
                <a:latin typeface="Alright Sans"/>
                <a:ea typeface="Alright Sans"/>
                <a:cs typeface="Alright Sans"/>
                <a:sym typeface="Alright Sans"/>
              </a:defRPr>
            </a:pPr>
            <a:r>
              <a:rPr lang="en-US" sz="3000" dirty="0">
                <a:latin typeface="Open Sans" panose="020B0606030504020204" pitchFamily="34" charset="0"/>
                <a:ea typeface="Open Sans" panose="020B0606030504020204" pitchFamily="34" charset="0"/>
                <a:cs typeface="Open Sans" panose="020B0606030504020204" pitchFamily="34" charset="0"/>
              </a:rPr>
              <a:t>COMPLETE JAVA MASTERCLASS</a:t>
            </a:r>
          </a:p>
          <a:p>
            <a:pPr algn="l">
              <a:defRPr sz="3000">
                <a:latin typeface="Alright Sans"/>
                <a:ea typeface="Alright Sans"/>
                <a:cs typeface="Alright Sans"/>
                <a:sym typeface="Alright Sans"/>
              </a:defRPr>
            </a:pPr>
            <a:r>
              <a:rPr lang="en-US" sz="3400" dirty="0">
                <a:latin typeface="Open Sans" panose="020B0606030504020204" pitchFamily="34" charset="0"/>
                <a:ea typeface="Open Sans" panose="020B0606030504020204" pitchFamily="34" charset="0"/>
                <a:cs typeface="Open Sans" panose="020B0606030504020204" pitchFamily="34" charset="0"/>
              </a:rPr>
              <a:t>Introduction to the Lambda Expression, and Functional Interfaces</a:t>
            </a:r>
          </a:p>
        </p:txBody>
      </p:sp>
      <p:sp>
        <p:nvSpPr>
          <p:cNvPr id="8" name="Rectangle 7">
            <a:extLst>
              <a:ext uri="{FF2B5EF4-FFF2-40B4-BE49-F238E27FC236}">
                <a16:creationId xmlns:a16="http://schemas.microsoft.com/office/drawing/2014/main" id="{89DBB243-EF27-4345-872D-E76597E95619}"/>
              </a:ext>
            </a:extLst>
          </p:cNvPr>
          <p:cNvSpPr/>
          <p:nvPr/>
        </p:nvSpPr>
        <p:spPr>
          <a:xfrm>
            <a:off x="952501" y="5533114"/>
            <a:ext cx="34782670" cy="11593351"/>
          </a:xfrm>
          <a:prstGeom prst="rect">
            <a:avLst/>
          </a:prstGeom>
        </p:spPr>
        <p:txBody>
          <a:bodyPr wrap="square">
            <a:normAutofit/>
          </a:bodyPr>
          <a:lstStyle/>
          <a:p>
            <a:pPr algn="l">
              <a:spcAft>
                <a:spcPts val="5022"/>
              </a:spcAft>
            </a:pPr>
            <a:r>
              <a:rPr lang="en-US" sz="6400" dirty="0">
                <a:latin typeface="Open Sans" panose="020B0606030504020204" pitchFamily="34" charset="0"/>
                <a:ea typeface="Open Sans" panose="020B0606030504020204" pitchFamily="34" charset="0"/>
                <a:cs typeface="Open Sans" panose="020B0606030504020204" pitchFamily="34" charset="0"/>
              </a:rPr>
              <a:t>These arguments can be used in the expression, which is on the right of the arrow token. </a:t>
            </a:r>
          </a:p>
          <a:p>
            <a:pPr algn="l">
              <a:spcAft>
                <a:spcPts val="5022"/>
              </a:spcAft>
            </a:pPr>
            <a:r>
              <a:rPr lang="en-US" sz="6400" dirty="0">
                <a:latin typeface="Open Sans" panose="020B0606030504020204" pitchFamily="34" charset="0"/>
                <a:ea typeface="Open Sans" panose="020B0606030504020204" pitchFamily="34" charset="0"/>
                <a:cs typeface="Open Sans" panose="020B0606030504020204" pitchFamily="34" charset="0"/>
              </a:rPr>
              <a:t>Technically arrow, rather than arrow token is the official term used by Oracle, when using it in a lambda expression, so I'll use that </a:t>
            </a:r>
            <a:r>
              <a:rPr lang="en-US" sz="6400">
                <a:latin typeface="Open Sans" panose="020B0606030504020204" pitchFamily="34" charset="0"/>
                <a:ea typeface="Open Sans" panose="020B0606030504020204" pitchFamily="34" charset="0"/>
                <a:cs typeface="Open Sans" panose="020B0606030504020204" pitchFamily="34" charset="0"/>
              </a:rPr>
              <a:t>moving forward.</a:t>
            </a:r>
            <a:endParaRPr lang="en-US" sz="6400" dirty="0">
              <a:latin typeface="Open Sans" panose="020B0606030504020204" pitchFamily="34" charset="0"/>
              <a:ea typeface="Open Sans" panose="020B0606030504020204" pitchFamily="34" charset="0"/>
              <a:cs typeface="Open Sans" panose="020B0606030504020204" pitchFamily="34" charset="0"/>
            </a:endParaRPr>
          </a:p>
        </p:txBody>
      </p:sp>
      <p:graphicFrame>
        <p:nvGraphicFramePr>
          <p:cNvPr id="2" name="Table 1">
            <a:extLst>
              <a:ext uri="{FF2B5EF4-FFF2-40B4-BE49-F238E27FC236}">
                <a16:creationId xmlns:a16="http://schemas.microsoft.com/office/drawing/2014/main" id="{C78970B2-8373-40AA-7558-DA0012C39152}"/>
              </a:ext>
            </a:extLst>
          </p:cNvPr>
          <p:cNvGraphicFramePr>
            <a:graphicFrameLocks noGrp="1"/>
          </p:cNvGraphicFramePr>
          <p:nvPr/>
        </p:nvGraphicFramePr>
        <p:xfrm>
          <a:off x="952498" y="2671681"/>
          <a:ext cx="34782669" cy="2467828"/>
        </p:xfrm>
        <a:graphic>
          <a:graphicData uri="http://schemas.openxmlformats.org/drawingml/2006/table">
            <a:tbl>
              <a:tblPr firstRow="1" bandRow="1">
                <a:tableStyleId>{5C22544A-7EE6-4342-B048-85BDC9FD1C3A}</a:tableStyleId>
              </a:tblPr>
              <a:tblGrid>
                <a:gridCol w="23475045">
                  <a:extLst>
                    <a:ext uri="{9D8B030D-6E8A-4147-A177-3AD203B41FA5}">
                      <a16:colId xmlns:a16="http://schemas.microsoft.com/office/drawing/2014/main" val="2844207666"/>
                    </a:ext>
                  </a:extLst>
                </a:gridCol>
                <a:gridCol w="11307624">
                  <a:extLst>
                    <a:ext uri="{9D8B030D-6E8A-4147-A177-3AD203B41FA5}">
                      <a16:colId xmlns:a16="http://schemas.microsoft.com/office/drawing/2014/main" val="1891655341"/>
                    </a:ext>
                  </a:extLst>
                </a:gridCol>
              </a:tblGrid>
              <a:tr h="1049574">
                <a:tc>
                  <a:txBody>
                    <a:bodyPr/>
                    <a:lstStyle/>
                    <a:p>
                      <a:pPr marL="180000" algn="l"/>
                      <a:r>
                        <a:rPr lang="en-US" sz="5400" dirty="0">
                          <a:solidFill>
                            <a:schemeClr val="tx1"/>
                          </a:solidFill>
                          <a:latin typeface="Open Sans" panose="020B0606030504020204" pitchFamily="34" charset="0"/>
                          <a:ea typeface="Open Sans" panose="020B0606030504020204" pitchFamily="34" charset="0"/>
                          <a:cs typeface="Open Sans" panose="020B0606030504020204" pitchFamily="34" charset="0"/>
                        </a:rPr>
                        <a:t>The generated Lambda Expression</a:t>
                      </a:r>
                      <a:endParaRPr lang="en-PH" sz="5400" dirty="0">
                        <a:solidFill>
                          <a:schemeClr val="tx1"/>
                        </a:solidFill>
                        <a:latin typeface="Open Sans" panose="020B0606030504020204" pitchFamily="34" charset="0"/>
                        <a:ea typeface="Open Sans" panose="020B0606030504020204" pitchFamily="34" charset="0"/>
                        <a:cs typeface="Open Sans" panose="020B0606030504020204" pitchFamily="34" charset="0"/>
                      </a:endParaRPr>
                    </a:p>
                  </a:txBody>
                  <a:tcPr marL="86794" marR="86794" marT="43397" marB="43397">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BE4D5"/>
                    </a:solidFill>
                  </a:tcPr>
                </a:tc>
                <a:tc>
                  <a:txBody>
                    <a:bodyPr/>
                    <a:lstStyle/>
                    <a:p>
                      <a:pPr marL="180000" algn="l"/>
                      <a:r>
                        <a:rPr lang="en-US" sz="5400" dirty="0">
                          <a:solidFill>
                            <a:schemeClr val="tx1"/>
                          </a:solidFill>
                          <a:latin typeface="Open Sans" panose="020B0606030504020204" pitchFamily="34" charset="0"/>
                          <a:ea typeface="Open Sans" panose="020B0606030504020204" pitchFamily="34" charset="0"/>
                          <a:cs typeface="Open Sans" panose="020B0606030504020204" pitchFamily="34" charset="0"/>
                        </a:rPr>
                        <a:t>Comparator’s Abstract Method</a:t>
                      </a:r>
                      <a:endParaRPr lang="en-PH" sz="5400" dirty="0">
                        <a:solidFill>
                          <a:schemeClr val="tx1"/>
                        </a:solidFill>
                        <a:latin typeface="Open Sans" panose="020B0606030504020204" pitchFamily="34" charset="0"/>
                        <a:ea typeface="Open Sans" panose="020B0606030504020204" pitchFamily="34" charset="0"/>
                        <a:cs typeface="Open Sans" panose="020B0606030504020204" pitchFamily="34" charset="0"/>
                      </a:endParaRPr>
                    </a:p>
                  </a:txBody>
                  <a:tcPr marL="86794" marR="86794" marT="43397" marB="43397">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BE4D5"/>
                    </a:solidFill>
                  </a:tcPr>
                </a:tc>
                <a:extLst>
                  <a:ext uri="{0D108BD9-81ED-4DB2-BD59-A6C34878D82A}">
                    <a16:rowId xmlns:a16="http://schemas.microsoft.com/office/drawing/2014/main" val="3978129174"/>
                  </a:ext>
                </a:extLst>
              </a:tr>
              <a:tr h="1418254">
                <a:tc>
                  <a:txBody>
                    <a:bodyPr/>
                    <a:lstStyle/>
                    <a:p>
                      <a:pPr marL="180000" marR="0" lvl="0" indent="0" algn="l" defTabSz="914400" rtl="0" eaLnBrk="1" fontAlgn="auto" latinLnBrk="0" hangingPunct="1">
                        <a:lnSpc>
                          <a:spcPct val="100000"/>
                        </a:lnSpc>
                        <a:spcBef>
                          <a:spcPts val="0"/>
                        </a:spcBef>
                        <a:spcAft>
                          <a:spcPts val="1000"/>
                        </a:spcAft>
                        <a:buClr>
                          <a:srgbClr val="000000"/>
                        </a:buClr>
                        <a:buSzTx/>
                        <a:buFont typeface="Arial" panose="020B0604020202020204" pitchFamily="34" charset="0"/>
                        <a:buNone/>
                        <a:tabLst/>
                        <a:defRPr/>
                      </a:pPr>
                      <a:endParaRPr lang="en-US" sz="5400" b="0" dirty="0">
                        <a:solidFill>
                          <a:schemeClr val="tx1"/>
                        </a:solidFill>
                        <a:latin typeface="Open Sans" panose="020B0606030504020204" pitchFamily="34" charset="0"/>
                        <a:ea typeface="Open Sans" panose="020B0606030504020204" pitchFamily="34" charset="0"/>
                        <a:cs typeface="Open Sans" panose="020B0606030504020204" pitchFamily="34" charset="0"/>
                      </a:endParaRPr>
                    </a:p>
                  </a:txBody>
                  <a:tcPr marL="86794" marR="86794" marT="43397" marB="43397">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180000" marR="0" lvl="0" indent="0" algn="l" defTabSz="914400" rtl="0" eaLnBrk="1" fontAlgn="auto" latinLnBrk="0" hangingPunct="1">
                        <a:lnSpc>
                          <a:spcPct val="100000"/>
                        </a:lnSpc>
                        <a:spcBef>
                          <a:spcPts val="0"/>
                        </a:spcBef>
                        <a:spcAft>
                          <a:spcPts val="1000"/>
                        </a:spcAft>
                        <a:buClr>
                          <a:srgbClr val="000000"/>
                        </a:buClr>
                        <a:buSzTx/>
                        <a:buFont typeface="Arial" panose="020B0604020202020204" pitchFamily="34" charset="0"/>
                        <a:buNone/>
                        <a:tabLst/>
                        <a:defRPr/>
                      </a:pPr>
                      <a:endParaRPr lang="en-US" sz="5400" b="0" dirty="0">
                        <a:solidFill>
                          <a:schemeClr val="tx1"/>
                        </a:solidFill>
                        <a:latin typeface="Open Sans" panose="020B0606030504020204" pitchFamily="34" charset="0"/>
                        <a:ea typeface="Open Sans" panose="020B0606030504020204" pitchFamily="34" charset="0"/>
                        <a:cs typeface="Open Sans" panose="020B0606030504020204" pitchFamily="34" charset="0"/>
                      </a:endParaRPr>
                    </a:p>
                  </a:txBody>
                  <a:tcPr marL="86794" marR="86794" marT="43397" marB="43397">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640325450"/>
                  </a:ext>
                </a:extLst>
              </a:tr>
            </a:tbl>
          </a:graphicData>
        </a:graphic>
      </p:graphicFrame>
      <p:pic>
        <p:nvPicPr>
          <p:cNvPr id="4" name="Picture 3">
            <a:extLst>
              <a:ext uri="{FF2B5EF4-FFF2-40B4-BE49-F238E27FC236}">
                <a16:creationId xmlns:a16="http://schemas.microsoft.com/office/drawing/2014/main" id="{2464BBBC-4CC5-4F17-DB93-D87B62EB71A2}"/>
              </a:ext>
            </a:extLst>
          </p:cNvPr>
          <p:cNvPicPr>
            <a:picLocks noChangeAspect="1"/>
          </p:cNvPicPr>
          <p:nvPr/>
        </p:nvPicPr>
        <p:blipFill>
          <a:blip r:embed="rId4"/>
          <a:stretch>
            <a:fillRect/>
          </a:stretch>
        </p:blipFill>
        <p:spPr>
          <a:xfrm>
            <a:off x="1064167" y="4013069"/>
            <a:ext cx="22619048" cy="868572"/>
          </a:xfrm>
          <a:prstGeom prst="rect">
            <a:avLst/>
          </a:prstGeom>
        </p:spPr>
      </p:pic>
      <p:pic>
        <p:nvPicPr>
          <p:cNvPr id="6" name="Picture 5">
            <a:extLst>
              <a:ext uri="{FF2B5EF4-FFF2-40B4-BE49-F238E27FC236}">
                <a16:creationId xmlns:a16="http://schemas.microsoft.com/office/drawing/2014/main" id="{2F84D3DF-9813-2204-629C-AA995E467079}"/>
              </a:ext>
            </a:extLst>
          </p:cNvPr>
          <p:cNvPicPr>
            <a:picLocks noChangeAspect="1"/>
          </p:cNvPicPr>
          <p:nvPr/>
        </p:nvPicPr>
        <p:blipFill>
          <a:blip r:embed="rId5"/>
          <a:stretch>
            <a:fillRect/>
          </a:stretch>
        </p:blipFill>
        <p:spPr>
          <a:xfrm>
            <a:off x="24939318" y="3994408"/>
            <a:ext cx="10422857" cy="940952"/>
          </a:xfrm>
          <a:prstGeom prst="rect">
            <a:avLst/>
          </a:prstGeom>
        </p:spPr>
      </p:pic>
    </p:spTree>
    <p:extLst>
      <p:ext uri="{BB962C8B-B14F-4D97-AF65-F5344CB8AC3E}">
        <p14:creationId xmlns:p14="http://schemas.microsoft.com/office/powerpoint/2010/main" val="4226602941"/>
      </p:ext>
    </p:extLst>
  </p:cSld>
  <p:clrMapOvr>
    <a:masterClrMapping/>
  </p:clrMapOvr>
  <p:transition spd="slow"/>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 name="Shape 126"/>
          <p:cNvSpPr/>
          <p:nvPr/>
        </p:nvSpPr>
        <p:spPr>
          <a:xfrm>
            <a:off x="952498" y="459786"/>
            <a:ext cx="23004696" cy="1815882"/>
          </a:xfrm>
          <a:prstGeom prst="rect">
            <a:avLst/>
          </a:prstGeom>
          <a:ln w="12700">
            <a:miter lim="400000"/>
          </a:ln>
          <a:extLst>
            <a:ext uri="{C572A759-6A51-4108-AA02-DFA0A04FC94B}">
              <ma14:wrappingTextBoxFlag xmlns="" xmlns:ma14="http://schemas.microsoft.com/office/mac/drawingml/2011/main" val="1"/>
            </a:ext>
          </a:extLst>
        </p:spPr>
        <p:txBody>
          <a:bodyPr wrap="none" lIns="76200" tIns="76200" rIns="76200" bIns="76200">
            <a:spAutoFit/>
          </a:bodyPr>
          <a:lstStyle>
            <a:lvl1pPr algn="l">
              <a:defRPr sz="7000">
                <a:latin typeface="Alright Sans"/>
                <a:ea typeface="Alright Sans"/>
                <a:cs typeface="Alright Sans"/>
                <a:sym typeface="Alright Sans"/>
              </a:defRPr>
            </a:lvl1pPr>
          </a:lstStyle>
          <a:p>
            <a:pPr>
              <a:defRPr sz="3000">
                <a:latin typeface="Alright Sans"/>
                <a:ea typeface="Alright Sans"/>
                <a:cs typeface="Alright Sans"/>
                <a:sym typeface="Alright Sans"/>
              </a:defRPr>
            </a:pPr>
            <a:r>
              <a:rPr lang="en-US" sz="10800" dirty="0">
                <a:latin typeface="Open Sans" panose="020B0606030504020204" pitchFamily="34" charset="0"/>
                <a:ea typeface="Open Sans" panose="020B0606030504020204" pitchFamily="34" charset="0"/>
                <a:cs typeface="Open Sans" panose="020B0606030504020204" pitchFamily="34" charset="0"/>
              </a:rPr>
              <a:t>The Syntax of a Lambda Expression</a:t>
            </a:r>
          </a:p>
        </p:txBody>
      </p:sp>
      <p:sp>
        <p:nvSpPr>
          <p:cNvPr id="128" name="Shape 128"/>
          <p:cNvSpPr/>
          <p:nvPr/>
        </p:nvSpPr>
        <p:spPr>
          <a:xfrm>
            <a:off x="952500" y="18210515"/>
            <a:ext cx="34782668" cy="2"/>
          </a:xfrm>
          <a:prstGeom prst="line">
            <a:avLst/>
          </a:prstGeom>
          <a:ln w="76200">
            <a:solidFill>
              <a:schemeClr val="accent1">
                <a:satOff val="-3355"/>
                <a:lumOff val="26614"/>
              </a:schemeClr>
            </a:solidFill>
            <a:miter lim="400000"/>
          </a:ln>
        </p:spPr>
        <p:txBody>
          <a:bodyPr lIns="76200" tIns="76200" rIns="76200" bIns="76200" anchor="ctr"/>
          <a:lstStyle/>
          <a:p>
            <a:pPr>
              <a:defRPr sz="3200"/>
            </a:pPr>
            <a:endParaRPr sz="4800"/>
          </a:p>
        </p:txBody>
      </p:sp>
      <p:pic>
        <p:nvPicPr>
          <p:cNvPr id="129" name="Logo.png"/>
          <p:cNvPicPr>
            <a:picLocks noChangeAspect="1"/>
          </p:cNvPicPr>
          <p:nvPr/>
        </p:nvPicPr>
        <p:blipFill>
          <a:blip r:embed="rId3"/>
          <a:stretch>
            <a:fillRect/>
          </a:stretch>
        </p:blipFill>
        <p:spPr>
          <a:xfrm>
            <a:off x="14650974" y="18489726"/>
            <a:ext cx="6321552" cy="1392336"/>
          </a:xfrm>
          <a:prstGeom prst="rect">
            <a:avLst/>
          </a:prstGeom>
          <a:ln w="12700">
            <a:miter lim="400000"/>
          </a:ln>
        </p:spPr>
      </p:pic>
      <p:sp>
        <p:nvSpPr>
          <p:cNvPr id="9" name="Shape 127"/>
          <p:cNvSpPr/>
          <p:nvPr/>
        </p:nvSpPr>
        <p:spPr>
          <a:xfrm flipV="1">
            <a:off x="952499" y="2203340"/>
            <a:ext cx="34782670" cy="38132"/>
          </a:xfrm>
          <a:prstGeom prst="line">
            <a:avLst/>
          </a:prstGeom>
          <a:ln w="152400">
            <a:solidFill>
              <a:schemeClr val="accent1">
                <a:satOff val="-3355"/>
                <a:lumOff val="26614"/>
              </a:schemeClr>
            </a:solidFill>
            <a:miter lim="400000"/>
          </a:ln>
        </p:spPr>
        <p:txBody>
          <a:bodyPr lIns="76200" tIns="76200" rIns="76200" bIns="76200" anchor="ctr"/>
          <a:lstStyle/>
          <a:p>
            <a:pPr>
              <a:defRPr sz="3200"/>
            </a:pPr>
            <a:endParaRPr sz="4800"/>
          </a:p>
        </p:txBody>
      </p:sp>
      <p:sp>
        <p:nvSpPr>
          <p:cNvPr id="10" name="Shape 131"/>
          <p:cNvSpPr/>
          <p:nvPr/>
        </p:nvSpPr>
        <p:spPr>
          <a:xfrm>
            <a:off x="952500" y="18489726"/>
            <a:ext cx="16008688" cy="1138773"/>
          </a:xfrm>
          <a:prstGeom prst="rect">
            <a:avLst/>
          </a:prstGeom>
          <a:ln w="12700">
            <a:miter lim="400000"/>
          </a:ln>
          <a:extLst>
            <a:ext uri="{C572A759-6A51-4108-AA02-DFA0A04FC94B}">
              <ma14:wrappingTextBoxFlag xmlns:ma14="http://schemas.microsoft.com/office/mac/drawingml/2011/main" xmlns="" val="1"/>
            </a:ext>
          </a:extLst>
        </p:spPr>
        <p:txBody>
          <a:bodyPr lIns="76200" tIns="76200" rIns="76200" bIns="76200">
            <a:spAutoFit/>
          </a:bodyPr>
          <a:lstStyle/>
          <a:p>
            <a:pPr algn="l">
              <a:defRPr sz="2000">
                <a:latin typeface="Alright Sans"/>
                <a:ea typeface="Alright Sans"/>
                <a:cs typeface="Alright Sans"/>
                <a:sym typeface="Alright Sans"/>
              </a:defRPr>
            </a:pPr>
            <a:r>
              <a:rPr lang="en-US" sz="3000" dirty="0">
                <a:latin typeface="Open Sans" panose="020B0606030504020204" pitchFamily="34" charset="0"/>
                <a:ea typeface="Open Sans" panose="020B0606030504020204" pitchFamily="34" charset="0"/>
                <a:cs typeface="Open Sans" panose="020B0606030504020204" pitchFamily="34" charset="0"/>
              </a:rPr>
              <a:t>COMPLETE JAVA MASTERCLASS</a:t>
            </a:r>
          </a:p>
          <a:p>
            <a:pPr algn="l">
              <a:defRPr sz="3000">
                <a:latin typeface="Alright Sans"/>
                <a:ea typeface="Alright Sans"/>
                <a:cs typeface="Alright Sans"/>
                <a:sym typeface="Alright Sans"/>
              </a:defRPr>
            </a:pPr>
            <a:r>
              <a:rPr lang="en-US" sz="3400" dirty="0">
                <a:latin typeface="Open Sans" panose="020B0606030504020204" pitchFamily="34" charset="0"/>
                <a:ea typeface="Open Sans" panose="020B0606030504020204" pitchFamily="34" charset="0"/>
                <a:cs typeface="Open Sans" panose="020B0606030504020204" pitchFamily="34" charset="0"/>
              </a:rPr>
              <a:t>Introduction to the Lambda Expression, and Functional Interfaces</a:t>
            </a:r>
          </a:p>
        </p:txBody>
      </p:sp>
      <p:sp>
        <p:nvSpPr>
          <p:cNvPr id="8" name="Rectangle 7">
            <a:extLst>
              <a:ext uri="{FF2B5EF4-FFF2-40B4-BE49-F238E27FC236}">
                <a16:creationId xmlns:a16="http://schemas.microsoft.com/office/drawing/2014/main" id="{89DBB243-EF27-4345-872D-E76597E95619}"/>
              </a:ext>
            </a:extLst>
          </p:cNvPr>
          <p:cNvSpPr/>
          <p:nvPr/>
        </p:nvSpPr>
        <p:spPr>
          <a:xfrm>
            <a:off x="952501" y="4285904"/>
            <a:ext cx="34782670" cy="11880176"/>
          </a:xfrm>
          <a:prstGeom prst="rect">
            <a:avLst/>
          </a:prstGeom>
        </p:spPr>
        <p:txBody>
          <a:bodyPr wrap="square">
            <a:normAutofit/>
          </a:bodyPr>
          <a:lstStyle/>
          <a:p>
            <a:pPr algn="l">
              <a:spcAft>
                <a:spcPts val="5022"/>
              </a:spcAft>
            </a:pPr>
            <a:r>
              <a:rPr lang="en-US" sz="6400" dirty="0">
                <a:latin typeface="Open Sans" panose="020B0606030504020204" pitchFamily="34" charset="0"/>
                <a:ea typeface="Open Sans" panose="020B0606030504020204" pitchFamily="34" charset="0"/>
                <a:cs typeface="Open Sans" panose="020B0606030504020204" pitchFamily="34" charset="0"/>
              </a:rPr>
              <a:t>A lambda expression consists of a formal parameter list, usually but not always declared in parentheses; the arrow; and either an expression or a code block after the arrow.</a:t>
            </a:r>
          </a:p>
          <a:p>
            <a:pPr algn="l">
              <a:spcAft>
                <a:spcPts val="5022"/>
              </a:spcAft>
            </a:pPr>
            <a:r>
              <a:rPr lang="en-US" sz="6400" dirty="0">
                <a:latin typeface="Open Sans" panose="020B0606030504020204" pitchFamily="34" charset="0"/>
                <a:ea typeface="Open Sans" panose="020B0606030504020204" pitchFamily="34" charset="0"/>
                <a:cs typeface="Open Sans" panose="020B0606030504020204" pitchFamily="34" charset="0"/>
              </a:rPr>
              <a:t>Because lambda expressions are usually simple expressions, it's more common to see them written as shown on this slide.</a:t>
            </a:r>
          </a:p>
          <a:p>
            <a:pPr algn="l">
              <a:spcAft>
                <a:spcPts val="5022"/>
              </a:spcAft>
            </a:pPr>
            <a:endParaRPr lang="en-US" sz="6400" dirty="0">
              <a:latin typeface="Open Sans" panose="020B0606030504020204" pitchFamily="34" charset="0"/>
              <a:ea typeface="Open Sans" panose="020B0606030504020204" pitchFamily="34" charset="0"/>
              <a:cs typeface="Open Sans" panose="020B0606030504020204" pitchFamily="34" charset="0"/>
            </a:endParaRPr>
          </a:p>
          <a:p>
            <a:pPr algn="l">
              <a:spcAft>
                <a:spcPts val="5022"/>
              </a:spcAft>
            </a:pPr>
            <a:r>
              <a:rPr lang="en-US" sz="6400" dirty="0">
                <a:latin typeface="Open Sans" panose="020B0606030504020204" pitchFamily="34" charset="0"/>
                <a:ea typeface="Open Sans" panose="020B0606030504020204" pitchFamily="34" charset="0"/>
                <a:cs typeface="Open Sans" panose="020B0606030504020204" pitchFamily="34" charset="0"/>
              </a:rPr>
              <a:t>The expression should return a value, if the associated interface's method returns a value.</a:t>
            </a:r>
          </a:p>
          <a:p>
            <a:pPr algn="l">
              <a:spcAft>
                <a:spcPts val="5022"/>
              </a:spcAft>
            </a:pPr>
            <a:r>
              <a:rPr lang="en-US" sz="6400" dirty="0">
                <a:latin typeface="Open Sans" panose="020B0606030504020204" pitchFamily="34" charset="0"/>
                <a:ea typeface="Open Sans" panose="020B0606030504020204" pitchFamily="34" charset="0"/>
                <a:cs typeface="Open Sans" panose="020B0606030504020204" pitchFamily="34" charset="0"/>
              </a:rPr>
              <a:t>In the case of our generated expression, it returns an int, which is the result of the compare method on Comparator.</a:t>
            </a:r>
          </a:p>
        </p:txBody>
      </p:sp>
      <p:pic>
        <p:nvPicPr>
          <p:cNvPr id="5" name="Picture 4">
            <a:extLst>
              <a:ext uri="{FF2B5EF4-FFF2-40B4-BE49-F238E27FC236}">
                <a16:creationId xmlns:a16="http://schemas.microsoft.com/office/drawing/2014/main" id="{B95A10F5-97AD-A196-232C-AD95BCAB189E}"/>
              </a:ext>
            </a:extLst>
          </p:cNvPr>
          <p:cNvPicPr>
            <a:picLocks noChangeAspect="1"/>
          </p:cNvPicPr>
          <p:nvPr/>
        </p:nvPicPr>
        <p:blipFill>
          <a:blip r:embed="rId4"/>
          <a:stretch>
            <a:fillRect/>
          </a:stretch>
        </p:blipFill>
        <p:spPr>
          <a:xfrm>
            <a:off x="6426858" y="9392095"/>
            <a:ext cx="23722285" cy="1099428"/>
          </a:xfrm>
          <a:prstGeom prst="rect">
            <a:avLst/>
          </a:prstGeom>
        </p:spPr>
      </p:pic>
      <p:pic>
        <p:nvPicPr>
          <p:cNvPr id="11" name="Picture 10">
            <a:extLst>
              <a:ext uri="{FF2B5EF4-FFF2-40B4-BE49-F238E27FC236}">
                <a16:creationId xmlns:a16="http://schemas.microsoft.com/office/drawing/2014/main" id="{7A812361-B868-866D-3BC4-D3E5A3AC1046}"/>
              </a:ext>
            </a:extLst>
          </p:cNvPr>
          <p:cNvPicPr>
            <a:picLocks noChangeAspect="1"/>
          </p:cNvPicPr>
          <p:nvPr/>
        </p:nvPicPr>
        <p:blipFill>
          <a:blip r:embed="rId5"/>
          <a:stretch>
            <a:fillRect/>
          </a:stretch>
        </p:blipFill>
        <p:spPr>
          <a:xfrm>
            <a:off x="5073714" y="15282431"/>
            <a:ext cx="26428572" cy="1162858"/>
          </a:xfrm>
          <a:prstGeom prst="rect">
            <a:avLst/>
          </a:prstGeom>
        </p:spPr>
      </p:pic>
    </p:spTree>
    <p:extLst>
      <p:ext uri="{BB962C8B-B14F-4D97-AF65-F5344CB8AC3E}">
        <p14:creationId xmlns:p14="http://schemas.microsoft.com/office/powerpoint/2010/main" val="1822952746"/>
      </p:ext>
    </p:extLst>
  </p:cSld>
  <p:clrMapOvr>
    <a:masterClrMapping/>
  </p:clrMapOvr>
  <p:transition spd="slow"/>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 name="Shape 126"/>
          <p:cNvSpPr/>
          <p:nvPr/>
        </p:nvSpPr>
        <p:spPr>
          <a:xfrm>
            <a:off x="952498" y="553091"/>
            <a:ext cx="34849284" cy="1631216"/>
          </a:xfrm>
          <a:prstGeom prst="rect">
            <a:avLst/>
          </a:prstGeom>
          <a:ln w="12700">
            <a:miter lim="400000"/>
          </a:ln>
          <a:extLst>
            <a:ext uri="{C572A759-6A51-4108-AA02-DFA0A04FC94B}">
              <ma14:wrappingTextBoxFlag xmlns:ma14="http://schemas.microsoft.com/office/mac/drawingml/2011/main" xmlns="" val="1"/>
            </a:ext>
          </a:extLst>
        </p:spPr>
        <p:txBody>
          <a:bodyPr wrap="none" lIns="76200" tIns="76200" rIns="76200" bIns="76200">
            <a:spAutoFit/>
          </a:bodyPr>
          <a:lstStyle>
            <a:lvl1pPr algn="l">
              <a:defRPr sz="7000">
                <a:latin typeface="Alright Sans"/>
                <a:ea typeface="Alright Sans"/>
                <a:cs typeface="Alright Sans"/>
                <a:sym typeface="Alright Sans"/>
              </a:defRPr>
            </a:lvl1pPr>
          </a:lstStyle>
          <a:p>
            <a:pPr>
              <a:defRPr sz="3000">
                <a:latin typeface="Alright Sans"/>
                <a:ea typeface="Alright Sans"/>
                <a:cs typeface="Alright Sans"/>
                <a:sym typeface="Alright Sans"/>
              </a:defRPr>
            </a:pPr>
            <a:r>
              <a:rPr lang="en-US" sz="9600" dirty="0">
                <a:latin typeface="Open Sans" panose="020B0606030504020204" pitchFamily="34" charset="0"/>
                <a:ea typeface="Open Sans" panose="020B0606030504020204" pitchFamily="34" charset="0"/>
                <a:cs typeface="Open Sans" panose="020B0606030504020204" pitchFamily="34" charset="0"/>
              </a:rPr>
              <a:t>Comparing the anonymous class and the lambda expression</a:t>
            </a:r>
          </a:p>
        </p:txBody>
      </p:sp>
      <p:sp>
        <p:nvSpPr>
          <p:cNvPr id="128" name="Shape 128"/>
          <p:cNvSpPr/>
          <p:nvPr/>
        </p:nvSpPr>
        <p:spPr>
          <a:xfrm>
            <a:off x="952500" y="18210515"/>
            <a:ext cx="34782668" cy="2"/>
          </a:xfrm>
          <a:prstGeom prst="line">
            <a:avLst/>
          </a:prstGeom>
          <a:ln w="76200">
            <a:solidFill>
              <a:schemeClr val="accent1">
                <a:satOff val="-3355"/>
                <a:lumOff val="26614"/>
              </a:schemeClr>
            </a:solidFill>
            <a:miter lim="400000"/>
          </a:ln>
        </p:spPr>
        <p:txBody>
          <a:bodyPr lIns="76200" tIns="76200" rIns="76200" bIns="76200" anchor="ctr"/>
          <a:lstStyle/>
          <a:p>
            <a:pPr>
              <a:defRPr sz="3200"/>
            </a:pPr>
            <a:endParaRPr sz="4800"/>
          </a:p>
        </p:txBody>
      </p:sp>
      <p:pic>
        <p:nvPicPr>
          <p:cNvPr id="129" name="Logo.png"/>
          <p:cNvPicPr>
            <a:picLocks noChangeAspect="1"/>
          </p:cNvPicPr>
          <p:nvPr/>
        </p:nvPicPr>
        <p:blipFill>
          <a:blip r:embed="rId3"/>
          <a:stretch>
            <a:fillRect/>
          </a:stretch>
        </p:blipFill>
        <p:spPr>
          <a:xfrm>
            <a:off x="14650974" y="18489726"/>
            <a:ext cx="6321552" cy="1392336"/>
          </a:xfrm>
          <a:prstGeom prst="rect">
            <a:avLst/>
          </a:prstGeom>
          <a:ln w="12700">
            <a:miter lim="400000"/>
          </a:ln>
        </p:spPr>
      </p:pic>
      <p:sp>
        <p:nvSpPr>
          <p:cNvPr id="9" name="Shape 127"/>
          <p:cNvSpPr/>
          <p:nvPr/>
        </p:nvSpPr>
        <p:spPr>
          <a:xfrm flipV="1">
            <a:off x="952499" y="2203340"/>
            <a:ext cx="34782670" cy="38132"/>
          </a:xfrm>
          <a:prstGeom prst="line">
            <a:avLst/>
          </a:prstGeom>
          <a:ln w="152400">
            <a:solidFill>
              <a:schemeClr val="accent1">
                <a:satOff val="-3355"/>
                <a:lumOff val="26614"/>
              </a:schemeClr>
            </a:solidFill>
            <a:miter lim="400000"/>
          </a:ln>
        </p:spPr>
        <p:txBody>
          <a:bodyPr lIns="76200" tIns="76200" rIns="76200" bIns="76200" anchor="ctr"/>
          <a:lstStyle/>
          <a:p>
            <a:pPr>
              <a:defRPr sz="3200"/>
            </a:pPr>
            <a:endParaRPr sz="4800"/>
          </a:p>
        </p:txBody>
      </p:sp>
      <p:sp>
        <p:nvSpPr>
          <p:cNvPr id="10" name="Shape 131"/>
          <p:cNvSpPr/>
          <p:nvPr/>
        </p:nvSpPr>
        <p:spPr>
          <a:xfrm>
            <a:off x="952500" y="18489726"/>
            <a:ext cx="16008688" cy="1138773"/>
          </a:xfrm>
          <a:prstGeom prst="rect">
            <a:avLst/>
          </a:prstGeom>
          <a:ln w="12700">
            <a:miter lim="400000"/>
          </a:ln>
          <a:extLst>
            <a:ext uri="{C572A759-6A51-4108-AA02-DFA0A04FC94B}">
              <ma14:wrappingTextBoxFlag xmlns="" xmlns:ma14="http://schemas.microsoft.com/office/mac/drawingml/2011/main" val="1"/>
            </a:ext>
          </a:extLst>
        </p:spPr>
        <p:txBody>
          <a:bodyPr lIns="76200" tIns="76200" rIns="76200" bIns="76200">
            <a:spAutoFit/>
          </a:bodyPr>
          <a:lstStyle/>
          <a:p>
            <a:pPr algn="l">
              <a:defRPr sz="2000">
                <a:latin typeface="Alright Sans"/>
                <a:ea typeface="Alright Sans"/>
                <a:cs typeface="Alright Sans"/>
                <a:sym typeface="Alright Sans"/>
              </a:defRPr>
            </a:pPr>
            <a:r>
              <a:rPr lang="en-US" sz="3000" dirty="0">
                <a:latin typeface="Open Sans" panose="020B0606030504020204" pitchFamily="34" charset="0"/>
                <a:ea typeface="Open Sans" panose="020B0606030504020204" pitchFamily="34" charset="0"/>
                <a:cs typeface="Open Sans" panose="020B0606030504020204" pitchFamily="34" charset="0"/>
              </a:rPr>
              <a:t>COMPLETE JAVA MASTERCLASS</a:t>
            </a:r>
          </a:p>
          <a:p>
            <a:pPr algn="l">
              <a:defRPr sz="3000">
                <a:latin typeface="Alright Sans"/>
                <a:ea typeface="Alright Sans"/>
                <a:cs typeface="Alright Sans"/>
                <a:sym typeface="Alright Sans"/>
              </a:defRPr>
            </a:pPr>
            <a:r>
              <a:rPr lang="en-US" sz="3400" dirty="0">
                <a:latin typeface="Open Sans" panose="020B0606030504020204" pitchFamily="34" charset="0"/>
                <a:ea typeface="Open Sans" panose="020B0606030504020204" pitchFamily="34" charset="0"/>
                <a:cs typeface="Open Sans" panose="020B0606030504020204" pitchFamily="34" charset="0"/>
              </a:rPr>
              <a:t>Introduction to the Lambda Expression, and Functional Interfaces</a:t>
            </a:r>
          </a:p>
        </p:txBody>
      </p:sp>
      <p:sp>
        <p:nvSpPr>
          <p:cNvPr id="8" name="Rectangle 7">
            <a:extLst>
              <a:ext uri="{FF2B5EF4-FFF2-40B4-BE49-F238E27FC236}">
                <a16:creationId xmlns:a16="http://schemas.microsoft.com/office/drawing/2014/main" id="{89DBB243-EF27-4345-872D-E76597E95619}"/>
              </a:ext>
            </a:extLst>
          </p:cNvPr>
          <p:cNvSpPr/>
          <p:nvPr/>
        </p:nvSpPr>
        <p:spPr>
          <a:xfrm>
            <a:off x="952501" y="2711341"/>
            <a:ext cx="34782666" cy="15245611"/>
          </a:xfrm>
          <a:prstGeom prst="rect">
            <a:avLst/>
          </a:prstGeom>
        </p:spPr>
        <p:txBody>
          <a:bodyPr wrap="square">
            <a:normAutofit/>
          </a:bodyPr>
          <a:lstStyle/>
          <a:p>
            <a:pPr algn="l">
              <a:spcAft>
                <a:spcPts val="5022"/>
              </a:spcAft>
            </a:pPr>
            <a:r>
              <a:rPr lang="en-US" sz="6400" dirty="0">
                <a:latin typeface="Open Sans" panose="020B0606030504020204" pitchFamily="34" charset="0"/>
                <a:ea typeface="Open Sans" panose="020B0606030504020204" pitchFamily="34" charset="0"/>
                <a:cs typeface="Open Sans" panose="020B0606030504020204" pitchFamily="34" charset="0"/>
              </a:rPr>
              <a:t>Perhaps you are asking, where's the link between the compare method, and this lambda expression?</a:t>
            </a:r>
          </a:p>
          <a:p>
            <a:pPr algn="l">
              <a:spcAft>
                <a:spcPts val="5022"/>
              </a:spcAft>
            </a:pPr>
            <a:r>
              <a:rPr lang="en-US" sz="6400" dirty="0">
                <a:latin typeface="Open Sans" panose="020B0606030504020204" pitchFamily="34" charset="0"/>
                <a:ea typeface="Open Sans" panose="020B0606030504020204" pitchFamily="34" charset="0"/>
                <a:cs typeface="Open Sans" panose="020B0606030504020204" pitchFamily="34" charset="0"/>
              </a:rPr>
              <a:t>It's obvious in the anonymous class, because we override the compare method, and return the result of that expression.</a:t>
            </a:r>
          </a:p>
        </p:txBody>
      </p:sp>
      <p:graphicFrame>
        <p:nvGraphicFramePr>
          <p:cNvPr id="3" name="Table 2">
            <a:extLst>
              <a:ext uri="{FF2B5EF4-FFF2-40B4-BE49-F238E27FC236}">
                <a16:creationId xmlns:a16="http://schemas.microsoft.com/office/drawing/2014/main" id="{5DE3198E-C445-531E-0FAC-0B6CD5C2BBB3}"/>
              </a:ext>
            </a:extLst>
          </p:cNvPr>
          <p:cNvGraphicFramePr>
            <a:graphicFrameLocks noGrp="1"/>
          </p:cNvGraphicFramePr>
          <p:nvPr/>
        </p:nvGraphicFramePr>
        <p:xfrm>
          <a:off x="952498" y="8230172"/>
          <a:ext cx="34782665" cy="6213616"/>
        </p:xfrm>
        <a:graphic>
          <a:graphicData uri="http://schemas.openxmlformats.org/drawingml/2006/table">
            <a:tbl>
              <a:tblPr firstRow="1" bandRow="1">
                <a:tableStyleId>{5C22544A-7EE6-4342-B048-85BDC9FD1C3A}</a:tableStyleId>
              </a:tblPr>
              <a:tblGrid>
                <a:gridCol w="18249902">
                  <a:extLst>
                    <a:ext uri="{9D8B030D-6E8A-4147-A177-3AD203B41FA5}">
                      <a16:colId xmlns:a16="http://schemas.microsoft.com/office/drawing/2014/main" val="2844207666"/>
                    </a:ext>
                  </a:extLst>
                </a:gridCol>
                <a:gridCol w="16532763">
                  <a:extLst>
                    <a:ext uri="{9D8B030D-6E8A-4147-A177-3AD203B41FA5}">
                      <a16:colId xmlns:a16="http://schemas.microsoft.com/office/drawing/2014/main" val="1891655341"/>
                    </a:ext>
                  </a:extLst>
                </a:gridCol>
              </a:tblGrid>
              <a:tr h="1100440">
                <a:tc>
                  <a:txBody>
                    <a:bodyPr/>
                    <a:lstStyle/>
                    <a:p>
                      <a:pPr marL="180000" algn="l"/>
                      <a:r>
                        <a:rPr lang="en-US" sz="5400" dirty="0">
                          <a:solidFill>
                            <a:schemeClr val="tx1"/>
                          </a:solidFill>
                          <a:latin typeface="Open Sans" panose="020B0606030504020204" pitchFamily="34" charset="0"/>
                          <a:ea typeface="Open Sans" panose="020B0606030504020204" pitchFamily="34" charset="0"/>
                          <a:cs typeface="Open Sans" panose="020B0606030504020204" pitchFamily="34" charset="0"/>
                        </a:rPr>
                        <a:t>Anonymous Class</a:t>
                      </a:r>
                      <a:endParaRPr lang="en-PH" sz="5400" dirty="0">
                        <a:solidFill>
                          <a:schemeClr val="tx1"/>
                        </a:solidFill>
                        <a:latin typeface="Open Sans" panose="020B0606030504020204" pitchFamily="34" charset="0"/>
                        <a:ea typeface="Open Sans" panose="020B0606030504020204" pitchFamily="34" charset="0"/>
                        <a:cs typeface="Open Sans" panose="020B0606030504020204" pitchFamily="34" charset="0"/>
                      </a:endParaRPr>
                    </a:p>
                  </a:txBody>
                  <a:tcPr marL="86794" marR="86794" marT="43397" marB="43397">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BE4D5"/>
                    </a:solidFill>
                  </a:tcPr>
                </a:tc>
                <a:tc>
                  <a:txBody>
                    <a:bodyPr/>
                    <a:lstStyle/>
                    <a:p>
                      <a:pPr marL="180000" algn="l"/>
                      <a:r>
                        <a:rPr lang="en-US" sz="5400" dirty="0">
                          <a:solidFill>
                            <a:schemeClr val="tx1"/>
                          </a:solidFill>
                          <a:latin typeface="Open Sans" panose="020B0606030504020204" pitchFamily="34" charset="0"/>
                          <a:ea typeface="Open Sans" panose="020B0606030504020204" pitchFamily="34" charset="0"/>
                          <a:cs typeface="Open Sans" panose="020B0606030504020204" pitchFamily="34" charset="0"/>
                        </a:rPr>
                        <a:t>Lambda Expression</a:t>
                      </a:r>
                      <a:endParaRPr lang="en-PH" sz="5400" dirty="0">
                        <a:solidFill>
                          <a:schemeClr val="tx1"/>
                        </a:solidFill>
                        <a:latin typeface="Open Sans" panose="020B0606030504020204" pitchFamily="34" charset="0"/>
                        <a:ea typeface="Open Sans" panose="020B0606030504020204" pitchFamily="34" charset="0"/>
                        <a:cs typeface="Open Sans" panose="020B0606030504020204" pitchFamily="34" charset="0"/>
                      </a:endParaRPr>
                    </a:p>
                  </a:txBody>
                  <a:tcPr marL="86794" marR="86794" marT="43397" marB="43397">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BE4D5"/>
                    </a:solidFill>
                  </a:tcPr>
                </a:tc>
                <a:extLst>
                  <a:ext uri="{0D108BD9-81ED-4DB2-BD59-A6C34878D82A}">
                    <a16:rowId xmlns:a16="http://schemas.microsoft.com/office/drawing/2014/main" val="3978129174"/>
                  </a:ext>
                </a:extLst>
              </a:tr>
              <a:tr h="5113176">
                <a:tc>
                  <a:txBody>
                    <a:bodyPr/>
                    <a:lstStyle/>
                    <a:p>
                      <a:pPr marL="180000" marR="0" lvl="0" indent="0" algn="l" defTabSz="914400" rtl="0" eaLnBrk="1" fontAlgn="auto" latinLnBrk="0" hangingPunct="1">
                        <a:lnSpc>
                          <a:spcPct val="100000"/>
                        </a:lnSpc>
                        <a:spcBef>
                          <a:spcPts val="0"/>
                        </a:spcBef>
                        <a:spcAft>
                          <a:spcPts val="1000"/>
                        </a:spcAft>
                        <a:buClr>
                          <a:srgbClr val="000000"/>
                        </a:buClr>
                        <a:buSzTx/>
                        <a:buFont typeface="Arial" panose="020B0604020202020204" pitchFamily="34" charset="0"/>
                        <a:buNone/>
                        <a:tabLst/>
                        <a:defRPr/>
                      </a:pPr>
                      <a:endParaRPr lang="en-US" sz="5400" b="0" dirty="0">
                        <a:solidFill>
                          <a:schemeClr val="bg1"/>
                        </a:solidFill>
                        <a:latin typeface="Open Sans" panose="020B0606030504020204" pitchFamily="34" charset="0"/>
                        <a:ea typeface="Open Sans" panose="020B0606030504020204" pitchFamily="34" charset="0"/>
                        <a:cs typeface="Open Sans" panose="020B0606030504020204" pitchFamily="34" charset="0"/>
                      </a:endParaRPr>
                    </a:p>
                  </a:txBody>
                  <a:tcPr marL="86794" marR="86794" marT="43397" marB="43397">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180000" marR="0" lvl="0" indent="0" algn="l" defTabSz="914400" rtl="0" eaLnBrk="1" fontAlgn="auto" latinLnBrk="0" hangingPunct="1">
                        <a:lnSpc>
                          <a:spcPct val="100000"/>
                        </a:lnSpc>
                        <a:spcBef>
                          <a:spcPts val="0"/>
                        </a:spcBef>
                        <a:spcAft>
                          <a:spcPts val="1000"/>
                        </a:spcAft>
                        <a:buClr>
                          <a:srgbClr val="000000"/>
                        </a:buClr>
                        <a:buSzTx/>
                        <a:buFont typeface="Arial" panose="020B0604020202020204" pitchFamily="34" charset="0"/>
                        <a:buNone/>
                        <a:tabLst/>
                        <a:defRPr/>
                      </a:pPr>
                      <a:endParaRPr lang="en-US" sz="5400" b="0" dirty="0">
                        <a:solidFill>
                          <a:schemeClr val="bg1"/>
                        </a:solidFill>
                        <a:latin typeface="Open Sans" panose="020B0606030504020204" pitchFamily="34" charset="0"/>
                        <a:ea typeface="Open Sans" panose="020B0606030504020204" pitchFamily="34" charset="0"/>
                        <a:cs typeface="Open Sans" panose="020B0606030504020204" pitchFamily="34" charset="0"/>
                      </a:endParaRPr>
                    </a:p>
                  </a:txBody>
                  <a:tcPr marL="86794" marR="86794" marT="43397" marB="43397">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40325450"/>
                  </a:ext>
                </a:extLst>
              </a:tr>
            </a:tbl>
          </a:graphicData>
        </a:graphic>
      </p:graphicFrame>
      <p:pic>
        <p:nvPicPr>
          <p:cNvPr id="5" name="Picture 4">
            <a:extLst>
              <a:ext uri="{FF2B5EF4-FFF2-40B4-BE49-F238E27FC236}">
                <a16:creationId xmlns:a16="http://schemas.microsoft.com/office/drawing/2014/main" id="{56183C0C-41A4-3C15-DE87-86985DEFF553}"/>
              </a:ext>
            </a:extLst>
          </p:cNvPr>
          <p:cNvPicPr>
            <a:picLocks noChangeAspect="1"/>
          </p:cNvPicPr>
          <p:nvPr/>
        </p:nvPicPr>
        <p:blipFill>
          <a:blip r:embed="rId4"/>
          <a:stretch>
            <a:fillRect/>
          </a:stretch>
        </p:blipFill>
        <p:spPr>
          <a:xfrm>
            <a:off x="1307063" y="9572057"/>
            <a:ext cx="17292857" cy="4500000"/>
          </a:xfrm>
          <a:prstGeom prst="rect">
            <a:avLst/>
          </a:prstGeom>
        </p:spPr>
      </p:pic>
      <p:pic>
        <p:nvPicPr>
          <p:cNvPr id="6" name="Picture 5">
            <a:extLst>
              <a:ext uri="{FF2B5EF4-FFF2-40B4-BE49-F238E27FC236}">
                <a16:creationId xmlns:a16="http://schemas.microsoft.com/office/drawing/2014/main" id="{546E7D37-BBBD-4739-8B90-AEEBDE91D4FB}"/>
              </a:ext>
            </a:extLst>
          </p:cNvPr>
          <p:cNvPicPr>
            <a:picLocks noChangeAspect="1"/>
          </p:cNvPicPr>
          <p:nvPr/>
        </p:nvPicPr>
        <p:blipFill>
          <a:blip r:embed="rId5"/>
          <a:stretch>
            <a:fillRect/>
          </a:stretch>
        </p:blipFill>
        <p:spPr>
          <a:xfrm>
            <a:off x="19433052" y="9634056"/>
            <a:ext cx="16097142" cy="681429"/>
          </a:xfrm>
          <a:prstGeom prst="rect">
            <a:avLst/>
          </a:prstGeom>
        </p:spPr>
      </p:pic>
    </p:spTree>
    <p:extLst>
      <p:ext uri="{BB962C8B-B14F-4D97-AF65-F5344CB8AC3E}">
        <p14:creationId xmlns:p14="http://schemas.microsoft.com/office/powerpoint/2010/main" val="3200362505"/>
      </p:ext>
    </p:extLst>
  </p:cSld>
  <p:clrMapOvr>
    <a:masterClrMapping/>
  </p:clrMapOvr>
  <p:transition spd="slow"/>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 name="Shape 126"/>
          <p:cNvSpPr/>
          <p:nvPr/>
        </p:nvSpPr>
        <p:spPr>
          <a:xfrm>
            <a:off x="952498" y="553091"/>
            <a:ext cx="34849284" cy="1631216"/>
          </a:xfrm>
          <a:prstGeom prst="rect">
            <a:avLst/>
          </a:prstGeom>
          <a:ln w="12700">
            <a:miter lim="400000"/>
          </a:ln>
          <a:extLst>
            <a:ext uri="{C572A759-6A51-4108-AA02-DFA0A04FC94B}">
              <ma14:wrappingTextBoxFlag xmlns="" xmlns:ma14="http://schemas.microsoft.com/office/mac/drawingml/2011/main" val="1"/>
            </a:ext>
          </a:extLst>
        </p:spPr>
        <p:txBody>
          <a:bodyPr wrap="none" lIns="76200" tIns="76200" rIns="76200" bIns="76200">
            <a:spAutoFit/>
          </a:bodyPr>
          <a:lstStyle>
            <a:lvl1pPr algn="l">
              <a:defRPr sz="7000">
                <a:latin typeface="Alright Sans"/>
                <a:ea typeface="Alright Sans"/>
                <a:cs typeface="Alright Sans"/>
                <a:sym typeface="Alright Sans"/>
              </a:defRPr>
            </a:lvl1pPr>
          </a:lstStyle>
          <a:p>
            <a:pPr>
              <a:defRPr sz="3000">
                <a:latin typeface="Alright Sans"/>
                <a:ea typeface="Alright Sans"/>
                <a:cs typeface="Alright Sans"/>
                <a:sym typeface="Alright Sans"/>
              </a:defRPr>
            </a:pPr>
            <a:r>
              <a:rPr lang="en-US" sz="9600" dirty="0">
                <a:latin typeface="Open Sans" panose="020B0606030504020204" pitchFamily="34" charset="0"/>
                <a:ea typeface="Open Sans" panose="020B0606030504020204" pitchFamily="34" charset="0"/>
                <a:cs typeface="Open Sans" panose="020B0606030504020204" pitchFamily="34" charset="0"/>
              </a:rPr>
              <a:t>Comparing the anonymous class and the lambda expression</a:t>
            </a:r>
          </a:p>
        </p:txBody>
      </p:sp>
      <p:sp>
        <p:nvSpPr>
          <p:cNvPr id="128" name="Shape 128"/>
          <p:cNvSpPr/>
          <p:nvPr/>
        </p:nvSpPr>
        <p:spPr>
          <a:xfrm>
            <a:off x="952500" y="18210515"/>
            <a:ext cx="34782668" cy="2"/>
          </a:xfrm>
          <a:prstGeom prst="line">
            <a:avLst/>
          </a:prstGeom>
          <a:ln w="76200">
            <a:solidFill>
              <a:schemeClr val="accent1">
                <a:satOff val="-3355"/>
                <a:lumOff val="26614"/>
              </a:schemeClr>
            </a:solidFill>
            <a:miter lim="400000"/>
          </a:ln>
        </p:spPr>
        <p:txBody>
          <a:bodyPr lIns="76200" tIns="76200" rIns="76200" bIns="76200" anchor="ctr"/>
          <a:lstStyle/>
          <a:p>
            <a:pPr>
              <a:defRPr sz="3200"/>
            </a:pPr>
            <a:endParaRPr sz="4800"/>
          </a:p>
        </p:txBody>
      </p:sp>
      <p:pic>
        <p:nvPicPr>
          <p:cNvPr id="129" name="Logo.png"/>
          <p:cNvPicPr>
            <a:picLocks noChangeAspect="1"/>
          </p:cNvPicPr>
          <p:nvPr/>
        </p:nvPicPr>
        <p:blipFill>
          <a:blip r:embed="rId3"/>
          <a:stretch>
            <a:fillRect/>
          </a:stretch>
        </p:blipFill>
        <p:spPr>
          <a:xfrm>
            <a:off x="14650974" y="18489726"/>
            <a:ext cx="6321552" cy="1392336"/>
          </a:xfrm>
          <a:prstGeom prst="rect">
            <a:avLst/>
          </a:prstGeom>
          <a:ln w="12700">
            <a:miter lim="400000"/>
          </a:ln>
        </p:spPr>
      </p:pic>
      <p:sp>
        <p:nvSpPr>
          <p:cNvPr id="9" name="Shape 127"/>
          <p:cNvSpPr/>
          <p:nvPr/>
        </p:nvSpPr>
        <p:spPr>
          <a:xfrm flipV="1">
            <a:off x="952499" y="2203340"/>
            <a:ext cx="34782670" cy="38132"/>
          </a:xfrm>
          <a:prstGeom prst="line">
            <a:avLst/>
          </a:prstGeom>
          <a:ln w="152400">
            <a:solidFill>
              <a:schemeClr val="accent1">
                <a:satOff val="-3355"/>
                <a:lumOff val="26614"/>
              </a:schemeClr>
            </a:solidFill>
            <a:miter lim="400000"/>
          </a:ln>
        </p:spPr>
        <p:txBody>
          <a:bodyPr lIns="76200" tIns="76200" rIns="76200" bIns="76200" anchor="ctr"/>
          <a:lstStyle/>
          <a:p>
            <a:pPr>
              <a:defRPr sz="3200"/>
            </a:pPr>
            <a:endParaRPr sz="4800"/>
          </a:p>
        </p:txBody>
      </p:sp>
      <p:sp>
        <p:nvSpPr>
          <p:cNvPr id="10" name="Shape 131"/>
          <p:cNvSpPr/>
          <p:nvPr/>
        </p:nvSpPr>
        <p:spPr>
          <a:xfrm>
            <a:off x="952500" y="18489726"/>
            <a:ext cx="16008688" cy="1138773"/>
          </a:xfrm>
          <a:prstGeom prst="rect">
            <a:avLst/>
          </a:prstGeom>
          <a:ln w="12700">
            <a:miter lim="400000"/>
          </a:ln>
          <a:extLst>
            <a:ext uri="{C572A759-6A51-4108-AA02-DFA0A04FC94B}">
              <ma14:wrappingTextBoxFlag xmlns:ma14="http://schemas.microsoft.com/office/mac/drawingml/2011/main" xmlns="" val="1"/>
            </a:ext>
          </a:extLst>
        </p:spPr>
        <p:txBody>
          <a:bodyPr lIns="76200" tIns="76200" rIns="76200" bIns="76200">
            <a:spAutoFit/>
          </a:bodyPr>
          <a:lstStyle/>
          <a:p>
            <a:pPr algn="l">
              <a:defRPr sz="2000">
                <a:latin typeface="Alright Sans"/>
                <a:ea typeface="Alright Sans"/>
                <a:cs typeface="Alright Sans"/>
                <a:sym typeface="Alright Sans"/>
              </a:defRPr>
            </a:pPr>
            <a:r>
              <a:rPr lang="en-US" sz="3000" dirty="0">
                <a:latin typeface="Open Sans" panose="020B0606030504020204" pitchFamily="34" charset="0"/>
                <a:ea typeface="Open Sans" panose="020B0606030504020204" pitchFamily="34" charset="0"/>
                <a:cs typeface="Open Sans" panose="020B0606030504020204" pitchFamily="34" charset="0"/>
              </a:rPr>
              <a:t>COMPLETE JAVA MASTERCLASS</a:t>
            </a:r>
          </a:p>
          <a:p>
            <a:pPr algn="l">
              <a:defRPr sz="3000">
                <a:latin typeface="Alright Sans"/>
                <a:ea typeface="Alright Sans"/>
                <a:cs typeface="Alright Sans"/>
                <a:sym typeface="Alright Sans"/>
              </a:defRPr>
            </a:pPr>
            <a:r>
              <a:rPr lang="en-US" sz="3400" dirty="0">
                <a:latin typeface="Open Sans" panose="020B0606030504020204" pitchFamily="34" charset="0"/>
                <a:ea typeface="Open Sans" panose="020B0606030504020204" pitchFamily="34" charset="0"/>
                <a:cs typeface="Open Sans" panose="020B0606030504020204" pitchFamily="34" charset="0"/>
              </a:rPr>
              <a:t>Introduction to the Lambda Expression, and Functional Interfaces</a:t>
            </a:r>
          </a:p>
        </p:txBody>
      </p:sp>
      <p:sp>
        <p:nvSpPr>
          <p:cNvPr id="8" name="Rectangle 7">
            <a:extLst>
              <a:ext uri="{FF2B5EF4-FFF2-40B4-BE49-F238E27FC236}">
                <a16:creationId xmlns:a16="http://schemas.microsoft.com/office/drawing/2014/main" id="{89DBB243-EF27-4345-872D-E76597E95619}"/>
              </a:ext>
            </a:extLst>
          </p:cNvPr>
          <p:cNvSpPr/>
          <p:nvPr/>
        </p:nvSpPr>
        <p:spPr>
          <a:xfrm>
            <a:off x="952501" y="2711341"/>
            <a:ext cx="34782666" cy="15245611"/>
          </a:xfrm>
          <a:prstGeom prst="rect">
            <a:avLst/>
          </a:prstGeom>
        </p:spPr>
        <p:txBody>
          <a:bodyPr wrap="square">
            <a:normAutofit/>
          </a:bodyPr>
          <a:lstStyle/>
          <a:p>
            <a:pPr algn="l">
              <a:spcAft>
                <a:spcPts val="5022"/>
              </a:spcAft>
            </a:pPr>
            <a:r>
              <a:rPr lang="en-US" sz="6400" dirty="0">
                <a:latin typeface="Open Sans" panose="020B0606030504020204" pitchFamily="34" charset="0"/>
                <a:ea typeface="Open Sans" panose="020B0606030504020204" pitchFamily="34" charset="0"/>
                <a:cs typeface="Open Sans" panose="020B0606030504020204" pitchFamily="34" charset="0"/>
              </a:rPr>
              <a:t>We can see the two parameters and their types, and what the return value should be, in the anonymous class.</a:t>
            </a:r>
          </a:p>
          <a:p>
            <a:pPr algn="l">
              <a:spcAft>
                <a:spcPts val="5022"/>
              </a:spcAft>
            </a:pPr>
            <a:r>
              <a:rPr lang="en-US" sz="6400" dirty="0">
                <a:latin typeface="Open Sans" panose="020B0606030504020204" pitchFamily="34" charset="0"/>
                <a:ea typeface="Open Sans" panose="020B0606030504020204" pitchFamily="34" charset="0"/>
                <a:cs typeface="Open Sans" panose="020B0606030504020204" pitchFamily="34" charset="0"/>
              </a:rPr>
              <a:t>But the lambda expression has no reference to an enclosing method, as far as we can see from this code.</a:t>
            </a:r>
          </a:p>
        </p:txBody>
      </p:sp>
      <p:graphicFrame>
        <p:nvGraphicFramePr>
          <p:cNvPr id="3" name="Table 2">
            <a:extLst>
              <a:ext uri="{FF2B5EF4-FFF2-40B4-BE49-F238E27FC236}">
                <a16:creationId xmlns:a16="http://schemas.microsoft.com/office/drawing/2014/main" id="{2EEDA281-1D57-2455-D965-CF0E62464457}"/>
              </a:ext>
            </a:extLst>
          </p:cNvPr>
          <p:cNvGraphicFramePr>
            <a:graphicFrameLocks noGrp="1"/>
          </p:cNvGraphicFramePr>
          <p:nvPr/>
        </p:nvGraphicFramePr>
        <p:xfrm>
          <a:off x="952498" y="8230172"/>
          <a:ext cx="34782665" cy="6213616"/>
        </p:xfrm>
        <a:graphic>
          <a:graphicData uri="http://schemas.openxmlformats.org/drawingml/2006/table">
            <a:tbl>
              <a:tblPr firstRow="1" bandRow="1">
                <a:tableStyleId>{5C22544A-7EE6-4342-B048-85BDC9FD1C3A}</a:tableStyleId>
              </a:tblPr>
              <a:tblGrid>
                <a:gridCol w="18249902">
                  <a:extLst>
                    <a:ext uri="{9D8B030D-6E8A-4147-A177-3AD203B41FA5}">
                      <a16:colId xmlns:a16="http://schemas.microsoft.com/office/drawing/2014/main" val="2844207666"/>
                    </a:ext>
                  </a:extLst>
                </a:gridCol>
                <a:gridCol w="16532763">
                  <a:extLst>
                    <a:ext uri="{9D8B030D-6E8A-4147-A177-3AD203B41FA5}">
                      <a16:colId xmlns:a16="http://schemas.microsoft.com/office/drawing/2014/main" val="1891655341"/>
                    </a:ext>
                  </a:extLst>
                </a:gridCol>
              </a:tblGrid>
              <a:tr h="1100440">
                <a:tc>
                  <a:txBody>
                    <a:bodyPr/>
                    <a:lstStyle/>
                    <a:p>
                      <a:pPr marL="180000" algn="l"/>
                      <a:r>
                        <a:rPr lang="en-US" sz="5400" dirty="0">
                          <a:solidFill>
                            <a:schemeClr val="tx1"/>
                          </a:solidFill>
                          <a:latin typeface="Open Sans" panose="020B0606030504020204" pitchFamily="34" charset="0"/>
                          <a:ea typeface="Open Sans" panose="020B0606030504020204" pitchFamily="34" charset="0"/>
                          <a:cs typeface="Open Sans" panose="020B0606030504020204" pitchFamily="34" charset="0"/>
                        </a:rPr>
                        <a:t>Anonymous Class</a:t>
                      </a:r>
                      <a:endParaRPr lang="en-PH" sz="5400" dirty="0">
                        <a:solidFill>
                          <a:schemeClr val="tx1"/>
                        </a:solidFill>
                        <a:latin typeface="Open Sans" panose="020B0606030504020204" pitchFamily="34" charset="0"/>
                        <a:ea typeface="Open Sans" panose="020B0606030504020204" pitchFamily="34" charset="0"/>
                        <a:cs typeface="Open Sans" panose="020B0606030504020204" pitchFamily="34" charset="0"/>
                      </a:endParaRPr>
                    </a:p>
                  </a:txBody>
                  <a:tcPr marL="86794" marR="86794" marT="43397" marB="43397">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BE4D5"/>
                    </a:solidFill>
                  </a:tcPr>
                </a:tc>
                <a:tc>
                  <a:txBody>
                    <a:bodyPr/>
                    <a:lstStyle/>
                    <a:p>
                      <a:pPr marL="180000" algn="l"/>
                      <a:r>
                        <a:rPr lang="en-US" sz="5400" dirty="0">
                          <a:solidFill>
                            <a:schemeClr val="tx1"/>
                          </a:solidFill>
                          <a:latin typeface="Open Sans" panose="020B0606030504020204" pitchFamily="34" charset="0"/>
                          <a:ea typeface="Open Sans" panose="020B0606030504020204" pitchFamily="34" charset="0"/>
                          <a:cs typeface="Open Sans" panose="020B0606030504020204" pitchFamily="34" charset="0"/>
                        </a:rPr>
                        <a:t>Lambda Expression</a:t>
                      </a:r>
                      <a:endParaRPr lang="en-PH" sz="5400" dirty="0">
                        <a:solidFill>
                          <a:schemeClr val="tx1"/>
                        </a:solidFill>
                        <a:latin typeface="Open Sans" panose="020B0606030504020204" pitchFamily="34" charset="0"/>
                        <a:ea typeface="Open Sans" panose="020B0606030504020204" pitchFamily="34" charset="0"/>
                        <a:cs typeface="Open Sans" panose="020B0606030504020204" pitchFamily="34" charset="0"/>
                      </a:endParaRPr>
                    </a:p>
                  </a:txBody>
                  <a:tcPr marL="86794" marR="86794" marT="43397" marB="43397">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BE4D5"/>
                    </a:solidFill>
                  </a:tcPr>
                </a:tc>
                <a:extLst>
                  <a:ext uri="{0D108BD9-81ED-4DB2-BD59-A6C34878D82A}">
                    <a16:rowId xmlns:a16="http://schemas.microsoft.com/office/drawing/2014/main" val="3978129174"/>
                  </a:ext>
                </a:extLst>
              </a:tr>
              <a:tr h="5113176">
                <a:tc>
                  <a:txBody>
                    <a:bodyPr/>
                    <a:lstStyle/>
                    <a:p>
                      <a:pPr marL="180000" marR="0" lvl="0" indent="0" algn="l" defTabSz="914400" rtl="0" eaLnBrk="1" fontAlgn="auto" latinLnBrk="0" hangingPunct="1">
                        <a:lnSpc>
                          <a:spcPct val="100000"/>
                        </a:lnSpc>
                        <a:spcBef>
                          <a:spcPts val="0"/>
                        </a:spcBef>
                        <a:spcAft>
                          <a:spcPts val="1000"/>
                        </a:spcAft>
                        <a:buClr>
                          <a:srgbClr val="000000"/>
                        </a:buClr>
                        <a:buSzTx/>
                        <a:buFont typeface="Arial" panose="020B0604020202020204" pitchFamily="34" charset="0"/>
                        <a:buNone/>
                        <a:tabLst/>
                        <a:defRPr/>
                      </a:pPr>
                      <a:endParaRPr lang="en-US" sz="5400" b="0" dirty="0">
                        <a:solidFill>
                          <a:schemeClr val="bg1"/>
                        </a:solidFill>
                        <a:latin typeface="Open Sans" panose="020B0606030504020204" pitchFamily="34" charset="0"/>
                        <a:ea typeface="Open Sans" panose="020B0606030504020204" pitchFamily="34" charset="0"/>
                        <a:cs typeface="Open Sans" panose="020B0606030504020204" pitchFamily="34" charset="0"/>
                      </a:endParaRPr>
                    </a:p>
                  </a:txBody>
                  <a:tcPr marL="86794" marR="86794" marT="43397" marB="43397">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180000" marR="0" lvl="0" indent="0" algn="l" defTabSz="914400" rtl="0" eaLnBrk="1" fontAlgn="auto" latinLnBrk="0" hangingPunct="1">
                        <a:lnSpc>
                          <a:spcPct val="100000"/>
                        </a:lnSpc>
                        <a:spcBef>
                          <a:spcPts val="0"/>
                        </a:spcBef>
                        <a:spcAft>
                          <a:spcPts val="1000"/>
                        </a:spcAft>
                        <a:buClr>
                          <a:srgbClr val="000000"/>
                        </a:buClr>
                        <a:buSzTx/>
                        <a:buFont typeface="Arial" panose="020B0604020202020204" pitchFamily="34" charset="0"/>
                        <a:buNone/>
                        <a:tabLst/>
                        <a:defRPr/>
                      </a:pPr>
                      <a:endParaRPr lang="en-US" sz="5400" b="0" dirty="0">
                        <a:solidFill>
                          <a:schemeClr val="bg1"/>
                        </a:solidFill>
                        <a:latin typeface="Open Sans" panose="020B0606030504020204" pitchFamily="34" charset="0"/>
                        <a:ea typeface="Open Sans" panose="020B0606030504020204" pitchFamily="34" charset="0"/>
                        <a:cs typeface="Open Sans" panose="020B0606030504020204" pitchFamily="34" charset="0"/>
                      </a:endParaRPr>
                    </a:p>
                  </a:txBody>
                  <a:tcPr marL="86794" marR="86794" marT="43397" marB="43397">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40325450"/>
                  </a:ext>
                </a:extLst>
              </a:tr>
            </a:tbl>
          </a:graphicData>
        </a:graphic>
      </p:graphicFrame>
      <p:pic>
        <p:nvPicPr>
          <p:cNvPr id="5" name="Picture 4">
            <a:extLst>
              <a:ext uri="{FF2B5EF4-FFF2-40B4-BE49-F238E27FC236}">
                <a16:creationId xmlns:a16="http://schemas.microsoft.com/office/drawing/2014/main" id="{BE25735A-1098-8976-B151-4B0D8EE0B7FB}"/>
              </a:ext>
            </a:extLst>
          </p:cNvPr>
          <p:cNvPicPr>
            <a:picLocks noChangeAspect="1"/>
          </p:cNvPicPr>
          <p:nvPr/>
        </p:nvPicPr>
        <p:blipFill>
          <a:blip r:embed="rId4"/>
          <a:stretch>
            <a:fillRect/>
          </a:stretch>
        </p:blipFill>
        <p:spPr>
          <a:xfrm>
            <a:off x="1307063" y="9572057"/>
            <a:ext cx="17292857" cy="4500000"/>
          </a:xfrm>
          <a:prstGeom prst="rect">
            <a:avLst/>
          </a:prstGeom>
        </p:spPr>
      </p:pic>
      <p:pic>
        <p:nvPicPr>
          <p:cNvPr id="6" name="Picture 5">
            <a:extLst>
              <a:ext uri="{FF2B5EF4-FFF2-40B4-BE49-F238E27FC236}">
                <a16:creationId xmlns:a16="http://schemas.microsoft.com/office/drawing/2014/main" id="{E097927C-4564-14BE-5C90-3D8B58E9682B}"/>
              </a:ext>
            </a:extLst>
          </p:cNvPr>
          <p:cNvPicPr>
            <a:picLocks noChangeAspect="1"/>
          </p:cNvPicPr>
          <p:nvPr/>
        </p:nvPicPr>
        <p:blipFill>
          <a:blip r:embed="rId5"/>
          <a:stretch>
            <a:fillRect/>
          </a:stretch>
        </p:blipFill>
        <p:spPr>
          <a:xfrm>
            <a:off x="19433052" y="9634056"/>
            <a:ext cx="16097142" cy="681429"/>
          </a:xfrm>
          <a:prstGeom prst="rect">
            <a:avLst/>
          </a:prstGeom>
        </p:spPr>
      </p:pic>
    </p:spTree>
    <p:extLst>
      <p:ext uri="{BB962C8B-B14F-4D97-AF65-F5344CB8AC3E}">
        <p14:creationId xmlns:p14="http://schemas.microsoft.com/office/powerpoint/2010/main" val="1060860676"/>
      </p:ext>
    </p:extLst>
  </p:cSld>
  <p:clrMapOvr>
    <a:masterClrMapping/>
  </p:clrMapOvr>
  <p:transition spd="slow"/>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 name="Shape 126"/>
          <p:cNvSpPr/>
          <p:nvPr/>
        </p:nvSpPr>
        <p:spPr>
          <a:xfrm>
            <a:off x="952498" y="459786"/>
            <a:ext cx="30575678" cy="1815882"/>
          </a:xfrm>
          <a:prstGeom prst="rect">
            <a:avLst/>
          </a:prstGeom>
          <a:ln w="12700">
            <a:miter lim="400000"/>
          </a:ln>
          <a:extLst>
            <a:ext uri="{C572A759-6A51-4108-AA02-DFA0A04FC94B}">
              <ma14:wrappingTextBoxFlag xmlns:ma14="http://schemas.microsoft.com/office/mac/drawingml/2011/main" xmlns="" val="1"/>
            </a:ext>
          </a:extLst>
        </p:spPr>
        <p:txBody>
          <a:bodyPr wrap="none" lIns="76200" tIns="76200" rIns="76200" bIns="76200">
            <a:spAutoFit/>
          </a:bodyPr>
          <a:lstStyle>
            <a:lvl1pPr algn="l">
              <a:defRPr sz="7000">
                <a:latin typeface="Alright Sans"/>
                <a:ea typeface="Alright Sans"/>
                <a:cs typeface="Alright Sans"/>
                <a:sym typeface="Alright Sans"/>
              </a:defRPr>
            </a:lvl1pPr>
          </a:lstStyle>
          <a:p>
            <a:pPr>
              <a:defRPr sz="3000">
                <a:latin typeface="Alright Sans"/>
                <a:ea typeface="Alright Sans"/>
                <a:cs typeface="Alright Sans"/>
                <a:sym typeface="Alright Sans"/>
              </a:defRPr>
            </a:pPr>
            <a:r>
              <a:rPr lang="en-US" sz="10800" dirty="0">
                <a:latin typeface="Open Sans" panose="020B0606030504020204" pitchFamily="34" charset="0"/>
                <a:ea typeface="Open Sans" panose="020B0606030504020204" pitchFamily="34" charset="0"/>
                <a:cs typeface="Open Sans" panose="020B0606030504020204" pitchFamily="34" charset="0"/>
              </a:rPr>
              <a:t>Where's the method in the lambda expression?</a:t>
            </a:r>
          </a:p>
        </p:txBody>
      </p:sp>
      <p:sp>
        <p:nvSpPr>
          <p:cNvPr id="128" name="Shape 128"/>
          <p:cNvSpPr/>
          <p:nvPr/>
        </p:nvSpPr>
        <p:spPr>
          <a:xfrm>
            <a:off x="952500" y="18210515"/>
            <a:ext cx="34782668" cy="2"/>
          </a:xfrm>
          <a:prstGeom prst="line">
            <a:avLst/>
          </a:prstGeom>
          <a:ln w="76200">
            <a:solidFill>
              <a:schemeClr val="accent1">
                <a:satOff val="-3355"/>
                <a:lumOff val="26614"/>
              </a:schemeClr>
            </a:solidFill>
            <a:miter lim="400000"/>
          </a:ln>
        </p:spPr>
        <p:txBody>
          <a:bodyPr lIns="76200" tIns="76200" rIns="76200" bIns="76200" anchor="ctr"/>
          <a:lstStyle/>
          <a:p>
            <a:pPr>
              <a:defRPr sz="3200"/>
            </a:pPr>
            <a:endParaRPr sz="4800"/>
          </a:p>
        </p:txBody>
      </p:sp>
      <p:pic>
        <p:nvPicPr>
          <p:cNvPr id="129" name="Logo.png"/>
          <p:cNvPicPr>
            <a:picLocks noChangeAspect="1"/>
          </p:cNvPicPr>
          <p:nvPr/>
        </p:nvPicPr>
        <p:blipFill>
          <a:blip r:embed="rId3"/>
          <a:stretch>
            <a:fillRect/>
          </a:stretch>
        </p:blipFill>
        <p:spPr>
          <a:xfrm>
            <a:off x="14650974" y="18489726"/>
            <a:ext cx="6321552" cy="1392336"/>
          </a:xfrm>
          <a:prstGeom prst="rect">
            <a:avLst/>
          </a:prstGeom>
          <a:ln w="12700">
            <a:miter lim="400000"/>
          </a:ln>
        </p:spPr>
      </p:pic>
      <p:sp>
        <p:nvSpPr>
          <p:cNvPr id="9" name="Shape 127"/>
          <p:cNvSpPr/>
          <p:nvPr/>
        </p:nvSpPr>
        <p:spPr>
          <a:xfrm flipV="1">
            <a:off x="952499" y="2203340"/>
            <a:ext cx="34782670" cy="38132"/>
          </a:xfrm>
          <a:prstGeom prst="line">
            <a:avLst/>
          </a:prstGeom>
          <a:ln w="152400">
            <a:solidFill>
              <a:schemeClr val="accent1">
                <a:satOff val="-3355"/>
                <a:lumOff val="26614"/>
              </a:schemeClr>
            </a:solidFill>
            <a:miter lim="400000"/>
          </a:ln>
        </p:spPr>
        <p:txBody>
          <a:bodyPr lIns="76200" tIns="76200" rIns="76200" bIns="76200" anchor="ctr"/>
          <a:lstStyle/>
          <a:p>
            <a:pPr>
              <a:defRPr sz="3200"/>
            </a:pPr>
            <a:endParaRPr sz="4800"/>
          </a:p>
        </p:txBody>
      </p:sp>
      <p:sp>
        <p:nvSpPr>
          <p:cNvPr id="10" name="Shape 131"/>
          <p:cNvSpPr/>
          <p:nvPr/>
        </p:nvSpPr>
        <p:spPr>
          <a:xfrm>
            <a:off x="952500" y="18489726"/>
            <a:ext cx="16008688" cy="1138773"/>
          </a:xfrm>
          <a:prstGeom prst="rect">
            <a:avLst/>
          </a:prstGeom>
          <a:ln w="12700">
            <a:miter lim="400000"/>
          </a:ln>
          <a:extLst>
            <a:ext uri="{C572A759-6A51-4108-AA02-DFA0A04FC94B}">
              <ma14:wrappingTextBoxFlag xmlns="" xmlns:ma14="http://schemas.microsoft.com/office/mac/drawingml/2011/main" val="1"/>
            </a:ext>
          </a:extLst>
        </p:spPr>
        <p:txBody>
          <a:bodyPr lIns="76200" tIns="76200" rIns="76200" bIns="76200">
            <a:spAutoFit/>
          </a:bodyPr>
          <a:lstStyle/>
          <a:p>
            <a:pPr algn="l">
              <a:defRPr sz="2000">
                <a:latin typeface="Alright Sans"/>
                <a:ea typeface="Alright Sans"/>
                <a:cs typeface="Alright Sans"/>
                <a:sym typeface="Alright Sans"/>
              </a:defRPr>
            </a:pPr>
            <a:r>
              <a:rPr lang="en-US" sz="3000" dirty="0">
                <a:latin typeface="Open Sans" panose="020B0606030504020204" pitchFamily="34" charset="0"/>
                <a:ea typeface="Open Sans" panose="020B0606030504020204" pitchFamily="34" charset="0"/>
                <a:cs typeface="Open Sans" panose="020B0606030504020204" pitchFamily="34" charset="0"/>
              </a:rPr>
              <a:t>COMPLETE JAVA MASTERCLASS</a:t>
            </a:r>
          </a:p>
          <a:p>
            <a:pPr algn="l">
              <a:defRPr sz="3000">
                <a:latin typeface="Alright Sans"/>
                <a:ea typeface="Alright Sans"/>
                <a:cs typeface="Alright Sans"/>
                <a:sym typeface="Alright Sans"/>
              </a:defRPr>
            </a:pPr>
            <a:r>
              <a:rPr lang="en-US" sz="3400" dirty="0">
                <a:latin typeface="Open Sans" panose="020B0606030504020204" pitchFamily="34" charset="0"/>
                <a:ea typeface="Open Sans" panose="020B0606030504020204" pitchFamily="34" charset="0"/>
                <a:cs typeface="Open Sans" panose="020B0606030504020204" pitchFamily="34" charset="0"/>
              </a:rPr>
              <a:t>Introduction to the Lambda Expression, and Functional Interfaces</a:t>
            </a:r>
          </a:p>
        </p:txBody>
      </p:sp>
      <p:sp>
        <p:nvSpPr>
          <p:cNvPr id="8" name="Rectangle 7">
            <a:extLst>
              <a:ext uri="{FF2B5EF4-FFF2-40B4-BE49-F238E27FC236}">
                <a16:creationId xmlns:a16="http://schemas.microsoft.com/office/drawing/2014/main" id="{89DBB243-EF27-4345-872D-E76597E95619}"/>
              </a:ext>
            </a:extLst>
          </p:cNvPr>
          <p:cNvSpPr/>
          <p:nvPr/>
        </p:nvSpPr>
        <p:spPr>
          <a:xfrm>
            <a:off x="952501" y="4285904"/>
            <a:ext cx="34782670" cy="11880176"/>
          </a:xfrm>
          <a:prstGeom prst="rect">
            <a:avLst/>
          </a:prstGeom>
        </p:spPr>
        <p:txBody>
          <a:bodyPr wrap="square">
            <a:normAutofit/>
          </a:bodyPr>
          <a:lstStyle/>
          <a:p>
            <a:pPr algn="l">
              <a:spcAft>
                <a:spcPts val="5022"/>
              </a:spcAft>
            </a:pPr>
            <a:r>
              <a:rPr lang="en-US" sz="6400" dirty="0">
                <a:latin typeface="Open Sans" panose="020B0606030504020204" pitchFamily="34" charset="0"/>
                <a:ea typeface="Open Sans" panose="020B0606030504020204" pitchFamily="34" charset="0"/>
                <a:cs typeface="Open Sans" panose="020B0606030504020204" pitchFamily="34" charset="0"/>
              </a:rPr>
              <a:t>For a lambda expression, </a:t>
            </a:r>
            <a:r>
              <a:rPr lang="en-US" sz="6400" b="1" dirty="0">
                <a:latin typeface="Open Sans" panose="020B0606030504020204" pitchFamily="34" charset="0"/>
                <a:ea typeface="Open Sans" panose="020B0606030504020204" pitchFamily="34" charset="0"/>
                <a:cs typeface="Open Sans" panose="020B0606030504020204" pitchFamily="34" charset="0"/>
              </a:rPr>
              <a:t>the method is inferred</a:t>
            </a:r>
            <a:r>
              <a:rPr lang="en-US" sz="6400" dirty="0">
                <a:latin typeface="Open Sans" panose="020B0606030504020204" pitchFamily="34" charset="0"/>
                <a:ea typeface="Open Sans" panose="020B0606030504020204" pitchFamily="34" charset="0"/>
                <a:cs typeface="Open Sans" panose="020B0606030504020204" pitchFamily="34" charset="0"/>
              </a:rPr>
              <a:t> by Java!</a:t>
            </a:r>
          </a:p>
        </p:txBody>
      </p:sp>
    </p:spTree>
    <p:extLst>
      <p:ext uri="{BB962C8B-B14F-4D97-AF65-F5344CB8AC3E}">
        <p14:creationId xmlns:p14="http://schemas.microsoft.com/office/powerpoint/2010/main" val="1772811202"/>
      </p:ext>
    </p:extLst>
  </p:cSld>
  <p:clrMapOvr>
    <a:masterClrMapping/>
  </p:clrMapOvr>
  <p:transition spd="slow"/>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 name="Shape 126"/>
          <p:cNvSpPr/>
          <p:nvPr/>
        </p:nvSpPr>
        <p:spPr>
          <a:xfrm>
            <a:off x="952498" y="459786"/>
            <a:ext cx="20584161" cy="1815882"/>
          </a:xfrm>
          <a:prstGeom prst="rect">
            <a:avLst/>
          </a:prstGeom>
          <a:ln w="12700">
            <a:miter lim="400000"/>
          </a:ln>
          <a:extLst>
            <a:ext uri="{C572A759-6A51-4108-AA02-DFA0A04FC94B}">
              <ma14:wrappingTextBoxFlag xmlns="" xmlns:ma14="http://schemas.microsoft.com/office/mac/drawingml/2011/main" val="1"/>
            </a:ext>
          </a:extLst>
        </p:spPr>
        <p:txBody>
          <a:bodyPr wrap="none" lIns="76200" tIns="76200" rIns="76200" bIns="76200">
            <a:spAutoFit/>
          </a:bodyPr>
          <a:lstStyle>
            <a:lvl1pPr algn="l">
              <a:defRPr sz="7000">
                <a:latin typeface="Alright Sans"/>
                <a:ea typeface="Alright Sans"/>
                <a:cs typeface="Alright Sans"/>
                <a:sym typeface="Alright Sans"/>
              </a:defRPr>
            </a:lvl1pPr>
          </a:lstStyle>
          <a:p>
            <a:pPr>
              <a:defRPr sz="3000">
                <a:latin typeface="Alright Sans"/>
                <a:ea typeface="Alright Sans"/>
                <a:cs typeface="Alright Sans"/>
                <a:sym typeface="Alright Sans"/>
              </a:defRPr>
            </a:pPr>
            <a:r>
              <a:rPr lang="en-US" sz="10800" dirty="0">
                <a:latin typeface="Open Sans" panose="020B0606030504020204" pitchFamily="34" charset="0"/>
                <a:ea typeface="Open Sans" panose="020B0606030504020204" pitchFamily="34" charset="0"/>
                <a:cs typeface="Open Sans" panose="020B0606030504020204" pitchFamily="34" charset="0"/>
              </a:rPr>
              <a:t>How can Java infer the method?</a:t>
            </a:r>
          </a:p>
        </p:txBody>
      </p:sp>
      <p:sp>
        <p:nvSpPr>
          <p:cNvPr id="128" name="Shape 128"/>
          <p:cNvSpPr/>
          <p:nvPr/>
        </p:nvSpPr>
        <p:spPr>
          <a:xfrm>
            <a:off x="952500" y="18210515"/>
            <a:ext cx="34782668" cy="2"/>
          </a:xfrm>
          <a:prstGeom prst="line">
            <a:avLst/>
          </a:prstGeom>
          <a:ln w="76200">
            <a:solidFill>
              <a:schemeClr val="accent1">
                <a:satOff val="-3355"/>
                <a:lumOff val="26614"/>
              </a:schemeClr>
            </a:solidFill>
            <a:miter lim="400000"/>
          </a:ln>
        </p:spPr>
        <p:txBody>
          <a:bodyPr lIns="76200" tIns="76200" rIns="76200" bIns="76200" anchor="ctr"/>
          <a:lstStyle/>
          <a:p>
            <a:pPr>
              <a:defRPr sz="3200"/>
            </a:pPr>
            <a:endParaRPr sz="4800"/>
          </a:p>
        </p:txBody>
      </p:sp>
      <p:pic>
        <p:nvPicPr>
          <p:cNvPr id="129" name="Logo.png"/>
          <p:cNvPicPr>
            <a:picLocks noChangeAspect="1"/>
          </p:cNvPicPr>
          <p:nvPr/>
        </p:nvPicPr>
        <p:blipFill>
          <a:blip r:embed="rId3"/>
          <a:stretch>
            <a:fillRect/>
          </a:stretch>
        </p:blipFill>
        <p:spPr>
          <a:xfrm>
            <a:off x="14650974" y="18489726"/>
            <a:ext cx="6321552" cy="1392336"/>
          </a:xfrm>
          <a:prstGeom prst="rect">
            <a:avLst/>
          </a:prstGeom>
          <a:ln w="12700">
            <a:miter lim="400000"/>
          </a:ln>
        </p:spPr>
      </p:pic>
      <p:sp>
        <p:nvSpPr>
          <p:cNvPr id="9" name="Shape 127"/>
          <p:cNvSpPr/>
          <p:nvPr/>
        </p:nvSpPr>
        <p:spPr>
          <a:xfrm flipV="1">
            <a:off x="952499" y="2203340"/>
            <a:ext cx="34782670" cy="38132"/>
          </a:xfrm>
          <a:prstGeom prst="line">
            <a:avLst/>
          </a:prstGeom>
          <a:ln w="152400">
            <a:solidFill>
              <a:schemeClr val="accent1">
                <a:satOff val="-3355"/>
                <a:lumOff val="26614"/>
              </a:schemeClr>
            </a:solidFill>
            <a:miter lim="400000"/>
          </a:ln>
        </p:spPr>
        <p:txBody>
          <a:bodyPr lIns="76200" tIns="76200" rIns="76200" bIns="76200" anchor="ctr"/>
          <a:lstStyle/>
          <a:p>
            <a:pPr>
              <a:defRPr sz="3200"/>
            </a:pPr>
            <a:endParaRPr sz="4800"/>
          </a:p>
        </p:txBody>
      </p:sp>
      <p:sp>
        <p:nvSpPr>
          <p:cNvPr id="10" name="Shape 131"/>
          <p:cNvSpPr/>
          <p:nvPr/>
        </p:nvSpPr>
        <p:spPr>
          <a:xfrm>
            <a:off x="952500" y="18489726"/>
            <a:ext cx="16008688" cy="1138773"/>
          </a:xfrm>
          <a:prstGeom prst="rect">
            <a:avLst/>
          </a:prstGeom>
          <a:ln w="12700">
            <a:miter lim="400000"/>
          </a:ln>
          <a:extLst>
            <a:ext uri="{C572A759-6A51-4108-AA02-DFA0A04FC94B}">
              <ma14:wrappingTextBoxFlag xmlns:ma14="http://schemas.microsoft.com/office/mac/drawingml/2011/main" xmlns="" val="1"/>
            </a:ext>
          </a:extLst>
        </p:spPr>
        <p:txBody>
          <a:bodyPr lIns="76200" tIns="76200" rIns="76200" bIns="76200">
            <a:spAutoFit/>
          </a:bodyPr>
          <a:lstStyle/>
          <a:p>
            <a:pPr algn="l">
              <a:defRPr sz="2000">
                <a:latin typeface="Alright Sans"/>
                <a:ea typeface="Alright Sans"/>
                <a:cs typeface="Alright Sans"/>
                <a:sym typeface="Alright Sans"/>
              </a:defRPr>
            </a:pPr>
            <a:r>
              <a:rPr lang="en-US" sz="3000" dirty="0">
                <a:latin typeface="Open Sans" panose="020B0606030504020204" pitchFamily="34" charset="0"/>
                <a:ea typeface="Open Sans" panose="020B0606030504020204" pitchFamily="34" charset="0"/>
                <a:cs typeface="Open Sans" panose="020B0606030504020204" pitchFamily="34" charset="0"/>
              </a:rPr>
              <a:t>COMPLETE JAVA MASTERCLASS</a:t>
            </a:r>
          </a:p>
          <a:p>
            <a:pPr algn="l">
              <a:defRPr sz="3000">
                <a:latin typeface="Alright Sans"/>
                <a:ea typeface="Alright Sans"/>
                <a:cs typeface="Alright Sans"/>
                <a:sym typeface="Alright Sans"/>
              </a:defRPr>
            </a:pPr>
            <a:r>
              <a:rPr lang="en-US" sz="3400" dirty="0">
                <a:latin typeface="Open Sans" panose="020B0606030504020204" pitchFamily="34" charset="0"/>
                <a:ea typeface="Open Sans" panose="020B0606030504020204" pitchFamily="34" charset="0"/>
                <a:cs typeface="Open Sans" panose="020B0606030504020204" pitchFamily="34" charset="0"/>
              </a:rPr>
              <a:t>Introduction to the Lambda Expression, and Functional Interfaces</a:t>
            </a:r>
          </a:p>
        </p:txBody>
      </p:sp>
      <p:sp>
        <p:nvSpPr>
          <p:cNvPr id="8" name="Rectangle 7">
            <a:extLst>
              <a:ext uri="{FF2B5EF4-FFF2-40B4-BE49-F238E27FC236}">
                <a16:creationId xmlns:a16="http://schemas.microsoft.com/office/drawing/2014/main" id="{89DBB243-EF27-4345-872D-E76597E95619}"/>
              </a:ext>
            </a:extLst>
          </p:cNvPr>
          <p:cNvSpPr/>
          <p:nvPr/>
        </p:nvSpPr>
        <p:spPr>
          <a:xfrm>
            <a:off x="952501" y="4285904"/>
            <a:ext cx="34782670" cy="13671048"/>
          </a:xfrm>
          <a:prstGeom prst="rect">
            <a:avLst/>
          </a:prstGeom>
        </p:spPr>
        <p:txBody>
          <a:bodyPr wrap="square">
            <a:normAutofit/>
          </a:bodyPr>
          <a:lstStyle/>
          <a:p>
            <a:pPr algn="l">
              <a:spcAft>
                <a:spcPts val="5022"/>
              </a:spcAft>
            </a:pPr>
            <a:r>
              <a:rPr lang="en-US" sz="6400" dirty="0">
                <a:latin typeface="Open Sans" panose="020B0606030504020204" pitchFamily="34" charset="0"/>
                <a:ea typeface="Open Sans" panose="020B0606030504020204" pitchFamily="34" charset="0"/>
                <a:cs typeface="Open Sans" panose="020B0606030504020204" pitchFamily="34" charset="0"/>
              </a:rPr>
              <a:t>Java takes its clue from the reference type, in the context of the lambda expression usage.</a:t>
            </a:r>
          </a:p>
          <a:p>
            <a:pPr algn="l">
              <a:spcAft>
                <a:spcPts val="5022"/>
              </a:spcAft>
            </a:pPr>
            <a:r>
              <a:rPr lang="en-US" sz="6400" dirty="0">
                <a:latin typeface="Open Sans" panose="020B0606030504020204" pitchFamily="34" charset="0"/>
                <a:ea typeface="Open Sans" panose="020B0606030504020204" pitchFamily="34" charset="0"/>
                <a:cs typeface="Open Sans" panose="020B0606030504020204" pitchFamily="34" charset="0"/>
              </a:rPr>
              <a:t>Here, I show a simplified view, of the sort method on List.</a:t>
            </a:r>
          </a:p>
          <a:p>
            <a:pPr algn="l">
              <a:spcAft>
                <a:spcPts val="5022"/>
              </a:spcAft>
            </a:pPr>
            <a:endParaRPr lang="en-US" sz="6400" dirty="0">
              <a:latin typeface="Open Sans" panose="020B0606030504020204" pitchFamily="34" charset="0"/>
              <a:ea typeface="Open Sans" panose="020B0606030504020204" pitchFamily="34" charset="0"/>
              <a:cs typeface="Open Sans" panose="020B0606030504020204" pitchFamily="34" charset="0"/>
            </a:endParaRPr>
          </a:p>
          <a:p>
            <a:pPr algn="l">
              <a:spcAft>
                <a:spcPts val="5022"/>
              </a:spcAft>
            </a:pPr>
            <a:r>
              <a:rPr lang="en-US" sz="6400" dirty="0">
                <a:latin typeface="Open Sans" panose="020B0606030504020204" pitchFamily="34" charset="0"/>
                <a:ea typeface="Open Sans" panose="020B0606030504020204" pitchFamily="34" charset="0"/>
                <a:cs typeface="Open Sans" panose="020B0606030504020204" pitchFamily="34" charset="0"/>
              </a:rPr>
              <a:t>And here is the call to that method passing the lambda expression.</a:t>
            </a:r>
          </a:p>
          <a:p>
            <a:pPr algn="l">
              <a:spcAft>
                <a:spcPts val="5022"/>
              </a:spcAft>
            </a:pPr>
            <a:endParaRPr lang="en-US" sz="6400" dirty="0">
              <a:latin typeface="Open Sans" panose="020B0606030504020204" pitchFamily="34" charset="0"/>
              <a:ea typeface="Open Sans" panose="020B0606030504020204" pitchFamily="34" charset="0"/>
              <a:cs typeface="Open Sans" panose="020B0606030504020204" pitchFamily="34" charset="0"/>
            </a:endParaRPr>
          </a:p>
          <a:p>
            <a:pPr algn="l">
              <a:spcAft>
                <a:spcPts val="5022"/>
              </a:spcAft>
            </a:pPr>
            <a:r>
              <a:rPr lang="en-US" sz="6400" dirty="0">
                <a:latin typeface="Open Sans" panose="020B0606030504020204" pitchFamily="34" charset="0"/>
                <a:ea typeface="Open Sans" panose="020B0606030504020204" pitchFamily="34" charset="0"/>
                <a:cs typeface="Open Sans" panose="020B0606030504020204" pitchFamily="34" charset="0"/>
              </a:rPr>
              <a:t>From this, Java can infer that this lambda expression, resolves to a Comparator type, because of the method declaration.</a:t>
            </a:r>
          </a:p>
          <a:p>
            <a:pPr algn="l">
              <a:spcAft>
                <a:spcPts val="5022"/>
              </a:spcAft>
            </a:pPr>
            <a:r>
              <a:rPr lang="en-US" sz="6400" dirty="0">
                <a:latin typeface="Open Sans" panose="020B0606030504020204" pitchFamily="34" charset="0"/>
                <a:ea typeface="Open Sans" panose="020B0606030504020204" pitchFamily="34" charset="0"/>
                <a:cs typeface="Open Sans" panose="020B0606030504020204" pitchFamily="34" charset="0"/>
              </a:rPr>
              <a:t>This means the lambda expression passed, should represent code for a specific method on the Comparator interface.</a:t>
            </a:r>
          </a:p>
        </p:txBody>
      </p:sp>
      <p:pic>
        <p:nvPicPr>
          <p:cNvPr id="3" name="Picture 2">
            <a:extLst>
              <a:ext uri="{FF2B5EF4-FFF2-40B4-BE49-F238E27FC236}">
                <a16:creationId xmlns:a16="http://schemas.microsoft.com/office/drawing/2014/main" id="{AF38B3E2-ADAB-B2A4-01C3-73EA71358B79}"/>
              </a:ext>
            </a:extLst>
          </p:cNvPr>
          <p:cNvPicPr>
            <a:picLocks noChangeAspect="1"/>
          </p:cNvPicPr>
          <p:nvPr/>
        </p:nvPicPr>
        <p:blipFill>
          <a:blip r:embed="rId4"/>
          <a:stretch>
            <a:fillRect/>
          </a:stretch>
        </p:blipFill>
        <p:spPr>
          <a:xfrm>
            <a:off x="952498" y="7513975"/>
            <a:ext cx="12199428" cy="1057142"/>
          </a:xfrm>
          <a:prstGeom prst="rect">
            <a:avLst/>
          </a:prstGeom>
        </p:spPr>
      </p:pic>
      <p:pic>
        <p:nvPicPr>
          <p:cNvPr id="5" name="Picture 4">
            <a:extLst>
              <a:ext uri="{FF2B5EF4-FFF2-40B4-BE49-F238E27FC236}">
                <a16:creationId xmlns:a16="http://schemas.microsoft.com/office/drawing/2014/main" id="{588FD746-64D2-3ECD-268E-40453D04AB59}"/>
              </a:ext>
            </a:extLst>
          </p:cNvPr>
          <p:cNvPicPr>
            <a:picLocks noChangeAspect="1"/>
          </p:cNvPicPr>
          <p:nvPr/>
        </p:nvPicPr>
        <p:blipFill>
          <a:blip r:embed="rId5"/>
          <a:stretch>
            <a:fillRect/>
          </a:stretch>
        </p:blipFill>
        <p:spPr>
          <a:xfrm>
            <a:off x="952498" y="10562303"/>
            <a:ext cx="33786284" cy="1120572"/>
          </a:xfrm>
          <a:prstGeom prst="rect">
            <a:avLst/>
          </a:prstGeom>
        </p:spPr>
      </p:pic>
    </p:spTree>
    <p:extLst>
      <p:ext uri="{BB962C8B-B14F-4D97-AF65-F5344CB8AC3E}">
        <p14:creationId xmlns:p14="http://schemas.microsoft.com/office/powerpoint/2010/main" val="2419329880"/>
      </p:ext>
    </p:extLst>
  </p:cSld>
  <p:clrMapOvr>
    <a:masterClrMapping/>
  </p:clrMapOvr>
  <p:transition spd="slow"/>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 name="Shape 126"/>
          <p:cNvSpPr/>
          <p:nvPr/>
        </p:nvSpPr>
        <p:spPr>
          <a:xfrm>
            <a:off x="952498" y="459786"/>
            <a:ext cx="20584161" cy="1815882"/>
          </a:xfrm>
          <a:prstGeom prst="rect">
            <a:avLst/>
          </a:prstGeom>
          <a:ln w="12700">
            <a:miter lim="400000"/>
          </a:ln>
          <a:extLst>
            <a:ext uri="{C572A759-6A51-4108-AA02-DFA0A04FC94B}">
              <ma14:wrappingTextBoxFlag xmlns:ma14="http://schemas.microsoft.com/office/mac/drawingml/2011/main" xmlns="" val="1"/>
            </a:ext>
          </a:extLst>
        </p:spPr>
        <p:txBody>
          <a:bodyPr wrap="none" lIns="76200" tIns="76200" rIns="76200" bIns="76200">
            <a:spAutoFit/>
          </a:bodyPr>
          <a:lstStyle>
            <a:lvl1pPr algn="l">
              <a:defRPr sz="7000">
                <a:latin typeface="Alright Sans"/>
                <a:ea typeface="Alright Sans"/>
                <a:cs typeface="Alright Sans"/>
                <a:sym typeface="Alright Sans"/>
              </a:defRPr>
            </a:lvl1pPr>
          </a:lstStyle>
          <a:p>
            <a:pPr>
              <a:defRPr sz="3000">
                <a:latin typeface="Alright Sans"/>
                <a:ea typeface="Alright Sans"/>
                <a:cs typeface="Alright Sans"/>
                <a:sym typeface="Alright Sans"/>
              </a:defRPr>
            </a:pPr>
            <a:r>
              <a:rPr lang="en-US" sz="10800" dirty="0">
                <a:latin typeface="Open Sans" panose="020B0606030504020204" pitchFamily="34" charset="0"/>
                <a:ea typeface="Open Sans" panose="020B0606030504020204" pitchFamily="34" charset="0"/>
                <a:cs typeface="Open Sans" panose="020B0606030504020204" pitchFamily="34" charset="0"/>
              </a:rPr>
              <a:t>How can Java infer the method?</a:t>
            </a:r>
          </a:p>
        </p:txBody>
      </p:sp>
      <p:sp>
        <p:nvSpPr>
          <p:cNvPr id="128" name="Shape 128"/>
          <p:cNvSpPr/>
          <p:nvPr/>
        </p:nvSpPr>
        <p:spPr>
          <a:xfrm>
            <a:off x="952500" y="18210515"/>
            <a:ext cx="34782668" cy="2"/>
          </a:xfrm>
          <a:prstGeom prst="line">
            <a:avLst/>
          </a:prstGeom>
          <a:ln w="76200">
            <a:solidFill>
              <a:schemeClr val="accent1">
                <a:satOff val="-3355"/>
                <a:lumOff val="26614"/>
              </a:schemeClr>
            </a:solidFill>
            <a:miter lim="400000"/>
          </a:ln>
        </p:spPr>
        <p:txBody>
          <a:bodyPr lIns="76200" tIns="76200" rIns="76200" bIns="76200" anchor="ctr"/>
          <a:lstStyle/>
          <a:p>
            <a:pPr>
              <a:defRPr sz="3200"/>
            </a:pPr>
            <a:endParaRPr sz="4800"/>
          </a:p>
        </p:txBody>
      </p:sp>
      <p:pic>
        <p:nvPicPr>
          <p:cNvPr id="129" name="Logo.png"/>
          <p:cNvPicPr>
            <a:picLocks noChangeAspect="1"/>
          </p:cNvPicPr>
          <p:nvPr/>
        </p:nvPicPr>
        <p:blipFill>
          <a:blip r:embed="rId3"/>
          <a:stretch>
            <a:fillRect/>
          </a:stretch>
        </p:blipFill>
        <p:spPr>
          <a:xfrm>
            <a:off x="14650974" y="18489726"/>
            <a:ext cx="6321552" cy="1392336"/>
          </a:xfrm>
          <a:prstGeom prst="rect">
            <a:avLst/>
          </a:prstGeom>
          <a:ln w="12700">
            <a:miter lim="400000"/>
          </a:ln>
        </p:spPr>
      </p:pic>
      <p:sp>
        <p:nvSpPr>
          <p:cNvPr id="9" name="Shape 127"/>
          <p:cNvSpPr/>
          <p:nvPr/>
        </p:nvSpPr>
        <p:spPr>
          <a:xfrm flipV="1">
            <a:off x="952499" y="2203340"/>
            <a:ext cx="34782670" cy="38132"/>
          </a:xfrm>
          <a:prstGeom prst="line">
            <a:avLst/>
          </a:prstGeom>
          <a:ln w="152400">
            <a:solidFill>
              <a:schemeClr val="accent1">
                <a:satOff val="-3355"/>
                <a:lumOff val="26614"/>
              </a:schemeClr>
            </a:solidFill>
            <a:miter lim="400000"/>
          </a:ln>
        </p:spPr>
        <p:txBody>
          <a:bodyPr lIns="76200" tIns="76200" rIns="76200" bIns="76200" anchor="ctr"/>
          <a:lstStyle/>
          <a:p>
            <a:pPr>
              <a:defRPr sz="3200"/>
            </a:pPr>
            <a:endParaRPr sz="4800"/>
          </a:p>
        </p:txBody>
      </p:sp>
      <p:sp>
        <p:nvSpPr>
          <p:cNvPr id="10" name="Shape 131"/>
          <p:cNvSpPr/>
          <p:nvPr/>
        </p:nvSpPr>
        <p:spPr>
          <a:xfrm>
            <a:off x="952500" y="18489726"/>
            <a:ext cx="16008688" cy="1138773"/>
          </a:xfrm>
          <a:prstGeom prst="rect">
            <a:avLst/>
          </a:prstGeom>
          <a:ln w="12700">
            <a:miter lim="400000"/>
          </a:ln>
          <a:extLst>
            <a:ext uri="{C572A759-6A51-4108-AA02-DFA0A04FC94B}">
              <ma14:wrappingTextBoxFlag xmlns="" xmlns:ma14="http://schemas.microsoft.com/office/mac/drawingml/2011/main" val="1"/>
            </a:ext>
          </a:extLst>
        </p:spPr>
        <p:txBody>
          <a:bodyPr lIns="76200" tIns="76200" rIns="76200" bIns="76200">
            <a:spAutoFit/>
          </a:bodyPr>
          <a:lstStyle/>
          <a:p>
            <a:pPr algn="l">
              <a:defRPr sz="2000">
                <a:latin typeface="Alright Sans"/>
                <a:ea typeface="Alright Sans"/>
                <a:cs typeface="Alright Sans"/>
                <a:sym typeface="Alright Sans"/>
              </a:defRPr>
            </a:pPr>
            <a:r>
              <a:rPr lang="en-US" sz="3000" dirty="0">
                <a:latin typeface="Open Sans" panose="020B0606030504020204" pitchFamily="34" charset="0"/>
                <a:ea typeface="Open Sans" panose="020B0606030504020204" pitchFamily="34" charset="0"/>
                <a:cs typeface="Open Sans" panose="020B0606030504020204" pitchFamily="34" charset="0"/>
              </a:rPr>
              <a:t>COMPLETE JAVA MASTERCLASS</a:t>
            </a:r>
          </a:p>
          <a:p>
            <a:pPr algn="l">
              <a:defRPr sz="3000">
                <a:latin typeface="Alright Sans"/>
                <a:ea typeface="Alright Sans"/>
                <a:cs typeface="Alright Sans"/>
                <a:sym typeface="Alright Sans"/>
              </a:defRPr>
            </a:pPr>
            <a:r>
              <a:rPr lang="en-US" sz="3400" dirty="0">
                <a:latin typeface="Open Sans" panose="020B0606030504020204" pitchFamily="34" charset="0"/>
                <a:ea typeface="Open Sans" panose="020B0606030504020204" pitchFamily="34" charset="0"/>
                <a:cs typeface="Open Sans" panose="020B0606030504020204" pitchFamily="34" charset="0"/>
              </a:rPr>
              <a:t>Introduction to the Lambda Expression, and Functional Interfaces</a:t>
            </a:r>
          </a:p>
        </p:txBody>
      </p:sp>
      <p:sp>
        <p:nvSpPr>
          <p:cNvPr id="8" name="Rectangle 7">
            <a:extLst>
              <a:ext uri="{FF2B5EF4-FFF2-40B4-BE49-F238E27FC236}">
                <a16:creationId xmlns:a16="http://schemas.microsoft.com/office/drawing/2014/main" id="{89DBB243-EF27-4345-872D-E76597E95619}"/>
              </a:ext>
            </a:extLst>
          </p:cNvPr>
          <p:cNvSpPr/>
          <p:nvPr/>
        </p:nvSpPr>
        <p:spPr>
          <a:xfrm>
            <a:off x="952501" y="4285904"/>
            <a:ext cx="34782670" cy="11880176"/>
          </a:xfrm>
          <a:prstGeom prst="rect">
            <a:avLst/>
          </a:prstGeom>
        </p:spPr>
        <p:txBody>
          <a:bodyPr wrap="square">
            <a:normAutofit/>
          </a:bodyPr>
          <a:lstStyle/>
          <a:p>
            <a:pPr algn="l">
              <a:spcAft>
                <a:spcPts val="5022"/>
              </a:spcAft>
            </a:pPr>
            <a:r>
              <a:rPr lang="en-US" sz="6400" dirty="0">
                <a:latin typeface="Open Sans" panose="020B0606030504020204" pitchFamily="34" charset="0"/>
                <a:ea typeface="Open Sans" panose="020B0606030504020204" pitchFamily="34" charset="0"/>
                <a:cs typeface="Open Sans" panose="020B0606030504020204" pitchFamily="34" charset="0"/>
              </a:rPr>
              <a:t>But which method?</a:t>
            </a:r>
          </a:p>
          <a:p>
            <a:pPr algn="l">
              <a:spcAft>
                <a:spcPts val="5022"/>
              </a:spcAft>
            </a:pPr>
            <a:r>
              <a:rPr lang="en-US" sz="6400" dirty="0">
                <a:latin typeface="Open Sans" panose="020B0606030504020204" pitchFamily="34" charset="0"/>
                <a:ea typeface="Open Sans" panose="020B0606030504020204" pitchFamily="34" charset="0"/>
                <a:cs typeface="Open Sans" panose="020B0606030504020204" pitchFamily="34" charset="0"/>
              </a:rPr>
              <a:t>Well, there's only one the lambda expression cares about, and that's </a:t>
            </a:r>
            <a:r>
              <a:rPr lang="en-US" sz="6400" b="1" dirty="0">
                <a:latin typeface="Open Sans" panose="020B0606030504020204" pitchFamily="34" charset="0"/>
                <a:ea typeface="Open Sans" panose="020B0606030504020204" pitchFamily="34" charset="0"/>
                <a:cs typeface="Open Sans" panose="020B0606030504020204" pitchFamily="34" charset="0"/>
              </a:rPr>
              <a:t>the abstract method</a:t>
            </a:r>
            <a:r>
              <a:rPr lang="en-US" sz="6400" dirty="0">
                <a:latin typeface="Open Sans" panose="020B0606030504020204" pitchFamily="34" charset="0"/>
                <a:ea typeface="Open Sans" panose="020B0606030504020204" pitchFamily="34" charset="0"/>
                <a:cs typeface="Open Sans" panose="020B0606030504020204" pitchFamily="34" charset="0"/>
              </a:rPr>
              <a:t> on Comparator.</a:t>
            </a:r>
          </a:p>
          <a:p>
            <a:pPr algn="l">
              <a:spcAft>
                <a:spcPts val="5022"/>
              </a:spcAft>
            </a:pPr>
            <a:r>
              <a:rPr lang="en-US" sz="6400" dirty="0">
                <a:latin typeface="Open Sans" panose="020B0606030504020204" pitchFamily="34" charset="0"/>
                <a:ea typeface="Open Sans" panose="020B0606030504020204" pitchFamily="34" charset="0"/>
                <a:cs typeface="Open Sans" panose="020B0606030504020204" pitchFamily="34" charset="0"/>
              </a:rPr>
              <a:t>Java requires types which support lambda expressions, to be something called a functional interface.</a:t>
            </a:r>
          </a:p>
        </p:txBody>
      </p:sp>
    </p:spTree>
    <p:extLst>
      <p:ext uri="{BB962C8B-B14F-4D97-AF65-F5344CB8AC3E}">
        <p14:creationId xmlns:p14="http://schemas.microsoft.com/office/powerpoint/2010/main" val="910610170"/>
      </p:ext>
    </p:extLst>
  </p:cSld>
  <p:clrMapOvr>
    <a:masterClrMapping/>
  </p:clrMapOvr>
  <p:transition spd="slow"/>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 name="Shape 126"/>
          <p:cNvSpPr/>
          <p:nvPr/>
        </p:nvSpPr>
        <p:spPr>
          <a:xfrm>
            <a:off x="952498" y="459786"/>
            <a:ext cx="19141458" cy="1815882"/>
          </a:xfrm>
          <a:prstGeom prst="rect">
            <a:avLst/>
          </a:prstGeom>
          <a:ln w="12700">
            <a:miter lim="400000"/>
          </a:ln>
          <a:extLst>
            <a:ext uri="{C572A759-6A51-4108-AA02-DFA0A04FC94B}">
              <ma14:wrappingTextBoxFlag xmlns="" xmlns:ma14="http://schemas.microsoft.com/office/mac/drawingml/2011/main" val="1"/>
            </a:ext>
          </a:extLst>
        </p:spPr>
        <p:txBody>
          <a:bodyPr wrap="none" lIns="76200" tIns="76200" rIns="76200" bIns="76200">
            <a:spAutoFit/>
          </a:bodyPr>
          <a:lstStyle>
            <a:lvl1pPr algn="l">
              <a:defRPr sz="7000">
                <a:latin typeface="Alright Sans"/>
                <a:ea typeface="Alright Sans"/>
                <a:cs typeface="Alright Sans"/>
                <a:sym typeface="Alright Sans"/>
              </a:defRPr>
            </a:lvl1pPr>
          </a:lstStyle>
          <a:p>
            <a:pPr>
              <a:defRPr sz="3000">
                <a:latin typeface="Alright Sans"/>
                <a:ea typeface="Alright Sans"/>
                <a:cs typeface="Alright Sans"/>
                <a:sym typeface="Alright Sans"/>
              </a:defRPr>
            </a:pPr>
            <a:r>
              <a:rPr lang="en-US" sz="10800" dirty="0">
                <a:latin typeface="Open Sans" panose="020B0606030504020204" pitchFamily="34" charset="0"/>
                <a:ea typeface="Open Sans" panose="020B0606030504020204" pitchFamily="34" charset="0"/>
                <a:cs typeface="Open Sans" panose="020B0606030504020204" pitchFamily="34" charset="0"/>
              </a:rPr>
              <a:t>What's a functional interface?</a:t>
            </a:r>
          </a:p>
        </p:txBody>
      </p:sp>
      <p:sp>
        <p:nvSpPr>
          <p:cNvPr id="128" name="Shape 128"/>
          <p:cNvSpPr/>
          <p:nvPr/>
        </p:nvSpPr>
        <p:spPr>
          <a:xfrm>
            <a:off x="952500" y="18210515"/>
            <a:ext cx="34782668" cy="2"/>
          </a:xfrm>
          <a:prstGeom prst="line">
            <a:avLst/>
          </a:prstGeom>
          <a:ln w="76200">
            <a:solidFill>
              <a:schemeClr val="accent1">
                <a:satOff val="-3355"/>
                <a:lumOff val="26614"/>
              </a:schemeClr>
            </a:solidFill>
            <a:miter lim="400000"/>
          </a:ln>
        </p:spPr>
        <p:txBody>
          <a:bodyPr lIns="76200" tIns="76200" rIns="76200" bIns="76200" anchor="ctr"/>
          <a:lstStyle/>
          <a:p>
            <a:pPr>
              <a:defRPr sz="3200"/>
            </a:pPr>
            <a:endParaRPr sz="4800"/>
          </a:p>
        </p:txBody>
      </p:sp>
      <p:pic>
        <p:nvPicPr>
          <p:cNvPr id="129" name="Logo.png"/>
          <p:cNvPicPr>
            <a:picLocks noChangeAspect="1"/>
          </p:cNvPicPr>
          <p:nvPr/>
        </p:nvPicPr>
        <p:blipFill>
          <a:blip r:embed="rId3"/>
          <a:stretch>
            <a:fillRect/>
          </a:stretch>
        </p:blipFill>
        <p:spPr>
          <a:xfrm>
            <a:off x="14650974" y="18489726"/>
            <a:ext cx="6321552" cy="1392336"/>
          </a:xfrm>
          <a:prstGeom prst="rect">
            <a:avLst/>
          </a:prstGeom>
          <a:ln w="12700">
            <a:miter lim="400000"/>
          </a:ln>
        </p:spPr>
      </p:pic>
      <p:sp>
        <p:nvSpPr>
          <p:cNvPr id="9" name="Shape 127"/>
          <p:cNvSpPr/>
          <p:nvPr/>
        </p:nvSpPr>
        <p:spPr>
          <a:xfrm flipV="1">
            <a:off x="952499" y="2203340"/>
            <a:ext cx="34782670" cy="38132"/>
          </a:xfrm>
          <a:prstGeom prst="line">
            <a:avLst/>
          </a:prstGeom>
          <a:ln w="152400">
            <a:solidFill>
              <a:schemeClr val="accent1">
                <a:satOff val="-3355"/>
                <a:lumOff val="26614"/>
              </a:schemeClr>
            </a:solidFill>
            <a:miter lim="400000"/>
          </a:ln>
        </p:spPr>
        <p:txBody>
          <a:bodyPr lIns="76200" tIns="76200" rIns="76200" bIns="76200" anchor="ctr"/>
          <a:lstStyle/>
          <a:p>
            <a:pPr>
              <a:defRPr sz="3200"/>
            </a:pPr>
            <a:endParaRPr sz="4800"/>
          </a:p>
        </p:txBody>
      </p:sp>
      <p:sp>
        <p:nvSpPr>
          <p:cNvPr id="10" name="Shape 131"/>
          <p:cNvSpPr/>
          <p:nvPr/>
        </p:nvSpPr>
        <p:spPr>
          <a:xfrm>
            <a:off x="952500" y="18489726"/>
            <a:ext cx="16008688" cy="1138773"/>
          </a:xfrm>
          <a:prstGeom prst="rect">
            <a:avLst/>
          </a:prstGeom>
          <a:ln w="12700">
            <a:miter lim="400000"/>
          </a:ln>
          <a:extLst>
            <a:ext uri="{C572A759-6A51-4108-AA02-DFA0A04FC94B}">
              <ma14:wrappingTextBoxFlag xmlns:ma14="http://schemas.microsoft.com/office/mac/drawingml/2011/main" xmlns="" val="1"/>
            </a:ext>
          </a:extLst>
        </p:spPr>
        <p:txBody>
          <a:bodyPr lIns="76200" tIns="76200" rIns="76200" bIns="76200">
            <a:spAutoFit/>
          </a:bodyPr>
          <a:lstStyle/>
          <a:p>
            <a:pPr algn="l">
              <a:defRPr sz="2000">
                <a:latin typeface="Alright Sans"/>
                <a:ea typeface="Alright Sans"/>
                <a:cs typeface="Alright Sans"/>
                <a:sym typeface="Alright Sans"/>
              </a:defRPr>
            </a:pPr>
            <a:r>
              <a:rPr lang="en-US" sz="3000" dirty="0">
                <a:latin typeface="Open Sans" panose="020B0606030504020204" pitchFamily="34" charset="0"/>
                <a:ea typeface="Open Sans" panose="020B0606030504020204" pitchFamily="34" charset="0"/>
                <a:cs typeface="Open Sans" panose="020B0606030504020204" pitchFamily="34" charset="0"/>
              </a:rPr>
              <a:t>COMPLETE JAVA MASTERCLASS</a:t>
            </a:r>
          </a:p>
          <a:p>
            <a:pPr algn="l">
              <a:defRPr sz="3000">
                <a:latin typeface="Alright Sans"/>
                <a:ea typeface="Alright Sans"/>
                <a:cs typeface="Alright Sans"/>
                <a:sym typeface="Alright Sans"/>
              </a:defRPr>
            </a:pPr>
            <a:r>
              <a:rPr lang="en-US" sz="3400" dirty="0">
                <a:latin typeface="Open Sans" panose="020B0606030504020204" pitchFamily="34" charset="0"/>
                <a:ea typeface="Open Sans" panose="020B0606030504020204" pitchFamily="34" charset="0"/>
                <a:cs typeface="Open Sans" panose="020B0606030504020204" pitchFamily="34" charset="0"/>
              </a:rPr>
              <a:t>Introduction to the Lambda Expression, and Functional Interfaces</a:t>
            </a:r>
          </a:p>
        </p:txBody>
      </p:sp>
      <p:sp>
        <p:nvSpPr>
          <p:cNvPr id="8" name="Rectangle 7">
            <a:extLst>
              <a:ext uri="{FF2B5EF4-FFF2-40B4-BE49-F238E27FC236}">
                <a16:creationId xmlns:a16="http://schemas.microsoft.com/office/drawing/2014/main" id="{89DBB243-EF27-4345-872D-E76597E95619}"/>
              </a:ext>
            </a:extLst>
          </p:cNvPr>
          <p:cNvSpPr/>
          <p:nvPr/>
        </p:nvSpPr>
        <p:spPr>
          <a:xfrm>
            <a:off x="952501" y="4285904"/>
            <a:ext cx="34782670" cy="11880176"/>
          </a:xfrm>
          <a:prstGeom prst="rect">
            <a:avLst/>
          </a:prstGeom>
        </p:spPr>
        <p:txBody>
          <a:bodyPr wrap="square">
            <a:normAutofit/>
          </a:bodyPr>
          <a:lstStyle/>
          <a:p>
            <a:pPr algn="l">
              <a:spcAft>
                <a:spcPts val="5022"/>
              </a:spcAft>
            </a:pPr>
            <a:r>
              <a:rPr lang="en-US" sz="6400" b="1" dirty="0">
                <a:latin typeface="Open Sans" panose="020B0606030504020204" pitchFamily="34" charset="0"/>
                <a:ea typeface="Open Sans" panose="020B0606030504020204" pitchFamily="34" charset="0"/>
                <a:cs typeface="Open Sans" panose="020B0606030504020204" pitchFamily="34" charset="0"/>
              </a:rPr>
              <a:t>A functional interface</a:t>
            </a:r>
            <a:r>
              <a:rPr lang="en-US" sz="6400" dirty="0">
                <a:latin typeface="Open Sans" panose="020B0606030504020204" pitchFamily="34" charset="0"/>
                <a:ea typeface="Open Sans" panose="020B0606030504020204" pitchFamily="34" charset="0"/>
                <a:cs typeface="Open Sans" panose="020B0606030504020204" pitchFamily="34" charset="0"/>
              </a:rPr>
              <a:t> is an interface that has </a:t>
            </a:r>
            <a:r>
              <a:rPr lang="en-US" sz="6400" b="1" dirty="0">
                <a:latin typeface="Open Sans" panose="020B0606030504020204" pitchFamily="34" charset="0"/>
                <a:ea typeface="Open Sans" panose="020B0606030504020204" pitchFamily="34" charset="0"/>
                <a:cs typeface="Open Sans" panose="020B0606030504020204" pitchFamily="34" charset="0"/>
              </a:rPr>
              <a:t>one, and only one, abstract method</a:t>
            </a:r>
            <a:r>
              <a:rPr lang="en-US" sz="6400" dirty="0">
                <a:latin typeface="Open Sans" panose="020B0606030504020204" pitchFamily="34" charset="0"/>
                <a:ea typeface="Open Sans" panose="020B0606030504020204" pitchFamily="34" charset="0"/>
                <a:cs typeface="Open Sans" panose="020B0606030504020204" pitchFamily="34" charset="0"/>
              </a:rPr>
              <a:t>.</a:t>
            </a:r>
          </a:p>
          <a:p>
            <a:pPr algn="l">
              <a:spcAft>
                <a:spcPts val="5022"/>
              </a:spcAft>
            </a:pPr>
            <a:r>
              <a:rPr lang="en-US" sz="6400" dirty="0">
                <a:latin typeface="Open Sans" panose="020B0606030504020204" pitchFamily="34" charset="0"/>
                <a:ea typeface="Open Sans" panose="020B0606030504020204" pitchFamily="34" charset="0"/>
                <a:cs typeface="Open Sans" panose="020B0606030504020204" pitchFamily="34" charset="0"/>
              </a:rPr>
              <a:t>This is how Java can infer the method to derive the parameters and return type, for the lambda expression.</a:t>
            </a:r>
          </a:p>
          <a:p>
            <a:pPr algn="l">
              <a:spcAft>
                <a:spcPts val="5022"/>
              </a:spcAft>
            </a:pPr>
            <a:r>
              <a:rPr lang="en-US" sz="6400" dirty="0">
                <a:latin typeface="Open Sans" panose="020B0606030504020204" pitchFamily="34" charset="0"/>
                <a:ea typeface="Open Sans" panose="020B0606030504020204" pitchFamily="34" charset="0"/>
                <a:cs typeface="Open Sans" panose="020B0606030504020204" pitchFamily="34" charset="0"/>
              </a:rPr>
              <a:t>You may also see this referred to as SAM, which is short for </a:t>
            </a:r>
            <a:r>
              <a:rPr lang="en-US" sz="6400" b="1" dirty="0">
                <a:latin typeface="Open Sans" panose="020B0606030504020204" pitchFamily="34" charset="0"/>
                <a:ea typeface="Open Sans" panose="020B0606030504020204" pitchFamily="34" charset="0"/>
                <a:cs typeface="Open Sans" panose="020B0606030504020204" pitchFamily="34" charset="0"/>
              </a:rPr>
              <a:t>Single Abstract Method</a:t>
            </a:r>
            <a:r>
              <a:rPr lang="en-US" sz="6400" dirty="0">
                <a:latin typeface="Open Sans" panose="020B0606030504020204" pitchFamily="34" charset="0"/>
                <a:ea typeface="Open Sans" panose="020B0606030504020204" pitchFamily="34" charset="0"/>
                <a:cs typeface="Open Sans" panose="020B0606030504020204" pitchFamily="34" charset="0"/>
              </a:rPr>
              <a:t>, which is called the functional method.</a:t>
            </a:r>
          </a:p>
          <a:p>
            <a:pPr algn="l">
              <a:spcAft>
                <a:spcPts val="5022"/>
              </a:spcAft>
            </a:pPr>
            <a:r>
              <a:rPr lang="en-US" sz="6400" dirty="0">
                <a:latin typeface="Open Sans" panose="020B0606030504020204" pitchFamily="34" charset="0"/>
                <a:ea typeface="Open Sans" panose="020B0606030504020204" pitchFamily="34" charset="0"/>
                <a:cs typeface="Open Sans" panose="020B0606030504020204" pitchFamily="34" charset="0"/>
              </a:rPr>
              <a:t>A functional interface is the </a:t>
            </a:r>
            <a:r>
              <a:rPr lang="en-US" sz="6400" b="1" dirty="0">
                <a:latin typeface="Open Sans" panose="020B0606030504020204" pitchFamily="34" charset="0"/>
                <a:ea typeface="Open Sans" panose="020B0606030504020204" pitchFamily="34" charset="0"/>
                <a:cs typeface="Open Sans" panose="020B0606030504020204" pitchFamily="34" charset="0"/>
              </a:rPr>
              <a:t>target type for a lambda expression</a:t>
            </a:r>
            <a:r>
              <a:rPr lang="en-US" sz="6400" dirty="0">
                <a:latin typeface="Open Sans" panose="020B0606030504020204" pitchFamily="34" charset="0"/>
                <a:ea typeface="Open Sans" panose="020B0606030504020204" pitchFamily="34" charset="0"/>
                <a:cs typeface="Open Sans" panose="020B0606030504020204" pitchFamily="34" charset="0"/>
              </a:rPr>
              <a:t>.</a:t>
            </a:r>
          </a:p>
        </p:txBody>
      </p:sp>
    </p:spTree>
    <p:extLst>
      <p:ext uri="{BB962C8B-B14F-4D97-AF65-F5344CB8AC3E}">
        <p14:creationId xmlns:p14="http://schemas.microsoft.com/office/powerpoint/2010/main" val="3843263106"/>
      </p:ext>
    </p:extLst>
  </p:cSld>
  <p:clrMapOvr>
    <a:masterClrMapping/>
  </p:clrMapOvr>
  <p:transition spd="slow"/>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 name="Shape 126"/>
          <p:cNvSpPr/>
          <p:nvPr/>
        </p:nvSpPr>
        <p:spPr>
          <a:xfrm>
            <a:off x="952498" y="459786"/>
            <a:ext cx="15557144" cy="1815882"/>
          </a:xfrm>
          <a:prstGeom prst="rect">
            <a:avLst/>
          </a:prstGeom>
          <a:ln w="12700">
            <a:miter lim="400000"/>
          </a:ln>
          <a:extLst>
            <a:ext uri="{C572A759-6A51-4108-AA02-DFA0A04FC94B}">
              <ma14:wrappingTextBoxFlag xmlns:ma14="http://schemas.microsoft.com/office/mac/drawingml/2011/main" xmlns="" val="1"/>
            </a:ext>
          </a:extLst>
        </p:spPr>
        <p:txBody>
          <a:bodyPr wrap="none" lIns="76200" tIns="76200" rIns="76200" bIns="76200">
            <a:spAutoFit/>
          </a:bodyPr>
          <a:lstStyle>
            <a:lvl1pPr algn="l">
              <a:defRPr sz="7000">
                <a:latin typeface="Alright Sans"/>
                <a:ea typeface="Alright Sans"/>
                <a:cs typeface="Alright Sans"/>
                <a:sym typeface="Alright Sans"/>
              </a:defRPr>
            </a:lvl1pPr>
          </a:lstStyle>
          <a:p>
            <a:pPr>
              <a:defRPr sz="3000">
                <a:latin typeface="Alright Sans"/>
                <a:ea typeface="Alright Sans"/>
                <a:cs typeface="Alright Sans"/>
                <a:sym typeface="Alright Sans"/>
              </a:defRPr>
            </a:pPr>
            <a:r>
              <a:rPr lang="en-US" sz="10800" dirty="0">
                <a:latin typeface="Open Sans" panose="020B0606030504020204" pitchFamily="34" charset="0"/>
                <a:ea typeface="Open Sans" panose="020B0606030504020204" pitchFamily="34" charset="0"/>
                <a:cs typeface="Open Sans" panose="020B0606030504020204" pitchFamily="34" charset="0"/>
              </a:rPr>
              <a:t>The Lambda Expression</a:t>
            </a:r>
          </a:p>
        </p:txBody>
      </p:sp>
      <p:sp>
        <p:nvSpPr>
          <p:cNvPr id="128" name="Shape 128"/>
          <p:cNvSpPr/>
          <p:nvPr/>
        </p:nvSpPr>
        <p:spPr>
          <a:xfrm>
            <a:off x="952500" y="18210515"/>
            <a:ext cx="34782668" cy="2"/>
          </a:xfrm>
          <a:prstGeom prst="line">
            <a:avLst/>
          </a:prstGeom>
          <a:ln w="76200">
            <a:solidFill>
              <a:schemeClr val="accent1">
                <a:satOff val="-3355"/>
                <a:lumOff val="26614"/>
              </a:schemeClr>
            </a:solidFill>
            <a:miter lim="400000"/>
          </a:ln>
        </p:spPr>
        <p:txBody>
          <a:bodyPr lIns="76200" tIns="76200" rIns="76200" bIns="76200" anchor="ctr"/>
          <a:lstStyle/>
          <a:p>
            <a:pPr>
              <a:defRPr sz="3200"/>
            </a:pPr>
            <a:endParaRPr sz="4800"/>
          </a:p>
        </p:txBody>
      </p:sp>
      <p:pic>
        <p:nvPicPr>
          <p:cNvPr id="129" name="Logo.png"/>
          <p:cNvPicPr>
            <a:picLocks noChangeAspect="1"/>
          </p:cNvPicPr>
          <p:nvPr/>
        </p:nvPicPr>
        <p:blipFill>
          <a:blip r:embed="rId3"/>
          <a:stretch>
            <a:fillRect/>
          </a:stretch>
        </p:blipFill>
        <p:spPr>
          <a:xfrm>
            <a:off x="14650974" y="18489726"/>
            <a:ext cx="6321552" cy="1392336"/>
          </a:xfrm>
          <a:prstGeom prst="rect">
            <a:avLst/>
          </a:prstGeom>
          <a:ln w="12700">
            <a:miter lim="400000"/>
          </a:ln>
        </p:spPr>
      </p:pic>
      <p:sp>
        <p:nvSpPr>
          <p:cNvPr id="9" name="Shape 127"/>
          <p:cNvSpPr/>
          <p:nvPr/>
        </p:nvSpPr>
        <p:spPr>
          <a:xfrm flipV="1">
            <a:off x="952499" y="2203340"/>
            <a:ext cx="34782670" cy="38132"/>
          </a:xfrm>
          <a:prstGeom prst="line">
            <a:avLst/>
          </a:prstGeom>
          <a:ln w="152400">
            <a:solidFill>
              <a:schemeClr val="accent1">
                <a:satOff val="-3355"/>
                <a:lumOff val="26614"/>
              </a:schemeClr>
            </a:solidFill>
            <a:miter lim="400000"/>
          </a:ln>
        </p:spPr>
        <p:txBody>
          <a:bodyPr lIns="76200" tIns="76200" rIns="76200" bIns="76200" anchor="ctr"/>
          <a:lstStyle/>
          <a:p>
            <a:pPr>
              <a:defRPr sz="3200"/>
            </a:pPr>
            <a:endParaRPr sz="4800"/>
          </a:p>
        </p:txBody>
      </p:sp>
      <p:sp>
        <p:nvSpPr>
          <p:cNvPr id="10" name="Shape 131"/>
          <p:cNvSpPr/>
          <p:nvPr/>
        </p:nvSpPr>
        <p:spPr>
          <a:xfrm>
            <a:off x="952500" y="18489726"/>
            <a:ext cx="16008688" cy="1308050"/>
          </a:xfrm>
          <a:prstGeom prst="rect">
            <a:avLst/>
          </a:prstGeom>
          <a:ln w="12700">
            <a:miter lim="400000"/>
          </a:ln>
          <a:extLst>
            <a:ext uri="{C572A759-6A51-4108-AA02-DFA0A04FC94B}">
              <ma14:wrappingTextBoxFlag xmlns="" xmlns:ma14="http://schemas.microsoft.com/office/mac/drawingml/2011/main" val="1"/>
            </a:ext>
          </a:extLst>
        </p:spPr>
        <p:txBody>
          <a:bodyPr lIns="76200" tIns="76200" rIns="76200" bIns="76200">
            <a:spAutoFit/>
          </a:bodyPr>
          <a:lstStyle/>
          <a:p>
            <a:pPr algn="l">
              <a:defRPr sz="2000">
                <a:latin typeface="Alright Sans"/>
                <a:ea typeface="Alright Sans"/>
                <a:cs typeface="Alright Sans"/>
                <a:sym typeface="Alright Sans"/>
              </a:defRPr>
            </a:pPr>
            <a:r>
              <a:rPr lang="en-US" sz="3000" dirty="0">
                <a:latin typeface="Open Sans" panose="020B0606030504020204" pitchFamily="34" charset="0"/>
                <a:ea typeface="Open Sans" panose="020B0606030504020204" pitchFamily="34" charset="0"/>
                <a:cs typeface="Open Sans" panose="020B0606030504020204" pitchFamily="34" charset="0"/>
              </a:rPr>
              <a:t>COMPLETE JAVA MASTERCLASS</a:t>
            </a:r>
          </a:p>
          <a:p>
            <a:pPr algn="l">
              <a:defRPr sz="3000">
                <a:latin typeface="Alright Sans"/>
                <a:ea typeface="Alright Sans"/>
                <a:cs typeface="Alright Sans"/>
                <a:sym typeface="Alright Sans"/>
              </a:defRPr>
            </a:pPr>
            <a:r>
              <a:rPr lang="en-US" sz="4400" dirty="0">
                <a:latin typeface="Open Sans" panose="020B0606030504020204" pitchFamily="34" charset="0"/>
                <a:ea typeface="Open Sans" panose="020B0606030504020204" pitchFamily="34" charset="0"/>
                <a:cs typeface="Open Sans" panose="020B0606030504020204" pitchFamily="34" charset="0"/>
              </a:rPr>
              <a:t>Lambda Expressions, syntax, &amp; additional examples</a:t>
            </a:r>
          </a:p>
        </p:txBody>
      </p:sp>
      <p:sp>
        <p:nvSpPr>
          <p:cNvPr id="8" name="Rectangle 7">
            <a:extLst>
              <a:ext uri="{FF2B5EF4-FFF2-40B4-BE49-F238E27FC236}">
                <a16:creationId xmlns:a16="http://schemas.microsoft.com/office/drawing/2014/main" id="{89DBB243-EF27-4345-872D-E76597E95619}"/>
              </a:ext>
            </a:extLst>
          </p:cNvPr>
          <p:cNvSpPr/>
          <p:nvPr/>
        </p:nvSpPr>
        <p:spPr>
          <a:xfrm>
            <a:off x="952501" y="4285904"/>
            <a:ext cx="34782670" cy="11880176"/>
          </a:xfrm>
          <a:prstGeom prst="rect">
            <a:avLst/>
          </a:prstGeom>
        </p:spPr>
        <p:txBody>
          <a:bodyPr wrap="square">
            <a:normAutofit/>
          </a:bodyPr>
          <a:lstStyle/>
          <a:p>
            <a:pPr algn="l">
              <a:spcAft>
                <a:spcPts val="5022"/>
              </a:spcAft>
            </a:pPr>
            <a:r>
              <a:rPr lang="en-US" sz="6400" dirty="0">
                <a:latin typeface="Open Sans" panose="020B0606030504020204" pitchFamily="34" charset="0"/>
                <a:ea typeface="Open Sans" panose="020B0606030504020204" pitchFamily="34" charset="0"/>
                <a:cs typeface="Open Sans" panose="020B0606030504020204" pitchFamily="34" charset="0"/>
              </a:rPr>
              <a:t>The functional interface is the framework that lets a lambda expression be used.</a:t>
            </a:r>
          </a:p>
          <a:p>
            <a:pPr algn="l">
              <a:spcAft>
                <a:spcPts val="5022"/>
              </a:spcAft>
            </a:pPr>
            <a:r>
              <a:rPr lang="en-US" sz="6400" dirty="0">
                <a:latin typeface="Open Sans" panose="020B0606030504020204" pitchFamily="34" charset="0"/>
                <a:ea typeface="Open Sans" panose="020B0606030504020204" pitchFamily="34" charset="0"/>
                <a:cs typeface="Open Sans" panose="020B0606030504020204" pitchFamily="34" charset="0"/>
              </a:rPr>
              <a:t>Lambda expressions are also called lambdas for short.</a:t>
            </a:r>
          </a:p>
          <a:p>
            <a:pPr algn="l">
              <a:spcAft>
                <a:spcPts val="5022"/>
              </a:spcAft>
            </a:pPr>
            <a:r>
              <a:rPr lang="en-US" sz="6400" dirty="0">
                <a:latin typeface="Open Sans" panose="020B0606030504020204" pitchFamily="34" charset="0"/>
                <a:ea typeface="Open Sans" panose="020B0606030504020204" pitchFamily="34" charset="0"/>
                <a:cs typeface="Open Sans" panose="020B0606030504020204" pitchFamily="34" charset="0"/>
              </a:rPr>
              <a:t>Many of Java's classes use functional interfaces in their method signatures, which allows you to pass lambdas as arguments to them.</a:t>
            </a:r>
          </a:p>
          <a:p>
            <a:pPr algn="l">
              <a:spcAft>
                <a:spcPts val="5022"/>
              </a:spcAft>
            </a:pPr>
            <a:r>
              <a:rPr lang="en-US" sz="6400" dirty="0">
                <a:latin typeface="Open Sans" panose="020B0606030504020204" pitchFamily="34" charset="0"/>
                <a:ea typeface="Open Sans" panose="020B0606030504020204" pitchFamily="34" charset="0"/>
                <a:cs typeface="Open Sans" panose="020B0606030504020204" pitchFamily="34" charset="0"/>
              </a:rPr>
              <a:t>You'll soon discover that lambdas will reduce the amount of code you write.</a:t>
            </a:r>
          </a:p>
          <a:p>
            <a:pPr algn="l">
              <a:spcAft>
                <a:spcPts val="5022"/>
              </a:spcAft>
            </a:pPr>
            <a:r>
              <a:rPr lang="en-US" sz="6400" dirty="0">
                <a:latin typeface="Open Sans" panose="020B0606030504020204" pitchFamily="34" charset="0"/>
                <a:ea typeface="Open Sans" panose="020B0606030504020204" pitchFamily="34" charset="0"/>
                <a:cs typeface="Open Sans" panose="020B0606030504020204" pitchFamily="34" charset="0"/>
              </a:rPr>
              <a:t>In an upcoming video, I'm going to cover many of Java's built-in functional interfaces.</a:t>
            </a:r>
          </a:p>
        </p:txBody>
      </p:sp>
    </p:spTree>
    <p:extLst>
      <p:ext uri="{BB962C8B-B14F-4D97-AF65-F5344CB8AC3E}">
        <p14:creationId xmlns:p14="http://schemas.microsoft.com/office/powerpoint/2010/main" val="2049386849"/>
      </p:ext>
    </p:extLst>
  </p:cSld>
  <p:clrMapOvr>
    <a:masterClrMapping/>
  </p:clrMapOvr>
  <p:transition spd="slow"/>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 name="Shape 126"/>
          <p:cNvSpPr/>
          <p:nvPr/>
        </p:nvSpPr>
        <p:spPr>
          <a:xfrm>
            <a:off x="952498" y="459786"/>
            <a:ext cx="15712635" cy="1815882"/>
          </a:xfrm>
          <a:prstGeom prst="rect">
            <a:avLst/>
          </a:prstGeom>
          <a:ln w="12700">
            <a:miter lim="400000"/>
          </a:ln>
          <a:extLst>
            <a:ext uri="{C572A759-6A51-4108-AA02-DFA0A04FC94B}">
              <ma14:wrappingTextBoxFlag xmlns="" xmlns:ma14="http://schemas.microsoft.com/office/mac/drawingml/2011/main" val="1"/>
            </a:ext>
          </a:extLst>
        </p:spPr>
        <p:txBody>
          <a:bodyPr wrap="none" lIns="76200" tIns="76200" rIns="76200" bIns="76200">
            <a:spAutoFit/>
          </a:bodyPr>
          <a:lstStyle>
            <a:lvl1pPr algn="l">
              <a:defRPr sz="7000">
                <a:latin typeface="Alright Sans"/>
                <a:ea typeface="Alright Sans"/>
                <a:cs typeface="Alright Sans"/>
                <a:sym typeface="Alright Sans"/>
              </a:defRPr>
            </a:lvl1pPr>
          </a:lstStyle>
          <a:p>
            <a:pPr>
              <a:defRPr sz="3000">
                <a:latin typeface="Alright Sans"/>
                <a:ea typeface="Alright Sans"/>
                <a:cs typeface="Alright Sans"/>
                <a:sym typeface="Alright Sans"/>
              </a:defRPr>
            </a:pPr>
            <a:r>
              <a:rPr lang="en-US" sz="10800" dirty="0">
                <a:latin typeface="Open Sans" panose="020B0606030504020204" pitchFamily="34" charset="0"/>
                <a:ea typeface="Open Sans" panose="020B0606030504020204" pitchFamily="34" charset="0"/>
                <a:cs typeface="Open Sans" panose="020B0606030504020204" pitchFamily="34" charset="0"/>
              </a:rPr>
              <a:t>The Consumer Interface</a:t>
            </a:r>
          </a:p>
        </p:txBody>
      </p:sp>
      <p:sp>
        <p:nvSpPr>
          <p:cNvPr id="128" name="Shape 128"/>
          <p:cNvSpPr/>
          <p:nvPr/>
        </p:nvSpPr>
        <p:spPr>
          <a:xfrm>
            <a:off x="952500" y="18210515"/>
            <a:ext cx="34782668" cy="2"/>
          </a:xfrm>
          <a:prstGeom prst="line">
            <a:avLst/>
          </a:prstGeom>
          <a:ln w="76200">
            <a:solidFill>
              <a:schemeClr val="accent1">
                <a:satOff val="-3355"/>
                <a:lumOff val="26614"/>
              </a:schemeClr>
            </a:solidFill>
            <a:miter lim="400000"/>
          </a:ln>
        </p:spPr>
        <p:txBody>
          <a:bodyPr lIns="76200" tIns="76200" rIns="76200" bIns="76200" anchor="ctr"/>
          <a:lstStyle/>
          <a:p>
            <a:pPr>
              <a:defRPr sz="3200"/>
            </a:pPr>
            <a:endParaRPr sz="4800"/>
          </a:p>
        </p:txBody>
      </p:sp>
      <p:pic>
        <p:nvPicPr>
          <p:cNvPr id="129" name="Logo.png"/>
          <p:cNvPicPr>
            <a:picLocks noChangeAspect="1"/>
          </p:cNvPicPr>
          <p:nvPr/>
        </p:nvPicPr>
        <p:blipFill>
          <a:blip r:embed="rId3"/>
          <a:stretch>
            <a:fillRect/>
          </a:stretch>
        </p:blipFill>
        <p:spPr>
          <a:xfrm>
            <a:off x="14650974" y="18489726"/>
            <a:ext cx="6321552" cy="1392336"/>
          </a:xfrm>
          <a:prstGeom prst="rect">
            <a:avLst/>
          </a:prstGeom>
          <a:ln w="12700">
            <a:miter lim="400000"/>
          </a:ln>
        </p:spPr>
      </p:pic>
      <p:sp>
        <p:nvSpPr>
          <p:cNvPr id="9" name="Shape 127"/>
          <p:cNvSpPr/>
          <p:nvPr/>
        </p:nvSpPr>
        <p:spPr>
          <a:xfrm flipV="1">
            <a:off x="952499" y="2203340"/>
            <a:ext cx="34782670" cy="38132"/>
          </a:xfrm>
          <a:prstGeom prst="line">
            <a:avLst/>
          </a:prstGeom>
          <a:ln w="152400">
            <a:solidFill>
              <a:schemeClr val="accent1">
                <a:satOff val="-3355"/>
                <a:lumOff val="26614"/>
              </a:schemeClr>
            </a:solidFill>
            <a:miter lim="400000"/>
          </a:ln>
        </p:spPr>
        <p:txBody>
          <a:bodyPr lIns="76200" tIns="76200" rIns="76200" bIns="76200" anchor="ctr"/>
          <a:lstStyle/>
          <a:p>
            <a:pPr>
              <a:defRPr sz="3200"/>
            </a:pPr>
            <a:endParaRPr sz="4800"/>
          </a:p>
        </p:txBody>
      </p:sp>
      <p:sp>
        <p:nvSpPr>
          <p:cNvPr id="8" name="Rectangle 7">
            <a:extLst>
              <a:ext uri="{FF2B5EF4-FFF2-40B4-BE49-F238E27FC236}">
                <a16:creationId xmlns:a16="http://schemas.microsoft.com/office/drawing/2014/main" id="{89DBB243-EF27-4345-872D-E76597E95619}"/>
              </a:ext>
            </a:extLst>
          </p:cNvPr>
          <p:cNvSpPr/>
          <p:nvPr/>
        </p:nvSpPr>
        <p:spPr>
          <a:xfrm>
            <a:off x="952501" y="4285904"/>
            <a:ext cx="34782670" cy="11880176"/>
          </a:xfrm>
          <a:prstGeom prst="rect">
            <a:avLst/>
          </a:prstGeom>
        </p:spPr>
        <p:txBody>
          <a:bodyPr wrap="square">
            <a:normAutofit/>
          </a:bodyPr>
          <a:lstStyle/>
          <a:p>
            <a:pPr algn="l">
              <a:spcAft>
                <a:spcPts val="5022"/>
              </a:spcAft>
            </a:pPr>
            <a:r>
              <a:rPr lang="en-US" sz="6400" dirty="0">
                <a:latin typeface="Open Sans" panose="020B0606030504020204" pitchFamily="34" charset="0"/>
                <a:ea typeface="Open Sans" panose="020B0606030504020204" pitchFamily="34" charset="0"/>
                <a:cs typeface="Open Sans" panose="020B0606030504020204" pitchFamily="34" charset="0"/>
              </a:rPr>
              <a:t>The Consumer interface is in the </a:t>
            </a:r>
            <a:r>
              <a:rPr lang="en-US" sz="6400" dirty="0" err="1">
                <a:latin typeface="Open Sans" panose="020B0606030504020204" pitchFamily="34" charset="0"/>
                <a:ea typeface="Open Sans" panose="020B0606030504020204" pitchFamily="34" charset="0"/>
                <a:cs typeface="Open Sans" panose="020B0606030504020204" pitchFamily="34" charset="0"/>
              </a:rPr>
              <a:t>java.util.function</a:t>
            </a:r>
            <a:r>
              <a:rPr lang="en-US" sz="6400" dirty="0">
                <a:latin typeface="Open Sans" panose="020B0606030504020204" pitchFamily="34" charset="0"/>
                <a:ea typeface="Open Sans" panose="020B0606030504020204" pitchFamily="34" charset="0"/>
                <a:cs typeface="Open Sans" panose="020B0606030504020204" pitchFamily="34" charset="0"/>
              </a:rPr>
              <a:t> package.</a:t>
            </a:r>
          </a:p>
          <a:p>
            <a:pPr algn="l">
              <a:spcAft>
                <a:spcPts val="5022"/>
              </a:spcAft>
            </a:pPr>
            <a:r>
              <a:rPr lang="en-US" sz="6400" dirty="0">
                <a:latin typeface="Open Sans" panose="020B0606030504020204" pitchFamily="34" charset="0"/>
                <a:ea typeface="Open Sans" panose="020B0606030504020204" pitchFamily="34" charset="0"/>
                <a:cs typeface="Open Sans" panose="020B0606030504020204" pitchFamily="34" charset="0"/>
              </a:rPr>
              <a:t>It has one abstract method that takes a single argument and doesn't return anything.</a:t>
            </a:r>
          </a:p>
          <a:p>
            <a:pPr algn="l">
              <a:spcAft>
                <a:spcPts val="5022"/>
              </a:spcAft>
            </a:pPr>
            <a:endParaRPr lang="en-US" sz="6400" dirty="0">
              <a:latin typeface="Open Sans" panose="020B0606030504020204" pitchFamily="34" charset="0"/>
              <a:ea typeface="Open Sans" panose="020B0606030504020204" pitchFamily="34" charset="0"/>
              <a:cs typeface="Open Sans" panose="020B0606030504020204" pitchFamily="34" charset="0"/>
            </a:endParaRPr>
          </a:p>
          <a:p>
            <a:pPr algn="l">
              <a:spcAft>
                <a:spcPts val="5022"/>
              </a:spcAft>
            </a:pPr>
            <a:r>
              <a:rPr lang="en-US" sz="6400" dirty="0">
                <a:latin typeface="Open Sans" panose="020B0606030504020204" pitchFamily="34" charset="0"/>
                <a:ea typeface="Open Sans" panose="020B0606030504020204" pitchFamily="34" charset="0"/>
                <a:cs typeface="Open Sans" panose="020B0606030504020204" pitchFamily="34" charset="0"/>
              </a:rPr>
              <a:t>This doesn't seem like a very interesting interface at first, but let's see what this means in practice, as far as the lambda expressions we can use with it.</a:t>
            </a:r>
          </a:p>
        </p:txBody>
      </p:sp>
      <p:pic>
        <p:nvPicPr>
          <p:cNvPr id="3" name="Picture 2">
            <a:extLst>
              <a:ext uri="{FF2B5EF4-FFF2-40B4-BE49-F238E27FC236}">
                <a16:creationId xmlns:a16="http://schemas.microsoft.com/office/drawing/2014/main" id="{9962636D-75D2-381D-7FD3-9A1CA035255E}"/>
              </a:ext>
            </a:extLst>
          </p:cNvPr>
          <p:cNvPicPr>
            <a:picLocks noChangeAspect="1"/>
          </p:cNvPicPr>
          <p:nvPr/>
        </p:nvPicPr>
        <p:blipFill>
          <a:blip r:embed="rId4"/>
          <a:stretch>
            <a:fillRect/>
          </a:stretch>
        </p:blipFill>
        <p:spPr>
          <a:xfrm>
            <a:off x="952498" y="7487555"/>
            <a:ext cx="8584001" cy="1078285"/>
          </a:xfrm>
          <a:prstGeom prst="rect">
            <a:avLst/>
          </a:prstGeom>
        </p:spPr>
      </p:pic>
      <p:sp>
        <p:nvSpPr>
          <p:cNvPr id="2" name="Shape 131">
            <a:extLst>
              <a:ext uri="{FF2B5EF4-FFF2-40B4-BE49-F238E27FC236}">
                <a16:creationId xmlns:a16="http://schemas.microsoft.com/office/drawing/2014/main" id="{F096906A-0757-3360-6C29-63B7714D8338}"/>
              </a:ext>
            </a:extLst>
          </p:cNvPr>
          <p:cNvSpPr/>
          <p:nvPr/>
        </p:nvSpPr>
        <p:spPr>
          <a:xfrm>
            <a:off x="952500" y="18489726"/>
            <a:ext cx="16008688" cy="1308050"/>
          </a:xfrm>
          <a:prstGeom prst="rect">
            <a:avLst/>
          </a:prstGeom>
          <a:ln w="12700">
            <a:miter lim="400000"/>
          </a:ln>
          <a:extLst>
            <a:ext uri="{C572A759-6A51-4108-AA02-DFA0A04FC94B}">
              <ma14:wrappingTextBoxFlag xmlns="" xmlns:ma14="http://schemas.microsoft.com/office/mac/drawingml/2011/main" val="1"/>
            </a:ext>
          </a:extLst>
        </p:spPr>
        <p:txBody>
          <a:bodyPr lIns="76200" tIns="76200" rIns="76200" bIns="76200">
            <a:spAutoFit/>
          </a:bodyPr>
          <a:lstStyle/>
          <a:p>
            <a:pPr algn="l">
              <a:defRPr sz="2000">
                <a:latin typeface="Alright Sans"/>
                <a:ea typeface="Alright Sans"/>
                <a:cs typeface="Alright Sans"/>
                <a:sym typeface="Alright Sans"/>
              </a:defRPr>
            </a:pPr>
            <a:r>
              <a:rPr lang="en-US" sz="3000" dirty="0">
                <a:latin typeface="Open Sans" panose="020B0606030504020204" pitchFamily="34" charset="0"/>
                <a:ea typeface="Open Sans" panose="020B0606030504020204" pitchFamily="34" charset="0"/>
                <a:cs typeface="Open Sans" panose="020B0606030504020204" pitchFamily="34" charset="0"/>
              </a:rPr>
              <a:t>COMPLETE JAVA MASTERCLASS</a:t>
            </a:r>
          </a:p>
          <a:p>
            <a:pPr algn="l">
              <a:defRPr sz="3000">
                <a:latin typeface="Alright Sans"/>
                <a:ea typeface="Alright Sans"/>
                <a:cs typeface="Alright Sans"/>
                <a:sym typeface="Alright Sans"/>
              </a:defRPr>
            </a:pPr>
            <a:r>
              <a:rPr lang="en-US" sz="4400" dirty="0">
                <a:latin typeface="Open Sans" panose="020B0606030504020204" pitchFamily="34" charset="0"/>
                <a:ea typeface="Open Sans" panose="020B0606030504020204" pitchFamily="34" charset="0"/>
                <a:cs typeface="Open Sans" panose="020B0606030504020204" pitchFamily="34" charset="0"/>
              </a:rPr>
              <a:t>Lambda Expressions, syntax, &amp; additional examples</a:t>
            </a:r>
          </a:p>
        </p:txBody>
      </p:sp>
    </p:spTree>
    <p:extLst>
      <p:ext uri="{BB962C8B-B14F-4D97-AF65-F5344CB8AC3E}">
        <p14:creationId xmlns:p14="http://schemas.microsoft.com/office/powerpoint/2010/main" val="1304298369"/>
      </p:ext>
    </p:extLst>
  </p:cSld>
  <p:clrMapOvr>
    <a:masterClrMapping/>
  </p:clrMapOvr>
  <p:transition spd="slow"/>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 name="Shape 126"/>
          <p:cNvSpPr/>
          <p:nvPr/>
        </p:nvSpPr>
        <p:spPr>
          <a:xfrm>
            <a:off x="952498" y="459786"/>
            <a:ext cx="34164802" cy="1815882"/>
          </a:xfrm>
          <a:prstGeom prst="rect">
            <a:avLst/>
          </a:prstGeom>
          <a:ln w="12700">
            <a:miter lim="400000"/>
          </a:ln>
          <a:extLst>
            <a:ext uri="{C572A759-6A51-4108-AA02-DFA0A04FC94B}">
              <ma14:wrappingTextBoxFlag xmlns:ma14="http://schemas.microsoft.com/office/mac/drawingml/2011/main" xmlns="" val="1"/>
            </a:ext>
          </a:extLst>
        </p:spPr>
        <p:txBody>
          <a:bodyPr wrap="none" lIns="76200" tIns="76200" rIns="76200" bIns="76200">
            <a:spAutoFit/>
          </a:bodyPr>
          <a:lstStyle>
            <a:lvl1pPr algn="l">
              <a:defRPr sz="7000">
                <a:latin typeface="Alright Sans"/>
                <a:ea typeface="Alright Sans"/>
                <a:cs typeface="Alright Sans"/>
                <a:sym typeface="Alright Sans"/>
              </a:defRPr>
            </a:lvl1pPr>
          </a:lstStyle>
          <a:p>
            <a:pPr>
              <a:defRPr sz="3000">
                <a:latin typeface="Alright Sans"/>
                <a:ea typeface="Alright Sans"/>
                <a:cs typeface="Alright Sans"/>
                <a:sym typeface="Alright Sans"/>
              </a:defRPr>
            </a:pPr>
            <a:r>
              <a:rPr lang="en-US" sz="10800" dirty="0">
                <a:latin typeface="Open Sans" panose="020B0606030504020204" pitchFamily="34" charset="0"/>
                <a:ea typeface="Open Sans" panose="020B0606030504020204" pitchFamily="34" charset="0"/>
                <a:cs typeface="Open Sans" panose="020B0606030504020204" pitchFamily="34" charset="0"/>
              </a:rPr>
              <a:t>lambda expression variations, for a single parameter</a:t>
            </a:r>
          </a:p>
        </p:txBody>
      </p:sp>
      <p:sp>
        <p:nvSpPr>
          <p:cNvPr id="128" name="Shape 128"/>
          <p:cNvSpPr/>
          <p:nvPr/>
        </p:nvSpPr>
        <p:spPr>
          <a:xfrm>
            <a:off x="952500" y="18210515"/>
            <a:ext cx="34782668" cy="2"/>
          </a:xfrm>
          <a:prstGeom prst="line">
            <a:avLst/>
          </a:prstGeom>
          <a:ln w="76200">
            <a:solidFill>
              <a:schemeClr val="accent1">
                <a:satOff val="-3355"/>
                <a:lumOff val="26614"/>
              </a:schemeClr>
            </a:solidFill>
            <a:miter lim="400000"/>
          </a:ln>
        </p:spPr>
        <p:txBody>
          <a:bodyPr lIns="76200" tIns="76200" rIns="76200" bIns="76200" anchor="ctr"/>
          <a:lstStyle/>
          <a:p>
            <a:pPr>
              <a:defRPr sz="3200"/>
            </a:pPr>
            <a:endParaRPr sz="4800"/>
          </a:p>
        </p:txBody>
      </p:sp>
      <p:pic>
        <p:nvPicPr>
          <p:cNvPr id="129" name="Logo.png"/>
          <p:cNvPicPr>
            <a:picLocks noChangeAspect="1"/>
          </p:cNvPicPr>
          <p:nvPr/>
        </p:nvPicPr>
        <p:blipFill>
          <a:blip r:embed="rId3"/>
          <a:stretch>
            <a:fillRect/>
          </a:stretch>
        </p:blipFill>
        <p:spPr>
          <a:xfrm>
            <a:off x="14650974" y="18489726"/>
            <a:ext cx="6321552" cy="1392336"/>
          </a:xfrm>
          <a:prstGeom prst="rect">
            <a:avLst/>
          </a:prstGeom>
          <a:ln w="12700">
            <a:miter lim="400000"/>
          </a:ln>
        </p:spPr>
      </p:pic>
      <p:sp>
        <p:nvSpPr>
          <p:cNvPr id="9" name="Shape 127"/>
          <p:cNvSpPr/>
          <p:nvPr/>
        </p:nvSpPr>
        <p:spPr>
          <a:xfrm flipV="1">
            <a:off x="952499" y="2203340"/>
            <a:ext cx="34782670" cy="38132"/>
          </a:xfrm>
          <a:prstGeom prst="line">
            <a:avLst/>
          </a:prstGeom>
          <a:ln w="152400">
            <a:solidFill>
              <a:schemeClr val="accent1">
                <a:satOff val="-3355"/>
                <a:lumOff val="26614"/>
              </a:schemeClr>
            </a:solidFill>
            <a:miter lim="400000"/>
          </a:ln>
        </p:spPr>
        <p:txBody>
          <a:bodyPr lIns="76200" tIns="76200" rIns="76200" bIns="76200" anchor="ctr"/>
          <a:lstStyle/>
          <a:p>
            <a:pPr>
              <a:defRPr sz="3200"/>
            </a:pPr>
            <a:endParaRPr sz="4800"/>
          </a:p>
        </p:txBody>
      </p:sp>
      <p:sp>
        <p:nvSpPr>
          <p:cNvPr id="8" name="Rectangle 7">
            <a:extLst>
              <a:ext uri="{FF2B5EF4-FFF2-40B4-BE49-F238E27FC236}">
                <a16:creationId xmlns:a16="http://schemas.microsoft.com/office/drawing/2014/main" id="{89DBB243-EF27-4345-872D-E76597E95619}"/>
              </a:ext>
            </a:extLst>
          </p:cNvPr>
          <p:cNvSpPr/>
          <p:nvPr/>
        </p:nvSpPr>
        <p:spPr>
          <a:xfrm>
            <a:off x="952501" y="4285904"/>
            <a:ext cx="34782670" cy="11880176"/>
          </a:xfrm>
          <a:prstGeom prst="rect">
            <a:avLst/>
          </a:prstGeom>
        </p:spPr>
        <p:txBody>
          <a:bodyPr wrap="square">
            <a:normAutofit/>
          </a:bodyPr>
          <a:lstStyle/>
          <a:p>
            <a:pPr algn="l">
              <a:spcAft>
                <a:spcPts val="5022"/>
              </a:spcAft>
            </a:pPr>
            <a:r>
              <a:rPr lang="en-US" sz="6400" dirty="0">
                <a:latin typeface="Open Sans" panose="020B0606030504020204" pitchFamily="34" charset="0"/>
                <a:ea typeface="Open Sans" panose="020B0606030504020204" pitchFamily="34" charset="0"/>
                <a:cs typeface="Open Sans" panose="020B0606030504020204" pitchFamily="34" charset="0"/>
              </a:rPr>
              <a:t>This slide shows the different ways to declare a single parameter in a lambda expression.</a:t>
            </a:r>
          </a:p>
        </p:txBody>
      </p:sp>
      <p:graphicFrame>
        <p:nvGraphicFramePr>
          <p:cNvPr id="2" name="Table 1">
            <a:extLst>
              <a:ext uri="{FF2B5EF4-FFF2-40B4-BE49-F238E27FC236}">
                <a16:creationId xmlns:a16="http://schemas.microsoft.com/office/drawing/2014/main" id="{0740E763-9B64-6BA7-C434-23BCE622F1FE}"/>
              </a:ext>
            </a:extLst>
          </p:cNvPr>
          <p:cNvGraphicFramePr>
            <a:graphicFrameLocks noGrp="1"/>
          </p:cNvGraphicFramePr>
          <p:nvPr/>
        </p:nvGraphicFramePr>
        <p:xfrm>
          <a:off x="952501" y="5790810"/>
          <a:ext cx="34782667" cy="7682591"/>
        </p:xfrm>
        <a:graphic>
          <a:graphicData uri="http://schemas.openxmlformats.org/drawingml/2006/table">
            <a:tbl>
              <a:tblPr firstRow="1" bandRow="1">
                <a:tableStyleId>{5C22544A-7EE6-4342-B048-85BDC9FD1C3A}</a:tableStyleId>
              </a:tblPr>
              <a:tblGrid>
                <a:gridCol w="20489246">
                  <a:extLst>
                    <a:ext uri="{9D8B030D-6E8A-4147-A177-3AD203B41FA5}">
                      <a16:colId xmlns:a16="http://schemas.microsoft.com/office/drawing/2014/main" val="2844207666"/>
                    </a:ext>
                  </a:extLst>
                </a:gridCol>
                <a:gridCol w="14293421">
                  <a:extLst>
                    <a:ext uri="{9D8B030D-6E8A-4147-A177-3AD203B41FA5}">
                      <a16:colId xmlns:a16="http://schemas.microsoft.com/office/drawing/2014/main" val="1891655341"/>
                    </a:ext>
                  </a:extLst>
                </a:gridCol>
              </a:tblGrid>
              <a:tr h="1286183">
                <a:tc>
                  <a:txBody>
                    <a:bodyPr/>
                    <a:lstStyle/>
                    <a:p>
                      <a:pPr marL="180000" algn="l"/>
                      <a:r>
                        <a:rPr lang="en-US" sz="5400" dirty="0">
                          <a:solidFill>
                            <a:schemeClr val="tx1"/>
                          </a:solidFill>
                          <a:latin typeface="Open Sans" panose="020B0606030504020204" pitchFamily="34" charset="0"/>
                          <a:ea typeface="Open Sans" panose="020B0606030504020204" pitchFamily="34" charset="0"/>
                          <a:cs typeface="Open Sans" panose="020B0606030504020204" pitchFamily="34" charset="0"/>
                        </a:rPr>
                        <a:t>Lambda Expression</a:t>
                      </a:r>
                      <a:endParaRPr lang="en-PH" sz="5400" dirty="0">
                        <a:solidFill>
                          <a:schemeClr val="tx1"/>
                        </a:solidFill>
                        <a:latin typeface="Open Sans" panose="020B0606030504020204" pitchFamily="34" charset="0"/>
                        <a:ea typeface="Open Sans" panose="020B0606030504020204" pitchFamily="34" charset="0"/>
                        <a:cs typeface="Open Sans" panose="020B0606030504020204" pitchFamily="34" charset="0"/>
                      </a:endParaRPr>
                    </a:p>
                  </a:txBody>
                  <a:tcPr marL="86794" marR="86794" marT="43397" marB="43397">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BE4D5"/>
                    </a:solidFill>
                  </a:tcPr>
                </a:tc>
                <a:tc>
                  <a:txBody>
                    <a:bodyPr/>
                    <a:lstStyle/>
                    <a:p>
                      <a:pPr marL="180000" algn="l"/>
                      <a:r>
                        <a:rPr lang="en-US" sz="5400" dirty="0">
                          <a:solidFill>
                            <a:schemeClr val="tx1"/>
                          </a:solidFill>
                          <a:latin typeface="Open Sans" panose="020B0606030504020204" pitchFamily="34" charset="0"/>
                          <a:ea typeface="Open Sans" panose="020B0606030504020204" pitchFamily="34" charset="0"/>
                          <a:cs typeface="Open Sans" panose="020B0606030504020204" pitchFamily="34" charset="0"/>
                        </a:rPr>
                        <a:t>Description</a:t>
                      </a:r>
                      <a:endParaRPr lang="en-PH" sz="5400" dirty="0">
                        <a:solidFill>
                          <a:schemeClr val="tx1"/>
                        </a:solidFill>
                        <a:latin typeface="Open Sans" panose="020B0606030504020204" pitchFamily="34" charset="0"/>
                        <a:ea typeface="Open Sans" panose="020B0606030504020204" pitchFamily="34" charset="0"/>
                        <a:cs typeface="Open Sans" panose="020B0606030504020204" pitchFamily="34" charset="0"/>
                      </a:endParaRPr>
                    </a:p>
                  </a:txBody>
                  <a:tcPr marL="86794" marR="86794" marT="43397" marB="43397">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BE4D5"/>
                    </a:solidFill>
                  </a:tcPr>
                </a:tc>
                <a:extLst>
                  <a:ext uri="{0D108BD9-81ED-4DB2-BD59-A6C34878D82A}">
                    <a16:rowId xmlns:a16="http://schemas.microsoft.com/office/drawing/2014/main" val="3978129174"/>
                  </a:ext>
                </a:extLst>
              </a:tr>
              <a:tr h="1846159">
                <a:tc>
                  <a:txBody>
                    <a:bodyPr/>
                    <a:lstStyle/>
                    <a:p>
                      <a:pPr marL="180000" marR="0" lvl="0" indent="0" algn="l" defTabSz="914400" rtl="0" eaLnBrk="1" fontAlgn="auto" latinLnBrk="0" hangingPunct="1">
                        <a:lnSpc>
                          <a:spcPct val="100000"/>
                        </a:lnSpc>
                        <a:spcBef>
                          <a:spcPts val="0"/>
                        </a:spcBef>
                        <a:spcAft>
                          <a:spcPts val="1000"/>
                        </a:spcAft>
                        <a:buClr>
                          <a:srgbClr val="000000"/>
                        </a:buClr>
                        <a:buSzTx/>
                        <a:buFont typeface="Arial" panose="020B0604020202020204" pitchFamily="34" charset="0"/>
                        <a:buNone/>
                        <a:tabLst/>
                        <a:defRPr/>
                      </a:pPr>
                      <a:endParaRPr lang="en-US" sz="5400" b="0" dirty="0">
                        <a:solidFill>
                          <a:schemeClr val="tx1"/>
                        </a:solidFill>
                        <a:latin typeface="Open Sans" panose="020B0606030504020204" pitchFamily="34" charset="0"/>
                        <a:ea typeface="Open Sans" panose="020B0606030504020204" pitchFamily="34" charset="0"/>
                        <a:cs typeface="Open Sans" panose="020B0606030504020204" pitchFamily="34" charset="0"/>
                      </a:endParaRPr>
                    </a:p>
                  </a:txBody>
                  <a:tcPr marL="86794" marR="86794" marT="43397" marB="43397">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180000" marR="0" lvl="0" indent="0" algn="l" defTabSz="914400" rtl="0" eaLnBrk="1" fontAlgn="auto" latinLnBrk="0" hangingPunct="1">
                        <a:lnSpc>
                          <a:spcPct val="100000"/>
                        </a:lnSpc>
                        <a:spcBef>
                          <a:spcPts val="0"/>
                        </a:spcBef>
                        <a:spcAft>
                          <a:spcPts val="1000"/>
                        </a:spcAft>
                        <a:buClr>
                          <a:srgbClr val="000000"/>
                        </a:buClr>
                        <a:buSzTx/>
                        <a:buFont typeface="Arial" panose="020B0604020202020204" pitchFamily="34" charset="0"/>
                        <a:buNone/>
                        <a:tabLst/>
                        <a:defRPr/>
                      </a:pPr>
                      <a:r>
                        <a:rPr lang="en-US" sz="5400" b="0" dirty="0">
                          <a:solidFill>
                            <a:schemeClr val="tx1"/>
                          </a:solidFill>
                          <a:latin typeface="Open Sans" panose="020B0606030504020204" pitchFamily="34" charset="0"/>
                          <a:ea typeface="Open Sans" panose="020B0606030504020204" pitchFamily="34" charset="0"/>
                          <a:cs typeface="Open Sans" panose="020B0606030504020204" pitchFamily="34" charset="0"/>
                        </a:rPr>
                        <a:t>A single parameter without a type can omit the parentheses.</a:t>
                      </a:r>
                    </a:p>
                  </a:txBody>
                  <a:tcPr marL="86794" marR="86794" marT="43397" marB="43397">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40325450"/>
                  </a:ext>
                </a:extLst>
              </a:tr>
              <a:tr h="1352045">
                <a:tc>
                  <a:txBody>
                    <a:bodyPr/>
                    <a:lstStyle/>
                    <a:p>
                      <a:pPr marL="180000" marR="0" lvl="0" indent="0" algn="l" defTabSz="914400" rtl="0" eaLnBrk="1" fontAlgn="auto" latinLnBrk="0" hangingPunct="1">
                        <a:lnSpc>
                          <a:spcPct val="100000"/>
                        </a:lnSpc>
                        <a:spcBef>
                          <a:spcPts val="0"/>
                        </a:spcBef>
                        <a:spcAft>
                          <a:spcPts val="1000"/>
                        </a:spcAft>
                        <a:buClr>
                          <a:srgbClr val="000000"/>
                        </a:buClr>
                        <a:buSzTx/>
                        <a:buFont typeface="Arial" panose="020B0604020202020204" pitchFamily="34" charset="0"/>
                        <a:buNone/>
                        <a:tabLst/>
                        <a:defRPr/>
                      </a:pPr>
                      <a:endParaRPr lang="en-US" sz="5400" b="0" dirty="0">
                        <a:solidFill>
                          <a:schemeClr val="tx1"/>
                        </a:solidFill>
                        <a:latin typeface="Open Sans" panose="020B0606030504020204" pitchFamily="34" charset="0"/>
                        <a:ea typeface="Open Sans" panose="020B0606030504020204" pitchFamily="34" charset="0"/>
                        <a:cs typeface="Open Sans" panose="020B0606030504020204" pitchFamily="34" charset="0"/>
                      </a:endParaRPr>
                    </a:p>
                  </a:txBody>
                  <a:tcPr marL="86794" marR="86794" marT="43397" marB="43397">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180000" marR="0" lvl="0" indent="0" algn="l" defTabSz="914400" rtl="0" eaLnBrk="1" fontAlgn="auto" latinLnBrk="0" hangingPunct="1">
                        <a:lnSpc>
                          <a:spcPct val="100000"/>
                        </a:lnSpc>
                        <a:spcBef>
                          <a:spcPts val="0"/>
                        </a:spcBef>
                        <a:spcAft>
                          <a:spcPts val="1000"/>
                        </a:spcAft>
                        <a:buClr>
                          <a:srgbClr val="000000"/>
                        </a:buClr>
                        <a:buSzTx/>
                        <a:buFont typeface="Arial" panose="020B0604020202020204" pitchFamily="34" charset="0"/>
                        <a:buNone/>
                        <a:tabLst/>
                        <a:defRPr/>
                      </a:pPr>
                      <a:r>
                        <a:rPr lang="en-US" sz="5400" b="0" dirty="0">
                          <a:solidFill>
                            <a:schemeClr val="tx1"/>
                          </a:solidFill>
                          <a:latin typeface="Open Sans" panose="020B0606030504020204" pitchFamily="34" charset="0"/>
                          <a:ea typeface="Open Sans" panose="020B0606030504020204" pitchFamily="34" charset="0"/>
                          <a:cs typeface="Open Sans" panose="020B0606030504020204" pitchFamily="34" charset="0"/>
                        </a:rPr>
                        <a:t>Parentheses are optional.</a:t>
                      </a:r>
                    </a:p>
                  </a:txBody>
                  <a:tcPr marL="86794" marR="86794" marT="43397" marB="43397">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176051077"/>
                  </a:ext>
                </a:extLst>
              </a:tr>
              <a:tr h="1846159">
                <a:tc>
                  <a:txBody>
                    <a:bodyPr/>
                    <a:lstStyle/>
                    <a:p>
                      <a:pPr marL="180000" marR="0" lvl="0" indent="0" algn="l" defTabSz="914400" rtl="0" eaLnBrk="1" fontAlgn="auto" latinLnBrk="0" hangingPunct="1">
                        <a:lnSpc>
                          <a:spcPct val="100000"/>
                        </a:lnSpc>
                        <a:spcBef>
                          <a:spcPts val="0"/>
                        </a:spcBef>
                        <a:spcAft>
                          <a:spcPts val="1000"/>
                        </a:spcAft>
                        <a:buClr>
                          <a:srgbClr val="000000"/>
                        </a:buClr>
                        <a:buSzTx/>
                        <a:buFont typeface="Arial" panose="020B0604020202020204" pitchFamily="34" charset="0"/>
                        <a:buNone/>
                        <a:tabLst/>
                        <a:defRPr/>
                      </a:pPr>
                      <a:endParaRPr lang="en-US" sz="5400" b="0" dirty="0">
                        <a:solidFill>
                          <a:schemeClr val="tx1"/>
                        </a:solidFill>
                        <a:latin typeface="Open Sans" panose="020B0606030504020204" pitchFamily="34" charset="0"/>
                        <a:ea typeface="Open Sans" panose="020B0606030504020204" pitchFamily="34" charset="0"/>
                        <a:cs typeface="Open Sans" panose="020B0606030504020204" pitchFamily="34" charset="0"/>
                      </a:endParaRPr>
                    </a:p>
                  </a:txBody>
                  <a:tcPr marL="86794" marR="86794" marT="43397" marB="43397">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180000" marR="0" lvl="0" indent="0" algn="l" defTabSz="914400" rtl="0" eaLnBrk="1" fontAlgn="auto" latinLnBrk="0" hangingPunct="1">
                        <a:lnSpc>
                          <a:spcPct val="100000"/>
                        </a:lnSpc>
                        <a:spcBef>
                          <a:spcPts val="0"/>
                        </a:spcBef>
                        <a:spcAft>
                          <a:spcPts val="1000"/>
                        </a:spcAft>
                        <a:buClr>
                          <a:srgbClr val="000000"/>
                        </a:buClr>
                        <a:buSzTx/>
                        <a:buFont typeface="Arial" panose="020B0604020202020204" pitchFamily="34" charset="0"/>
                        <a:buNone/>
                        <a:tabLst/>
                        <a:defRPr/>
                      </a:pPr>
                      <a:r>
                        <a:rPr lang="en-US" sz="5400" b="0" dirty="0">
                          <a:solidFill>
                            <a:schemeClr val="tx1"/>
                          </a:solidFill>
                          <a:latin typeface="Open Sans" panose="020B0606030504020204" pitchFamily="34" charset="0"/>
                          <a:ea typeface="Open Sans" panose="020B0606030504020204" pitchFamily="34" charset="0"/>
                          <a:cs typeface="Open Sans" panose="020B0606030504020204" pitchFamily="34" charset="0"/>
                        </a:rPr>
                        <a:t>Parentheses required if a reference type is specified.</a:t>
                      </a:r>
                    </a:p>
                  </a:txBody>
                  <a:tcPr marL="86794" marR="86794" marT="43397" marB="43397">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980569418"/>
                  </a:ext>
                </a:extLst>
              </a:tr>
              <a:tr h="1352045">
                <a:tc>
                  <a:txBody>
                    <a:bodyPr/>
                    <a:lstStyle/>
                    <a:p>
                      <a:pPr marL="180000" marR="0" lvl="0" indent="0" algn="l" defTabSz="914400" rtl="0" eaLnBrk="1" fontAlgn="auto" latinLnBrk="0" hangingPunct="1">
                        <a:lnSpc>
                          <a:spcPct val="100000"/>
                        </a:lnSpc>
                        <a:spcBef>
                          <a:spcPts val="0"/>
                        </a:spcBef>
                        <a:spcAft>
                          <a:spcPts val="1000"/>
                        </a:spcAft>
                        <a:buClr>
                          <a:srgbClr val="000000"/>
                        </a:buClr>
                        <a:buSzTx/>
                        <a:buFont typeface="Arial" panose="020B0604020202020204" pitchFamily="34" charset="0"/>
                        <a:buNone/>
                        <a:tabLst/>
                        <a:defRPr/>
                      </a:pPr>
                      <a:endParaRPr lang="en-US" sz="5400" b="0" dirty="0">
                        <a:solidFill>
                          <a:schemeClr val="tx1"/>
                        </a:solidFill>
                        <a:latin typeface="Open Sans" panose="020B0606030504020204" pitchFamily="34" charset="0"/>
                        <a:ea typeface="Open Sans" panose="020B0606030504020204" pitchFamily="34" charset="0"/>
                        <a:cs typeface="Open Sans" panose="020B0606030504020204" pitchFamily="34" charset="0"/>
                      </a:endParaRPr>
                    </a:p>
                  </a:txBody>
                  <a:tcPr marL="86794" marR="86794" marT="43397" marB="43397">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180000" marR="0" lvl="0" indent="0" algn="l" defTabSz="914400" rtl="0" eaLnBrk="1" fontAlgn="auto" latinLnBrk="0" hangingPunct="1">
                        <a:lnSpc>
                          <a:spcPct val="100000"/>
                        </a:lnSpc>
                        <a:spcBef>
                          <a:spcPts val="0"/>
                        </a:spcBef>
                        <a:spcAft>
                          <a:spcPts val="1000"/>
                        </a:spcAft>
                        <a:buClr>
                          <a:srgbClr val="000000"/>
                        </a:buClr>
                        <a:buSzTx/>
                        <a:buFont typeface="Arial" panose="020B0604020202020204" pitchFamily="34" charset="0"/>
                        <a:buNone/>
                        <a:tabLst/>
                        <a:defRPr/>
                      </a:pPr>
                      <a:r>
                        <a:rPr lang="en-US" sz="5400" b="0" dirty="0">
                          <a:solidFill>
                            <a:schemeClr val="tx1"/>
                          </a:solidFill>
                          <a:latin typeface="Open Sans" panose="020B0606030504020204" pitchFamily="34" charset="0"/>
                          <a:ea typeface="Open Sans" panose="020B0606030504020204" pitchFamily="34" charset="0"/>
                          <a:cs typeface="Open Sans" panose="020B0606030504020204" pitchFamily="34" charset="0"/>
                        </a:rPr>
                        <a:t>A reference type can be var.</a:t>
                      </a:r>
                    </a:p>
                  </a:txBody>
                  <a:tcPr marL="86794" marR="86794" marT="43397" marB="43397">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608332437"/>
                  </a:ext>
                </a:extLst>
              </a:tr>
            </a:tbl>
          </a:graphicData>
        </a:graphic>
      </p:graphicFrame>
      <p:pic>
        <p:nvPicPr>
          <p:cNvPr id="5" name="Picture 4">
            <a:extLst>
              <a:ext uri="{FF2B5EF4-FFF2-40B4-BE49-F238E27FC236}">
                <a16:creationId xmlns:a16="http://schemas.microsoft.com/office/drawing/2014/main" id="{1CF19924-35B3-1774-DBCF-CBA479520A74}"/>
              </a:ext>
            </a:extLst>
          </p:cNvPr>
          <p:cNvPicPr>
            <a:picLocks noChangeAspect="1"/>
          </p:cNvPicPr>
          <p:nvPr/>
        </p:nvPicPr>
        <p:blipFill>
          <a:blip r:embed="rId4"/>
          <a:stretch>
            <a:fillRect/>
          </a:stretch>
        </p:blipFill>
        <p:spPr>
          <a:xfrm>
            <a:off x="1136179" y="7189809"/>
            <a:ext cx="16183333" cy="833333"/>
          </a:xfrm>
          <a:prstGeom prst="rect">
            <a:avLst/>
          </a:prstGeom>
        </p:spPr>
      </p:pic>
      <p:pic>
        <p:nvPicPr>
          <p:cNvPr id="7" name="Picture 6">
            <a:extLst>
              <a:ext uri="{FF2B5EF4-FFF2-40B4-BE49-F238E27FC236}">
                <a16:creationId xmlns:a16="http://schemas.microsoft.com/office/drawing/2014/main" id="{D7C194A4-510C-65EA-1EC4-85321F98231D}"/>
              </a:ext>
            </a:extLst>
          </p:cNvPr>
          <p:cNvPicPr>
            <a:picLocks noChangeAspect="1"/>
          </p:cNvPicPr>
          <p:nvPr/>
        </p:nvPicPr>
        <p:blipFill>
          <a:blip r:embed="rId5"/>
          <a:stretch>
            <a:fillRect/>
          </a:stretch>
        </p:blipFill>
        <p:spPr>
          <a:xfrm>
            <a:off x="1136179" y="8943091"/>
            <a:ext cx="17016666" cy="866667"/>
          </a:xfrm>
          <a:prstGeom prst="rect">
            <a:avLst/>
          </a:prstGeom>
        </p:spPr>
      </p:pic>
      <p:pic>
        <p:nvPicPr>
          <p:cNvPr id="12" name="Picture 11">
            <a:extLst>
              <a:ext uri="{FF2B5EF4-FFF2-40B4-BE49-F238E27FC236}">
                <a16:creationId xmlns:a16="http://schemas.microsoft.com/office/drawing/2014/main" id="{676DAD17-A191-289A-9390-EAE5C635F956}"/>
              </a:ext>
            </a:extLst>
          </p:cNvPr>
          <p:cNvPicPr>
            <a:picLocks noChangeAspect="1"/>
          </p:cNvPicPr>
          <p:nvPr/>
        </p:nvPicPr>
        <p:blipFill>
          <a:blip r:embed="rId6"/>
          <a:stretch>
            <a:fillRect/>
          </a:stretch>
        </p:blipFill>
        <p:spPr>
          <a:xfrm>
            <a:off x="1136179" y="10385578"/>
            <a:ext cx="19950000" cy="916668"/>
          </a:xfrm>
          <a:prstGeom prst="rect">
            <a:avLst/>
          </a:prstGeom>
        </p:spPr>
      </p:pic>
      <p:pic>
        <p:nvPicPr>
          <p:cNvPr id="14" name="Picture 13">
            <a:extLst>
              <a:ext uri="{FF2B5EF4-FFF2-40B4-BE49-F238E27FC236}">
                <a16:creationId xmlns:a16="http://schemas.microsoft.com/office/drawing/2014/main" id="{4E4B817C-346F-4D7F-8D47-9A1012F0A492}"/>
              </a:ext>
            </a:extLst>
          </p:cNvPr>
          <p:cNvPicPr>
            <a:picLocks noChangeAspect="1"/>
          </p:cNvPicPr>
          <p:nvPr/>
        </p:nvPicPr>
        <p:blipFill>
          <a:blip r:embed="rId7"/>
          <a:stretch>
            <a:fillRect/>
          </a:stretch>
        </p:blipFill>
        <p:spPr>
          <a:xfrm>
            <a:off x="1136179" y="12232456"/>
            <a:ext cx="18750001" cy="850000"/>
          </a:xfrm>
          <a:prstGeom prst="rect">
            <a:avLst/>
          </a:prstGeom>
        </p:spPr>
      </p:pic>
      <p:sp>
        <p:nvSpPr>
          <p:cNvPr id="3" name="Shape 131">
            <a:extLst>
              <a:ext uri="{FF2B5EF4-FFF2-40B4-BE49-F238E27FC236}">
                <a16:creationId xmlns:a16="http://schemas.microsoft.com/office/drawing/2014/main" id="{EC23223C-8A09-1C64-6567-B43933D62367}"/>
              </a:ext>
            </a:extLst>
          </p:cNvPr>
          <p:cNvSpPr/>
          <p:nvPr/>
        </p:nvSpPr>
        <p:spPr>
          <a:xfrm>
            <a:off x="952500" y="18489726"/>
            <a:ext cx="16008688" cy="1308050"/>
          </a:xfrm>
          <a:prstGeom prst="rect">
            <a:avLst/>
          </a:prstGeom>
          <a:ln w="12700">
            <a:miter lim="400000"/>
          </a:ln>
          <a:extLst>
            <a:ext uri="{C572A759-6A51-4108-AA02-DFA0A04FC94B}">
              <ma14:wrappingTextBoxFlag xmlns="" xmlns:ma14="http://schemas.microsoft.com/office/mac/drawingml/2011/main" val="1"/>
            </a:ext>
          </a:extLst>
        </p:spPr>
        <p:txBody>
          <a:bodyPr lIns="76200" tIns="76200" rIns="76200" bIns="76200">
            <a:spAutoFit/>
          </a:bodyPr>
          <a:lstStyle/>
          <a:p>
            <a:pPr algn="l">
              <a:defRPr sz="2000">
                <a:latin typeface="Alright Sans"/>
                <a:ea typeface="Alright Sans"/>
                <a:cs typeface="Alright Sans"/>
                <a:sym typeface="Alright Sans"/>
              </a:defRPr>
            </a:pPr>
            <a:r>
              <a:rPr lang="en-US" sz="3000" dirty="0">
                <a:latin typeface="Open Sans" panose="020B0606030504020204" pitchFamily="34" charset="0"/>
                <a:ea typeface="Open Sans" panose="020B0606030504020204" pitchFamily="34" charset="0"/>
                <a:cs typeface="Open Sans" panose="020B0606030504020204" pitchFamily="34" charset="0"/>
              </a:rPr>
              <a:t>COMPLETE JAVA MASTERCLASS</a:t>
            </a:r>
          </a:p>
          <a:p>
            <a:pPr algn="l">
              <a:defRPr sz="3000">
                <a:latin typeface="Alright Sans"/>
                <a:ea typeface="Alright Sans"/>
                <a:cs typeface="Alright Sans"/>
                <a:sym typeface="Alright Sans"/>
              </a:defRPr>
            </a:pPr>
            <a:r>
              <a:rPr lang="en-US" sz="4400" dirty="0">
                <a:latin typeface="Open Sans" panose="020B0606030504020204" pitchFamily="34" charset="0"/>
                <a:ea typeface="Open Sans" panose="020B0606030504020204" pitchFamily="34" charset="0"/>
                <a:cs typeface="Open Sans" panose="020B0606030504020204" pitchFamily="34" charset="0"/>
              </a:rPr>
              <a:t>Lambda Expressions, syntax, &amp; additional examples</a:t>
            </a:r>
          </a:p>
        </p:txBody>
      </p:sp>
    </p:spTree>
    <p:extLst>
      <p:ext uri="{BB962C8B-B14F-4D97-AF65-F5344CB8AC3E}">
        <p14:creationId xmlns:p14="http://schemas.microsoft.com/office/powerpoint/2010/main" val="402692575"/>
      </p:ext>
    </p:extLst>
  </p:cSld>
  <p:clrMapOvr>
    <a:masterClrMapping/>
  </p:clrMapOvr>
  <p:transition spd="slow"/>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 name="Shape 126"/>
          <p:cNvSpPr/>
          <p:nvPr/>
        </p:nvSpPr>
        <p:spPr>
          <a:xfrm>
            <a:off x="952498" y="459786"/>
            <a:ext cx="30784068" cy="1815882"/>
          </a:xfrm>
          <a:prstGeom prst="rect">
            <a:avLst/>
          </a:prstGeom>
          <a:ln w="12700">
            <a:miter lim="400000"/>
          </a:ln>
          <a:extLst>
            <a:ext uri="{C572A759-6A51-4108-AA02-DFA0A04FC94B}">
              <ma14:wrappingTextBoxFlag xmlns="" xmlns:ma14="http://schemas.microsoft.com/office/mac/drawingml/2011/main" val="1"/>
            </a:ext>
          </a:extLst>
        </p:spPr>
        <p:txBody>
          <a:bodyPr wrap="none" lIns="76200" tIns="76200" rIns="76200" bIns="76200">
            <a:spAutoFit/>
          </a:bodyPr>
          <a:lstStyle>
            <a:lvl1pPr algn="l">
              <a:defRPr sz="7000">
                <a:latin typeface="Alright Sans"/>
                <a:ea typeface="Alright Sans"/>
                <a:cs typeface="Alright Sans"/>
                <a:sym typeface="Alright Sans"/>
              </a:defRPr>
            </a:lvl1pPr>
          </a:lstStyle>
          <a:p>
            <a:pPr>
              <a:defRPr sz="3000">
                <a:latin typeface="Alright Sans"/>
                <a:ea typeface="Alright Sans"/>
                <a:cs typeface="Alright Sans"/>
                <a:sym typeface="Alright Sans"/>
              </a:defRPr>
            </a:pPr>
            <a:r>
              <a:rPr lang="en-US" sz="10800" dirty="0">
                <a:latin typeface="Open Sans" panose="020B0606030504020204" pitchFamily="34" charset="0"/>
                <a:ea typeface="Open Sans" panose="020B0606030504020204" pitchFamily="34" charset="0"/>
                <a:cs typeface="Open Sans" panose="020B0606030504020204" pitchFamily="34" charset="0"/>
              </a:rPr>
              <a:t>lambda expression variations, the lambda body</a:t>
            </a:r>
          </a:p>
        </p:txBody>
      </p:sp>
      <p:sp>
        <p:nvSpPr>
          <p:cNvPr id="128" name="Shape 128"/>
          <p:cNvSpPr/>
          <p:nvPr/>
        </p:nvSpPr>
        <p:spPr>
          <a:xfrm>
            <a:off x="952500" y="18210515"/>
            <a:ext cx="34782668" cy="2"/>
          </a:xfrm>
          <a:prstGeom prst="line">
            <a:avLst/>
          </a:prstGeom>
          <a:ln w="76200">
            <a:solidFill>
              <a:schemeClr val="accent1">
                <a:satOff val="-3355"/>
                <a:lumOff val="26614"/>
              </a:schemeClr>
            </a:solidFill>
            <a:miter lim="400000"/>
          </a:ln>
        </p:spPr>
        <p:txBody>
          <a:bodyPr lIns="76200" tIns="76200" rIns="76200" bIns="76200" anchor="ctr"/>
          <a:lstStyle/>
          <a:p>
            <a:pPr>
              <a:defRPr sz="3200"/>
            </a:pPr>
            <a:endParaRPr sz="4800"/>
          </a:p>
        </p:txBody>
      </p:sp>
      <p:pic>
        <p:nvPicPr>
          <p:cNvPr id="129" name="Logo.png"/>
          <p:cNvPicPr>
            <a:picLocks noChangeAspect="1"/>
          </p:cNvPicPr>
          <p:nvPr/>
        </p:nvPicPr>
        <p:blipFill>
          <a:blip r:embed="rId3"/>
          <a:stretch>
            <a:fillRect/>
          </a:stretch>
        </p:blipFill>
        <p:spPr>
          <a:xfrm>
            <a:off x="14650974" y="18489726"/>
            <a:ext cx="6321552" cy="1392336"/>
          </a:xfrm>
          <a:prstGeom prst="rect">
            <a:avLst/>
          </a:prstGeom>
          <a:ln w="12700">
            <a:miter lim="400000"/>
          </a:ln>
        </p:spPr>
      </p:pic>
      <p:sp>
        <p:nvSpPr>
          <p:cNvPr id="9" name="Shape 127"/>
          <p:cNvSpPr/>
          <p:nvPr/>
        </p:nvSpPr>
        <p:spPr>
          <a:xfrm flipV="1">
            <a:off x="952499" y="2203340"/>
            <a:ext cx="34782670" cy="38132"/>
          </a:xfrm>
          <a:prstGeom prst="line">
            <a:avLst/>
          </a:prstGeom>
          <a:ln w="152400">
            <a:solidFill>
              <a:schemeClr val="accent1">
                <a:satOff val="-3355"/>
                <a:lumOff val="26614"/>
              </a:schemeClr>
            </a:solidFill>
            <a:miter lim="400000"/>
          </a:ln>
        </p:spPr>
        <p:txBody>
          <a:bodyPr lIns="76200" tIns="76200" rIns="76200" bIns="76200" anchor="ctr"/>
          <a:lstStyle/>
          <a:p>
            <a:pPr>
              <a:defRPr sz="3200"/>
            </a:pPr>
            <a:endParaRPr sz="4800"/>
          </a:p>
        </p:txBody>
      </p:sp>
      <p:sp>
        <p:nvSpPr>
          <p:cNvPr id="8" name="Rectangle 7">
            <a:extLst>
              <a:ext uri="{FF2B5EF4-FFF2-40B4-BE49-F238E27FC236}">
                <a16:creationId xmlns:a16="http://schemas.microsoft.com/office/drawing/2014/main" id="{89DBB243-EF27-4345-872D-E76597E95619}"/>
              </a:ext>
            </a:extLst>
          </p:cNvPr>
          <p:cNvSpPr/>
          <p:nvPr/>
        </p:nvSpPr>
        <p:spPr>
          <a:xfrm>
            <a:off x="952501" y="2554877"/>
            <a:ext cx="34782670" cy="13611203"/>
          </a:xfrm>
          <a:prstGeom prst="rect">
            <a:avLst/>
          </a:prstGeom>
        </p:spPr>
        <p:txBody>
          <a:bodyPr wrap="square">
            <a:normAutofit/>
          </a:bodyPr>
          <a:lstStyle/>
          <a:p>
            <a:pPr algn="l">
              <a:spcAft>
                <a:spcPts val="5022"/>
              </a:spcAft>
            </a:pPr>
            <a:r>
              <a:rPr lang="en-US" sz="6400" dirty="0">
                <a:latin typeface="Open Sans" panose="020B0606030504020204" pitchFamily="34" charset="0"/>
                <a:ea typeface="Open Sans" panose="020B0606030504020204" pitchFamily="34" charset="0"/>
                <a:cs typeface="Open Sans" panose="020B0606030504020204" pitchFamily="34" charset="0"/>
              </a:rPr>
              <a:t>The lambda body can be a single expression or can contain a lambda body in opening and closing </a:t>
            </a:r>
            <a:r>
              <a:rPr lang="en-US" sz="6400">
                <a:latin typeface="Open Sans" panose="020B0606030504020204" pitchFamily="34" charset="0"/>
                <a:ea typeface="Open Sans" panose="020B0606030504020204" pitchFamily="34" charset="0"/>
                <a:cs typeface="Open Sans" panose="020B0606030504020204" pitchFamily="34" charset="0"/>
              </a:rPr>
              <a:t>curly braces.</a:t>
            </a:r>
            <a:endParaRPr lang="en-US" sz="6400" dirty="0">
              <a:latin typeface="Open Sans" panose="020B0606030504020204" pitchFamily="34" charset="0"/>
              <a:ea typeface="Open Sans" panose="020B0606030504020204" pitchFamily="34" charset="0"/>
              <a:cs typeface="Open Sans" panose="020B0606030504020204" pitchFamily="34" charset="0"/>
            </a:endParaRPr>
          </a:p>
        </p:txBody>
      </p:sp>
      <p:graphicFrame>
        <p:nvGraphicFramePr>
          <p:cNvPr id="2" name="Table 1">
            <a:extLst>
              <a:ext uri="{FF2B5EF4-FFF2-40B4-BE49-F238E27FC236}">
                <a16:creationId xmlns:a16="http://schemas.microsoft.com/office/drawing/2014/main" id="{0740E763-9B64-6BA7-C434-23BCE622F1FE}"/>
              </a:ext>
            </a:extLst>
          </p:cNvPr>
          <p:cNvGraphicFramePr>
            <a:graphicFrameLocks noGrp="1"/>
          </p:cNvGraphicFramePr>
          <p:nvPr/>
        </p:nvGraphicFramePr>
        <p:xfrm>
          <a:off x="952498" y="4913733"/>
          <a:ext cx="34782667" cy="12777104"/>
        </p:xfrm>
        <a:graphic>
          <a:graphicData uri="http://schemas.openxmlformats.org/drawingml/2006/table">
            <a:tbl>
              <a:tblPr firstRow="1" bandRow="1">
                <a:tableStyleId>{5C22544A-7EE6-4342-B048-85BDC9FD1C3A}</a:tableStyleId>
              </a:tblPr>
              <a:tblGrid>
                <a:gridCol w="19033673">
                  <a:extLst>
                    <a:ext uri="{9D8B030D-6E8A-4147-A177-3AD203B41FA5}">
                      <a16:colId xmlns:a16="http://schemas.microsoft.com/office/drawing/2014/main" val="2844207666"/>
                    </a:ext>
                  </a:extLst>
                </a:gridCol>
                <a:gridCol w="15748994">
                  <a:extLst>
                    <a:ext uri="{9D8B030D-6E8A-4147-A177-3AD203B41FA5}">
                      <a16:colId xmlns:a16="http://schemas.microsoft.com/office/drawing/2014/main" val="1891655341"/>
                    </a:ext>
                  </a:extLst>
                </a:gridCol>
              </a:tblGrid>
              <a:tr h="924466">
                <a:tc>
                  <a:txBody>
                    <a:bodyPr/>
                    <a:lstStyle/>
                    <a:p>
                      <a:pPr marL="180000" algn="l"/>
                      <a:r>
                        <a:rPr lang="en-US" sz="5400" dirty="0">
                          <a:solidFill>
                            <a:schemeClr val="tx1"/>
                          </a:solidFill>
                          <a:latin typeface="Open Sans" panose="020B0606030504020204" pitchFamily="34" charset="0"/>
                          <a:ea typeface="Open Sans" panose="020B0606030504020204" pitchFamily="34" charset="0"/>
                          <a:cs typeface="Open Sans" panose="020B0606030504020204" pitchFamily="34" charset="0"/>
                        </a:rPr>
                        <a:t>Lambda Expression</a:t>
                      </a:r>
                      <a:endParaRPr lang="en-PH" sz="5400" dirty="0">
                        <a:solidFill>
                          <a:schemeClr val="tx1"/>
                        </a:solidFill>
                        <a:latin typeface="Open Sans" panose="020B0606030504020204" pitchFamily="34" charset="0"/>
                        <a:ea typeface="Open Sans" panose="020B0606030504020204" pitchFamily="34" charset="0"/>
                        <a:cs typeface="Open Sans" panose="020B0606030504020204" pitchFamily="34" charset="0"/>
                      </a:endParaRPr>
                    </a:p>
                  </a:txBody>
                  <a:tcPr marL="86794" marR="86794" marT="43397" marB="43397">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BE4D5"/>
                    </a:solidFill>
                  </a:tcPr>
                </a:tc>
                <a:tc>
                  <a:txBody>
                    <a:bodyPr/>
                    <a:lstStyle/>
                    <a:p>
                      <a:pPr marL="180000" algn="l"/>
                      <a:r>
                        <a:rPr lang="en-US" sz="5400" dirty="0">
                          <a:solidFill>
                            <a:schemeClr val="tx1"/>
                          </a:solidFill>
                          <a:latin typeface="Open Sans" panose="020B0606030504020204" pitchFamily="34" charset="0"/>
                          <a:ea typeface="Open Sans" panose="020B0606030504020204" pitchFamily="34" charset="0"/>
                          <a:cs typeface="Open Sans" panose="020B0606030504020204" pitchFamily="34" charset="0"/>
                        </a:rPr>
                        <a:t>Description</a:t>
                      </a:r>
                      <a:endParaRPr lang="en-PH" sz="5400" dirty="0">
                        <a:solidFill>
                          <a:schemeClr val="tx1"/>
                        </a:solidFill>
                        <a:latin typeface="Open Sans" panose="020B0606030504020204" pitchFamily="34" charset="0"/>
                        <a:ea typeface="Open Sans" panose="020B0606030504020204" pitchFamily="34" charset="0"/>
                        <a:cs typeface="Open Sans" panose="020B0606030504020204" pitchFamily="34" charset="0"/>
                      </a:endParaRPr>
                    </a:p>
                  </a:txBody>
                  <a:tcPr marL="86794" marR="86794" marT="43397" marB="43397">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BE4D5"/>
                    </a:solidFill>
                  </a:tcPr>
                </a:tc>
                <a:extLst>
                  <a:ext uri="{0D108BD9-81ED-4DB2-BD59-A6C34878D82A}">
                    <a16:rowId xmlns:a16="http://schemas.microsoft.com/office/drawing/2014/main" val="3978129174"/>
                  </a:ext>
                </a:extLst>
              </a:tr>
              <a:tr h="5022450">
                <a:tc>
                  <a:txBody>
                    <a:bodyPr/>
                    <a:lstStyle/>
                    <a:p>
                      <a:pPr marL="180000" marR="0" lvl="0" indent="0" algn="l" defTabSz="914400" rtl="0" eaLnBrk="1" fontAlgn="auto" latinLnBrk="0" hangingPunct="1">
                        <a:lnSpc>
                          <a:spcPct val="100000"/>
                        </a:lnSpc>
                        <a:spcBef>
                          <a:spcPts val="0"/>
                        </a:spcBef>
                        <a:spcAft>
                          <a:spcPts val="1000"/>
                        </a:spcAft>
                        <a:buClr>
                          <a:srgbClr val="000000"/>
                        </a:buClr>
                        <a:buSzTx/>
                        <a:buFont typeface="Arial" panose="020B0604020202020204" pitchFamily="34" charset="0"/>
                        <a:buNone/>
                        <a:tabLst/>
                        <a:defRPr/>
                      </a:pPr>
                      <a:endParaRPr lang="en-US" sz="5400" b="0" dirty="0">
                        <a:solidFill>
                          <a:schemeClr val="tx1"/>
                        </a:solidFill>
                        <a:latin typeface="Open Sans" panose="020B0606030504020204" pitchFamily="34" charset="0"/>
                        <a:ea typeface="Open Sans" panose="020B0606030504020204" pitchFamily="34" charset="0"/>
                        <a:cs typeface="Open Sans" panose="020B0606030504020204" pitchFamily="34" charset="0"/>
                      </a:endParaRPr>
                    </a:p>
                  </a:txBody>
                  <a:tcPr marL="86794" marR="86794" marT="43397" marB="43397">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180000" marR="0" lvl="0" indent="0" algn="l" defTabSz="914400" rtl="0" eaLnBrk="1" fontAlgn="auto" latinLnBrk="0" hangingPunct="1">
                        <a:lnSpc>
                          <a:spcPct val="100000"/>
                        </a:lnSpc>
                        <a:spcBef>
                          <a:spcPts val="0"/>
                        </a:spcBef>
                        <a:spcAft>
                          <a:spcPts val="1000"/>
                        </a:spcAft>
                        <a:buClr>
                          <a:srgbClr val="000000"/>
                        </a:buClr>
                        <a:buSzTx/>
                        <a:buFont typeface="Arial" panose="020B0604020202020204" pitchFamily="34" charset="0"/>
                        <a:buNone/>
                        <a:tabLst/>
                        <a:defRPr/>
                      </a:pPr>
                      <a:r>
                        <a:rPr lang="en-US" sz="5000" b="0" dirty="0">
                          <a:solidFill>
                            <a:schemeClr val="tx1"/>
                          </a:solidFill>
                          <a:latin typeface="Open Sans" panose="020B0606030504020204" pitchFamily="34" charset="0"/>
                          <a:ea typeface="Open Sans" panose="020B0606030504020204" pitchFamily="34" charset="0"/>
                          <a:cs typeface="Open Sans" panose="020B0606030504020204" pitchFamily="34" charset="0"/>
                        </a:rPr>
                        <a:t>An expression can be a single statement.</a:t>
                      </a:r>
                    </a:p>
                    <a:p>
                      <a:pPr marL="180000" marR="0" lvl="0" indent="0" algn="l" defTabSz="914400" rtl="0" eaLnBrk="1" fontAlgn="auto" latinLnBrk="0" hangingPunct="1">
                        <a:lnSpc>
                          <a:spcPct val="100000"/>
                        </a:lnSpc>
                        <a:spcBef>
                          <a:spcPts val="0"/>
                        </a:spcBef>
                        <a:spcAft>
                          <a:spcPts val="1000"/>
                        </a:spcAft>
                        <a:buClr>
                          <a:srgbClr val="000000"/>
                        </a:buClr>
                        <a:buSzTx/>
                        <a:buFont typeface="Arial" panose="020B0604020202020204" pitchFamily="34" charset="0"/>
                        <a:buNone/>
                        <a:tabLst/>
                        <a:defRPr/>
                      </a:pPr>
                      <a:endParaRPr lang="en-US" sz="5000" b="0" dirty="0">
                        <a:solidFill>
                          <a:schemeClr val="tx1"/>
                        </a:solidFill>
                        <a:latin typeface="Open Sans" panose="020B0606030504020204" pitchFamily="34" charset="0"/>
                        <a:ea typeface="Open Sans" panose="020B0606030504020204" pitchFamily="34" charset="0"/>
                        <a:cs typeface="Open Sans" panose="020B0606030504020204" pitchFamily="34" charset="0"/>
                      </a:endParaRPr>
                    </a:p>
                    <a:p>
                      <a:pPr marL="180000" marR="0" lvl="0" indent="0" algn="l" defTabSz="914400" rtl="0" eaLnBrk="1" fontAlgn="auto" latinLnBrk="0" hangingPunct="1">
                        <a:lnSpc>
                          <a:spcPct val="100000"/>
                        </a:lnSpc>
                        <a:spcBef>
                          <a:spcPts val="0"/>
                        </a:spcBef>
                        <a:spcAft>
                          <a:spcPts val="1000"/>
                        </a:spcAft>
                        <a:buClr>
                          <a:srgbClr val="000000"/>
                        </a:buClr>
                        <a:buSzTx/>
                        <a:buFont typeface="Arial" panose="020B0604020202020204" pitchFamily="34" charset="0"/>
                        <a:buNone/>
                        <a:tabLst/>
                        <a:defRPr/>
                      </a:pPr>
                      <a:r>
                        <a:rPr lang="en-US" sz="5000" b="0" dirty="0">
                          <a:solidFill>
                            <a:schemeClr val="tx1"/>
                          </a:solidFill>
                          <a:latin typeface="Open Sans" panose="020B0606030504020204" pitchFamily="34" charset="0"/>
                          <a:ea typeface="Open Sans" panose="020B0606030504020204" pitchFamily="34" charset="0"/>
                          <a:cs typeface="Open Sans" panose="020B0606030504020204" pitchFamily="34" charset="0"/>
                        </a:rPr>
                        <a:t>Like a switch expression, that does not require yield for a single statement result, the use of return is not needed and would result in a compiler error. </a:t>
                      </a:r>
                    </a:p>
                  </a:txBody>
                  <a:tcPr marL="86794" marR="86794" marT="43397" marB="43397">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40325450"/>
                  </a:ext>
                </a:extLst>
              </a:tr>
              <a:tr h="6830188">
                <a:tc>
                  <a:txBody>
                    <a:bodyPr/>
                    <a:lstStyle/>
                    <a:p>
                      <a:pPr marL="180000" marR="0" lvl="0" indent="0" algn="l" defTabSz="914400" rtl="0" eaLnBrk="1" fontAlgn="auto" latinLnBrk="0" hangingPunct="1">
                        <a:lnSpc>
                          <a:spcPct val="100000"/>
                        </a:lnSpc>
                        <a:spcBef>
                          <a:spcPts val="0"/>
                        </a:spcBef>
                        <a:spcAft>
                          <a:spcPts val="1000"/>
                        </a:spcAft>
                        <a:buClr>
                          <a:srgbClr val="000000"/>
                        </a:buClr>
                        <a:buSzTx/>
                        <a:buFont typeface="Arial" panose="020B0604020202020204" pitchFamily="34" charset="0"/>
                        <a:buNone/>
                        <a:tabLst/>
                        <a:defRPr/>
                      </a:pPr>
                      <a:endParaRPr lang="en-US" sz="5400" b="0" dirty="0">
                        <a:solidFill>
                          <a:schemeClr val="tx1"/>
                        </a:solidFill>
                        <a:latin typeface="Open Sans" panose="020B0606030504020204" pitchFamily="34" charset="0"/>
                        <a:ea typeface="Open Sans" panose="020B0606030504020204" pitchFamily="34" charset="0"/>
                        <a:cs typeface="Open Sans" panose="020B0606030504020204" pitchFamily="34" charset="0"/>
                      </a:endParaRPr>
                    </a:p>
                  </a:txBody>
                  <a:tcPr marL="86794" marR="86794" marT="43397" marB="43397">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180000" marR="0" lvl="0" indent="0" algn="l" defTabSz="914400" rtl="0" eaLnBrk="1" fontAlgn="auto" latinLnBrk="0" hangingPunct="1">
                        <a:lnSpc>
                          <a:spcPct val="100000"/>
                        </a:lnSpc>
                        <a:spcBef>
                          <a:spcPts val="0"/>
                        </a:spcBef>
                        <a:spcAft>
                          <a:spcPts val="1000"/>
                        </a:spcAft>
                        <a:buClr>
                          <a:srgbClr val="000000"/>
                        </a:buClr>
                        <a:buSzTx/>
                        <a:buFont typeface="Arial" panose="020B0604020202020204" pitchFamily="34" charset="0"/>
                        <a:buNone/>
                        <a:tabLst/>
                        <a:defRPr/>
                      </a:pPr>
                      <a:r>
                        <a:rPr lang="en-US" sz="5000" b="0" dirty="0">
                          <a:solidFill>
                            <a:schemeClr val="tx1"/>
                          </a:solidFill>
                          <a:latin typeface="Open Sans" panose="020B0606030504020204" pitchFamily="34" charset="0"/>
                          <a:ea typeface="Open Sans" panose="020B0606030504020204" pitchFamily="34" charset="0"/>
                          <a:cs typeface="Open Sans" panose="020B0606030504020204" pitchFamily="34" charset="0"/>
                        </a:rPr>
                        <a:t>An expression can be a code block.  </a:t>
                      </a:r>
                    </a:p>
                    <a:p>
                      <a:pPr marL="180000" marR="0" lvl="0" indent="0" algn="l" defTabSz="914400" rtl="0" eaLnBrk="1" fontAlgn="auto" latinLnBrk="0" hangingPunct="1">
                        <a:lnSpc>
                          <a:spcPct val="100000"/>
                        </a:lnSpc>
                        <a:spcBef>
                          <a:spcPts val="0"/>
                        </a:spcBef>
                        <a:spcAft>
                          <a:spcPts val="1000"/>
                        </a:spcAft>
                        <a:buClr>
                          <a:srgbClr val="000000"/>
                        </a:buClr>
                        <a:buSzTx/>
                        <a:buFont typeface="Arial" panose="020B0604020202020204" pitchFamily="34" charset="0"/>
                        <a:buNone/>
                        <a:tabLst/>
                        <a:defRPr/>
                      </a:pPr>
                      <a:endParaRPr lang="en-US" sz="5000" b="0" dirty="0">
                        <a:solidFill>
                          <a:schemeClr val="tx1"/>
                        </a:solidFill>
                        <a:latin typeface="Open Sans" panose="020B0606030504020204" pitchFamily="34" charset="0"/>
                        <a:ea typeface="Open Sans" panose="020B0606030504020204" pitchFamily="34" charset="0"/>
                        <a:cs typeface="Open Sans" panose="020B0606030504020204" pitchFamily="34" charset="0"/>
                      </a:endParaRPr>
                    </a:p>
                    <a:p>
                      <a:pPr marL="180000" marR="0" lvl="0" indent="0" algn="l" defTabSz="914400" rtl="0" eaLnBrk="1" fontAlgn="auto" latinLnBrk="0" hangingPunct="1">
                        <a:lnSpc>
                          <a:spcPct val="100000"/>
                        </a:lnSpc>
                        <a:spcBef>
                          <a:spcPts val="0"/>
                        </a:spcBef>
                        <a:spcAft>
                          <a:spcPts val="1000"/>
                        </a:spcAft>
                        <a:buClr>
                          <a:srgbClr val="000000"/>
                        </a:buClr>
                        <a:buSzTx/>
                        <a:buFont typeface="Arial" panose="020B0604020202020204" pitchFamily="34" charset="0"/>
                        <a:buNone/>
                        <a:tabLst/>
                        <a:defRPr/>
                      </a:pPr>
                      <a:r>
                        <a:rPr lang="en-US" sz="5000" b="0" dirty="0">
                          <a:solidFill>
                            <a:schemeClr val="tx1"/>
                          </a:solidFill>
                          <a:latin typeface="Open Sans" panose="020B0606030504020204" pitchFamily="34" charset="0"/>
                          <a:ea typeface="Open Sans" panose="020B0606030504020204" pitchFamily="34" charset="0"/>
                          <a:cs typeface="Open Sans" panose="020B0606030504020204" pitchFamily="34" charset="0"/>
                        </a:rPr>
                        <a:t>Like a switch expression, that requires yield, a lambda that returns a value, would require a final return statement.</a:t>
                      </a:r>
                    </a:p>
                    <a:p>
                      <a:pPr marL="180000" marR="0" lvl="0" indent="0" algn="l" defTabSz="914400" rtl="0" eaLnBrk="1" fontAlgn="auto" latinLnBrk="0" hangingPunct="1">
                        <a:lnSpc>
                          <a:spcPct val="100000"/>
                        </a:lnSpc>
                        <a:spcBef>
                          <a:spcPts val="0"/>
                        </a:spcBef>
                        <a:spcAft>
                          <a:spcPts val="1000"/>
                        </a:spcAft>
                        <a:buClr>
                          <a:srgbClr val="000000"/>
                        </a:buClr>
                        <a:buSzTx/>
                        <a:buFont typeface="Arial" panose="020B0604020202020204" pitchFamily="34" charset="0"/>
                        <a:buNone/>
                        <a:tabLst/>
                        <a:defRPr/>
                      </a:pPr>
                      <a:endParaRPr lang="en-US" sz="5000" b="0" dirty="0">
                        <a:solidFill>
                          <a:schemeClr val="tx1"/>
                        </a:solidFill>
                        <a:latin typeface="Open Sans" panose="020B0606030504020204" pitchFamily="34" charset="0"/>
                        <a:ea typeface="Open Sans" panose="020B0606030504020204" pitchFamily="34" charset="0"/>
                        <a:cs typeface="Open Sans" panose="020B0606030504020204" pitchFamily="34" charset="0"/>
                      </a:endParaRPr>
                    </a:p>
                    <a:p>
                      <a:pPr marL="180000" marR="0" lvl="0" indent="0" algn="l" defTabSz="914400" rtl="0" eaLnBrk="1" fontAlgn="auto" latinLnBrk="0" hangingPunct="1">
                        <a:lnSpc>
                          <a:spcPct val="100000"/>
                        </a:lnSpc>
                        <a:spcBef>
                          <a:spcPts val="0"/>
                        </a:spcBef>
                        <a:spcAft>
                          <a:spcPts val="1000"/>
                        </a:spcAft>
                        <a:buClr>
                          <a:srgbClr val="000000"/>
                        </a:buClr>
                        <a:buSzTx/>
                        <a:buFont typeface="Arial" panose="020B0604020202020204" pitchFamily="34" charset="0"/>
                        <a:buNone/>
                        <a:tabLst/>
                        <a:defRPr/>
                      </a:pPr>
                      <a:r>
                        <a:rPr lang="en-US" sz="5000" b="0" dirty="0">
                          <a:solidFill>
                            <a:schemeClr val="tx1"/>
                          </a:solidFill>
                          <a:latin typeface="Open Sans" panose="020B0606030504020204" pitchFamily="34" charset="0"/>
                          <a:ea typeface="Open Sans" panose="020B0606030504020204" pitchFamily="34" charset="0"/>
                          <a:cs typeface="Open Sans" panose="020B0606030504020204" pitchFamily="34" charset="0"/>
                        </a:rPr>
                        <a:t>All statements in the block must end with semi-colons.</a:t>
                      </a:r>
                    </a:p>
                  </a:txBody>
                  <a:tcPr marL="86794" marR="86794" marT="43397" marB="43397">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176051077"/>
                  </a:ext>
                </a:extLst>
              </a:tr>
            </a:tbl>
          </a:graphicData>
        </a:graphic>
      </p:graphicFrame>
      <p:pic>
        <p:nvPicPr>
          <p:cNvPr id="4" name="Picture 3">
            <a:extLst>
              <a:ext uri="{FF2B5EF4-FFF2-40B4-BE49-F238E27FC236}">
                <a16:creationId xmlns:a16="http://schemas.microsoft.com/office/drawing/2014/main" id="{5074611A-4A9F-3805-7497-3DDF7D1B000A}"/>
              </a:ext>
            </a:extLst>
          </p:cNvPr>
          <p:cNvPicPr>
            <a:picLocks noChangeAspect="1"/>
          </p:cNvPicPr>
          <p:nvPr/>
        </p:nvPicPr>
        <p:blipFill>
          <a:blip r:embed="rId4"/>
          <a:stretch>
            <a:fillRect/>
          </a:stretch>
        </p:blipFill>
        <p:spPr>
          <a:xfrm>
            <a:off x="1201666" y="6026542"/>
            <a:ext cx="14571429" cy="742857"/>
          </a:xfrm>
          <a:prstGeom prst="rect">
            <a:avLst/>
          </a:prstGeom>
        </p:spPr>
      </p:pic>
      <p:pic>
        <p:nvPicPr>
          <p:cNvPr id="11" name="Picture 10">
            <a:extLst>
              <a:ext uri="{FF2B5EF4-FFF2-40B4-BE49-F238E27FC236}">
                <a16:creationId xmlns:a16="http://schemas.microsoft.com/office/drawing/2014/main" id="{BFF60363-BF4A-D652-9E5A-688AAC375270}"/>
              </a:ext>
            </a:extLst>
          </p:cNvPr>
          <p:cNvPicPr>
            <a:picLocks noChangeAspect="1"/>
          </p:cNvPicPr>
          <p:nvPr/>
        </p:nvPicPr>
        <p:blipFill>
          <a:blip r:embed="rId5"/>
          <a:stretch>
            <a:fillRect/>
          </a:stretch>
        </p:blipFill>
        <p:spPr>
          <a:xfrm>
            <a:off x="1201666" y="11097011"/>
            <a:ext cx="18514286" cy="2914286"/>
          </a:xfrm>
          <a:prstGeom prst="rect">
            <a:avLst/>
          </a:prstGeom>
        </p:spPr>
      </p:pic>
      <p:sp>
        <p:nvSpPr>
          <p:cNvPr id="3" name="Shape 131">
            <a:extLst>
              <a:ext uri="{FF2B5EF4-FFF2-40B4-BE49-F238E27FC236}">
                <a16:creationId xmlns:a16="http://schemas.microsoft.com/office/drawing/2014/main" id="{21C9F5CE-5CD2-FB74-3E92-B7D97024FCBE}"/>
              </a:ext>
            </a:extLst>
          </p:cNvPr>
          <p:cNvSpPr/>
          <p:nvPr/>
        </p:nvSpPr>
        <p:spPr>
          <a:xfrm>
            <a:off x="952500" y="18489726"/>
            <a:ext cx="16008688" cy="1308050"/>
          </a:xfrm>
          <a:prstGeom prst="rect">
            <a:avLst/>
          </a:prstGeom>
          <a:ln w="12700">
            <a:miter lim="400000"/>
          </a:ln>
          <a:extLst>
            <a:ext uri="{C572A759-6A51-4108-AA02-DFA0A04FC94B}">
              <ma14:wrappingTextBoxFlag xmlns="" xmlns:ma14="http://schemas.microsoft.com/office/mac/drawingml/2011/main" val="1"/>
            </a:ext>
          </a:extLst>
        </p:spPr>
        <p:txBody>
          <a:bodyPr lIns="76200" tIns="76200" rIns="76200" bIns="76200">
            <a:spAutoFit/>
          </a:bodyPr>
          <a:lstStyle/>
          <a:p>
            <a:pPr algn="l">
              <a:defRPr sz="2000">
                <a:latin typeface="Alright Sans"/>
                <a:ea typeface="Alright Sans"/>
                <a:cs typeface="Alright Sans"/>
                <a:sym typeface="Alright Sans"/>
              </a:defRPr>
            </a:pPr>
            <a:r>
              <a:rPr lang="en-US" sz="3000" dirty="0">
                <a:latin typeface="Open Sans" panose="020B0606030504020204" pitchFamily="34" charset="0"/>
                <a:ea typeface="Open Sans" panose="020B0606030504020204" pitchFamily="34" charset="0"/>
                <a:cs typeface="Open Sans" panose="020B0606030504020204" pitchFamily="34" charset="0"/>
              </a:rPr>
              <a:t>COMPLETE JAVA MASTERCLASS</a:t>
            </a:r>
          </a:p>
          <a:p>
            <a:pPr algn="l">
              <a:defRPr sz="3000">
                <a:latin typeface="Alright Sans"/>
                <a:ea typeface="Alright Sans"/>
                <a:cs typeface="Alright Sans"/>
                <a:sym typeface="Alright Sans"/>
              </a:defRPr>
            </a:pPr>
            <a:r>
              <a:rPr lang="en-US" sz="4400" dirty="0">
                <a:latin typeface="Open Sans" panose="020B0606030504020204" pitchFamily="34" charset="0"/>
                <a:ea typeface="Open Sans" panose="020B0606030504020204" pitchFamily="34" charset="0"/>
                <a:cs typeface="Open Sans" panose="020B0606030504020204" pitchFamily="34" charset="0"/>
              </a:rPr>
              <a:t>Lambda Expressions, syntax, &amp; additional examples</a:t>
            </a:r>
          </a:p>
        </p:txBody>
      </p:sp>
    </p:spTree>
    <p:extLst>
      <p:ext uri="{BB962C8B-B14F-4D97-AF65-F5344CB8AC3E}">
        <p14:creationId xmlns:p14="http://schemas.microsoft.com/office/powerpoint/2010/main" val="53981717"/>
      </p:ext>
    </p:extLst>
  </p:cSld>
  <p:clrMapOvr>
    <a:masterClrMapping/>
  </p:clrMapOvr>
  <p:transition spd="slow"/>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 name="Shape 126"/>
          <p:cNvSpPr/>
          <p:nvPr/>
        </p:nvSpPr>
        <p:spPr>
          <a:xfrm>
            <a:off x="952498" y="459786"/>
            <a:ext cx="16102165" cy="1815882"/>
          </a:xfrm>
          <a:prstGeom prst="rect">
            <a:avLst/>
          </a:prstGeom>
          <a:ln w="12700">
            <a:miter lim="400000"/>
          </a:ln>
          <a:extLst>
            <a:ext uri="{C572A759-6A51-4108-AA02-DFA0A04FC94B}">
              <ma14:wrappingTextBoxFlag xmlns="" xmlns:ma14="http://schemas.microsoft.com/office/mac/drawingml/2011/main" val="1"/>
            </a:ext>
          </a:extLst>
        </p:spPr>
        <p:txBody>
          <a:bodyPr wrap="none" lIns="76200" tIns="76200" rIns="76200" bIns="76200">
            <a:spAutoFit/>
          </a:bodyPr>
          <a:lstStyle>
            <a:lvl1pPr algn="l">
              <a:defRPr sz="7000">
                <a:latin typeface="Alright Sans"/>
                <a:ea typeface="Alright Sans"/>
                <a:cs typeface="Alright Sans"/>
                <a:sym typeface="Alright Sans"/>
              </a:defRPr>
            </a:lvl1pPr>
          </a:lstStyle>
          <a:p>
            <a:pPr>
              <a:defRPr sz="3000">
                <a:latin typeface="Alright Sans"/>
                <a:ea typeface="Alright Sans"/>
                <a:cs typeface="Alright Sans"/>
                <a:sym typeface="Alright Sans"/>
              </a:defRPr>
            </a:pPr>
            <a:r>
              <a:rPr lang="en-US" sz="10800" dirty="0">
                <a:latin typeface="Open Sans" panose="020B0606030504020204" pitchFamily="34" charset="0"/>
                <a:ea typeface="Open Sans" panose="020B0606030504020204" pitchFamily="34" charset="0"/>
                <a:cs typeface="Open Sans" panose="020B0606030504020204" pitchFamily="34" charset="0"/>
              </a:rPr>
              <a:t>Functional Programming</a:t>
            </a:r>
          </a:p>
        </p:txBody>
      </p:sp>
      <p:sp>
        <p:nvSpPr>
          <p:cNvPr id="128" name="Shape 128"/>
          <p:cNvSpPr/>
          <p:nvPr/>
        </p:nvSpPr>
        <p:spPr>
          <a:xfrm>
            <a:off x="952500" y="18210515"/>
            <a:ext cx="34782668" cy="2"/>
          </a:xfrm>
          <a:prstGeom prst="line">
            <a:avLst/>
          </a:prstGeom>
          <a:ln w="76200">
            <a:solidFill>
              <a:schemeClr val="accent1">
                <a:satOff val="-3355"/>
                <a:lumOff val="26614"/>
              </a:schemeClr>
            </a:solidFill>
            <a:miter lim="400000"/>
          </a:ln>
        </p:spPr>
        <p:txBody>
          <a:bodyPr lIns="76200" tIns="76200" rIns="76200" bIns="76200" anchor="ctr"/>
          <a:lstStyle/>
          <a:p>
            <a:pPr>
              <a:defRPr sz="3200"/>
            </a:pPr>
            <a:endParaRPr sz="4800"/>
          </a:p>
        </p:txBody>
      </p:sp>
      <p:pic>
        <p:nvPicPr>
          <p:cNvPr id="129" name="Logo.png"/>
          <p:cNvPicPr>
            <a:picLocks noChangeAspect="1"/>
          </p:cNvPicPr>
          <p:nvPr/>
        </p:nvPicPr>
        <p:blipFill>
          <a:blip r:embed="rId3"/>
          <a:stretch>
            <a:fillRect/>
          </a:stretch>
        </p:blipFill>
        <p:spPr>
          <a:xfrm>
            <a:off x="14650974" y="18489726"/>
            <a:ext cx="6321552" cy="1392336"/>
          </a:xfrm>
          <a:prstGeom prst="rect">
            <a:avLst/>
          </a:prstGeom>
          <a:ln w="12700">
            <a:miter lim="400000"/>
          </a:ln>
        </p:spPr>
      </p:pic>
      <p:sp>
        <p:nvSpPr>
          <p:cNvPr id="9" name="Shape 127"/>
          <p:cNvSpPr/>
          <p:nvPr/>
        </p:nvSpPr>
        <p:spPr>
          <a:xfrm flipV="1">
            <a:off x="952499" y="2203340"/>
            <a:ext cx="34782670" cy="38132"/>
          </a:xfrm>
          <a:prstGeom prst="line">
            <a:avLst/>
          </a:prstGeom>
          <a:ln w="152400">
            <a:solidFill>
              <a:schemeClr val="accent1">
                <a:satOff val="-3355"/>
                <a:lumOff val="26614"/>
              </a:schemeClr>
            </a:solidFill>
            <a:miter lim="400000"/>
          </a:ln>
        </p:spPr>
        <p:txBody>
          <a:bodyPr lIns="76200" tIns="76200" rIns="76200" bIns="76200" anchor="ctr"/>
          <a:lstStyle/>
          <a:p>
            <a:pPr>
              <a:defRPr sz="3200"/>
            </a:pPr>
            <a:endParaRPr sz="4800"/>
          </a:p>
        </p:txBody>
      </p:sp>
      <p:sp>
        <p:nvSpPr>
          <p:cNvPr id="8" name="Rectangle 7">
            <a:extLst>
              <a:ext uri="{FF2B5EF4-FFF2-40B4-BE49-F238E27FC236}">
                <a16:creationId xmlns:a16="http://schemas.microsoft.com/office/drawing/2014/main" id="{89DBB243-EF27-4345-872D-E76597E95619}"/>
              </a:ext>
            </a:extLst>
          </p:cNvPr>
          <p:cNvSpPr/>
          <p:nvPr/>
        </p:nvSpPr>
        <p:spPr>
          <a:xfrm>
            <a:off x="952501" y="4285904"/>
            <a:ext cx="34782670" cy="11880176"/>
          </a:xfrm>
          <a:prstGeom prst="rect">
            <a:avLst/>
          </a:prstGeom>
        </p:spPr>
        <p:txBody>
          <a:bodyPr wrap="square">
            <a:normAutofit/>
          </a:bodyPr>
          <a:lstStyle/>
          <a:p>
            <a:pPr algn="l">
              <a:spcAft>
                <a:spcPts val="5022"/>
              </a:spcAft>
            </a:pPr>
            <a:r>
              <a:rPr lang="en-US" sz="6400" dirty="0">
                <a:latin typeface="Open Sans" panose="020B0606030504020204" pitchFamily="34" charset="0"/>
                <a:ea typeface="Open Sans" panose="020B0606030504020204" pitchFamily="34" charset="0"/>
                <a:cs typeface="Open Sans" panose="020B0606030504020204" pitchFamily="34" charset="0"/>
              </a:rPr>
              <a:t>Lambdas are Java's first step into functional programming.</a:t>
            </a:r>
          </a:p>
          <a:p>
            <a:pPr algn="l">
              <a:spcAft>
                <a:spcPts val="5022"/>
              </a:spcAft>
            </a:pPr>
            <a:r>
              <a:rPr lang="en-US" sz="6400" dirty="0">
                <a:latin typeface="Open Sans" panose="020B0606030504020204" pitchFamily="34" charset="0"/>
                <a:ea typeface="Open Sans" panose="020B0606030504020204" pitchFamily="34" charset="0"/>
                <a:cs typeface="Open Sans" panose="020B0606030504020204" pitchFamily="34" charset="0"/>
              </a:rPr>
              <a:t>This is a programming paradigm that focuses on computing and returning results.</a:t>
            </a:r>
          </a:p>
          <a:p>
            <a:pPr algn="l">
              <a:spcAft>
                <a:spcPts val="5022"/>
              </a:spcAft>
            </a:pPr>
            <a:r>
              <a:rPr lang="en-US" sz="6400" dirty="0">
                <a:latin typeface="Open Sans" panose="020B0606030504020204" pitchFamily="34" charset="0"/>
                <a:ea typeface="Open Sans" panose="020B0606030504020204" pitchFamily="34" charset="0"/>
                <a:cs typeface="Open Sans" panose="020B0606030504020204" pitchFamily="34" charset="0"/>
              </a:rPr>
              <a:t>For more information about functional programming, there's a good </a:t>
            </a:r>
            <a:r>
              <a:rPr lang="en-US" sz="6400" dirty="0" err="1">
                <a:latin typeface="Open Sans" panose="020B0606030504020204" pitchFamily="34" charset="0"/>
                <a:ea typeface="Open Sans" panose="020B0606030504020204" pitchFamily="34" charset="0"/>
                <a:cs typeface="Open Sans" panose="020B0606030504020204" pitchFamily="34" charset="0"/>
              </a:rPr>
              <a:t>wikipedia</a:t>
            </a:r>
            <a:r>
              <a:rPr lang="en-US" sz="6400" dirty="0">
                <a:latin typeface="Open Sans" panose="020B0606030504020204" pitchFamily="34" charset="0"/>
                <a:ea typeface="Open Sans" panose="020B0606030504020204" pitchFamily="34" charset="0"/>
                <a:cs typeface="Open Sans" panose="020B0606030504020204" pitchFamily="34" charset="0"/>
              </a:rPr>
              <a:t> article here.</a:t>
            </a:r>
          </a:p>
          <a:p>
            <a:pPr algn="l">
              <a:spcAft>
                <a:spcPts val="5022"/>
              </a:spcAft>
            </a:pPr>
            <a:r>
              <a:rPr lang="en-US" sz="6400" u="sng" dirty="0">
                <a:solidFill>
                  <a:schemeClr val="accent1"/>
                </a:solidFill>
                <a:latin typeface="Open Sans" panose="020B0606030504020204" pitchFamily="34" charset="0"/>
                <a:ea typeface="Open Sans" panose="020B0606030504020204" pitchFamily="34" charset="0"/>
                <a:cs typeface="Open Sans" panose="020B0606030504020204" pitchFamily="34" charset="0"/>
              </a:rPr>
              <a:t>https://en.wikipedia.org/wiki/Functional_programming</a:t>
            </a:r>
          </a:p>
          <a:p>
            <a:pPr algn="l">
              <a:spcAft>
                <a:spcPts val="5022"/>
              </a:spcAft>
            </a:pPr>
            <a:r>
              <a:rPr lang="en-US" sz="6400" dirty="0">
                <a:latin typeface="Open Sans" panose="020B0606030504020204" pitchFamily="34" charset="0"/>
                <a:ea typeface="Open Sans" panose="020B0606030504020204" pitchFamily="34" charset="0"/>
                <a:cs typeface="Open Sans" panose="020B0606030504020204" pitchFamily="34" charset="0"/>
              </a:rPr>
              <a:t>Check that out to find out a bit more about functional programming.</a:t>
            </a:r>
          </a:p>
        </p:txBody>
      </p:sp>
      <p:sp>
        <p:nvSpPr>
          <p:cNvPr id="2" name="Shape 131">
            <a:extLst>
              <a:ext uri="{FF2B5EF4-FFF2-40B4-BE49-F238E27FC236}">
                <a16:creationId xmlns:a16="http://schemas.microsoft.com/office/drawing/2014/main" id="{C9B3CD71-37C6-1019-FF72-F1BC8890CB01}"/>
              </a:ext>
            </a:extLst>
          </p:cNvPr>
          <p:cNvSpPr/>
          <p:nvPr/>
        </p:nvSpPr>
        <p:spPr>
          <a:xfrm>
            <a:off x="952500" y="18489726"/>
            <a:ext cx="16008688" cy="1308050"/>
          </a:xfrm>
          <a:prstGeom prst="rect">
            <a:avLst/>
          </a:prstGeom>
          <a:ln w="12700">
            <a:miter lim="400000"/>
          </a:ln>
          <a:extLst>
            <a:ext uri="{C572A759-6A51-4108-AA02-DFA0A04FC94B}">
              <ma14:wrappingTextBoxFlag xmlns="" xmlns:ma14="http://schemas.microsoft.com/office/mac/drawingml/2011/main" val="1"/>
            </a:ext>
          </a:extLst>
        </p:spPr>
        <p:txBody>
          <a:bodyPr lIns="76200" tIns="76200" rIns="76200" bIns="76200">
            <a:spAutoFit/>
          </a:bodyPr>
          <a:lstStyle/>
          <a:p>
            <a:pPr algn="l">
              <a:defRPr sz="2000">
                <a:latin typeface="Alright Sans"/>
                <a:ea typeface="Alright Sans"/>
                <a:cs typeface="Alright Sans"/>
                <a:sym typeface="Alright Sans"/>
              </a:defRPr>
            </a:pPr>
            <a:r>
              <a:rPr lang="en-US" sz="3000" dirty="0">
                <a:latin typeface="Open Sans" panose="020B0606030504020204" pitchFamily="34" charset="0"/>
                <a:ea typeface="Open Sans" panose="020B0606030504020204" pitchFamily="34" charset="0"/>
                <a:cs typeface="Open Sans" panose="020B0606030504020204" pitchFamily="34" charset="0"/>
              </a:rPr>
              <a:t>COMPLETE JAVA MASTERCLASS</a:t>
            </a:r>
          </a:p>
          <a:p>
            <a:pPr algn="l">
              <a:defRPr sz="3000">
                <a:latin typeface="Alright Sans"/>
                <a:ea typeface="Alright Sans"/>
                <a:cs typeface="Alright Sans"/>
                <a:sym typeface="Alright Sans"/>
              </a:defRPr>
            </a:pPr>
            <a:r>
              <a:rPr lang="en-US" sz="4400" dirty="0">
                <a:latin typeface="Open Sans" panose="020B0606030504020204" pitchFamily="34" charset="0"/>
                <a:ea typeface="Open Sans" panose="020B0606030504020204" pitchFamily="34" charset="0"/>
                <a:cs typeface="Open Sans" panose="020B0606030504020204" pitchFamily="34" charset="0"/>
              </a:rPr>
              <a:t>Lambda Expressions, syntax, &amp; additional examples</a:t>
            </a:r>
          </a:p>
        </p:txBody>
      </p:sp>
    </p:spTree>
    <p:extLst>
      <p:ext uri="{BB962C8B-B14F-4D97-AF65-F5344CB8AC3E}">
        <p14:creationId xmlns:p14="http://schemas.microsoft.com/office/powerpoint/2010/main" val="357298595"/>
      </p:ext>
    </p:extLst>
  </p:cSld>
  <p:clrMapOvr>
    <a:masterClrMapping/>
  </p:clrMapOvr>
  <p:transition spd="slow"/>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 name="Shape 126"/>
          <p:cNvSpPr/>
          <p:nvPr/>
        </p:nvSpPr>
        <p:spPr>
          <a:xfrm>
            <a:off x="952498" y="459786"/>
            <a:ext cx="5466240" cy="1815882"/>
          </a:xfrm>
          <a:prstGeom prst="rect">
            <a:avLst/>
          </a:prstGeom>
          <a:ln w="12700">
            <a:miter lim="400000"/>
          </a:ln>
          <a:extLst>
            <a:ext uri="{C572A759-6A51-4108-AA02-DFA0A04FC94B}">
              <ma14:wrappingTextBoxFlag xmlns:ma14="http://schemas.microsoft.com/office/mac/drawingml/2011/main" xmlns="" val="1"/>
            </a:ext>
          </a:extLst>
        </p:spPr>
        <p:txBody>
          <a:bodyPr wrap="none" lIns="76200" tIns="76200" rIns="76200" bIns="76200">
            <a:spAutoFit/>
          </a:bodyPr>
          <a:lstStyle>
            <a:lvl1pPr algn="l">
              <a:defRPr sz="7000">
                <a:latin typeface="Alright Sans"/>
                <a:ea typeface="Alright Sans"/>
                <a:cs typeface="Alright Sans"/>
                <a:sym typeface="Alright Sans"/>
              </a:defRPr>
            </a:lvl1pPr>
          </a:lstStyle>
          <a:p>
            <a:pPr>
              <a:defRPr sz="3000">
                <a:latin typeface="Alright Sans"/>
                <a:ea typeface="Alright Sans"/>
                <a:cs typeface="Alright Sans"/>
                <a:sym typeface="Alright Sans"/>
              </a:defRPr>
            </a:pPr>
            <a:r>
              <a:rPr lang="en-US" sz="10800" dirty="0">
                <a:latin typeface="Open Sans" panose="020B0606030504020204" pitchFamily="34" charset="0"/>
                <a:ea typeface="Open Sans" panose="020B0606030504020204" pitchFamily="34" charset="0"/>
                <a:cs typeface="Open Sans" panose="020B0606030504020204" pitchFamily="34" charset="0"/>
              </a:rPr>
              <a:t>Streams</a:t>
            </a:r>
          </a:p>
        </p:txBody>
      </p:sp>
      <p:sp>
        <p:nvSpPr>
          <p:cNvPr id="128" name="Shape 128"/>
          <p:cNvSpPr/>
          <p:nvPr/>
        </p:nvSpPr>
        <p:spPr>
          <a:xfrm>
            <a:off x="952500" y="18210515"/>
            <a:ext cx="34782668" cy="2"/>
          </a:xfrm>
          <a:prstGeom prst="line">
            <a:avLst/>
          </a:prstGeom>
          <a:ln w="76200">
            <a:solidFill>
              <a:schemeClr val="accent1">
                <a:satOff val="-3355"/>
                <a:lumOff val="26614"/>
              </a:schemeClr>
            </a:solidFill>
            <a:miter lim="400000"/>
          </a:ln>
        </p:spPr>
        <p:txBody>
          <a:bodyPr lIns="76200" tIns="76200" rIns="76200" bIns="76200" anchor="ctr"/>
          <a:lstStyle/>
          <a:p>
            <a:pPr>
              <a:defRPr sz="3200"/>
            </a:pPr>
            <a:endParaRPr sz="4800"/>
          </a:p>
        </p:txBody>
      </p:sp>
      <p:pic>
        <p:nvPicPr>
          <p:cNvPr id="129" name="Logo.png"/>
          <p:cNvPicPr>
            <a:picLocks noChangeAspect="1"/>
          </p:cNvPicPr>
          <p:nvPr/>
        </p:nvPicPr>
        <p:blipFill>
          <a:blip r:embed="rId3"/>
          <a:stretch>
            <a:fillRect/>
          </a:stretch>
        </p:blipFill>
        <p:spPr>
          <a:xfrm>
            <a:off x="14650974" y="18489726"/>
            <a:ext cx="6321552" cy="1392336"/>
          </a:xfrm>
          <a:prstGeom prst="rect">
            <a:avLst/>
          </a:prstGeom>
          <a:ln w="12700">
            <a:miter lim="400000"/>
          </a:ln>
        </p:spPr>
      </p:pic>
      <p:sp>
        <p:nvSpPr>
          <p:cNvPr id="9" name="Shape 127"/>
          <p:cNvSpPr/>
          <p:nvPr/>
        </p:nvSpPr>
        <p:spPr>
          <a:xfrm flipV="1">
            <a:off x="952499" y="2203340"/>
            <a:ext cx="34782670" cy="38132"/>
          </a:xfrm>
          <a:prstGeom prst="line">
            <a:avLst/>
          </a:prstGeom>
          <a:ln w="152400">
            <a:solidFill>
              <a:schemeClr val="accent1">
                <a:satOff val="-3355"/>
                <a:lumOff val="26614"/>
              </a:schemeClr>
            </a:solidFill>
            <a:miter lim="400000"/>
          </a:ln>
        </p:spPr>
        <p:txBody>
          <a:bodyPr lIns="76200" tIns="76200" rIns="76200" bIns="76200" anchor="ctr"/>
          <a:lstStyle/>
          <a:p>
            <a:pPr>
              <a:defRPr sz="3200"/>
            </a:pPr>
            <a:endParaRPr sz="4800"/>
          </a:p>
        </p:txBody>
      </p:sp>
      <p:sp>
        <p:nvSpPr>
          <p:cNvPr id="8" name="Rectangle 7">
            <a:extLst>
              <a:ext uri="{FF2B5EF4-FFF2-40B4-BE49-F238E27FC236}">
                <a16:creationId xmlns:a16="http://schemas.microsoft.com/office/drawing/2014/main" id="{89DBB243-EF27-4345-872D-E76597E95619}"/>
              </a:ext>
            </a:extLst>
          </p:cNvPr>
          <p:cNvSpPr/>
          <p:nvPr/>
        </p:nvSpPr>
        <p:spPr>
          <a:xfrm>
            <a:off x="952501" y="4285904"/>
            <a:ext cx="34782670" cy="11880176"/>
          </a:xfrm>
          <a:prstGeom prst="rect">
            <a:avLst/>
          </a:prstGeom>
        </p:spPr>
        <p:txBody>
          <a:bodyPr wrap="square">
            <a:normAutofit/>
          </a:bodyPr>
          <a:lstStyle/>
          <a:p>
            <a:pPr algn="l">
              <a:spcAft>
                <a:spcPts val="5022"/>
              </a:spcAft>
            </a:pPr>
            <a:r>
              <a:rPr lang="en-US" sz="6400" dirty="0">
                <a:latin typeface="Open Sans" panose="020B0606030504020204" pitchFamily="34" charset="0"/>
                <a:ea typeface="Open Sans" panose="020B0606030504020204" pitchFamily="34" charset="0"/>
                <a:cs typeface="Open Sans" panose="020B0606030504020204" pitchFamily="34" charset="0"/>
              </a:rPr>
              <a:t>Another feature of Java, makes extensive use of lambda expressions, and that's streams.</a:t>
            </a:r>
          </a:p>
          <a:p>
            <a:pPr algn="l">
              <a:spcAft>
                <a:spcPts val="5022"/>
              </a:spcAft>
            </a:pPr>
            <a:r>
              <a:rPr lang="en-US" sz="6400" dirty="0">
                <a:latin typeface="Open Sans" panose="020B0606030504020204" pitchFamily="34" charset="0"/>
                <a:ea typeface="Open Sans" panose="020B0606030504020204" pitchFamily="34" charset="0"/>
                <a:cs typeface="Open Sans" panose="020B0606030504020204" pitchFamily="34" charset="0"/>
              </a:rPr>
              <a:t>Streams are exciting, because they create a pipeline of work that can be formed into a chain.</a:t>
            </a:r>
          </a:p>
          <a:p>
            <a:pPr algn="l">
              <a:spcAft>
                <a:spcPts val="5022"/>
              </a:spcAft>
            </a:pPr>
            <a:r>
              <a:rPr lang="en-US" sz="6400" dirty="0">
                <a:latin typeface="Open Sans" panose="020B0606030504020204" pitchFamily="34" charset="0"/>
                <a:ea typeface="Open Sans" panose="020B0606030504020204" pitchFamily="34" charset="0"/>
                <a:cs typeface="Open Sans" panose="020B0606030504020204" pitchFamily="34" charset="0"/>
              </a:rPr>
              <a:t>Many stream operations take functional interfaces as parameters, meaning you can code them with lambda expressions.</a:t>
            </a:r>
          </a:p>
          <a:p>
            <a:pPr algn="l">
              <a:spcAft>
                <a:spcPts val="5022"/>
              </a:spcAft>
            </a:pPr>
            <a:r>
              <a:rPr lang="en-US" sz="6400" dirty="0">
                <a:latin typeface="Open Sans" panose="020B0606030504020204" pitchFamily="34" charset="0"/>
                <a:ea typeface="Open Sans" panose="020B0606030504020204" pitchFamily="34" charset="0"/>
                <a:cs typeface="Open Sans" panose="020B0606030504020204" pitchFamily="34" charset="0"/>
              </a:rPr>
              <a:t>I have a section dedicated to streams in this course.</a:t>
            </a:r>
          </a:p>
        </p:txBody>
      </p:sp>
      <p:sp>
        <p:nvSpPr>
          <p:cNvPr id="2" name="Shape 131">
            <a:extLst>
              <a:ext uri="{FF2B5EF4-FFF2-40B4-BE49-F238E27FC236}">
                <a16:creationId xmlns:a16="http://schemas.microsoft.com/office/drawing/2014/main" id="{AAEC743F-4275-D927-9690-638E5A0BE517}"/>
              </a:ext>
            </a:extLst>
          </p:cNvPr>
          <p:cNvSpPr/>
          <p:nvPr/>
        </p:nvSpPr>
        <p:spPr>
          <a:xfrm>
            <a:off x="952500" y="18489726"/>
            <a:ext cx="16008688" cy="1308050"/>
          </a:xfrm>
          <a:prstGeom prst="rect">
            <a:avLst/>
          </a:prstGeom>
          <a:ln w="12700">
            <a:miter lim="400000"/>
          </a:ln>
          <a:extLst>
            <a:ext uri="{C572A759-6A51-4108-AA02-DFA0A04FC94B}">
              <ma14:wrappingTextBoxFlag xmlns="" xmlns:ma14="http://schemas.microsoft.com/office/mac/drawingml/2011/main" val="1"/>
            </a:ext>
          </a:extLst>
        </p:spPr>
        <p:txBody>
          <a:bodyPr lIns="76200" tIns="76200" rIns="76200" bIns="76200">
            <a:spAutoFit/>
          </a:bodyPr>
          <a:lstStyle/>
          <a:p>
            <a:pPr algn="l">
              <a:defRPr sz="2000">
                <a:latin typeface="Alright Sans"/>
                <a:ea typeface="Alright Sans"/>
                <a:cs typeface="Alright Sans"/>
                <a:sym typeface="Alright Sans"/>
              </a:defRPr>
            </a:pPr>
            <a:r>
              <a:rPr lang="en-US" sz="3000" dirty="0">
                <a:latin typeface="Open Sans" panose="020B0606030504020204" pitchFamily="34" charset="0"/>
                <a:ea typeface="Open Sans" panose="020B0606030504020204" pitchFamily="34" charset="0"/>
                <a:cs typeface="Open Sans" panose="020B0606030504020204" pitchFamily="34" charset="0"/>
              </a:rPr>
              <a:t>COMPLETE JAVA MASTERCLASS</a:t>
            </a:r>
          </a:p>
          <a:p>
            <a:pPr algn="l">
              <a:defRPr sz="3000">
                <a:latin typeface="Alright Sans"/>
                <a:ea typeface="Alright Sans"/>
                <a:cs typeface="Alright Sans"/>
                <a:sym typeface="Alright Sans"/>
              </a:defRPr>
            </a:pPr>
            <a:r>
              <a:rPr lang="en-US" sz="4400" dirty="0">
                <a:latin typeface="Open Sans" panose="020B0606030504020204" pitchFamily="34" charset="0"/>
                <a:ea typeface="Open Sans" panose="020B0606030504020204" pitchFamily="34" charset="0"/>
                <a:cs typeface="Open Sans" panose="020B0606030504020204" pitchFamily="34" charset="0"/>
              </a:rPr>
              <a:t>Lambda Expressions, syntax, &amp; additional examples</a:t>
            </a:r>
          </a:p>
        </p:txBody>
      </p:sp>
    </p:spTree>
    <p:extLst>
      <p:ext uri="{BB962C8B-B14F-4D97-AF65-F5344CB8AC3E}">
        <p14:creationId xmlns:p14="http://schemas.microsoft.com/office/powerpoint/2010/main" val="222645479"/>
      </p:ext>
    </p:extLst>
  </p:cSld>
  <p:clrMapOvr>
    <a:masterClrMapping/>
  </p:clrMapOvr>
  <p:transition spd="slow"/>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 name="Shape 126"/>
          <p:cNvSpPr/>
          <p:nvPr/>
        </p:nvSpPr>
        <p:spPr>
          <a:xfrm>
            <a:off x="952498" y="459786"/>
            <a:ext cx="30136455" cy="1815882"/>
          </a:xfrm>
          <a:prstGeom prst="rect">
            <a:avLst/>
          </a:prstGeom>
          <a:ln w="12700">
            <a:miter lim="400000"/>
          </a:ln>
          <a:extLst>
            <a:ext uri="{C572A759-6A51-4108-AA02-DFA0A04FC94B}">
              <ma14:wrappingTextBoxFlag xmlns="" xmlns:ma14="http://schemas.microsoft.com/office/mac/drawingml/2011/main" val="1"/>
            </a:ext>
          </a:extLst>
        </p:spPr>
        <p:txBody>
          <a:bodyPr wrap="none" lIns="76200" tIns="76200" rIns="76200" bIns="76200">
            <a:spAutoFit/>
          </a:bodyPr>
          <a:lstStyle>
            <a:lvl1pPr algn="l">
              <a:defRPr sz="7000">
                <a:latin typeface="Alright Sans"/>
                <a:ea typeface="Alright Sans"/>
                <a:cs typeface="Alright Sans"/>
                <a:sym typeface="Alright Sans"/>
              </a:defRPr>
            </a:lvl1pPr>
          </a:lstStyle>
          <a:p>
            <a:pPr>
              <a:defRPr sz="3000">
                <a:latin typeface="Alright Sans"/>
                <a:ea typeface="Alright Sans"/>
                <a:cs typeface="Alright Sans"/>
                <a:sym typeface="Alright Sans"/>
              </a:defRPr>
            </a:pPr>
            <a:r>
              <a:rPr lang="en-US" sz="10800" dirty="0">
                <a:latin typeface="Open Sans" panose="020B0606030504020204" pitchFamily="34" charset="0"/>
                <a:ea typeface="Open Sans" panose="020B0606030504020204" pitchFamily="34" charset="0"/>
                <a:cs typeface="Open Sans" panose="020B0606030504020204" pitchFamily="34" charset="0"/>
              </a:rPr>
              <a:t>Lambda expressions with multiple parameters</a:t>
            </a:r>
          </a:p>
        </p:txBody>
      </p:sp>
      <p:sp>
        <p:nvSpPr>
          <p:cNvPr id="128" name="Shape 128"/>
          <p:cNvSpPr/>
          <p:nvPr/>
        </p:nvSpPr>
        <p:spPr>
          <a:xfrm>
            <a:off x="952500" y="18210515"/>
            <a:ext cx="34782668" cy="2"/>
          </a:xfrm>
          <a:prstGeom prst="line">
            <a:avLst/>
          </a:prstGeom>
          <a:ln w="76200">
            <a:solidFill>
              <a:schemeClr val="accent1">
                <a:satOff val="-3355"/>
                <a:lumOff val="26614"/>
              </a:schemeClr>
            </a:solidFill>
            <a:miter lim="400000"/>
          </a:ln>
        </p:spPr>
        <p:txBody>
          <a:bodyPr lIns="76200" tIns="76200" rIns="76200" bIns="76200" anchor="ctr"/>
          <a:lstStyle/>
          <a:p>
            <a:pPr>
              <a:defRPr sz="3200"/>
            </a:pPr>
            <a:endParaRPr sz="4800"/>
          </a:p>
        </p:txBody>
      </p:sp>
      <p:pic>
        <p:nvPicPr>
          <p:cNvPr id="129" name="Logo.png"/>
          <p:cNvPicPr>
            <a:picLocks noChangeAspect="1"/>
          </p:cNvPicPr>
          <p:nvPr/>
        </p:nvPicPr>
        <p:blipFill>
          <a:blip r:embed="rId3"/>
          <a:stretch>
            <a:fillRect/>
          </a:stretch>
        </p:blipFill>
        <p:spPr>
          <a:xfrm>
            <a:off x="14650974" y="18489726"/>
            <a:ext cx="6321552" cy="1392336"/>
          </a:xfrm>
          <a:prstGeom prst="rect">
            <a:avLst/>
          </a:prstGeom>
          <a:ln w="12700">
            <a:miter lim="400000"/>
          </a:ln>
        </p:spPr>
      </p:pic>
      <p:sp>
        <p:nvSpPr>
          <p:cNvPr id="9" name="Shape 127"/>
          <p:cNvSpPr/>
          <p:nvPr/>
        </p:nvSpPr>
        <p:spPr>
          <a:xfrm flipV="1">
            <a:off x="952499" y="2203340"/>
            <a:ext cx="34782670" cy="38132"/>
          </a:xfrm>
          <a:prstGeom prst="line">
            <a:avLst/>
          </a:prstGeom>
          <a:ln w="152400">
            <a:solidFill>
              <a:schemeClr val="accent1">
                <a:satOff val="-3355"/>
                <a:lumOff val="26614"/>
              </a:schemeClr>
            </a:solidFill>
            <a:miter lim="400000"/>
          </a:ln>
        </p:spPr>
        <p:txBody>
          <a:bodyPr lIns="76200" tIns="76200" rIns="76200" bIns="76200" anchor="ctr"/>
          <a:lstStyle/>
          <a:p>
            <a:pPr>
              <a:defRPr sz="3200"/>
            </a:pPr>
            <a:endParaRPr sz="4800"/>
          </a:p>
        </p:txBody>
      </p:sp>
      <p:sp>
        <p:nvSpPr>
          <p:cNvPr id="10" name="Shape 131"/>
          <p:cNvSpPr/>
          <p:nvPr/>
        </p:nvSpPr>
        <p:spPr>
          <a:xfrm>
            <a:off x="952500" y="18489726"/>
            <a:ext cx="16008688" cy="1308050"/>
          </a:xfrm>
          <a:prstGeom prst="rect">
            <a:avLst/>
          </a:prstGeom>
          <a:ln w="12700">
            <a:miter lim="400000"/>
          </a:ln>
          <a:extLst>
            <a:ext uri="{C572A759-6A51-4108-AA02-DFA0A04FC94B}">
              <ma14:wrappingTextBoxFlag xmlns:ma14="http://schemas.microsoft.com/office/mac/drawingml/2011/main" xmlns="" val="1"/>
            </a:ext>
          </a:extLst>
        </p:spPr>
        <p:txBody>
          <a:bodyPr lIns="76200" tIns="76200" rIns="76200" bIns="76200">
            <a:spAutoFit/>
          </a:bodyPr>
          <a:lstStyle/>
          <a:p>
            <a:pPr algn="l">
              <a:defRPr sz="2000">
                <a:latin typeface="Alright Sans"/>
                <a:ea typeface="Alright Sans"/>
                <a:cs typeface="Alright Sans"/>
                <a:sym typeface="Alright Sans"/>
              </a:defRPr>
            </a:pPr>
            <a:r>
              <a:rPr lang="en-US" sz="3000" dirty="0">
                <a:latin typeface="Open Sans" panose="020B0606030504020204" pitchFamily="34" charset="0"/>
                <a:ea typeface="Open Sans" panose="020B0606030504020204" pitchFamily="34" charset="0"/>
                <a:cs typeface="Open Sans" panose="020B0606030504020204" pitchFamily="34" charset="0"/>
              </a:rPr>
              <a:t>COMPLETE JAVA MASTERCLASS</a:t>
            </a:r>
          </a:p>
          <a:p>
            <a:pPr algn="l">
              <a:defRPr sz="3000">
                <a:latin typeface="Alright Sans"/>
                <a:ea typeface="Alright Sans"/>
                <a:cs typeface="Alright Sans"/>
                <a:sym typeface="Alright Sans"/>
              </a:defRPr>
            </a:pPr>
            <a:r>
              <a:rPr lang="en-US" sz="4500" dirty="0">
                <a:latin typeface="Open Sans" panose="020B0606030504020204" pitchFamily="34" charset="0"/>
                <a:ea typeface="Open Sans" panose="020B0606030504020204" pitchFamily="34" charset="0"/>
                <a:cs typeface="Open Sans" panose="020B0606030504020204" pitchFamily="34" charset="0"/>
              </a:rPr>
              <a:t>Lambda Expressions, Continued</a:t>
            </a:r>
          </a:p>
        </p:txBody>
      </p:sp>
      <p:sp>
        <p:nvSpPr>
          <p:cNvPr id="8" name="Rectangle 7">
            <a:extLst>
              <a:ext uri="{FF2B5EF4-FFF2-40B4-BE49-F238E27FC236}">
                <a16:creationId xmlns:a16="http://schemas.microsoft.com/office/drawing/2014/main" id="{89DBB243-EF27-4345-872D-E76597E95619}"/>
              </a:ext>
            </a:extLst>
          </p:cNvPr>
          <p:cNvSpPr/>
          <p:nvPr/>
        </p:nvSpPr>
        <p:spPr>
          <a:xfrm>
            <a:off x="952501" y="4285904"/>
            <a:ext cx="34782670" cy="11880176"/>
          </a:xfrm>
          <a:prstGeom prst="rect">
            <a:avLst/>
          </a:prstGeom>
        </p:spPr>
        <p:txBody>
          <a:bodyPr wrap="square">
            <a:normAutofit/>
          </a:bodyPr>
          <a:lstStyle/>
          <a:p>
            <a:pPr algn="l">
              <a:spcAft>
                <a:spcPts val="5022"/>
              </a:spcAft>
            </a:pPr>
            <a:r>
              <a:rPr lang="en-US" sz="6400" dirty="0">
                <a:latin typeface="Open Sans" panose="020B0606030504020204" pitchFamily="34" charset="0"/>
                <a:ea typeface="Open Sans" panose="020B0606030504020204" pitchFamily="34" charset="0"/>
                <a:cs typeface="Open Sans" panose="020B0606030504020204" pitchFamily="34" charset="0"/>
              </a:rPr>
              <a:t>The rules for multiple parameters used in a lambda expression are shown here.</a:t>
            </a:r>
          </a:p>
        </p:txBody>
      </p:sp>
      <p:graphicFrame>
        <p:nvGraphicFramePr>
          <p:cNvPr id="2" name="Table 1">
            <a:extLst>
              <a:ext uri="{FF2B5EF4-FFF2-40B4-BE49-F238E27FC236}">
                <a16:creationId xmlns:a16="http://schemas.microsoft.com/office/drawing/2014/main" id="{CAB673AD-530E-0DB4-7E1D-DDF41881A505}"/>
              </a:ext>
            </a:extLst>
          </p:cNvPr>
          <p:cNvGraphicFramePr>
            <a:graphicFrameLocks noGrp="1"/>
          </p:cNvGraphicFramePr>
          <p:nvPr/>
        </p:nvGraphicFramePr>
        <p:xfrm>
          <a:off x="952501" y="5790810"/>
          <a:ext cx="34782667" cy="6645171"/>
        </p:xfrm>
        <a:graphic>
          <a:graphicData uri="http://schemas.openxmlformats.org/drawingml/2006/table">
            <a:tbl>
              <a:tblPr firstRow="1" bandRow="1">
                <a:tableStyleId>{5C22544A-7EE6-4342-B048-85BDC9FD1C3A}</a:tableStyleId>
              </a:tblPr>
              <a:tblGrid>
                <a:gridCol w="16047875">
                  <a:extLst>
                    <a:ext uri="{9D8B030D-6E8A-4147-A177-3AD203B41FA5}">
                      <a16:colId xmlns:a16="http://schemas.microsoft.com/office/drawing/2014/main" val="2844207666"/>
                    </a:ext>
                  </a:extLst>
                </a:gridCol>
                <a:gridCol w="18734792">
                  <a:extLst>
                    <a:ext uri="{9D8B030D-6E8A-4147-A177-3AD203B41FA5}">
                      <a16:colId xmlns:a16="http://schemas.microsoft.com/office/drawing/2014/main" val="1891655341"/>
                    </a:ext>
                  </a:extLst>
                </a:gridCol>
              </a:tblGrid>
              <a:tr h="1404394">
                <a:tc>
                  <a:txBody>
                    <a:bodyPr/>
                    <a:lstStyle/>
                    <a:p>
                      <a:pPr marL="180000" algn="l"/>
                      <a:r>
                        <a:rPr lang="en-US" sz="5400" dirty="0">
                          <a:solidFill>
                            <a:schemeClr val="tx1"/>
                          </a:solidFill>
                          <a:latin typeface="Open Sans" panose="020B0606030504020204" pitchFamily="34" charset="0"/>
                          <a:ea typeface="Open Sans" panose="020B0606030504020204" pitchFamily="34" charset="0"/>
                          <a:cs typeface="Open Sans" panose="020B0606030504020204" pitchFamily="34" charset="0"/>
                        </a:rPr>
                        <a:t>Lambda Expression</a:t>
                      </a:r>
                      <a:endParaRPr lang="en-PH" sz="5400" dirty="0">
                        <a:solidFill>
                          <a:schemeClr val="tx1"/>
                        </a:solidFill>
                        <a:latin typeface="Open Sans" panose="020B0606030504020204" pitchFamily="34" charset="0"/>
                        <a:ea typeface="Open Sans" panose="020B0606030504020204" pitchFamily="34" charset="0"/>
                        <a:cs typeface="Open Sans" panose="020B0606030504020204" pitchFamily="34" charset="0"/>
                      </a:endParaRPr>
                    </a:p>
                  </a:txBody>
                  <a:tcPr marL="86794" marR="86794" marT="43397" marB="43397">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BE4D5"/>
                    </a:solidFill>
                  </a:tcPr>
                </a:tc>
                <a:tc>
                  <a:txBody>
                    <a:bodyPr/>
                    <a:lstStyle/>
                    <a:p>
                      <a:pPr marL="180000" algn="l"/>
                      <a:r>
                        <a:rPr lang="en-US" sz="5400" dirty="0">
                          <a:solidFill>
                            <a:schemeClr val="tx1"/>
                          </a:solidFill>
                          <a:latin typeface="Open Sans" panose="020B0606030504020204" pitchFamily="34" charset="0"/>
                          <a:ea typeface="Open Sans" panose="020B0606030504020204" pitchFamily="34" charset="0"/>
                          <a:cs typeface="Open Sans" panose="020B0606030504020204" pitchFamily="34" charset="0"/>
                        </a:rPr>
                        <a:t>Description</a:t>
                      </a:r>
                      <a:endParaRPr lang="en-PH" sz="5400" dirty="0">
                        <a:solidFill>
                          <a:schemeClr val="tx1"/>
                        </a:solidFill>
                        <a:latin typeface="Open Sans" panose="020B0606030504020204" pitchFamily="34" charset="0"/>
                        <a:ea typeface="Open Sans" panose="020B0606030504020204" pitchFamily="34" charset="0"/>
                        <a:cs typeface="Open Sans" panose="020B0606030504020204" pitchFamily="34" charset="0"/>
                      </a:endParaRPr>
                    </a:p>
                  </a:txBody>
                  <a:tcPr marL="86794" marR="86794" marT="43397" marB="43397">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BE4D5"/>
                    </a:solidFill>
                  </a:tcPr>
                </a:tc>
                <a:extLst>
                  <a:ext uri="{0D108BD9-81ED-4DB2-BD59-A6C34878D82A}">
                    <a16:rowId xmlns:a16="http://schemas.microsoft.com/office/drawing/2014/main" val="3978129174"/>
                  </a:ext>
                </a:extLst>
              </a:tr>
              <a:tr h="1332976">
                <a:tc>
                  <a:txBody>
                    <a:bodyPr/>
                    <a:lstStyle/>
                    <a:p>
                      <a:pPr marL="180000" marR="0" lvl="0" indent="0" algn="l" defTabSz="914400" rtl="0" eaLnBrk="1" fontAlgn="auto" latinLnBrk="0" hangingPunct="1">
                        <a:lnSpc>
                          <a:spcPct val="100000"/>
                        </a:lnSpc>
                        <a:spcBef>
                          <a:spcPts val="0"/>
                        </a:spcBef>
                        <a:spcAft>
                          <a:spcPts val="1000"/>
                        </a:spcAft>
                        <a:buClr>
                          <a:srgbClr val="000000"/>
                        </a:buClr>
                        <a:buSzTx/>
                        <a:buFont typeface="Arial" panose="020B0604020202020204" pitchFamily="34" charset="0"/>
                        <a:buNone/>
                        <a:tabLst/>
                        <a:defRPr/>
                      </a:pPr>
                      <a:endParaRPr lang="en-US" sz="5400" b="0" dirty="0">
                        <a:solidFill>
                          <a:schemeClr val="tx1"/>
                        </a:solidFill>
                        <a:latin typeface="Open Sans" panose="020B0606030504020204" pitchFamily="34" charset="0"/>
                        <a:ea typeface="Open Sans" panose="020B0606030504020204" pitchFamily="34" charset="0"/>
                        <a:cs typeface="Open Sans" panose="020B0606030504020204" pitchFamily="34" charset="0"/>
                      </a:endParaRPr>
                    </a:p>
                  </a:txBody>
                  <a:tcPr marL="86794" marR="86794" marT="43397" marB="43397">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180000" marR="0" lvl="0" indent="0" algn="l" defTabSz="914400" rtl="0" eaLnBrk="1" fontAlgn="auto" latinLnBrk="0" hangingPunct="1">
                        <a:lnSpc>
                          <a:spcPct val="100000"/>
                        </a:lnSpc>
                        <a:spcBef>
                          <a:spcPts val="0"/>
                        </a:spcBef>
                        <a:spcAft>
                          <a:spcPts val="1000"/>
                        </a:spcAft>
                        <a:buClr>
                          <a:srgbClr val="000000"/>
                        </a:buClr>
                        <a:buSzTx/>
                        <a:buFont typeface="Arial" panose="020B0604020202020204" pitchFamily="34" charset="0"/>
                        <a:buNone/>
                        <a:tabLst/>
                        <a:defRPr/>
                      </a:pPr>
                      <a:r>
                        <a:rPr lang="en-US" sz="5400" b="0" dirty="0">
                          <a:solidFill>
                            <a:schemeClr val="tx1"/>
                          </a:solidFill>
                          <a:latin typeface="Open Sans" panose="020B0606030504020204" pitchFamily="34" charset="0"/>
                          <a:ea typeface="Open Sans" panose="020B0606030504020204" pitchFamily="34" charset="0"/>
                          <a:cs typeface="Open Sans" panose="020B0606030504020204" pitchFamily="34" charset="0"/>
                        </a:rPr>
                        <a:t>Parentheses are always required. Explicit types are not.</a:t>
                      </a:r>
                    </a:p>
                  </a:txBody>
                  <a:tcPr marL="86794" marR="86794" marT="43397" marB="43397">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40325450"/>
                  </a:ext>
                </a:extLst>
              </a:tr>
              <a:tr h="1891965">
                <a:tc>
                  <a:txBody>
                    <a:bodyPr/>
                    <a:lstStyle/>
                    <a:p>
                      <a:pPr marL="180000" marR="0" lvl="0" indent="0" algn="l" defTabSz="914400" rtl="0" eaLnBrk="1" fontAlgn="auto" latinLnBrk="0" hangingPunct="1">
                        <a:lnSpc>
                          <a:spcPct val="100000"/>
                        </a:lnSpc>
                        <a:spcBef>
                          <a:spcPts val="0"/>
                        </a:spcBef>
                        <a:spcAft>
                          <a:spcPts val="1000"/>
                        </a:spcAft>
                        <a:buClr>
                          <a:srgbClr val="000000"/>
                        </a:buClr>
                        <a:buSzTx/>
                        <a:buFont typeface="Arial" panose="020B0604020202020204" pitchFamily="34" charset="0"/>
                        <a:buNone/>
                        <a:tabLst/>
                        <a:defRPr/>
                      </a:pPr>
                      <a:endParaRPr lang="en-US" sz="5400" b="0" dirty="0">
                        <a:solidFill>
                          <a:schemeClr val="tx1"/>
                        </a:solidFill>
                        <a:latin typeface="Open Sans" panose="020B0606030504020204" pitchFamily="34" charset="0"/>
                        <a:ea typeface="Open Sans" panose="020B0606030504020204" pitchFamily="34" charset="0"/>
                        <a:cs typeface="Open Sans" panose="020B0606030504020204" pitchFamily="34" charset="0"/>
                      </a:endParaRPr>
                    </a:p>
                  </a:txBody>
                  <a:tcPr marL="86794" marR="86794" marT="43397" marB="43397">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180000" marR="0" lvl="0" indent="0" algn="l" defTabSz="914400" rtl="0" eaLnBrk="1" fontAlgn="auto" latinLnBrk="0" hangingPunct="1">
                        <a:lnSpc>
                          <a:spcPct val="100000"/>
                        </a:lnSpc>
                        <a:spcBef>
                          <a:spcPts val="0"/>
                        </a:spcBef>
                        <a:spcAft>
                          <a:spcPts val="1000"/>
                        </a:spcAft>
                        <a:buClr>
                          <a:srgbClr val="000000"/>
                        </a:buClr>
                        <a:buSzTx/>
                        <a:buFont typeface="Arial" panose="020B0604020202020204" pitchFamily="34" charset="0"/>
                        <a:buNone/>
                        <a:tabLst/>
                        <a:defRPr/>
                      </a:pPr>
                      <a:r>
                        <a:rPr lang="en-US" sz="5400" b="0" dirty="0">
                          <a:solidFill>
                            <a:schemeClr val="tx1"/>
                          </a:solidFill>
                          <a:latin typeface="Open Sans" panose="020B0606030504020204" pitchFamily="34" charset="0"/>
                          <a:ea typeface="Open Sans" panose="020B0606030504020204" pitchFamily="34" charset="0"/>
                          <a:cs typeface="Open Sans" panose="020B0606030504020204" pitchFamily="34" charset="0"/>
                        </a:rPr>
                        <a:t>If you use an explicit type for one parameter, you must use explicit types for all the parameters.</a:t>
                      </a:r>
                    </a:p>
                  </a:txBody>
                  <a:tcPr marL="86794" marR="86794" marT="43397" marB="43397">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176051077"/>
                  </a:ext>
                </a:extLst>
              </a:tr>
              <a:tr h="2015836">
                <a:tc>
                  <a:txBody>
                    <a:bodyPr/>
                    <a:lstStyle/>
                    <a:p>
                      <a:pPr marL="180000" marR="0" lvl="0" indent="0" algn="l" defTabSz="914400" rtl="0" eaLnBrk="1" fontAlgn="auto" latinLnBrk="0" hangingPunct="1">
                        <a:lnSpc>
                          <a:spcPct val="100000"/>
                        </a:lnSpc>
                        <a:spcBef>
                          <a:spcPts val="0"/>
                        </a:spcBef>
                        <a:spcAft>
                          <a:spcPts val="1000"/>
                        </a:spcAft>
                        <a:buClr>
                          <a:srgbClr val="000000"/>
                        </a:buClr>
                        <a:buSzTx/>
                        <a:buFont typeface="Arial" panose="020B0604020202020204" pitchFamily="34" charset="0"/>
                        <a:buNone/>
                        <a:tabLst/>
                        <a:defRPr/>
                      </a:pPr>
                      <a:endParaRPr lang="en-US" sz="5400" b="0" dirty="0">
                        <a:solidFill>
                          <a:schemeClr val="tx1"/>
                        </a:solidFill>
                        <a:latin typeface="Open Sans" panose="020B0606030504020204" pitchFamily="34" charset="0"/>
                        <a:ea typeface="Open Sans" panose="020B0606030504020204" pitchFamily="34" charset="0"/>
                        <a:cs typeface="Open Sans" panose="020B0606030504020204" pitchFamily="34" charset="0"/>
                      </a:endParaRPr>
                    </a:p>
                  </a:txBody>
                  <a:tcPr marL="86794" marR="86794" marT="43397" marB="43397">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180000" marR="0" lvl="0" indent="0" algn="l" defTabSz="914400" rtl="0" eaLnBrk="1" fontAlgn="auto" latinLnBrk="0" hangingPunct="1">
                        <a:lnSpc>
                          <a:spcPct val="100000"/>
                        </a:lnSpc>
                        <a:spcBef>
                          <a:spcPts val="0"/>
                        </a:spcBef>
                        <a:spcAft>
                          <a:spcPts val="1000"/>
                        </a:spcAft>
                        <a:buClr>
                          <a:srgbClr val="000000"/>
                        </a:buClr>
                        <a:buSzTx/>
                        <a:buFont typeface="Arial" panose="020B0604020202020204" pitchFamily="34" charset="0"/>
                        <a:buNone/>
                        <a:tabLst/>
                        <a:defRPr/>
                      </a:pPr>
                      <a:r>
                        <a:rPr lang="en-US" sz="5400" b="0" dirty="0">
                          <a:solidFill>
                            <a:schemeClr val="tx1"/>
                          </a:solidFill>
                          <a:latin typeface="Open Sans" panose="020B0606030504020204" pitchFamily="34" charset="0"/>
                          <a:ea typeface="Open Sans" panose="020B0606030504020204" pitchFamily="34" charset="0"/>
                          <a:cs typeface="Open Sans" panose="020B0606030504020204" pitchFamily="34" charset="0"/>
                        </a:rPr>
                        <a:t>If you use var for one parameter, you must use var for all parameters. </a:t>
                      </a:r>
                    </a:p>
                  </a:txBody>
                  <a:tcPr marL="86794" marR="86794" marT="43397" marB="43397">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980569418"/>
                  </a:ext>
                </a:extLst>
              </a:tr>
            </a:tbl>
          </a:graphicData>
        </a:graphic>
      </p:graphicFrame>
      <p:pic>
        <p:nvPicPr>
          <p:cNvPr id="4" name="Picture 3">
            <a:extLst>
              <a:ext uri="{FF2B5EF4-FFF2-40B4-BE49-F238E27FC236}">
                <a16:creationId xmlns:a16="http://schemas.microsoft.com/office/drawing/2014/main" id="{69566BB7-D31F-59B1-8575-F176ABDBB67B}"/>
              </a:ext>
            </a:extLst>
          </p:cNvPr>
          <p:cNvPicPr>
            <a:picLocks noChangeAspect="1"/>
          </p:cNvPicPr>
          <p:nvPr/>
        </p:nvPicPr>
        <p:blipFill>
          <a:blip r:embed="rId4"/>
          <a:stretch>
            <a:fillRect/>
          </a:stretch>
        </p:blipFill>
        <p:spPr>
          <a:xfrm>
            <a:off x="1151573" y="7318105"/>
            <a:ext cx="7600000" cy="971428"/>
          </a:xfrm>
          <a:prstGeom prst="rect">
            <a:avLst/>
          </a:prstGeom>
        </p:spPr>
      </p:pic>
      <p:pic>
        <p:nvPicPr>
          <p:cNvPr id="6" name="Picture 5">
            <a:extLst>
              <a:ext uri="{FF2B5EF4-FFF2-40B4-BE49-F238E27FC236}">
                <a16:creationId xmlns:a16="http://schemas.microsoft.com/office/drawing/2014/main" id="{B9DF716A-2DCC-02FB-DF02-E8754660BAB3}"/>
              </a:ext>
            </a:extLst>
          </p:cNvPr>
          <p:cNvPicPr>
            <a:picLocks noChangeAspect="1"/>
          </p:cNvPicPr>
          <p:nvPr/>
        </p:nvPicPr>
        <p:blipFill>
          <a:blip r:embed="rId5"/>
          <a:stretch>
            <a:fillRect/>
          </a:stretch>
        </p:blipFill>
        <p:spPr>
          <a:xfrm>
            <a:off x="1180145" y="8711376"/>
            <a:ext cx="15142856" cy="952380"/>
          </a:xfrm>
          <a:prstGeom prst="rect">
            <a:avLst/>
          </a:prstGeom>
        </p:spPr>
      </p:pic>
      <p:pic>
        <p:nvPicPr>
          <p:cNvPr id="11" name="Picture 10">
            <a:extLst>
              <a:ext uri="{FF2B5EF4-FFF2-40B4-BE49-F238E27FC236}">
                <a16:creationId xmlns:a16="http://schemas.microsoft.com/office/drawing/2014/main" id="{7CB220B6-8727-C24B-2AD9-5D8AEDDE53E1}"/>
              </a:ext>
            </a:extLst>
          </p:cNvPr>
          <p:cNvPicPr>
            <a:picLocks noChangeAspect="1"/>
          </p:cNvPicPr>
          <p:nvPr/>
        </p:nvPicPr>
        <p:blipFill>
          <a:blip r:embed="rId6"/>
          <a:stretch>
            <a:fillRect/>
          </a:stretch>
        </p:blipFill>
        <p:spPr>
          <a:xfrm>
            <a:off x="1180145" y="10616034"/>
            <a:ext cx="11371428" cy="952380"/>
          </a:xfrm>
          <a:prstGeom prst="rect">
            <a:avLst/>
          </a:prstGeom>
        </p:spPr>
      </p:pic>
    </p:spTree>
    <p:extLst>
      <p:ext uri="{BB962C8B-B14F-4D97-AF65-F5344CB8AC3E}">
        <p14:creationId xmlns:p14="http://schemas.microsoft.com/office/powerpoint/2010/main" val="1506331480"/>
      </p:ext>
    </p:extLst>
  </p:cSld>
  <p:clrMapOvr>
    <a:masterClrMapping/>
  </p:clrMapOvr>
  <p:transition spd="slow"/>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 name="Shape 126"/>
          <p:cNvSpPr/>
          <p:nvPr/>
        </p:nvSpPr>
        <p:spPr>
          <a:xfrm>
            <a:off x="952498" y="459786"/>
            <a:ext cx="25348286" cy="1815882"/>
          </a:xfrm>
          <a:prstGeom prst="rect">
            <a:avLst/>
          </a:prstGeom>
          <a:ln w="12700">
            <a:miter lim="400000"/>
          </a:ln>
          <a:extLst>
            <a:ext uri="{C572A759-6A51-4108-AA02-DFA0A04FC94B}">
              <ma14:wrappingTextBoxFlag xmlns:ma14="http://schemas.microsoft.com/office/mac/drawingml/2011/main" xmlns="" val="1"/>
            </a:ext>
          </a:extLst>
        </p:spPr>
        <p:txBody>
          <a:bodyPr wrap="none" lIns="76200" tIns="76200" rIns="76200" bIns="76200">
            <a:spAutoFit/>
          </a:bodyPr>
          <a:lstStyle>
            <a:lvl1pPr algn="l">
              <a:defRPr sz="7000">
                <a:latin typeface="Alright Sans"/>
                <a:ea typeface="Alright Sans"/>
                <a:cs typeface="Alright Sans"/>
                <a:sym typeface="Alright Sans"/>
              </a:defRPr>
            </a:lvl1pPr>
          </a:lstStyle>
          <a:p>
            <a:pPr>
              <a:defRPr sz="3000">
                <a:latin typeface="Alright Sans"/>
                <a:ea typeface="Alright Sans"/>
                <a:cs typeface="Alright Sans"/>
                <a:sym typeface="Alright Sans"/>
              </a:defRPr>
            </a:pPr>
            <a:r>
              <a:rPr lang="en-US" sz="10800" dirty="0">
                <a:latin typeface="Open Sans" panose="020B0606030504020204" pitchFamily="34" charset="0"/>
                <a:ea typeface="Open Sans" panose="020B0606030504020204" pitchFamily="34" charset="0"/>
                <a:cs typeface="Open Sans" panose="020B0606030504020204" pitchFamily="34" charset="0"/>
              </a:rPr>
              <a:t>Lambda expressions that return values</a:t>
            </a:r>
          </a:p>
        </p:txBody>
      </p:sp>
      <p:sp>
        <p:nvSpPr>
          <p:cNvPr id="128" name="Shape 128"/>
          <p:cNvSpPr/>
          <p:nvPr/>
        </p:nvSpPr>
        <p:spPr>
          <a:xfrm>
            <a:off x="952500" y="18210515"/>
            <a:ext cx="34782668" cy="2"/>
          </a:xfrm>
          <a:prstGeom prst="line">
            <a:avLst/>
          </a:prstGeom>
          <a:ln w="76200">
            <a:solidFill>
              <a:schemeClr val="accent1">
                <a:satOff val="-3355"/>
                <a:lumOff val="26614"/>
              </a:schemeClr>
            </a:solidFill>
            <a:miter lim="400000"/>
          </a:ln>
        </p:spPr>
        <p:txBody>
          <a:bodyPr lIns="76200" tIns="76200" rIns="76200" bIns="76200" anchor="ctr"/>
          <a:lstStyle/>
          <a:p>
            <a:pPr>
              <a:defRPr sz="3200"/>
            </a:pPr>
            <a:endParaRPr sz="4800"/>
          </a:p>
        </p:txBody>
      </p:sp>
      <p:pic>
        <p:nvPicPr>
          <p:cNvPr id="129" name="Logo.png"/>
          <p:cNvPicPr>
            <a:picLocks noChangeAspect="1"/>
          </p:cNvPicPr>
          <p:nvPr/>
        </p:nvPicPr>
        <p:blipFill>
          <a:blip r:embed="rId3"/>
          <a:stretch>
            <a:fillRect/>
          </a:stretch>
        </p:blipFill>
        <p:spPr>
          <a:xfrm>
            <a:off x="14650974" y="18489726"/>
            <a:ext cx="6321552" cy="1392336"/>
          </a:xfrm>
          <a:prstGeom prst="rect">
            <a:avLst/>
          </a:prstGeom>
          <a:ln w="12700">
            <a:miter lim="400000"/>
          </a:ln>
        </p:spPr>
      </p:pic>
      <p:sp>
        <p:nvSpPr>
          <p:cNvPr id="9" name="Shape 127"/>
          <p:cNvSpPr/>
          <p:nvPr/>
        </p:nvSpPr>
        <p:spPr>
          <a:xfrm flipV="1">
            <a:off x="952499" y="2203340"/>
            <a:ext cx="34782670" cy="38132"/>
          </a:xfrm>
          <a:prstGeom prst="line">
            <a:avLst/>
          </a:prstGeom>
          <a:ln w="152400">
            <a:solidFill>
              <a:schemeClr val="accent1">
                <a:satOff val="-3355"/>
                <a:lumOff val="26614"/>
              </a:schemeClr>
            </a:solidFill>
            <a:miter lim="400000"/>
          </a:ln>
        </p:spPr>
        <p:txBody>
          <a:bodyPr lIns="76200" tIns="76200" rIns="76200" bIns="76200" anchor="ctr"/>
          <a:lstStyle/>
          <a:p>
            <a:pPr>
              <a:defRPr sz="3200"/>
            </a:pPr>
            <a:endParaRPr sz="4800"/>
          </a:p>
        </p:txBody>
      </p:sp>
      <p:sp>
        <p:nvSpPr>
          <p:cNvPr id="10" name="Shape 131"/>
          <p:cNvSpPr/>
          <p:nvPr/>
        </p:nvSpPr>
        <p:spPr>
          <a:xfrm>
            <a:off x="952500" y="18489726"/>
            <a:ext cx="16008688" cy="1308050"/>
          </a:xfrm>
          <a:prstGeom prst="rect">
            <a:avLst/>
          </a:prstGeom>
          <a:ln w="12700">
            <a:miter lim="400000"/>
          </a:ln>
          <a:extLst>
            <a:ext uri="{C572A759-6A51-4108-AA02-DFA0A04FC94B}">
              <ma14:wrappingTextBoxFlag xmlns="" xmlns:ma14="http://schemas.microsoft.com/office/mac/drawingml/2011/main" val="1"/>
            </a:ext>
          </a:extLst>
        </p:spPr>
        <p:txBody>
          <a:bodyPr lIns="76200" tIns="76200" rIns="76200" bIns="76200">
            <a:spAutoFit/>
          </a:bodyPr>
          <a:lstStyle/>
          <a:p>
            <a:pPr algn="l">
              <a:defRPr sz="2000">
                <a:latin typeface="Alright Sans"/>
                <a:ea typeface="Alright Sans"/>
                <a:cs typeface="Alright Sans"/>
                <a:sym typeface="Alright Sans"/>
              </a:defRPr>
            </a:pPr>
            <a:r>
              <a:rPr lang="en-US" sz="3000" dirty="0">
                <a:latin typeface="Open Sans" panose="020B0606030504020204" pitchFamily="34" charset="0"/>
                <a:ea typeface="Open Sans" panose="020B0606030504020204" pitchFamily="34" charset="0"/>
                <a:cs typeface="Open Sans" panose="020B0606030504020204" pitchFamily="34" charset="0"/>
              </a:rPr>
              <a:t>COMPLETE JAVA MASTERCLASS</a:t>
            </a:r>
          </a:p>
          <a:p>
            <a:pPr algn="l">
              <a:defRPr sz="3000">
                <a:latin typeface="Alright Sans"/>
                <a:ea typeface="Alright Sans"/>
                <a:cs typeface="Alright Sans"/>
                <a:sym typeface="Alright Sans"/>
              </a:defRPr>
            </a:pPr>
            <a:r>
              <a:rPr lang="en-US" sz="4500" dirty="0">
                <a:latin typeface="Open Sans" panose="020B0606030504020204" pitchFamily="34" charset="0"/>
                <a:ea typeface="Open Sans" panose="020B0606030504020204" pitchFamily="34" charset="0"/>
                <a:cs typeface="Open Sans" panose="020B0606030504020204" pitchFamily="34" charset="0"/>
              </a:rPr>
              <a:t>Lambda Expressions, Continued</a:t>
            </a:r>
          </a:p>
        </p:txBody>
      </p:sp>
      <p:sp>
        <p:nvSpPr>
          <p:cNvPr id="8" name="Rectangle 7">
            <a:extLst>
              <a:ext uri="{FF2B5EF4-FFF2-40B4-BE49-F238E27FC236}">
                <a16:creationId xmlns:a16="http://schemas.microsoft.com/office/drawing/2014/main" id="{89DBB243-EF27-4345-872D-E76597E95619}"/>
              </a:ext>
            </a:extLst>
          </p:cNvPr>
          <p:cNvSpPr/>
          <p:nvPr/>
        </p:nvSpPr>
        <p:spPr>
          <a:xfrm>
            <a:off x="952501" y="4285904"/>
            <a:ext cx="34782670" cy="11880176"/>
          </a:xfrm>
          <a:prstGeom prst="rect">
            <a:avLst/>
          </a:prstGeom>
        </p:spPr>
        <p:txBody>
          <a:bodyPr wrap="square">
            <a:normAutofit/>
          </a:bodyPr>
          <a:lstStyle/>
          <a:p>
            <a:pPr algn="l">
              <a:spcAft>
                <a:spcPts val="5022"/>
              </a:spcAft>
            </a:pPr>
            <a:r>
              <a:rPr lang="en-US" sz="6400" dirty="0">
                <a:latin typeface="Open Sans" panose="020B0606030504020204" pitchFamily="34" charset="0"/>
                <a:ea typeface="Open Sans" panose="020B0606030504020204" pitchFamily="34" charset="0"/>
                <a:cs typeface="Open Sans" panose="020B0606030504020204" pitchFamily="34" charset="0"/>
              </a:rPr>
              <a:t>This slide shows the two rules for returning values from a lambda expression.</a:t>
            </a:r>
          </a:p>
        </p:txBody>
      </p:sp>
      <p:graphicFrame>
        <p:nvGraphicFramePr>
          <p:cNvPr id="2" name="Table 1">
            <a:extLst>
              <a:ext uri="{FF2B5EF4-FFF2-40B4-BE49-F238E27FC236}">
                <a16:creationId xmlns:a16="http://schemas.microsoft.com/office/drawing/2014/main" id="{CAB673AD-530E-0DB4-7E1D-DDF41881A505}"/>
              </a:ext>
            </a:extLst>
          </p:cNvPr>
          <p:cNvGraphicFramePr>
            <a:graphicFrameLocks noGrp="1"/>
          </p:cNvGraphicFramePr>
          <p:nvPr/>
        </p:nvGraphicFramePr>
        <p:xfrm>
          <a:off x="952501" y="5790809"/>
          <a:ext cx="34782667" cy="8510857"/>
        </p:xfrm>
        <a:graphic>
          <a:graphicData uri="http://schemas.openxmlformats.org/drawingml/2006/table">
            <a:tbl>
              <a:tblPr firstRow="1" bandRow="1">
                <a:tableStyleId>{5C22544A-7EE6-4342-B048-85BDC9FD1C3A}</a:tableStyleId>
              </a:tblPr>
              <a:tblGrid>
                <a:gridCol w="16047875">
                  <a:extLst>
                    <a:ext uri="{9D8B030D-6E8A-4147-A177-3AD203B41FA5}">
                      <a16:colId xmlns:a16="http://schemas.microsoft.com/office/drawing/2014/main" val="2844207666"/>
                    </a:ext>
                  </a:extLst>
                </a:gridCol>
                <a:gridCol w="18734792">
                  <a:extLst>
                    <a:ext uri="{9D8B030D-6E8A-4147-A177-3AD203B41FA5}">
                      <a16:colId xmlns:a16="http://schemas.microsoft.com/office/drawing/2014/main" val="1891655341"/>
                    </a:ext>
                  </a:extLst>
                </a:gridCol>
              </a:tblGrid>
              <a:tr h="1151167">
                <a:tc>
                  <a:txBody>
                    <a:bodyPr/>
                    <a:lstStyle/>
                    <a:p>
                      <a:pPr marL="180000" algn="l"/>
                      <a:r>
                        <a:rPr lang="en-US" sz="5400" dirty="0">
                          <a:solidFill>
                            <a:schemeClr val="tx1"/>
                          </a:solidFill>
                          <a:latin typeface="Open Sans" panose="020B0606030504020204" pitchFamily="34" charset="0"/>
                          <a:ea typeface="Open Sans" panose="020B0606030504020204" pitchFamily="34" charset="0"/>
                          <a:cs typeface="Open Sans" panose="020B0606030504020204" pitchFamily="34" charset="0"/>
                        </a:rPr>
                        <a:t>Lambda Expression</a:t>
                      </a:r>
                      <a:endParaRPr lang="en-PH" sz="5400" dirty="0">
                        <a:solidFill>
                          <a:schemeClr val="tx1"/>
                        </a:solidFill>
                        <a:latin typeface="Open Sans" panose="020B0606030504020204" pitchFamily="34" charset="0"/>
                        <a:ea typeface="Open Sans" panose="020B0606030504020204" pitchFamily="34" charset="0"/>
                        <a:cs typeface="Open Sans" panose="020B0606030504020204" pitchFamily="34" charset="0"/>
                      </a:endParaRPr>
                    </a:p>
                  </a:txBody>
                  <a:tcPr marL="86794" marR="86794" marT="43397" marB="43397">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BE4D5"/>
                    </a:solidFill>
                  </a:tcPr>
                </a:tc>
                <a:tc>
                  <a:txBody>
                    <a:bodyPr/>
                    <a:lstStyle/>
                    <a:p>
                      <a:pPr marL="180000" algn="l"/>
                      <a:r>
                        <a:rPr lang="en-US" sz="5400" dirty="0">
                          <a:solidFill>
                            <a:schemeClr val="tx1"/>
                          </a:solidFill>
                          <a:latin typeface="Open Sans" panose="020B0606030504020204" pitchFamily="34" charset="0"/>
                          <a:ea typeface="Open Sans" panose="020B0606030504020204" pitchFamily="34" charset="0"/>
                          <a:cs typeface="Open Sans" panose="020B0606030504020204" pitchFamily="34" charset="0"/>
                        </a:rPr>
                        <a:t>Description</a:t>
                      </a:r>
                      <a:endParaRPr lang="en-PH" sz="5400" dirty="0">
                        <a:solidFill>
                          <a:schemeClr val="tx1"/>
                        </a:solidFill>
                        <a:latin typeface="Open Sans" panose="020B0606030504020204" pitchFamily="34" charset="0"/>
                        <a:ea typeface="Open Sans" panose="020B0606030504020204" pitchFamily="34" charset="0"/>
                        <a:cs typeface="Open Sans" panose="020B0606030504020204" pitchFamily="34" charset="0"/>
                      </a:endParaRPr>
                    </a:p>
                  </a:txBody>
                  <a:tcPr marL="86794" marR="86794" marT="43397" marB="43397">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BE4D5"/>
                    </a:solidFill>
                  </a:tcPr>
                </a:tc>
                <a:extLst>
                  <a:ext uri="{0D108BD9-81ED-4DB2-BD59-A6C34878D82A}">
                    <a16:rowId xmlns:a16="http://schemas.microsoft.com/office/drawing/2014/main" val="3978129174"/>
                  </a:ext>
                </a:extLst>
              </a:tr>
              <a:tr h="3042006">
                <a:tc>
                  <a:txBody>
                    <a:bodyPr/>
                    <a:lstStyle/>
                    <a:p>
                      <a:pPr marL="180000" marR="0" lvl="0" indent="0" algn="l" defTabSz="914400" rtl="0" eaLnBrk="1" fontAlgn="auto" latinLnBrk="0" hangingPunct="1">
                        <a:lnSpc>
                          <a:spcPct val="100000"/>
                        </a:lnSpc>
                        <a:spcBef>
                          <a:spcPts val="0"/>
                        </a:spcBef>
                        <a:spcAft>
                          <a:spcPts val="1000"/>
                        </a:spcAft>
                        <a:buClr>
                          <a:srgbClr val="000000"/>
                        </a:buClr>
                        <a:buSzTx/>
                        <a:buFont typeface="Arial" panose="020B0604020202020204" pitchFamily="34" charset="0"/>
                        <a:buNone/>
                        <a:tabLst/>
                        <a:defRPr/>
                      </a:pPr>
                      <a:endParaRPr lang="en-US" sz="5400" b="0" dirty="0">
                        <a:solidFill>
                          <a:schemeClr val="tx1"/>
                        </a:solidFill>
                        <a:latin typeface="Open Sans" panose="020B0606030504020204" pitchFamily="34" charset="0"/>
                        <a:ea typeface="Open Sans" panose="020B0606030504020204" pitchFamily="34" charset="0"/>
                        <a:cs typeface="Open Sans" panose="020B0606030504020204" pitchFamily="34" charset="0"/>
                      </a:endParaRPr>
                    </a:p>
                  </a:txBody>
                  <a:tcPr marL="86794" marR="86794" marT="43397" marB="43397">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180000" marR="0" lvl="0" indent="0" algn="l" defTabSz="914400" rtl="0" eaLnBrk="1" fontAlgn="auto" latinLnBrk="0" hangingPunct="1">
                        <a:lnSpc>
                          <a:spcPct val="100000"/>
                        </a:lnSpc>
                        <a:spcBef>
                          <a:spcPts val="0"/>
                        </a:spcBef>
                        <a:spcAft>
                          <a:spcPts val="1000"/>
                        </a:spcAft>
                        <a:buClr>
                          <a:srgbClr val="000000"/>
                        </a:buClr>
                        <a:buSzTx/>
                        <a:buFont typeface="Arial" panose="020B0604020202020204" pitchFamily="34" charset="0"/>
                        <a:buNone/>
                        <a:tabLst/>
                        <a:defRPr/>
                      </a:pPr>
                      <a:r>
                        <a:rPr lang="en-US" sz="5400" b="0" dirty="0">
                          <a:solidFill>
                            <a:schemeClr val="tx1"/>
                          </a:solidFill>
                          <a:latin typeface="Open Sans" panose="020B0606030504020204" pitchFamily="34" charset="0"/>
                          <a:ea typeface="Open Sans" panose="020B0606030504020204" pitchFamily="34" charset="0"/>
                          <a:cs typeface="Open Sans" panose="020B0606030504020204" pitchFamily="34" charset="0"/>
                        </a:rPr>
                        <a:t>when not using curly braces, the return keyword is unnecessary, and will throw a compiler error.</a:t>
                      </a:r>
                    </a:p>
                  </a:txBody>
                  <a:tcPr marL="86794" marR="86794" marT="43397" marB="43397">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40325450"/>
                  </a:ext>
                </a:extLst>
              </a:tr>
              <a:tr h="4317684">
                <a:tc>
                  <a:txBody>
                    <a:bodyPr/>
                    <a:lstStyle/>
                    <a:p>
                      <a:pPr marL="180000" marR="0" lvl="0" indent="0" algn="l" defTabSz="914400" rtl="0" eaLnBrk="1" fontAlgn="auto" latinLnBrk="0" hangingPunct="1">
                        <a:lnSpc>
                          <a:spcPct val="100000"/>
                        </a:lnSpc>
                        <a:spcBef>
                          <a:spcPts val="0"/>
                        </a:spcBef>
                        <a:spcAft>
                          <a:spcPts val="1000"/>
                        </a:spcAft>
                        <a:buClr>
                          <a:srgbClr val="000000"/>
                        </a:buClr>
                        <a:buSzTx/>
                        <a:buFont typeface="Arial" panose="020B0604020202020204" pitchFamily="34" charset="0"/>
                        <a:buNone/>
                        <a:tabLst/>
                        <a:defRPr/>
                      </a:pPr>
                      <a:endParaRPr lang="en-US" sz="5400" b="0" dirty="0">
                        <a:solidFill>
                          <a:schemeClr val="tx1"/>
                        </a:solidFill>
                        <a:latin typeface="Open Sans" panose="020B0606030504020204" pitchFamily="34" charset="0"/>
                        <a:ea typeface="Open Sans" panose="020B0606030504020204" pitchFamily="34" charset="0"/>
                        <a:cs typeface="Open Sans" panose="020B0606030504020204" pitchFamily="34" charset="0"/>
                      </a:endParaRPr>
                    </a:p>
                  </a:txBody>
                  <a:tcPr marL="86794" marR="86794" marT="43397" marB="43397">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180000" marR="0" lvl="0" indent="0" algn="l" defTabSz="914400" rtl="0" eaLnBrk="1" fontAlgn="auto" latinLnBrk="0" hangingPunct="1">
                        <a:lnSpc>
                          <a:spcPct val="100000"/>
                        </a:lnSpc>
                        <a:spcBef>
                          <a:spcPts val="0"/>
                        </a:spcBef>
                        <a:spcAft>
                          <a:spcPts val="1000"/>
                        </a:spcAft>
                        <a:buClr>
                          <a:srgbClr val="000000"/>
                        </a:buClr>
                        <a:buSzTx/>
                        <a:buFont typeface="Arial" panose="020B0604020202020204" pitchFamily="34" charset="0"/>
                        <a:buNone/>
                        <a:tabLst/>
                        <a:defRPr/>
                      </a:pPr>
                      <a:r>
                        <a:rPr lang="en-US" sz="5400" b="0" dirty="0">
                          <a:solidFill>
                            <a:schemeClr val="tx1"/>
                          </a:solidFill>
                          <a:latin typeface="Open Sans" panose="020B0606030504020204" pitchFamily="34" charset="0"/>
                          <a:ea typeface="Open Sans" panose="020B0606030504020204" pitchFamily="34" charset="0"/>
                          <a:cs typeface="Open Sans" panose="020B0606030504020204" pitchFamily="34" charset="0"/>
                        </a:rPr>
                        <a:t>If you use a statement block, meaning you use the curly braces, a return is required.</a:t>
                      </a:r>
                    </a:p>
                  </a:txBody>
                  <a:tcPr marL="86794" marR="86794" marT="43397" marB="43397">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176051077"/>
                  </a:ext>
                </a:extLst>
              </a:tr>
            </a:tbl>
          </a:graphicData>
        </a:graphic>
      </p:graphicFrame>
      <p:pic>
        <p:nvPicPr>
          <p:cNvPr id="5" name="Picture 4">
            <a:extLst>
              <a:ext uri="{FF2B5EF4-FFF2-40B4-BE49-F238E27FC236}">
                <a16:creationId xmlns:a16="http://schemas.microsoft.com/office/drawing/2014/main" id="{9F9127FA-992E-26C3-4E40-E4B0BA93A69D}"/>
              </a:ext>
            </a:extLst>
          </p:cNvPr>
          <p:cNvPicPr>
            <a:picLocks noChangeAspect="1"/>
          </p:cNvPicPr>
          <p:nvPr/>
        </p:nvPicPr>
        <p:blipFill>
          <a:blip r:embed="rId4"/>
          <a:stretch>
            <a:fillRect/>
          </a:stretch>
        </p:blipFill>
        <p:spPr>
          <a:xfrm>
            <a:off x="1106766" y="7076171"/>
            <a:ext cx="7561904" cy="971428"/>
          </a:xfrm>
          <a:prstGeom prst="rect">
            <a:avLst/>
          </a:prstGeom>
        </p:spPr>
      </p:pic>
      <p:pic>
        <p:nvPicPr>
          <p:cNvPr id="12" name="Picture 11">
            <a:extLst>
              <a:ext uri="{FF2B5EF4-FFF2-40B4-BE49-F238E27FC236}">
                <a16:creationId xmlns:a16="http://schemas.microsoft.com/office/drawing/2014/main" id="{0B4EBB46-9200-57D5-45E2-937A1DB4DCB8}"/>
              </a:ext>
            </a:extLst>
          </p:cNvPr>
          <p:cNvPicPr>
            <a:picLocks noChangeAspect="1"/>
          </p:cNvPicPr>
          <p:nvPr/>
        </p:nvPicPr>
        <p:blipFill>
          <a:blip r:embed="rId5"/>
          <a:stretch>
            <a:fillRect/>
          </a:stretch>
        </p:blipFill>
        <p:spPr>
          <a:xfrm>
            <a:off x="1106766" y="10109648"/>
            <a:ext cx="9904762" cy="3866666"/>
          </a:xfrm>
          <a:prstGeom prst="rect">
            <a:avLst/>
          </a:prstGeom>
        </p:spPr>
      </p:pic>
    </p:spTree>
    <p:extLst>
      <p:ext uri="{BB962C8B-B14F-4D97-AF65-F5344CB8AC3E}">
        <p14:creationId xmlns:p14="http://schemas.microsoft.com/office/powerpoint/2010/main" val="288261499"/>
      </p:ext>
    </p:extLst>
  </p:cSld>
  <p:clrMapOvr>
    <a:masterClrMapping/>
  </p:clrMapOvr>
  <p:transition spd="slow"/>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 name="Shape 126"/>
          <p:cNvSpPr/>
          <p:nvPr/>
        </p:nvSpPr>
        <p:spPr>
          <a:xfrm>
            <a:off x="952498" y="459786"/>
            <a:ext cx="10873169" cy="1815882"/>
          </a:xfrm>
          <a:prstGeom prst="rect">
            <a:avLst/>
          </a:prstGeom>
          <a:ln w="12700">
            <a:miter lim="400000"/>
          </a:ln>
          <a:extLst>
            <a:ext uri="{C572A759-6A51-4108-AA02-DFA0A04FC94B}">
              <ma14:wrappingTextBoxFlag xmlns="" xmlns:ma14="http://schemas.microsoft.com/office/mac/drawingml/2011/main" val="1"/>
            </a:ext>
          </a:extLst>
        </p:spPr>
        <p:txBody>
          <a:bodyPr wrap="none" lIns="76200" tIns="76200" rIns="76200" bIns="76200">
            <a:spAutoFit/>
          </a:bodyPr>
          <a:lstStyle>
            <a:lvl1pPr algn="l">
              <a:defRPr sz="7000">
                <a:latin typeface="Alright Sans"/>
                <a:ea typeface="Alright Sans"/>
                <a:cs typeface="Alright Sans"/>
                <a:sym typeface="Alright Sans"/>
              </a:defRPr>
            </a:lvl1pPr>
          </a:lstStyle>
          <a:p>
            <a:pPr>
              <a:defRPr sz="3000">
                <a:latin typeface="Alright Sans"/>
                <a:ea typeface="Alright Sans"/>
                <a:cs typeface="Alright Sans"/>
                <a:sym typeface="Alright Sans"/>
              </a:defRPr>
            </a:pPr>
            <a:r>
              <a:rPr lang="en-US" sz="10800" dirty="0" err="1">
                <a:latin typeface="Open Sans" panose="020B0606030504020204" pitchFamily="34" charset="0"/>
                <a:ea typeface="Open Sans" panose="020B0606030504020204" pitchFamily="34" charset="0"/>
                <a:cs typeface="Open Sans" panose="020B0606030504020204" pitchFamily="34" charset="0"/>
              </a:rPr>
              <a:t>java.util.function</a:t>
            </a:r>
            <a:endParaRPr lang="en-US" sz="10800" dirty="0">
              <a:latin typeface="Open Sans" panose="020B0606030504020204" pitchFamily="34" charset="0"/>
              <a:ea typeface="Open Sans" panose="020B0606030504020204" pitchFamily="34" charset="0"/>
              <a:cs typeface="Open Sans" panose="020B0606030504020204" pitchFamily="34" charset="0"/>
            </a:endParaRPr>
          </a:p>
        </p:txBody>
      </p:sp>
      <p:sp>
        <p:nvSpPr>
          <p:cNvPr id="128" name="Shape 128"/>
          <p:cNvSpPr/>
          <p:nvPr/>
        </p:nvSpPr>
        <p:spPr>
          <a:xfrm>
            <a:off x="952500" y="18210515"/>
            <a:ext cx="34782668" cy="2"/>
          </a:xfrm>
          <a:prstGeom prst="line">
            <a:avLst/>
          </a:prstGeom>
          <a:ln w="76200">
            <a:solidFill>
              <a:schemeClr val="accent1">
                <a:satOff val="-3355"/>
                <a:lumOff val="26614"/>
              </a:schemeClr>
            </a:solidFill>
            <a:miter lim="400000"/>
          </a:ln>
        </p:spPr>
        <p:txBody>
          <a:bodyPr lIns="76200" tIns="76200" rIns="76200" bIns="76200" anchor="ctr"/>
          <a:lstStyle/>
          <a:p>
            <a:pPr>
              <a:defRPr sz="3200"/>
            </a:pPr>
            <a:endParaRPr sz="4800"/>
          </a:p>
        </p:txBody>
      </p:sp>
      <p:pic>
        <p:nvPicPr>
          <p:cNvPr id="129" name="Logo.png"/>
          <p:cNvPicPr>
            <a:picLocks noChangeAspect="1"/>
          </p:cNvPicPr>
          <p:nvPr/>
        </p:nvPicPr>
        <p:blipFill>
          <a:blip r:embed="rId3"/>
          <a:stretch>
            <a:fillRect/>
          </a:stretch>
        </p:blipFill>
        <p:spPr>
          <a:xfrm>
            <a:off x="14650974" y="18489726"/>
            <a:ext cx="6321552" cy="1392336"/>
          </a:xfrm>
          <a:prstGeom prst="rect">
            <a:avLst/>
          </a:prstGeom>
          <a:ln w="12700">
            <a:miter lim="400000"/>
          </a:ln>
        </p:spPr>
      </p:pic>
      <p:sp>
        <p:nvSpPr>
          <p:cNvPr id="9" name="Shape 127"/>
          <p:cNvSpPr/>
          <p:nvPr/>
        </p:nvSpPr>
        <p:spPr>
          <a:xfrm flipV="1">
            <a:off x="952499" y="2203340"/>
            <a:ext cx="34782670" cy="38132"/>
          </a:xfrm>
          <a:prstGeom prst="line">
            <a:avLst/>
          </a:prstGeom>
          <a:ln w="152400">
            <a:solidFill>
              <a:schemeClr val="accent1">
                <a:satOff val="-3355"/>
                <a:lumOff val="26614"/>
              </a:schemeClr>
            </a:solidFill>
            <a:miter lim="400000"/>
          </a:ln>
        </p:spPr>
        <p:txBody>
          <a:bodyPr lIns="76200" tIns="76200" rIns="76200" bIns="76200" anchor="ctr"/>
          <a:lstStyle/>
          <a:p>
            <a:pPr>
              <a:defRPr sz="3200"/>
            </a:pPr>
            <a:endParaRPr sz="4800"/>
          </a:p>
        </p:txBody>
      </p:sp>
      <p:sp>
        <p:nvSpPr>
          <p:cNvPr id="10" name="Shape 131"/>
          <p:cNvSpPr/>
          <p:nvPr/>
        </p:nvSpPr>
        <p:spPr>
          <a:xfrm>
            <a:off x="952500" y="18489726"/>
            <a:ext cx="16008688" cy="1308050"/>
          </a:xfrm>
          <a:prstGeom prst="rect">
            <a:avLst/>
          </a:prstGeom>
          <a:ln w="12700">
            <a:miter lim="400000"/>
          </a:ln>
          <a:extLst>
            <a:ext uri="{C572A759-6A51-4108-AA02-DFA0A04FC94B}">
              <ma14:wrappingTextBoxFlag xmlns:ma14="http://schemas.microsoft.com/office/mac/drawingml/2011/main" xmlns="" val="1"/>
            </a:ext>
          </a:extLst>
        </p:spPr>
        <p:txBody>
          <a:bodyPr lIns="76200" tIns="76200" rIns="76200" bIns="76200">
            <a:spAutoFit/>
          </a:bodyPr>
          <a:lstStyle/>
          <a:p>
            <a:pPr algn="l">
              <a:defRPr sz="2000">
                <a:latin typeface="Alright Sans"/>
                <a:ea typeface="Alright Sans"/>
                <a:cs typeface="Alright Sans"/>
                <a:sym typeface="Alright Sans"/>
              </a:defRPr>
            </a:pPr>
            <a:r>
              <a:rPr lang="en-US" sz="3000" dirty="0">
                <a:latin typeface="Open Sans" panose="020B0606030504020204" pitchFamily="34" charset="0"/>
                <a:ea typeface="Open Sans" panose="020B0606030504020204" pitchFamily="34" charset="0"/>
                <a:cs typeface="Open Sans" panose="020B0606030504020204" pitchFamily="34" charset="0"/>
              </a:rPr>
              <a:t>COMPLETE JAVA MASTERCLASS</a:t>
            </a:r>
          </a:p>
          <a:p>
            <a:pPr algn="l">
              <a:defRPr sz="3000">
                <a:latin typeface="Alright Sans"/>
                <a:ea typeface="Alright Sans"/>
                <a:cs typeface="Alright Sans"/>
                <a:sym typeface="Alright Sans"/>
              </a:defRPr>
            </a:pPr>
            <a:r>
              <a:rPr lang="en-US" sz="4500" dirty="0">
                <a:latin typeface="Open Sans" panose="020B0606030504020204" pitchFamily="34" charset="0"/>
                <a:ea typeface="Open Sans" panose="020B0606030504020204" pitchFamily="34" charset="0"/>
                <a:cs typeface="Open Sans" panose="020B0606030504020204" pitchFamily="34" charset="0"/>
              </a:rPr>
              <a:t>Java's Functional Interfaces, Consumer &amp; Predicate</a:t>
            </a:r>
          </a:p>
        </p:txBody>
      </p:sp>
      <p:sp>
        <p:nvSpPr>
          <p:cNvPr id="8" name="Rectangle 7">
            <a:extLst>
              <a:ext uri="{FF2B5EF4-FFF2-40B4-BE49-F238E27FC236}">
                <a16:creationId xmlns:a16="http://schemas.microsoft.com/office/drawing/2014/main" id="{89DBB243-EF27-4345-872D-E76597E95619}"/>
              </a:ext>
            </a:extLst>
          </p:cNvPr>
          <p:cNvSpPr/>
          <p:nvPr/>
        </p:nvSpPr>
        <p:spPr>
          <a:xfrm>
            <a:off x="952501" y="4285904"/>
            <a:ext cx="34782670" cy="11880176"/>
          </a:xfrm>
          <a:prstGeom prst="rect">
            <a:avLst/>
          </a:prstGeom>
        </p:spPr>
        <p:txBody>
          <a:bodyPr wrap="square">
            <a:normAutofit/>
          </a:bodyPr>
          <a:lstStyle/>
          <a:p>
            <a:pPr algn="l">
              <a:spcAft>
                <a:spcPts val="5022"/>
              </a:spcAft>
            </a:pPr>
            <a:r>
              <a:rPr lang="en-US" sz="6400" dirty="0">
                <a:latin typeface="Open Sans" panose="020B0606030504020204" pitchFamily="34" charset="0"/>
                <a:ea typeface="Open Sans" panose="020B0606030504020204" pitchFamily="34" charset="0"/>
                <a:cs typeface="Open Sans" panose="020B0606030504020204" pitchFamily="34" charset="0"/>
              </a:rPr>
              <a:t>Java provides a library of functional interfaces in the </a:t>
            </a:r>
            <a:r>
              <a:rPr lang="en-US" sz="6400" dirty="0" err="1">
                <a:latin typeface="Open Sans" panose="020B0606030504020204" pitchFamily="34" charset="0"/>
                <a:ea typeface="Open Sans" panose="020B0606030504020204" pitchFamily="34" charset="0"/>
                <a:cs typeface="Open Sans" panose="020B0606030504020204" pitchFamily="34" charset="0"/>
              </a:rPr>
              <a:t>java.util.function</a:t>
            </a:r>
            <a:r>
              <a:rPr lang="en-US" sz="6400" dirty="0">
                <a:latin typeface="Open Sans" panose="020B0606030504020204" pitchFamily="34" charset="0"/>
                <a:ea typeface="Open Sans" panose="020B0606030504020204" pitchFamily="34" charset="0"/>
                <a:cs typeface="Open Sans" panose="020B0606030504020204" pitchFamily="34" charset="0"/>
              </a:rPr>
              <a:t> package.</a:t>
            </a:r>
          </a:p>
          <a:p>
            <a:pPr algn="l">
              <a:spcAft>
                <a:spcPts val="5022"/>
              </a:spcAft>
            </a:pPr>
            <a:r>
              <a:rPr lang="en-US" sz="6400" dirty="0">
                <a:latin typeface="Open Sans" panose="020B0606030504020204" pitchFamily="34" charset="0"/>
                <a:ea typeface="Open Sans" panose="020B0606030504020204" pitchFamily="34" charset="0"/>
                <a:cs typeface="Open Sans" panose="020B0606030504020204" pitchFamily="34" charset="0"/>
              </a:rPr>
              <a:t>We've looked at one already, the Consumer interface.</a:t>
            </a:r>
          </a:p>
          <a:p>
            <a:pPr algn="l">
              <a:spcAft>
                <a:spcPts val="5022"/>
              </a:spcAft>
            </a:pPr>
            <a:r>
              <a:rPr lang="en-US" sz="6400" dirty="0">
                <a:latin typeface="Open Sans" panose="020B0606030504020204" pitchFamily="34" charset="0"/>
                <a:ea typeface="Open Sans" panose="020B0606030504020204" pitchFamily="34" charset="0"/>
                <a:cs typeface="Open Sans" panose="020B0606030504020204" pitchFamily="34" charset="0"/>
              </a:rPr>
              <a:t>I'll look at another of these interfaces now, the </a:t>
            </a:r>
            <a:r>
              <a:rPr lang="en-US" sz="6400" dirty="0" err="1">
                <a:latin typeface="Open Sans" panose="020B0606030504020204" pitchFamily="34" charset="0"/>
                <a:ea typeface="Open Sans" panose="020B0606030504020204" pitchFamily="34" charset="0"/>
                <a:cs typeface="Open Sans" panose="020B0606030504020204" pitchFamily="34" charset="0"/>
              </a:rPr>
              <a:t>BinaryOperator</a:t>
            </a:r>
            <a:r>
              <a:rPr lang="en-US" sz="6400" dirty="0">
                <a:latin typeface="Open Sans" panose="020B0606030504020204" pitchFamily="34" charset="0"/>
                <a:ea typeface="Open Sans" panose="020B0606030504020204" pitchFamily="34" charset="0"/>
                <a:cs typeface="Open Sans" panose="020B0606030504020204" pitchFamily="34" charset="0"/>
              </a:rPr>
              <a:t>, in code.</a:t>
            </a:r>
          </a:p>
        </p:txBody>
      </p:sp>
    </p:spTree>
    <p:extLst>
      <p:ext uri="{BB962C8B-B14F-4D97-AF65-F5344CB8AC3E}">
        <p14:creationId xmlns:p14="http://schemas.microsoft.com/office/powerpoint/2010/main" val="4215566786"/>
      </p:ext>
    </p:extLst>
  </p:cSld>
  <p:clrMapOvr>
    <a:masterClrMapping/>
  </p:clrMapOvr>
  <p:transition spd="slow"/>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8" name="Shape 128"/>
          <p:cNvSpPr/>
          <p:nvPr/>
        </p:nvSpPr>
        <p:spPr>
          <a:xfrm>
            <a:off x="952500" y="18210515"/>
            <a:ext cx="34782668" cy="2"/>
          </a:xfrm>
          <a:prstGeom prst="line">
            <a:avLst/>
          </a:prstGeom>
          <a:ln w="76200">
            <a:solidFill>
              <a:schemeClr val="accent1">
                <a:satOff val="-3355"/>
                <a:lumOff val="26614"/>
              </a:schemeClr>
            </a:solidFill>
            <a:miter lim="400000"/>
          </a:ln>
        </p:spPr>
        <p:txBody>
          <a:bodyPr lIns="76200" tIns="76200" rIns="76200" bIns="76200" anchor="ctr"/>
          <a:lstStyle/>
          <a:p>
            <a:pPr>
              <a:defRPr sz="3200"/>
            </a:pPr>
            <a:endParaRPr sz="4800"/>
          </a:p>
        </p:txBody>
      </p:sp>
      <p:pic>
        <p:nvPicPr>
          <p:cNvPr id="129" name="Logo.png"/>
          <p:cNvPicPr>
            <a:picLocks noChangeAspect="1"/>
          </p:cNvPicPr>
          <p:nvPr/>
        </p:nvPicPr>
        <p:blipFill>
          <a:blip r:embed="rId3"/>
          <a:stretch>
            <a:fillRect/>
          </a:stretch>
        </p:blipFill>
        <p:spPr>
          <a:xfrm>
            <a:off x="14650974" y="18489726"/>
            <a:ext cx="6321552" cy="1392336"/>
          </a:xfrm>
          <a:prstGeom prst="rect">
            <a:avLst/>
          </a:prstGeom>
          <a:ln w="12700">
            <a:miter lim="400000"/>
          </a:ln>
        </p:spPr>
      </p:pic>
      <p:sp>
        <p:nvSpPr>
          <p:cNvPr id="9" name="Shape 127"/>
          <p:cNvSpPr/>
          <p:nvPr/>
        </p:nvSpPr>
        <p:spPr>
          <a:xfrm flipV="1">
            <a:off x="952499" y="2203340"/>
            <a:ext cx="34782670" cy="38132"/>
          </a:xfrm>
          <a:prstGeom prst="line">
            <a:avLst/>
          </a:prstGeom>
          <a:ln w="152400">
            <a:solidFill>
              <a:schemeClr val="accent1">
                <a:satOff val="-3355"/>
                <a:lumOff val="26614"/>
              </a:schemeClr>
            </a:solidFill>
            <a:miter lim="400000"/>
          </a:ln>
        </p:spPr>
        <p:txBody>
          <a:bodyPr lIns="76200" tIns="76200" rIns="76200" bIns="76200" anchor="ctr"/>
          <a:lstStyle/>
          <a:p>
            <a:pPr>
              <a:defRPr sz="3200"/>
            </a:pPr>
            <a:endParaRPr sz="4800"/>
          </a:p>
        </p:txBody>
      </p:sp>
      <p:sp>
        <p:nvSpPr>
          <p:cNvPr id="10" name="Shape 131"/>
          <p:cNvSpPr/>
          <p:nvPr/>
        </p:nvSpPr>
        <p:spPr>
          <a:xfrm>
            <a:off x="952500" y="18489726"/>
            <a:ext cx="16008688" cy="1308050"/>
          </a:xfrm>
          <a:prstGeom prst="rect">
            <a:avLst/>
          </a:prstGeom>
          <a:ln w="12700">
            <a:miter lim="400000"/>
          </a:ln>
          <a:extLst>
            <a:ext uri="{C572A759-6A51-4108-AA02-DFA0A04FC94B}">
              <ma14:wrappingTextBoxFlag xmlns="" xmlns:ma14="http://schemas.microsoft.com/office/mac/drawingml/2011/main" val="1"/>
            </a:ext>
          </a:extLst>
        </p:spPr>
        <p:txBody>
          <a:bodyPr lIns="76200" tIns="76200" rIns="76200" bIns="76200">
            <a:spAutoFit/>
          </a:bodyPr>
          <a:lstStyle/>
          <a:p>
            <a:pPr algn="l">
              <a:defRPr sz="2000">
                <a:latin typeface="Alright Sans"/>
                <a:ea typeface="Alright Sans"/>
                <a:cs typeface="Alright Sans"/>
                <a:sym typeface="Alright Sans"/>
              </a:defRPr>
            </a:pPr>
            <a:r>
              <a:rPr lang="en-US" sz="3000" dirty="0">
                <a:latin typeface="Open Sans" panose="020B0606030504020204" pitchFamily="34" charset="0"/>
                <a:ea typeface="Open Sans" panose="020B0606030504020204" pitchFamily="34" charset="0"/>
                <a:cs typeface="Open Sans" panose="020B0606030504020204" pitchFamily="34" charset="0"/>
              </a:rPr>
              <a:t>COMPLETE JAVA MASTERCLASS</a:t>
            </a:r>
          </a:p>
          <a:p>
            <a:pPr algn="l">
              <a:defRPr sz="3000">
                <a:latin typeface="Alright Sans"/>
                <a:ea typeface="Alright Sans"/>
                <a:cs typeface="Alright Sans"/>
                <a:sym typeface="Alright Sans"/>
              </a:defRPr>
            </a:pPr>
            <a:r>
              <a:rPr lang="en-US" sz="4500" dirty="0">
                <a:latin typeface="Open Sans" panose="020B0606030504020204" pitchFamily="34" charset="0"/>
                <a:ea typeface="Open Sans" panose="020B0606030504020204" pitchFamily="34" charset="0"/>
                <a:cs typeface="Open Sans" panose="020B0606030504020204" pitchFamily="34" charset="0"/>
              </a:rPr>
              <a:t>Java's Functional Interfaces, Consumer &amp; Predicate</a:t>
            </a:r>
          </a:p>
        </p:txBody>
      </p:sp>
      <p:sp>
        <p:nvSpPr>
          <p:cNvPr id="8" name="Rectangle 7">
            <a:extLst>
              <a:ext uri="{FF2B5EF4-FFF2-40B4-BE49-F238E27FC236}">
                <a16:creationId xmlns:a16="http://schemas.microsoft.com/office/drawing/2014/main" id="{89DBB243-EF27-4345-872D-E76597E95619}"/>
              </a:ext>
            </a:extLst>
          </p:cNvPr>
          <p:cNvSpPr/>
          <p:nvPr/>
        </p:nvSpPr>
        <p:spPr>
          <a:xfrm>
            <a:off x="952501" y="2808515"/>
            <a:ext cx="34782670" cy="13357565"/>
          </a:xfrm>
          <a:prstGeom prst="rect">
            <a:avLst/>
          </a:prstGeom>
        </p:spPr>
        <p:txBody>
          <a:bodyPr wrap="square">
            <a:normAutofit/>
          </a:bodyPr>
          <a:lstStyle/>
          <a:p>
            <a:pPr algn="l">
              <a:spcAft>
                <a:spcPts val="5022"/>
              </a:spcAft>
            </a:pPr>
            <a:r>
              <a:rPr lang="en-US" sz="6400" dirty="0">
                <a:latin typeface="Open Sans" panose="020B0606030504020204" pitchFamily="34" charset="0"/>
                <a:ea typeface="Open Sans" panose="020B0606030504020204" pitchFamily="34" charset="0"/>
                <a:cs typeface="Open Sans" panose="020B0606030504020204" pitchFamily="34" charset="0"/>
              </a:rPr>
              <a:t>It's a good idea to know the four basic types of functional interfaces in the </a:t>
            </a:r>
            <a:r>
              <a:rPr lang="en-US" sz="6400" dirty="0" err="1">
                <a:latin typeface="Open Sans" panose="020B0606030504020204" pitchFamily="34" charset="0"/>
                <a:ea typeface="Open Sans" panose="020B0606030504020204" pitchFamily="34" charset="0"/>
                <a:cs typeface="Open Sans" panose="020B0606030504020204" pitchFamily="34" charset="0"/>
              </a:rPr>
              <a:t>java.util.function</a:t>
            </a:r>
            <a:r>
              <a:rPr lang="en-US" sz="6400" dirty="0">
                <a:latin typeface="Open Sans" panose="020B0606030504020204" pitchFamily="34" charset="0"/>
                <a:ea typeface="Open Sans" panose="020B0606030504020204" pitchFamily="34" charset="0"/>
                <a:cs typeface="Open Sans" panose="020B0606030504020204" pitchFamily="34" charset="0"/>
              </a:rPr>
              <a:t> package.</a:t>
            </a:r>
          </a:p>
          <a:p>
            <a:pPr algn="l">
              <a:spcAft>
                <a:spcPts val="5022"/>
              </a:spcAft>
            </a:pPr>
            <a:r>
              <a:rPr lang="en-US" sz="6400" dirty="0">
                <a:latin typeface="Open Sans" panose="020B0606030504020204" pitchFamily="34" charset="0"/>
                <a:ea typeface="Open Sans" panose="020B0606030504020204" pitchFamily="34" charset="0"/>
                <a:cs typeface="Open Sans" panose="020B0606030504020204" pitchFamily="34" charset="0"/>
              </a:rPr>
              <a:t>There are over forty interfaces in this package.</a:t>
            </a:r>
          </a:p>
          <a:p>
            <a:pPr algn="l">
              <a:spcAft>
                <a:spcPts val="5022"/>
              </a:spcAft>
            </a:pPr>
            <a:r>
              <a:rPr lang="en-US" sz="6400" dirty="0">
                <a:latin typeface="Open Sans" panose="020B0606030504020204" pitchFamily="34" charset="0"/>
                <a:ea typeface="Open Sans" panose="020B0606030504020204" pitchFamily="34" charset="0"/>
                <a:cs typeface="Open Sans" panose="020B0606030504020204" pitchFamily="34" charset="0"/>
              </a:rPr>
              <a:t>This slide shows the four categories, with the simplest method shown.</a:t>
            </a:r>
          </a:p>
          <a:p>
            <a:pPr algn="l">
              <a:spcAft>
                <a:spcPts val="5022"/>
              </a:spcAft>
            </a:pPr>
            <a:r>
              <a:rPr lang="en-US" sz="6400" dirty="0">
                <a:latin typeface="Open Sans" panose="020B0606030504020204" pitchFamily="34" charset="0"/>
                <a:ea typeface="Open Sans" panose="020B0606030504020204" pitchFamily="34" charset="0"/>
                <a:cs typeface="Open Sans" panose="020B0606030504020204" pitchFamily="34" charset="0"/>
              </a:rPr>
              <a:t>These can all be categorized as one of the following types.</a:t>
            </a:r>
          </a:p>
        </p:txBody>
      </p:sp>
      <p:graphicFrame>
        <p:nvGraphicFramePr>
          <p:cNvPr id="2" name="Table 1">
            <a:extLst>
              <a:ext uri="{FF2B5EF4-FFF2-40B4-BE49-F238E27FC236}">
                <a16:creationId xmlns:a16="http://schemas.microsoft.com/office/drawing/2014/main" id="{179A07CA-14E2-1B3F-6E79-819821B66238}"/>
              </a:ext>
            </a:extLst>
          </p:cNvPr>
          <p:cNvGraphicFramePr>
            <a:graphicFrameLocks noGrp="1"/>
          </p:cNvGraphicFramePr>
          <p:nvPr/>
        </p:nvGraphicFramePr>
        <p:xfrm>
          <a:off x="952501" y="10903986"/>
          <a:ext cx="34782667" cy="6861499"/>
        </p:xfrm>
        <a:graphic>
          <a:graphicData uri="http://schemas.openxmlformats.org/drawingml/2006/table">
            <a:tbl>
              <a:tblPr firstRow="1" bandRow="1">
                <a:tableStyleId>{5C22544A-7EE6-4342-B048-85BDC9FD1C3A}</a:tableStyleId>
              </a:tblPr>
              <a:tblGrid>
                <a:gridCol w="8523427">
                  <a:extLst>
                    <a:ext uri="{9D8B030D-6E8A-4147-A177-3AD203B41FA5}">
                      <a16:colId xmlns:a16="http://schemas.microsoft.com/office/drawing/2014/main" val="2844207666"/>
                    </a:ext>
                  </a:extLst>
                </a:gridCol>
                <a:gridCol w="11163390">
                  <a:extLst>
                    <a:ext uri="{9D8B030D-6E8A-4147-A177-3AD203B41FA5}">
                      <a16:colId xmlns:a16="http://schemas.microsoft.com/office/drawing/2014/main" val="1891655341"/>
                    </a:ext>
                  </a:extLst>
                </a:gridCol>
                <a:gridCol w="15095850">
                  <a:extLst>
                    <a:ext uri="{9D8B030D-6E8A-4147-A177-3AD203B41FA5}">
                      <a16:colId xmlns:a16="http://schemas.microsoft.com/office/drawing/2014/main" val="2808458194"/>
                    </a:ext>
                  </a:extLst>
                </a:gridCol>
              </a:tblGrid>
              <a:tr h="1188487">
                <a:tc>
                  <a:txBody>
                    <a:bodyPr/>
                    <a:lstStyle/>
                    <a:p>
                      <a:pPr marL="180000" algn="l"/>
                      <a:r>
                        <a:rPr lang="en-US" sz="5400" dirty="0">
                          <a:solidFill>
                            <a:schemeClr val="tx1"/>
                          </a:solidFill>
                          <a:latin typeface="Open Sans" panose="020B0606030504020204" pitchFamily="34" charset="0"/>
                          <a:ea typeface="Open Sans" panose="020B0606030504020204" pitchFamily="34" charset="0"/>
                          <a:cs typeface="Open Sans" panose="020B0606030504020204" pitchFamily="34" charset="0"/>
                        </a:rPr>
                        <a:t>Interface Category</a:t>
                      </a:r>
                      <a:endParaRPr lang="en-PH" sz="5400" dirty="0">
                        <a:solidFill>
                          <a:schemeClr val="tx1"/>
                        </a:solidFill>
                        <a:latin typeface="Open Sans" panose="020B0606030504020204" pitchFamily="34" charset="0"/>
                        <a:ea typeface="Open Sans" panose="020B0606030504020204" pitchFamily="34" charset="0"/>
                        <a:cs typeface="Open Sans" panose="020B0606030504020204" pitchFamily="34" charset="0"/>
                      </a:endParaRPr>
                    </a:p>
                  </a:txBody>
                  <a:tcPr marL="86794" marR="86794" marT="43397" marB="43397">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BE4D5"/>
                    </a:solidFill>
                  </a:tcPr>
                </a:tc>
                <a:tc>
                  <a:txBody>
                    <a:bodyPr/>
                    <a:lstStyle/>
                    <a:p>
                      <a:pPr marL="180000" algn="l"/>
                      <a:r>
                        <a:rPr lang="en-US" sz="5400" dirty="0">
                          <a:solidFill>
                            <a:schemeClr val="tx1"/>
                          </a:solidFill>
                          <a:latin typeface="Open Sans" panose="020B0606030504020204" pitchFamily="34" charset="0"/>
                          <a:ea typeface="Open Sans" panose="020B0606030504020204" pitchFamily="34" charset="0"/>
                          <a:cs typeface="Open Sans" panose="020B0606030504020204" pitchFamily="34" charset="0"/>
                        </a:rPr>
                        <a:t>Basic Method Signature</a:t>
                      </a:r>
                      <a:endParaRPr lang="en-PH" sz="5400" dirty="0">
                        <a:solidFill>
                          <a:schemeClr val="tx1"/>
                        </a:solidFill>
                        <a:latin typeface="Open Sans" panose="020B0606030504020204" pitchFamily="34" charset="0"/>
                        <a:ea typeface="Open Sans" panose="020B0606030504020204" pitchFamily="34" charset="0"/>
                        <a:cs typeface="Open Sans" panose="020B0606030504020204" pitchFamily="34" charset="0"/>
                      </a:endParaRPr>
                    </a:p>
                  </a:txBody>
                  <a:tcPr marL="86794" marR="86794" marT="43397" marB="43397">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BE4D5"/>
                    </a:solidFill>
                  </a:tcPr>
                </a:tc>
                <a:tc>
                  <a:txBody>
                    <a:bodyPr/>
                    <a:lstStyle/>
                    <a:p>
                      <a:pPr marL="180000" algn="l"/>
                      <a:r>
                        <a:rPr lang="en-US" sz="5400" dirty="0">
                          <a:solidFill>
                            <a:schemeClr val="tx1"/>
                          </a:solidFill>
                          <a:latin typeface="Open Sans" panose="020B0606030504020204" pitchFamily="34" charset="0"/>
                          <a:ea typeface="Open Sans" panose="020B0606030504020204" pitchFamily="34" charset="0"/>
                          <a:cs typeface="Open Sans" panose="020B0606030504020204" pitchFamily="34" charset="0"/>
                        </a:rPr>
                        <a:t>Purpose</a:t>
                      </a:r>
                      <a:endParaRPr lang="en-PH" sz="5400" dirty="0">
                        <a:solidFill>
                          <a:schemeClr val="tx1"/>
                        </a:solidFill>
                        <a:latin typeface="Open Sans" panose="020B0606030504020204" pitchFamily="34" charset="0"/>
                        <a:ea typeface="Open Sans" panose="020B0606030504020204" pitchFamily="34" charset="0"/>
                        <a:cs typeface="Open Sans" panose="020B0606030504020204" pitchFamily="34" charset="0"/>
                      </a:endParaRPr>
                    </a:p>
                  </a:txBody>
                  <a:tcPr marL="86794" marR="86794" marT="43397" marB="43397">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BE4D5"/>
                    </a:solidFill>
                  </a:tcPr>
                </a:tc>
                <a:extLst>
                  <a:ext uri="{0D108BD9-81ED-4DB2-BD59-A6C34878D82A}">
                    <a16:rowId xmlns:a16="http://schemas.microsoft.com/office/drawing/2014/main" val="3978129174"/>
                  </a:ext>
                </a:extLst>
              </a:tr>
              <a:tr h="1418253">
                <a:tc>
                  <a:txBody>
                    <a:bodyPr/>
                    <a:lstStyle/>
                    <a:p>
                      <a:pPr marL="180000" marR="0" lvl="0" indent="0" algn="l" defTabSz="914400" rtl="0" eaLnBrk="1" fontAlgn="auto" latinLnBrk="0" hangingPunct="1">
                        <a:lnSpc>
                          <a:spcPct val="100000"/>
                        </a:lnSpc>
                        <a:spcBef>
                          <a:spcPts val="0"/>
                        </a:spcBef>
                        <a:spcAft>
                          <a:spcPts val="1000"/>
                        </a:spcAft>
                        <a:buClr>
                          <a:srgbClr val="000000"/>
                        </a:buClr>
                        <a:buSzTx/>
                        <a:buFont typeface="Arial" panose="020B0604020202020204" pitchFamily="34" charset="0"/>
                        <a:buNone/>
                        <a:tabLst/>
                        <a:defRPr/>
                      </a:pPr>
                      <a:r>
                        <a:rPr lang="en-US" sz="5400" b="0" dirty="0">
                          <a:solidFill>
                            <a:schemeClr val="tx1"/>
                          </a:solidFill>
                          <a:latin typeface="Open Sans" panose="020B0606030504020204" pitchFamily="34" charset="0"/>
                          <a:ea typeface="Open Sans" panose="020B0606030504020204" pitchFamily="34" charset="0"/>
                          <a:cs typeface="Open Sans" panose="020B0606030504020204" pitchFamily="34" charset="0"/>
                        </a:rPr>
                        <a:t>Consumer</a:t>
                      </a:r>
                    </a:p>
                  </a:txBody>
                  <a:tcPr marL="86794" marR="86794" marT="43397" marB="43397">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180000" marR="0" lvl="0" indent="0" algn="l" defTabSz="914400" rtl="0" eaLnBrk="1" fontAlgn="auto" latinLnBrk="0" hangingPunct="1">
                        <a:lnSpc>
                          <a:spcPct val="100000"/>
                        </a:lnSpc>
                        <a:spcBef>
                          <a:spcPts val="0"/>
                        </a:spcBef>
                        <a:spcAft>
                          <a:spcPts val="1000"/>
                        </a:spcAft>
                        <a:buClr>
                          <a:srgbClr val="000000"/>
                        </a:buClr>
                        <a:buSzTx/>
                        <a:buFont typeface="Arial" panose="020B0604020202020204" pitchFamily="34" charset="0"/>
                        <a:buNone/>
                        <a:tabLst/>
                        <a:defRPr/>
                      </a:pPr>
                      <a:endParaRPr lang="en-US" sz="5400" b="0" dirty="0">
                        <a:solidFill>
                          <a:schemeClr val="tx1"/>
                        </a:solidFill>
                        <a:latin typeface="Open Sans" panose="020B0606030504020204" pitchFamily="34" charset="0"/>
                        <a:ea typeface="Open Sans" panose="020B0606030504020204" pitchFamily="34" charset="0"/>
                        <a:cs typeface="Open Sans" panose="020B0606030504020204" pitchFamily="34" charset="0"/>
                      </a:endParaRPr>
                    </a:p>
                  </a:txBody>
                  <a:tcPr marL="86794" marR="86794" marT="43397" marB="43397">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180000" marR="0" lvl="0" indent="0" algn="l" defTabSz="914400" rtl="0" eaLnBrk="1" fontAlgn="auto" latinLnBrk="0" hangingPunct="1">
                        <a:lnSpc>
                          <a:spcPct val="100000"/>
                        </a:lnSpc>
                        <a:spcBef>
                          <a:spcPts val="0"/>
                        </a:spcBef>
                        <a:spcAft>
                          <a:spcPts val="1000"/>
                        </a:spcAft>
                        <a:buClr>
                          <a:srgbClr val="000000"/>
                        </a:buClr>
                        <a:buSzTx/>
                        <a:buFont typeface="Arial" panose="020B0604020202020204" pitchFamily="34" charset="0"/>
                        <a:buNone/>
                        <a:tabLst/>
                        <a:defRPr/>
                      </a:pPr>
                      <a:r>
                        <a:rPr lang="en-US" sz="5400" b="0" dirty="0">
                          <a:solidFill>
                            <a:schemeClr val="tx1"/>
                          </a:solidFill>
                          <a:latin typeface="Open Sans" panose="020B0606030504020204" pitchFamily="34" charset="0"/>
                          <a:ea typeface="Open Sans" panose="020B0606030504020204" pitchFamily="34" charset="0"/>
                          <a:cs typeface="Open Sans" panose="020B0606030504020204" pitchFamily="34" charset="0"/>
                        </a:rPr>
                        <a:t>execute code without returning data</a:t>
                      </a:r>
                    </a:p>
                  </a:txBody>
                  <a:tcPr marL="86794" marR="86794" marT="43397" marB="43397">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640325450"/>
                  </a:ext>
                </a:extLst>
              </a:tr>
              <a:tr h="1418253">
                <a:tc>
                  <a:txBody>
                    <a:bodyPr/>
                    <a:lstStyle/>
                    <a:p>
                      <a:pPr marL="180000" marR="0" lvl="0" indent="0" algn="l" defTabSz="914400" rtl="0" eaLnBrk="1" fontAlgn="auto" latinLnBrk="0" hangingPunct="1">
                        <a:lnSpc>
                          <a:spcPct val="100000"/>
                        </a:lnSpc>
                        <a:spcBef>
                          <a:spcPts val="0"/>
                        </a:spcBef>
                        <a:spcAft>
                          <a:spcPts val="1000"/>
                        </a:spcAft>
                        <a:buClr>
                          <a:srgbClr val="000000"/>
                        </a:buClr>
                        <a:buSzTx/>
                        <a:buFont typeface="Arial" panose="020B0604020202020204" pitchFamily="34" charset="0"/>
                        <a:buNone/>
                        <a:tabLst/>
                        <a:defRPr/>
                      </a:pPr>
                      <a:r>
                        <a:rPr lang="en-US" sz="5400" b="0" dirty="0">
                          <a:solidFill>
                            <a:schemeClr val="tx1"/>
                          </a:solidFill>
                          <a:latin typeface="Open Sans" panose="020B0606030504020204" pitchFamily="34" charset="0"/>
                          <a:ea typeface="Open Sans" panose="020B0606030504020204" pitchFamily="34" charset="0"/>
                          <a:cs typeface="Open Sans" panose="020B0606030504020204" pitchFamily="34" charset="0"/>
                        </a:rPr>
                        <a:t>Function</a:t>
                      </a:r>
                    </a:p>
                  </a:txBody>
                  <a:tcPr marL="86794" marR="86794" marT="43397" marB="43397">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180000" marR="0" lvl="0" indent="0" algn="l" defTabSz="914400" rtl="0" eaLnBrk="1" fontAlgn="auto" latinLnBrk="0" hangingPunct="1">
                        <a:lnSpc>
                          <a:spcPct val="100000"/>
                        </a:lnSpc>
                        <a:spcBef>
                          <a:spcPts val="0"/>
                        </a:spcBef>
                        <a:spcAft>
                          <a:spcPts val="1000"/>
                        </a:spcAft>
                        <a:buClr>
                          <a:srgbClr val="000000"/>
                        </a:buClr>
                        <a:buSzTx/>
                        <a:buFont typeface="Arial" panose="020B0604020202020204" pitchFamily="34" charset="0"/>
                        <a:buNone/>
                        <a:tabLst/>
                        <a:defRPr/>
                      </a:pPr>
                      <a:endParaRPr lang="en-US" sz="5400" b="0" dirty="0">
                        <a:solidFill>
                          <a:schemeClr val="tx1"/>
                        </a:solidFill>
                        <a:latin typeface="Open Sans" panose="020B0606030504020204" pitchFamily="34" charset="0"/>
                        <a:ea typeface="Open Sans" panose="020B0606030504020204" pitchFamily="34" charset="0"/>
                        <a:cs typeface="Open Sans" panose="020B0606030504020204" pitchFamily="34" charset="0"/>
                      </a:endParaRPr>
                    </a:p>
                  </a:txBody>
                  <a:tcPr marL="86794" marR="86794" marT="43397" marB="43397">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180000" marR="0" lvl="0" indent="0" algn="l" defTabSz="914400" rtl="0" eaLnBrk="1" fontAlgn="auto" latinLnBrk="0" hangingPunct="1">
                        <a:lnSpc>
                          <a:spcPct val="100000"/>
                        </a:lnSpc>
                        <a:spcBef>
                          <a:spcPts val="0"/>
                        </a:spcBef>
                        <a:spcAft>
                          <a:spcPts val="1000"/>
                        </a:spcAft>
                        <a:buClr>
                          <a:srgbClr val="000000"/>
                        </a:buClr>
                        <a:buSzTx/>
                        <a:buFont typeface="Arial" panose="020B0604020202020204" pitchFamily="34" charset="0"/>
                        <a:buNone/>
                        <a:tabLst/>
                        <a:defRPr/>
                      </a:pPr>
                      <a:r>
                        <a:rPr lang="en-US" sz="5400" b="0" dirty="0">
                          <a:solidFill>
                            <a:schemeClr val="tx1"/>
                          </a:solidFill>
                          <a:latin typeface="Open Sans" panose="020B0606030504020204" pitchFamily="34" charset="0"/>
                          <a:ea typeface="Open Sans" panose="020B0606030504020204" pitchFamily="34" charset="0"/>
                          <a:cs typeface="Open Sans" panose="020B0606030504020204" pitchFamily="34" charset="0"/>
                        </a:rPr>
                        <a:t>return a result of an operation or function</a:t>
                      </a:r>
                    </a:p>
                  </a:txBody>
                  <a:tcPr marL="86794" marR="86794" marT="43397" marB="43397">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521613951"/>
                  </a:ext>
                </a:extLst>
              </a:tr>
              <a:tr h="1418253">
                <a:tc>
                  <a:txBody>
                    <a:bodyPr/>
                    <a:lstStyle/>
                    <a:p>
                      <a:pPr marL="180000" marR="0" lvl="0" indent="0" algn="l" defTabSz="914400" rtl="0" eaLnBrk="1" fontAlgn="auto" latinLnBrk="0" hangingPunct="1">
                        <a:lnSpc>
                          <a:spcPct val="100000"/>
                        </a:lnSpc>
                        <a:spcBef>
                          <a:spcPts val="0"/>
                        </a:spcBef>
                        <a:spcAft>
                          <a:spcPts val="1000"/>
                        </a:spcAft>
                        <a:buClr>
                          <a:srgbClr val="000000"/>
                        </a:buClr>
                        <a:buSzTx/>
                        <a:buFont typeface="Arial" panose="020B0604020202020204" pitchFamily="34" charset="0"/>
                        <a:buNone/>
                        <a:tabLst/>
                        <a:defRPr/>
                      </a:pPr>
                      <a:r>
                        <a:rPr lang="en-US" sz="5400" b="0" dirty="0">
                          <a:solidFill>
                            <a:schemeClr val="tx1"/>
                          </a:solidFill>
                          <a:latin typeface="Open Sans" panose="020B0606030504020204" pitchFamily="34" charset="0"/>
                          <a:ea typeface="Open Sans" panose="020B0606030504020204" pitchFamily="34" charset="0"/>
                          <a:cs typeface="Open Sans" panose="020B0606030504020204" pitchFamily="34" charset="0"/>
                        </a:rPr>
                        <a:t>Predicate</a:t>
                      </a:r>
                    </a:p>
                  </a:txBody>
                  <a:tcPr marL="86794" marR="86794" marT="43397" marB="43397">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180000" marR="0" lvl="0" indent="0" algn="l" defTabSz="914400" rtl="0" eaLnBrk="1" fontAlgn="auto" latinLnBrk="0" hangingPunct="1">
                        <a:lnSpc>
                          <a:spcPct val="100000"/>
                        </a:lnSpc>
                        <a:spcBef>
                          <a:spcPts val="0"/>
                        </a:spcBef>
                        <a:spcAft>
                          <a:spcPts val="1000"/>
                        </a:spcAft>
                        <a:buClr>
                          <a:srgbClr val="000000"/>
                        </a:buClr>
                        <a:buSzTx/>
                        <a:buFont typeface="Arial" panose="020B0604020202020204" pitchFamily="34" charset="0"/>
                        <a:buNone/>
                        <a:tabLst/>
                        <a:defRPr/>
                      </a:pPr>
                      <a:endParaRPr lang="en-US" sz="5400" b="0" dirty="0">
                        <a:solidFill>
                          <a:schemeClr val="tx1"/>
                        </a:solidFill>
                        <a:latin typeface="Open Sans" panose="020B0606030504020204" pitchFamily="34" charset="0"/>
                        <a:ea typeface="Open Sans" panose="020B0606030504020204" pitchFamily="34" charset="0"/>
                        <a:cs typeface="Open Sans" panose="020B0606030504020204" pitchFamily="34" charset="0"/>
                      </a:endParaRPr>
                    </a:p>
                  </a:txBody>
                  <a:tcPr marL="86794" marR="86794" marT="43397" marB="43397">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180000" marR="0" lvl="0" indent="0" algn="l" defTabSz="914400" rtl="0" eaLnBrk="1" fontAlgn="auto" latinLnBrk="0" hangingPunct="1">
                        <a:lnSpc>
                          <a:spcPct val="100000"/>
                        </a:lnSpc>
                        <a:spcBef>
                          <a:spcPts val="0"/>
                        </a:spcBef>
                        <a:spcAft>
                          <a:spcPts val="1000"/>
                        </a:spcAft>
                        <a:buClr>
                          <a:srgbClr val="000000"/>
                        </a:buClr>
                        <a:buSzTx/>
                        <a:buFont typeface="Arial" panose="020B0604020202020204" pitchFamily="34" charset="0"/>
                        <a:buNone/>
                        <a:tabLst/>
                        <a:defRPr/>
                      </a:pPr>
                      <a:r>
                        <a:rPr lang="en-US" sz="5400" b="0" dirty="0">
                          <a:solidFill>
                            <a:schemeClr val="tx1"/>
                          </a:solidFill>
                          <a:latin typeface="Open Sans" panose="020B0606030504020204" pitchFamily="34" charset="0"/>
                          <a:ea typeface="Open Sans" panose="020B0606030504020204" pitchFamily="34" charset="0"/>
                          <a:cs typeface="Open Sans" panose="020B0606030504020204" pitchFamily="34" charset="0"/>
                        </a:rPr>
                        <a:t>test if a condition is true or false</a:t>
                      </a:r>
                    </a:p>
                  </a:txBody>
                  <a:tcPr marL="86794" marR="86794" marT="43397" marB="43397">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764206153"/>
                  </a:ext>
                </a:extLst>
              </a:tr>
              <a:tr h="1418253">
                <a:tc>
                  <a:txBody>
                    <a:bodyPr/>
                    <a:lstStyle/>
                    <a:p>
                      <a:pPr marL="180000" marR="0" lvl="0" indent="0" algn="l" defTabSz="914400" rtl="0" eaLnBrk="1" fontAlgn="auto" latinLnBrk="0" hangingPunct="1">
                        <a:lnSpc>
                          <a:spcPct val="100000"/>
                        </a:lnSpc>
                        <a:spcBef>
                          <a:spcPts val="0"/>
                        </a:spcBef>
                        <a:spcAft>
                          <a:spcPts val="1000"/>
                        </a:spcAft>
                        <a:buClr>
                          <a:srgbClr val="000000"/>
                        </a:buClr>
                        <a:buSzTx/>
                        <a:buFont typeface="Arial" panose="020B0604020202020204" pitchFamily="34" charset="0"/>
                        <a:buNone/>
                        <a:tabLst/>
                        <a:defRPr/>
                      </a:pPr>
                      <a:r>
                        <a:rPr lang="en-US" sz="5400" b="0" dirty="0">
                          <a:solidFill>
                            <a:schemeClr val="tx1"/>
                          </a:solidFill>
                          <a:latin typeface="Open Sans" panose="020B0606030504020204" pitchFamily="34" charset="0"/>
                          <a:ea typeface="Open Sans" panose="020B0606030504020204" pitchFamily="34" charset="0"/>
                          <a:cs typeface="Open Sans" panose="020B0606030504020204" pitchFamily="34" charset="0"/>
                        </a:rPr>
                        <a:t>Supplier</a:t>
                      </a:r>
                    </a:p>
                  </a:txBody>
                  <a:tcPr marL="86794" marR="86794" marT="43397" marB="43397">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180000" marR="0" lvl="0" indent="0" algn="l" defTabSz="914400" rtl="0" eaLnBrk="1" fontAlgn="auto" latinLnBrk="0" hangingPunct="1">
                        <a:lnSpc>
                          <a:spcPct val="100000"/>
                        </a:lnSpc>
                        <a:spcBef>
                          <a:spcPts val="0"/>
                        </a:spcBef>
                        <a:spcAft>
                          <a:spcPts val="1000"/>
                        </a:spcAft>
                        <a:buClr>
                          <a:srgbClr val="000000"/>
                        </a:buClr>
                        <a:buSzTx/>
                        <a:buFont typeface="Arial" panose="020B0604020202020204" pitchFamily="34" charset="0"/>
                        <a:buNone/>
                        <a:tabLst/>
                        <a:defRPr/>
                      </a:pPr>
                      <a:endParaRPr lang="en-US" sz="5400" b="0" dirty="0">
                        <a:solidFill>
                          <a:schemeClr val="tx1"/>
                        </a:solidFill>
                        <a:latin typeface="Open Sans" panose="020B0606030504020204" pitchFamily="34" charset="0"/>
                        <a:ea typeface="Open Sans" panose="020B0606030504020204" pitchFamily="34" charset="0"/>
                        <a:cs typeface="Open Sans" panose="020B0606030504020204" pitchFamily="34" charset="0"/>
                      </a:endParaRPr>
                    </a:p>
                  </a:txBody>
                  <a:tcPr marL="86794" marR="86794" marT="43397" marB="43397">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180000" marR="0" lvl="0" indent="0" algn="l" defTabSz="914400" rtl="0" eaLnBrk="1" fontAlgn="auto" latinLnBrk="0" hangingPunct="1">
                        <a:lnSpc>
                          <a:spcPct val="100000"/>
                        </a:lnSpc>
                        <a:spcBef>
                          <a:spcPts val="0"/>
                        </a:spcBef>
                        <a:spcAft>
                          <a:spcPts val="1000"/>
                        </a:spcAft>
                        <a:buClr>
                          <a:srgbClr val="000000"/>
                        </a:buClr>
                        <a:buSzTx/>
                        <a:buFont typeface="Arial" panose="020B0604020202020204" pitchFamily="34" charset="0"/>
                        <a:buNone/>
                        <a:tabLst/>
                        <a:defRPr/>
                      </a:pPr>
                      <a:r>
                        <a:rPr lang="en-US" sz="5400" b="0" dirty="0">
                          <a:solidFill>
                            <a:schemeClr val="tx1"/>
                          </a:solidFill>
                          <a:latin typeface="Open Sans" panose="020B0606030504020204" pitchFamily="34" charset="0"/>
                          <a:ea typeface="Open Sans" panose="020B0606030504020204" pitchFamily="34" charset="0"/>
                          <a:cs typeface="Open Sans" panose="020B0606030504020204" pitchFamily="34" charset="0"/>
                        </a:rPr>
                        <a:t>return an instance of something</a:t>
                      </a:r>
                    </a:p>
                  </a:txBody>
                  <a:tcPr marL="86794" marR="86794" marT="43397" marB="43397">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23823102"/>
                  </a:ext>
                </a:extLst>
              </a:tr>
            </a:tbl>
          </a:graphicData>
        </a:graphic>
      </p:graphicFrame>
      <p:pic>
        <p:nvPicPr>
          <p:cNvPr id="4" name="Picture 3">
            <a:extLst>
              <a:ext uri="{FF2B5EF4-FFF2-40B4-BE49-F238E27FC236}">
                <a16:creationId xmlns:a16="http://schemas.microsoft.com/office/drawing/2014/main" id="{5D64F2C5-1C53-A41A-E64A-92433B3BA4AA}"/>
              </a:ext>
            </a:extLst>
          </p:cNvPr>
          <p:cNvPicPr>
            <a:picLocks noChangeAspect="1"/>
          </p:cNvPicPr>
          <p:nvPr/>
        </p:nvPicPr>
        <p:blipFill>
          <a:blip r:embed="rId4"/>
          <a:stretch>
            <a:fillRect/>
          </a:stretch>
        </p:blipFill>
        <p:spPr>
          <a:xfrm>
            <a:off x="9754742" y="12235352"/>
            <a:ext cx="8436000" cy="1036001"/>
          </a:xfrm>
          <a:prstGeom prst="rect">
            <a:avLst/>
          </a:prstGeom>
        </p:spPr>
      </p:pic>
      <p:pic>
        <p:nvPicPr>
          <p:cNvPr id="6" name="Picture 5">
            <a:extLst>
              <a:ext uri="{FF2B5EF4-FFF2-40B4-BE49-F238E27FC236}">
                <a16:creationId xmlns:a16="http://schemas.microsoft.com/office/drawing/2014/main" id="{18F5CB7D-C8C6-6694-7A41-5696DC3AFBB0}"/>
              </a:ext>
            </a:extLst>
          </p:cNvPr>
          <p:cNvPicPr>
            <a:picLocks noChangeAspect="1"/>
          </p:cNvPicPr>
          <p:nvPr/>
        </p:nvPicPr>
        <p:blipFill>
          <a:blip r:embed="rId5"/>
          <a:stretch>
            <a:fillRect/>
          </a:stretch>
        </p:blipFill>
        <p:spPr>
          <a:xfrm>
            <a:off x="9754742" y="13658640"/>
            <a:ext cx="6364001" cy="1120572"/>
          </a:xfrm>
          <a:prstGeom prst="rect">
            <a:avLst/>
          </a:prstGeom>
        </p:spPr>
      </p:pic>
      <p:pic>
        <p:nvPicPr>
          <p:cNvPr id="11" name="Picture 10">
            <a:extLst>
              <a:ext uri="{FF2B5EF4-FFF2-40B4-BE49-F238E27FC236}">
                <a16:creationId xmlns:a16="http://schemas.microsoft.com/office/drawing/2014/main" id="{957B1469-AAC0-D98B-8D80-A82082466F72}"/>
              </a:ext>
            </a:extLst>
          </p:cNvPr>
          <p:cNvPicPr>
            <a:picLocks noChangeAspect="1"/>
          </p:cNvPicPr>
          <p:nvPr/>
        </p:nvPicPr>
        <p:blipFill>
          <a:blip r:embed="rId6"/>
          <a:stretch>
            <a:fillRect/>
          </a:stretch>
        </p:blipFill>
        <p:spPr>
          <a:xfrm>
            <a:off x="9754742" y="15109551"/>
            <a:ext cx="8985714" cy="1057142"/>
          </a:xfrm>
          <a:prstGeom prst="rect">
            <a:avLst/>
          </a:prstGeom>
        </p:spPr>
      </p:pic>
      <p:pic>
        <p:nvPicPr>
          <p:cNvPr id="13" name="Picture 12">
            <a:extLst>
              <a:ext uri="{FF2B5EF4-FFF2-40B4-BE49-F238E27FC236}">
                <a16:creationId xmlns:a16="http://schemas.microsoft.com/office/drawing/2014/main" id="{588640E6-41C6-4A51-4FE1-C72C209C55E6}"/>
              </a:ext>
            </a:extLst>
          </p:cNvPr>
          <p:cNvPicPr>
            <a:picLocks noChangeAspect="1"/>
          </p:cNvPicPr>
          <p:nvPr/>
        </p:nvPicPr>
        <p:blipFill>
          <a:blip r:embed="rId7"/>
          <a:stretch>
            <a:fillRect/>
          </a:stretch>
        </p:blipFill>
        <p:spPr>
          <a:xfrm>
            <a:off x="9754742" y="16497032"/>
            <a:ext cx="3700001" cy="1120572"/>
          </a:xfrm>
          <a:prstGeom prst="rect">
            <a:avLst/>
          </a:prstGeom>
        </p:spPr>
      </p:pic>
      <p:sp>
        <p:nvSpPr>
          <p:cNvPr id="3" name="Shape 126">
            <a:extLst>
              <a:ext uri="{FF2B5EF4-FFF2-40B4-BE49-F238E27FC236}">
                <a16:creationId xmlns:a16="http://schemas.microsoft.com/office/drawing/2014/main" id="{F4881FEA-6468-FF83-11EA-922D85D6B47F}"/>
              </a:ext>
            </a:extLst>
          </p:cNvPr>
          <p:cNvSpPr/>
          <p:nvPr/>
        </p:nvSpPr>
        <p:spPr>
          <a:xfrm>
            <a:off x="952498" y="459786"/>
            <a:ext cx="28389182" cy="1815882"/>
          </a:xfrm>
          <a:prstGeom prst="rect">
            <a:avLst/>
          </a:prstGeom>
          <a:ln w="12700">
            <a:miter lim="400000"/>
          </a:ln>
          <a:extLst>
            <a:ext uri="{C572A759-6A51-4108-AA02-DFA0A04FC94B}">
              <ma14:wrappingTextBoxFlag xmlns="" xmlns:ma14="http://schemas.microsoft.com/office/mac/drawingml/2011/main" val="1"/>
            </a:ext>
          </a:extLst>
        </p:spPr>
        <p:txBody>
          <a:bodyPr wrap="none" lIns="76200" tIns="76200" rIns="76200" bIns="76200">
            <a:spAutoFit/>
          </a:bodyPr>
          <a:lstStyle>
            <a:lvl1pPr algn="l">
              <a:defRPr sz="7000">
                <a:latin typeface="Alright Sans"/>
                <a:ea typeface="Alright Sans"/>
                <a:cs typeface="Alright Sans"/>
                <a:sym typeface="Alright Sans"/>
              </a:defRPr>
            </a:lvl1pPr>
          </a:lstStyle>
          <a:p>
            <a:pPr>
              <a:defRPr sz="3000">
                <a:latin typeface="Alright Sans"/>
                <a:ea typeface="Alright Sans"/>
                <a:cs typeface="Alright Sans"/>
                <a:sym typeface="Alright Sans"/>
              </a:defRPr>
            </a:pPr>
            <a:r>
              <a:rPr lang="en-US" sz="10800">
                <a:latin typeface="Open Sans" panose="020B0606030504020204" pitchFamily="34" charset="0"/>
                <a:ea typeface="Open Sans" panose="020B0606030504020204" pitchFamily="34" charset="0"/>
                <a:cs typeface="Open Sans" panose="020B0606030504020204" pitchFamily="34" charset="0"/>
              </a:rPr>
              <a:t>The Four categories of Functional Interfaces</a:t>
            </a:r>
            <a:endParaRPr lang="en-US" sz="10800" dirty="0">
              <a:latin typeface="Open Sans" panose="020B0606030504020204" pitchFamily="34" charset="0"/>
              <a:ea typeface="Open Sans" panose="020B0606030504020204" pitchFamily="34" charset="0"/>
              <a:cs typeface="Open Sans" panose="020B0606030504020204" pitchFamily="34" charset="0"/>
            </a:endParaRPr>
          </a:p>
        </p:txBody>
      </p:sp>
    </p:spTree>
    <p:extLst>
      <p:ext uri="{BB962C8B-B14F-4D97-AF65-F5344CB8AC3E}">
        <p14:creationId xmlns:p14="http://schemas.microsoft.com/office/powerpoint/2010/main" val="3104288077"/>
      </p:ext>
    </p:extLst>
  </p:cSld>
  <p:clrMapOvr>
    <a:masterClrMapping/>
  </p:clrMapOvr>
  <p:transition spd="slow"/>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 name="Shape 126"/>
          <p:cNvSpPr/>
          <p:nvPr/>
        </p:nvSpPr>
        <p:spPr>
          <a:xfrm>
            <a:off x="952498" y="459786"/>
            <a:ext cx="15677369" cy="1815882"/>
          </a:xfrm>
          <a:prstGeom prst="rect">
            <a:avLst/>
          </a:prstGeom>
          <a:ln w="12700">
            <a:miter lim="400000"/>
          </a:ln>
          <a:extLst>
            <a:ext uri="{C572A759-6A51-4108-AA02-DFA0A04FC94B}">
              <ma14:wrappingTextBoxFlag xmlns:ma14="http://schemas.microsoft.com/office/mac/drawingml/2011/main" xmlns="" val="1"/>
            </a:ext>
          </a:extLst>
        </p:spPr>
        <p:txBody>
          <a:bodyPr wrap="none" lIns="76200" tIns="76200" rIns="76200" bIns="76200">
            <a:spAutoFit/>
          </a:bodyPr>
          <a:lstStyle>
            <a:lvl1pPr algn="l">
              <a:defRPr sz="7000">
                <a:latin typeface="Alright Sans"/>
                <a:ea typeface="Alright Sans"/>
                <a:cs typeface="Alright Sans"/>
                <a:sym typeface="Alright Sans"/>
              </a:defRPr>
            </a:lvl1pPr>
          </a:lstStyle>
          <a:p>
            <a:pPr>
              <a:defRPr sz="3000">
                <a:latin typeface="Alright Sans"/>
                <a:ea typeface="Alright Sans"/>
                <a:cs typeface="Alright Sans"/>
                <a:sym typeface="Alright Sans"/>
              </a:defRPr>
            </a:pPr>
            <a:r>
              <a:rPr lang="en-US" sz="10800" dirty="0">
                <a:latin typeface="Open Sans" panose="020B0606030504020204" pitchFamily="34" charset="0"/>
                <a:ea typeface="Open Sans" panose="020B0606030504020204" pitchFamily="34" charset="0"/>
                <a:cs typeface="Open Sans" panose="020B0606030504020204" pitchFamily="34" charset="0"/>
              </a:rPr>
              <a:t>The Consumer interface</a:t>
            </a:r>
          </a:p>
        </p:txBody>
      </p:sp>
      <p:sp>
        <p:nvSpPr>
          <p:cNvPr id="128" name="Shape 128"/>
          <p:cNvSpPr/>
          <p:nvPr/>
        </p:nvSpPr>
        <p:spPr>
          <a:xfrm>
            <a:off x="952500" y="18210515"/>
            <a:ext cx="34782668" cy="2"/>
          </a:xfrm>
          <a:prstGeom prst="line">
            <a:avLst/>
          </a:prstGeom>
          <a:ln w="76200">
            <a:solidFill>
              <a:schemeClr val="accent1">
                <a:satOff val="-3355"/>
                <a:lumOff val="26614"/>
              </a:schemeClr>
            </a:solidFill>
            <a:miter lim="400000"/>
          </a:ln>
        </p:spPr>
        <p:txBody>
          <a:bodyPr lIns="76200" tIns="76200" rIns="76200" bIns="76200" anchor="ctr"/>
          <a:lstStyle/>
          <a:p>
            <a:pPr>
              <a:defRPr sz="3200"/>
            </a:pPr>
            <a:endParaRPr sz="4800"/>
          </a:p>
        </p:txBody>
      </p:sp>
      <p:pic>
        <p:nvPicPr>
          <p:cNvPr id="129" name="Logo.png"/>
          <p:cNvPicPr>
            <a:picLocks noChangeAspect="1"/>
          </p:cNvPicPr>
          <p:nvPr/>
        </p:nvPicPr>
        <p:blipFill>
          <a:blip r:embed="rId3"/>
          <a:stretch>
            <a:fillRect/>
          </a:stretch>
        </p:blipFill>
        <p:spPr>
          <a:xfrm>
            <a:off x="14650974" y="18489726"/>
            <a:ext cx="6321552" cy="1392336"/>
          </a:xfrm>
          <a:prstGeom prst="rect">
            <a:avLst/>
          </a:prstGeom>
          <a:ln w="12700">
            <a:miter lim="400000"/>
          </a:ln>
        </p:spPr>
      </p:pic>
      <p:sp>
        <p:nvSpPr>
          <p:cNvPr id="9" name="Shape 127"/>
          <p:cNvSpPr/>
          <p:nvPr/>
        </p:nvSpPr>
        <p:spPr>
          <a:xfrm flipV="1">
            <a:off x="952499" y="2203340"/>
            <a:ext cx="34782670" cy="38132"/>
          </a:xfrm>
          <a:prstGeom prst="line">
            <a:avLst/>
          </a:prstGeom>
          <a:ln w="152400">
            <a:solidFill>
              <a:schemeClr val="accent1">
                <a:satOff val="-3355"/>
                <a:lumOff val="26614"/>
              </a:schemeClr>
            </a:solidFill>
            <a:miter lim="400000"/>
          </a:ln>
        </p:spPr>
        <p:txBody>
          <a:bodyPr lIns="76200" tIns="76200" rIns="76200" bIns="76200" anchor="ctr"/>
          <a:lstStyle/>
          <a:p>
            <a:pPr>
              <a:defRPr sz="3200"/>
            </a:pPr>
            <a:endParaRPr sz="4800"/>
          </a:p>
        </p:txBody>
      </p:sp>
      <p:sp>
        <p:nvSpPr>
          <p:cNvPr id="10" name="Shape 131"/>
          <p:cNvSpPr/>
          <p:nvPr/>
        </p:nvSpPr>
        <p:spPr>
          <a:xfrm>
            <a:off x="952500" y="18489726"/>
            <a:ext cx="16008688" cy="1308050"/>
          </a:xfrm>
          <a:prstGeom prst="rect">
            <a:avLst/>
          </a:prstGeom>
          <a:ln w="12700">
            <a:miter lim="400000"/>
          </a:ln>
          <a:extLst>
            <a:ext uri="{C572A759-6A51-4108-AA02-DFA0A04FC94B}">
              <ma14:wrappingTextBoxFlag xmlns="" xmlns:ma14="http://schemas.microsoft.com/office/mac/drawingml/2011/main" val="1"/>
            </a:ext>
          </a:extLst>
        </p:spPr>
        <p:txBody>
          <a:bodyPr lIns="76200" tIns="76200" rIns="76200" bIns="76200">
            <a:spAutoFit/>
          </a:bodyPr>
          <a:lstStyle/>
          <a:p>
            <a:pPr algn="l">
              <a:defRPr sz="2000">
                <a:latin typeface="Alright Sans"/>
                <a:ea typeface="Alright Sans"/>
                <a:cs typeface="Alright Sans"/>
                <a:sym typeface="Alright Sans"/>
              </a:defRPr>
            </a:pPr>
            <a:r>
              <a:rPr lang="en-US" sz="3000" dirty="0">
                <a:latin typeface="Open Sans" panose="020B0606030504020204" pitchFamily="34" charset="0"/>
                <a:ea typeface="Open Sans" panose="020B0606030504020204" pitchFamily="34" charset="0"/>
                <a:cs typeface="Open Sans" panose="020B0606030504020204" pitchFamily="34" charset="0"/>
              </a:rPr>
              <a:t>COMPLETE JAVA MASTERCLASS</a:t>
            </a:r>
          </a:p>
          <a:p>
            <a:pPr algn="l">
              <a:defRPr sz="3000">
                <a:latin typeface="Alright Sans"/>
                <a:ea typeface="Alright Sans"/>
                <a:cs typeface="Alright Sans"/>
                <a:sym typeface="Alright Sans"/>
              </a:defRPr>
            </a:pPr>
            <a:r>
              <a:rPr lang="en-US" sz="4500" dirty="0">
                <a:latin typeface="Open Sans" panose="020B0606030504020204" pitchFamily="34" charset="0"/>
                <a:ea typeface="Open Sans" panose="020B0606030504020204" pitchFamily="34" charset="0"/>
                <a:cs typeface="Open Sans" panose="020B0606030504020204" pitchFamily="34" charset="0"/>
              </a:rPr>
              <a:t>Java's Functional Interfaces, Consumer &amp; Predicate</a:t>
            </a:r>
          </a:p>
        </p:txBody>
      </p:sp>
      <p:sp>
        <p:nvSpPr>
          <p:cNvPr id="8" name="Rectangle 7">
            <a:extLst>
              <a:ext uri="{FF2B5EF4-FFF2-40B4-BE49-F238E27FC236}">
                <a16:creationId xmlns:a16="http://schemas.microsoft.com/office/drawing/2014/main" id="{89DBB243-EF27-4345-872D-E76597E95619}"/>
              </a:ext>
            </a:extLst>
          </p:cNvPr>
          <p:cNvSpPr/>
          <p:nvPr/>
        </p:nvSpPr>
        <p:spPr>
          <a:xfrm>
            <a:off x="952501" y="4285904"/>
            <a:ext cx="34782670" cy="11880176"/>
          </a:xfrm>
          <a:prstGeom prst="rect">
            <a:avLst/>
          </a:prstGeom>
        </p:spPr>
        <p:txBody>
          <a:bodyPr wrap="square">
            <a:normAutofit/>
          </a:bodyPr>
          <a:lstStyle/>
          <a:p>
            <a:pPr algn="l">
              <a:spcAft>
                <a:spcPts val="5022"/>
              </a:spcAft>
            </a:pPr>
            <a:r>
              <a:rPr lang="en-US" sz="6400" dirty="0">
                <a:latin typeface="Open Sans" panose="020B0606030504020204" pitchFamily="34" charset="0"/>
                <a:ea typeface="Open Sans" panose="020B0606030504020204" pitchFamily="34" charset="0"/>
                <a:cs typeface="Open Sans" panose="020B0606030504020204" pitchFamily="34" charset="0"/>
              </a:rPr>
              <a:t>On this slide, I'm showing the two most common Consumer interfaces, and the functional method on each.</a:t>
            </a:r>
          </a:p>
          <a:p>
            <a:pPr algn="l">
              <a:spcAft>
                <a:spcPts val="5022"/>
              </a:spcAft>
            </a:pPr>
            <a:r>
              <a:rPr lang="en-US" sz="6400" dirty="0">
                <a:latin typeface="Open Sans" panose="020B0606030504020204" pitchFamily="34" charset="0"/>
                <a:ea typeface="Open Sans" panose="020B0606030504020204" pitchFamily="34" charset="0"/>
                <a:cs typeface="Open Sans" panose="020B0606030504020204" pitchFamily="34" charset="0"/>
              </a:rPr>
              <a:t>The Consumer interface takes one argument of any type.</a:t>
            </a:r>
          </a:p>
          <a:p>
            <a:pPr algn="l">
              <a:spcAft>
                <a:spcPts val="5022"/>
              </a:spcAft>
            </a:pPr>
            <a:r>
              <a:rPr lang="en-US" sz="6400" dirty="0">
                <a:latin typeface="Open Sans" panose="020B0606030504020204" pitchFamily="34" charset="0"/>
                <a:ea typeface="Open Sans" panose="020B0606030504020204" pitchFamily="34" charset="0"/>
                <a:cs typeface="Open Sans" panose="020B0606030504020204" pitchFamily="34" charset="0"/>
              </a:rPr>
              <a:t>The </a:t>
            </a:r>
            <a:r>
              <a:rPr lang="en-US" sz="6400" dirty="0" err="1">
                <a:latin typeface="Open Sans" panose="020B0606030504020204" pitchFamily="34" charset="0"/>
                <a:ea typeface="Open Sans" panose="020B0606030504020204" pitchFamily="34" charset="0"/>
                <a:cs typeface="Open Sans" panose="020B0606030504020204" pitchFamily="34" charset="0"/>
              </a:rPr>
              <a:t>BiConsumer</a:t>
            </a:r>
            <a:r>
              <a:rPr lang="en-US" sz="6400" dirty="0">
                <a:latin typeface="Open Sans" panose="020B0606030504020204" pitchFamily="34" charset="0"/>
                <a:ea typeface="Open Sans" panose="020B0606030504020204" pitchFamily="34" charset="0"/>
                <a:cs typeface="Open Sans" panose="020B0606030504020204" pitchFamily="34" charset="0"/>
              </a:rPr>
              <a:t> interface takes two arguments, of two different types.</a:t>
            </a:r>
          </a:p>
        </p:txBody>
      </p:sp>
      <p:graphicFrame>
        <p:nvGraphicFramePr>
          <p:cNvPr id="2" name="Table 1">
            <a:extLst>
              <a:ext uri="{FF2B5EF4-FFF2-40B4-BE49-F238E27FC236}">
                <a16:creationId xmlns:a16="http://schemas.microsoft.com/office/drawing/2014/main" id="{E4C9215D-2F37-9800-90C2-FAACFF2B94F0}"/>
              </a:ext>
            </a:extLst>
          </p:cNvPr>
          <p:cNvGraphicFramePr>
            <a:graphicFrameLocks noGrp="1"/>
          </p:cNvGraphicFramePr>
          <p:nvPr/>
        </p:nvGraphicFramePr>
        <p:xfrm>
          <a:off x="952498" y="10170734"/>
          <a:ext cx="20041380" cy="4024993"/>
        </p:xfrm>
        <a:graphic>
          <a:graphicData uri="http://schemas.openxmlformats.org/drawingml/2006/table">
            <a:tbl>
              <a:tblPr firstRow="1" bandRow="1">
                <a:tableStyleId>{5C22544A-7EE6-4342-B048-85BDC9FD1C3A}</a:tableStyleId>
              </a:tblPr>
              <a:tblGrid>
                <a:gridCol w="8523427">
                  <a:extLst>
                    <a:ext uri="{9D8B030D-6E8A-4147-A177-3AD203B41FA5}">
                      <a16:colId xmlns:a16="http://schemas.microsoft.com/office/drawing/2014/main" val="2844207666"/>
                    </a:ext>
                  </a:extLst>
                </a:gridCol>
                <a:gridCol w="11517953">
                  <a:extLst>
                    <a:ext uri="{9D8B030D-6E8A-4147-A177-3AD203B41FA5}">
                      <a16:colId xmlns:a16="http://schemas.microsoft.com/office/drawing/2014/main" val="1891655341"/>
                    </a:ext>
                  </a:extLst>
                </a:gridCol>
              </a:tblGrid>
              <a:tr h="1188487">
                <a:tc>
                  <a:txBody>
                    <a:bodyPr/>
                    <a:lstStyle/>
                    <a:p>
                      <a:pPr marL="180000" algn="l"/>
                      <a:r>
                        <a:rPr lang="en-US" sz="5400" dirty="0">
                          <a:solidFill>
                            <a:schemeClr val="tx1"/>
                          </a:solidFill>
                          <a:latin typeface="Open Sans" panose="020B0606030504020204" pitchFamily="34" charset="0"/>
                          <a:ea typeface="Open Sans" panose="020B0606030504020204" pitchFamily="34" charset="0"/>
                          <a:cs typeface="Open Sans" panose="020B0606030504020204" pitchFamily="34" charset="0"/>
                        </a:rPr>
                        <a:t>Interface Name</a:t>
                      </a:r>
                      <a:endParaRPr lang="en-PH" sz="5400" dirty="0">
                        <a:solidFill>
                          <a:schemeClr val="tx1"/>
                        </a:solidFill>
                        <a:latin typeface="Open Sans" panose="020B0606030504020204" pitchFamily="34" charset="0"/>
                        <a:ea typeface="Open Sans" panose="020B0606030504020204" pitchFamily="34" charset="0"/>
                        <a:cs typeface="Open Sans" panose="020B0606030504020204" pitchFamily="34" charset="0"/>
                      </a:endParaRPr>
                    </a:p>
                  </a:txBody>
                  <a:tcPr marL="86794" marR="86794" marT="43397" marB="43397">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BE4D5"/>
                    </a:solidFill>
                  </a:tcPr>
                </a:tc>
                <a:tc>
                  <a:txBody>
                    <a:bodyPr/>
                    <a:lstStyle/>
                    <a:p>
                      <a:pPr marL="180000" algn="l"/>
                      <a:r>
                        <a:rPr lang="en-US" sz="5400" dirty="0">
                          <a:solidFill>
                            <a:schemeClr val="tx1"/>
                          </a:solidFill>
                          <a:latin typeface="Open Sans" panose="020B0606030504020204" pitchFamily="34" charset="0"/>
                          <a:ea typeface="Open Sans" panose="020B0606030504020204" pitchFamily="34" charset="0"/>
                          <a:cs typeface="Open Sans" panose="020B0606030504020204" pitchFamily="34" charset="0"/>
                        </a:rPr>
                        <a:t>Method Signature</a:t>
                      </a:r>
                      <a:endParaRPr lang="en-PH" sz="5400" dirty="0">
                        <a:solidFill>
                          <a:schemeClr val="tx1"/>
                        </a:solidFill>
                        <a:latin typeface="Open Sans" panose="020B0606030504020204" pitchFamily="34" charset="0"/>
                        <a:ea typeface="Open Sans" panose="020B0606030504020204" pitchFamily="34" charset="0"/>
                        <a:cs typeface="Open Sans" panose="020B0606030504020204" pitchFamily="34" charset="0"/>
                      </a:endParaRPr>
                    </a:p>
                  </a:txBody>
                  <a:tcPr marL="86794" marR="86794" marT="43397" marB="43397">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BE4D5"/>
                    </a:solidFill>
                  </a:tcPr>
                </a:tc>
                <a:extLst>
                  <a:ext uri="{0D108BD9-81ED-4DB2-BD59-A6C34878D82A}">
                    <a16:rowId xmlns:a16="http://schemas.microsoft.com/office/drawing/2014/main" val="3978129174"/>
                  </a:ext>
                </a:extLst>
              </a:tr>
              <a:tr h="1418253">
                <a:tc>
                  <a:txBody>
                    <a:bodyPr/>
                    <a:lstStyle/>
                    <a:p>
                      <a:pPr marL="180000" marR="0" lvl="0" indent="0" algn="l" defTabSz="914400" rtl="0" eaLnBrk="1" fontAlgn="auto" latinLnBrk="0" hangingPunct="1">
                        <a:lnSpc>
                          <a:spcPct val="100000"/>
                        </a:lnSpc>
                        <a:spcBef>
                          <a:spcPts val="0"/>
                        </a:spcBef>
                        <a:spcAft>
                          <a:spcPts val="1000"/>
                        </a:spcAft>
                        <a:buClr>
                          <a:srgbClr val="000000"/>
                        </a:buClr>
                        <a:buSzTx/>
                        <a:buFont typeface="Arial" panose="020B0604020202020204" pitchFamily="34" charset="0"/>
                        <a:buNone/>
                        <a:tabLst/>
                        <a:defRPr/>
                      </a:pPr>
                      <a:r>
                        <a:rPr lang="en-US" sz="5400" b="0" dirty="0">
                          <a:solidFill>
                            <a:schemeClr val="tx1"/>
                          </a:solidFill>
                          <a:latin typeface="Open Sans" panose="020B0606030504020204" pitchFamily="34" charset="0"/>
                          <a:ea typeface="Open Sans" panose="020B0606030504020204" pitchFamily="34" charset="0"/>
                          <a:cs typeface="Open Sans" panose="020B0606030504020204" pitchFamily="34" charset="0"/>
                        </a:rPr>
                        <a:t>Consumer</a:t>
                      </a:r>
                    </a:p>
                  </a:txBody>
                  <a:tcPr marL="86794" marR="86794" marT="43397" marB="43397">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180000" marR="0" lvl="0" indent="0" algn="l" defTabSz="914400" rtl="0" eaLnBrk="1" fontAlgn="auto" latinLnBrk="0" hangingPunct="1">
                        <a:lnSpc>
                          <a:spcPct val="100000"/>
                        </a:lnSpc>
                        <a:spcBef>
                          <a:spcPts val="0"/>
                        </a:spcBef>
                        <a:spcAft>
                          <a:spcPts val="1000"/>
                        </a:spcAft>
                        <a:buClr>
                          <a:srgbClr val="000000"/>
                        </a:buClr>
                        <a:buSzTx/>
                        <a:buFont typeface="Arial" panose="020B0604020202020204" pitchFamily="34" charset="0"/>
                        <a:buNone/>
                        <a:tabLst/>
                        <a:defRPr/>
                      </a:pPr>
                      <a:endParaRPr lang="en-US" sz="5400" b="0" dirty="0">
                        <a:solidFill>
                          <a:schemeClr val="tx1"/>
                        </a:solidFill>
                        <a:latin typeface="Open Sans" panose="020B0606030504020204" pitchFamily="34" charset="0"/>
                        <a:ea typeface="Open Sans" panose="020B0606030504020204" pitchFamily="34" charset="0"/>
                        <a:cs typeface="Open Sans" panose="020B0606030504020204" pitchFamily="34" charset="0"/>
                      </a:endParaRPr>
                    </a:p>
                  </a:txBody>
                  <a:tcPr marL="86794" marR="86794" marT="43397" marB="43397">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640325450"/>
                  </a:ext>
                </a:extLst>
              </a:tr>
              <a:tr h="1418253">
                <a:tc>
                  <a:txBody>
                    <a:bodyPr/>
                    <a:lstStyle/>
                    <a:p>
                      <a:pPr marL="180000" marR="0" lvl="0" indent="0" algn="l" defTabSz="914400" rtl="0" eaLnBrk="1" fontAlgn="auto" latinLnBrk="0" hangingPunct="1">
                        <a:lnSpc>
                          <a:spcPct val="100000"/>
                        </a:lnSpc>
                        <a:spcBef>
                          <a:spcPts val="0"/>
                        </a:spcBef>
                        <a:spcAft>
                          <a:spcPts val="1000"/>
                        </a:spcAft>
                        <a:buClr>
                          <a:srgbClr val="000000"/>
                        </a:buClr>
                        <a:buSzTx/>
                        <a:buFont typeface="Arial" panose="020B0604020202020204" pitchFamily="34" charset="0"/>
                        <a:buNone/>
                        <a:tabLst/>
                        <a:defRPr/>
                      </a:pPr>
                      <a:r>
                        <a:rPr lang="en-US" sz="5400" b="0" dirty="0">
                          <a:solidFill>
                            <a:schemeClr val="tx1"/>
                          </a:solidFill>
                          <a:latin typeface="Open Sans" panose="020B0606030504020204" pitchFamily="34" charset="0"/>
                          <a:ea typeface="Open Sans" panose="020B0606030504020204" pitchFamily="34" charset="0"/>
                          <a:cs typeface="Open Sans" panose="020B0606030504020204" pitchFamily="34" charset="0"/>
                        </a:rPr>
                        <a:t>BiConsumer</a:t>
                      </a:r>
                    </a:p>
                  </a:txBody>
                  <a:tcPr marL="86794" marR="86794" marT="43397" marB="43397">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180000" marR="0" lvl="0" indent="0" algn="l" defTabSz="914400" rtl="0" eaLnBrk="1" fontAlgn="auto" latinLnBrk="0" hangingPunct="1">
                        <a:lnSpc>
                          <a:spcPct val="100000"/>
                        </a:lnSpc>
                        <a:spcBef>
                          <a:spcPts val="0"/>
                        </a:spcBef>
                        <a:spcAft>
                          <a:spcPts val="1000"/>
                        </a:spcAft>
                        <a:buClr>
                          <a:srgbClr val="000000"/>
                        </a:buClr>
                        <a:buSzTx/>
                        <a:buFont typeface="Arial" panose="020B0604020202020204" pitchFamily="34" charset="0"/>
                        <a:buNone/>
                        <a:tabLst/>
                        <a:defRPr/>
                      </a:pPr>
                      <a:endParaRPr lang="en-US" sz="5400" b="0" dirty="0">
                        <a:solidFill>
                          <a:schemeClr val="tx1"/>
                        </a:solidFill>
                        <a:latin typeface="Open Sans" panose="020B0606030504020204" pitchFamily="34" charset="0"/>
                        <a:ea typeface="Open Sans" panose="020B0606030504020204" pitchFamily="34" charset="0"/>
                        <a:cs typeface="Open Sans" panose="020B0606030504020204" pitchFamily="34" charset="0"/>
                      </a:endParaRPr>
                    </a:p>
                  </a:txBody>
                  <a:tcPr marL="86794" marR="86794" marT="43397" marB="43397">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521613951"/>
                  </a:ext>
                </a:extLst>
              </a:tr>
            </a:tbl>
          </a:graphicData>
        </a:graphic>
      </p:graphicFrame>
      <p:pic>
        <p:nvPicPr>
          <p:cNvPr id="4" name="Picture 3">
            <a:extLst>
              <a:ext uri="{FF2B5EF4-FFF2-40B4-BE49-F238E27FC236}">
                <a16:creationId xmlns:a16="http://schemas.microsoft.com/office/drawing/2014/main" id="{8886CCA4-C380-C70E-12CC-F9F5F28BC140}"/>
              </a:ext>
            </a:extLst>
          </p:cNvPr>
          <p:cNvPicPr>
            <a:picLocks noChangeAspect="1"/>
          </p:cNvPicPr>
          <p:nvPr/>
        </p:nvPicPr>
        <p:blipFill>
          <a:blip r:embed="rId4"/>
          <a:stretch>
            <a:fillRect/>
          </a:stretch>
        </p:blipFill>
        <p:spPr>
          <a:xfrm>
            <a:off x="9552842" y="11541802"/>
            <a:ext cx="8541714" cy="1057142"/>
          </a:xfrm>
          <a:prstGeom prst="rect">
            <a:avLst/>
          </a:prstGeom>
        </p:spPr>
      </p:pic>
      <p:pic>
        <p:nvPicPr>
          <p:cNvPr id="6" name="Picture 5">
            <a:extLst>
              <a:ext uri="{FF2B5EF4-FFF2-40B4-BE49-F238E27FC236}">
                <a16:creationId xmlns:a16="http://schemas.microsoft.com/office/drawing/2014/main" id="{D036F1C7-806D-7605-E628-2B0C46C06709}"/>
              </a:ext>
            </a:extLst>
          </p:cNvPr>
          <p:cNvPicPr>
            <a:picLocks noChangeAspect="1"/>
          </p:cNvPicPr>
          <p:nvPr/>
        </p:nvPicPr>
        <p:blipFill>
          <a:blip r:embed="rId5"/>
          <a:stretch>
            <a:fillRect/>
          </a:stretch>
        </p:blipFill>
        <p:spPr>
          <a:xfrm>
            <a:off x="9552842" y="12975122"/>
            <a:ext cx="11142287" cy="993714"/>
          </a:xfrm>
          <a:prstGeom prst="rect">
            <a:avLst/>
          </a:prstGeom>
        </p:spPr>
      </p:pic>
    </p:spTree>
    <p:extLst>
      <p:ext uri="{BB962C8B-B14F-4D97-AF65-F5344CB8AC3E}">
        <p14:creationId xmlns:p14="http://schemas.microsoft.com/office/powerpoint/2010/main" val="770027810"/>
      </p:ext>
    </p:extLst>
  </p:cSld>
  <p:clrMapOvr>
    <a:masterClrMapping/>
  </p:clrMapOvr>
  <p:transition spd="slow"/>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 name="Shape 126"/>
          <p:cNvSpPr/>
          <p:nvPr/>
        </p:nvSpPr>
        <p:spPr>
          <a:xfrm>
            <a:off x="952498" y="459786"/>
            <a:ext cx="26994569" cy="1815882"/>
          </a:xfrm>
          <a:prstGeom prst="rect">
            <a:avLst/>
          </a:prstGeom>
          <a:ln w="12700">
            <a:miter lim="400000"/>
          </a:ln>
          <a:extLst>
            <a:ext uri="{C572A759-6A51-4108-AA02-DFA0A04FC94B}">
              <ma14:wrappingTextBoxFlag xmlns="" xmlns:ma14="http://schemas.microsoft.com/office/mac/drawingml/2011/main" val="1"/>
            </a:ext>
          </a:extLst>
        </p:spPr>
        <p:txBody>
          <a:bodyPr wrap="none" lIns="76200" tIns="76200" rIns="76200" bIns="76200">
            <a:spAutoFit/>
          </a:bodyPr>
          <a:lstStyle>
            <a:lvl1pPr algn="l">
              <a:defRPr sz="7000">
                <a:latin typeface="Alright Sans"/>
                <a:ea typeface="Alright Sans"/>
                <a:cs typeface="Alright Sans"/>
                <a:sym typeface="Alright Sans"/>
              </a:defRPr>
            </a:lvl1pPr>
          </a:lstStyle>
          <a:p>
            <a:pPr>
              <a:defRPr sz="3000">
                <a:latin typeface="Alright Sans"/>
                <a:ea typeface="Alright Sans"/>
                <a:cs typeface="Alright Sans"/>
                <a:sym typeface="Alright Sans"/>
              </a:defRPr>
            </a:pPr>
            <a:r>
              <a:rPr lang="en-US" sz="10800" dirty="0">
                <a:latin typeface="Open Sans" panose="020B0606030504020204" pitchFamily="34" charset="0"/>
                <a:ea typeface="Open Sans" panose="020B0606030504020204" pitchFamily="34" charset="0"/>
                <a:cs typeface="Open Sans" panose="020B0606030504020204" pitchFamily="34" charset="0"/>
              </a:rPr>
              <a:t>A Consumer Lambda Expression Example</a:t>
            </a:r>
          </a:p>
        </p:txBody>
      </p:sp>
      <p:sp>
        <p:nvSpPr>
          <p:cNvPr id="128" name="Shape 128"/>
          <p:cNvSpPr/>
          <p:nvPr/>
        </p:nvSpPr>
        <p:spPr>
          <a:xfrm>
            <a:off x="952500" y="18210515"/>
            <a:ext cx="34782668" cy="2"/>
          </a:xfrm>
          <a:prstGeom prst="line">
            <a:avLst/>
          </a:prstGeom>
          <a:ln w="76200">
            <a:solidFill>
              <a:schemeClr val="accent1">
                <a:satOff val="-3355"/>
                <a:lumOff val="26614"/>
              </a:schemeClr>
            </a:solidFill>
            <a:miter lim="400000"/>
          </a:ln>
        </p:spPr>
        <p:txBody>
          <a:bodyPr lIns="76200" tIns="76200" rIns="76200" bIns="76200" anchor="ctr"/>
          <a:lstStyle/>
          <a:p>
            <a:pPr>
              <a:defRPr sz="3200"/>
            </a:pPr>
            <a:endParaRPr sz="4800"/>
          </a:p>
        </p:txBody>
      </p:sp>
      <p:pic>
        <p:nvPicPr>
          <p:cNvPr id="129" name="Logo.png"/>
          <p:cNvPicPr>
            <a:picLocks noChangeAspect="1"/>
          </p:cNvPicPr>
          <p:nvPr/>
        </p:nvPicPr>
        <p:blipFill>
          <a:blip r:embed="rId3"/>
          <a:stretch>
            <a:fillRect/>
          </a:stretch>
        </p:blipFill>
        <p:spPr>
          <a:xfrm>
            <a:off x="14650974" y="18489726"/>
            <a:ext cx="6321552" cy="1392336"/>
          </a:xfrm>
          <a:prstGeom prst="rect">
            <a:avLst/>
          </a:prstGeom>
          <a:ln w="12700">
            <a:miter lim="400000"/>
          </a:ln>
        </p:spPr>
      </p:pic>
      <p:sp>
        <p:nvSpPr>
          <p:cNvPr id="9" name="Shape 127"/>
          <p:cNvSpPr/>
          <p:nvPr/>
        </p:nvSpPr>
        <p:spPr>
          <a:xfrm flipV="1">
            <a:off x="952499" y="2203340"/>
            <a:ext cx="34782670" cy="38132"/>
          </a:xfrm>
          <a:prstGeom prst="line">
            <a:avLst/>
          </a:prstGeom>
          <a:ln w="152400">
            <a:solidFill>
              <a:schemeClr val="accent1">
                <a:satOff val="-3355"/>
                <a:lumOff val="26614"/>
              </a:schemeClr>
            </a:solidFill>
            <a:miter lim="400000"/>
          </a:ln>
        </p:spPr>
        <p:txBody>
          <a:bodyPr lIns="76200" tIns="76200" rIns="76200" bIns="76200" anchor="ctr"/>
          <a:lstStyle/>
          <a:p>
            <a:pPr>
              <a:defRPr sz="3200"/>
            </a:pPr>
            <a:endParaRPr sz="4800"/>
          </a:p>
        </p:txBody>
      </p:sp>
      <p:sp>
        <p:nvSpPr>
          <p:cNvPr id="10" name="Shape 131"/>
          <p:cNvSpPr/>
          <p:nvPr/>
        </p:nvSpPr>
        <p:spPr>
          <a:xfrm>
            <a:off x="952500" y="18489726"/>
            <a:ext cx="16008688" cy="1308050"/>
          </a:xfrm>
          <a:prstGeom prst="rect">
            <a:avLst/>
          </a:prstGeom>
          <a:ln w="12700">
            <a:miter lim="400000"/>
          </a:ln>
          <a:extLst>
            <a:ext uri="{C572A759-6A51-4108-AA02-DFA0A04FC94B}">
              <ma14:wrappingTextBoxFlag xmlns:ma14="http://schemas.microsoft.com/office/mac/drawingml/2011/main" xmlns="" val="1"/>
            </a:ext>
          </a:extLst>
        </p:spPr>
        <p:txBody>
          <a:bodyPr lIns="76200" tIns="76200" rIns="76200" bIns="76200">
            <a:spAutoFit/>
          </a:bodyPr>
          <a:lstStyle/>
          <a:p>
            <a:pPr algn="l">
              <a:defRPr sz="2000">
                <a:latin typeface="Alright Sans"/>
                <a:ea typeface="Alright Sans"/>
                <a:cs typeface="Alright Sans"/>
                <a:sym typeface="Alright Sans"/>
              </a:defRPr>
            </a:pPr>
            <a:r>
              <a:rPr lang="en-US" sz="3000" dirty="0">
                <a:latin typeface="Open Sans" panose="020B0606030504020204" pitchFamily="34" charset="0"/>
                <a:ea typeface="Open Sans" panose="020B0606030504020204" pitchFamily="34" charset="0"/>
                <a:cs typeface="Open Sans" panose="020B0606030504020204" pitchFamily="34" charset="0"/>
              </a:rPr>
              <a:t>COMPLETE JAVA MASTERCLASS</a:t>
            </a:r>
          </a:p>
          <a:p>
            <a:pPr algn="l">
              <a:defRPr sz="3000">
                <a:latin typeface="Alright Sans"/>
                <a:ea typeface="Alright Sans"/>
                <a:cs typeface="Alright Sans"/>
                <a:sym typeface="Alright Sans"/>
              </a:defRPr>
            </a:pPr>
            <a:r>
              <a:rPr lang="en-US" sz="4500" dirty="0">
                <a:latin typeface="Open Sans" panose="020B0606030504020204" pitchFamily="34" charset="0"/>
                <a:ea typeface="Open Sans" panose="020B0606030504020204" pitchFamily="34" charset="0"/>
                <a:cs typeface="Open Sans" panose="020B0606030504020204" pitchFamily="34" charset="0"/>
              </a:rPr>
              <a:t>Java's Functional Interfaces, Consumer &amp; Predicate</a:t>
            </a:r>
          </a:p>
        </p:txBody>
      </p:sp>
      <p:sp>
        <p:nvSpPr>
          <p:cNvPr id="8" name="Rectangle 7">
            <a:extLst>
              <a:ext uri="{FF2B5EF4-FFF2-40B4-BE49-F238E27FC236}">
                <a16:creationId xmlns:a16="http://schemas.microsoft.com/office/drawing/2014/main" id="{89DBB243-EF27-4345-872D-E76597E95619}"/>
              </a:ext>
            </a:extLst>
          </p:cNvPr>
          <p:cNvSpPr/>
          <p:nvPr/>
        </p:nvSpPr>
        <p:spPr>
          <a:xfrm>
            <a:off x="952501" y="4285904"/>
            <a:ext cx="34782670" cy="11880176"/>
          </a:xfrm>
          <a:prstGeom prst="rect">
            <a:avLst/>
          </a:prstGeom>
        </p:spPr>
        <p:txBody>
          <a:bodyPr wrap="square">
            <a:normAutofit/>
          </a:bodyPr>
          <a:lstStyle/>
          <a:p>
            <a:pPr algn="l">
              <a:spcAft>
                <a:spcPts val="5022"/>
              </a:spcAft>
            </a:pPr>
            <a:r>
              <a:rPr lang="en-US" sz="6400" dirty="0">
                <a:latin typeface="Open Sans" panose="020B0606030504020204" pitchFamily="34" charset="0"/>
                <a:ea typeface="Open Sans" panose="020B0606030504020204" pitchFamily="34" charset="0"/>
                <a:cs typeface="Open Sans" panose="020B0606030504020204" pitchFamily="34" charset="0"/>
              </a:rPr>
              <a:t>This slide shows an example consumer lambda expression. It takes one argument and executes a single statement.</a:t>
            </a:r>
          </a:p>
          <a:p>
            <a:pPr algn="l">
              <a:spcAft>
                <a:spcPts val="5022"/>
              </a:spcAft>
            </a:pPr>
            <a:r>
              <a:rPr lang="en-US" sz="6400" dirty="0">
                <a:latin typeface="Open Sans" panose="020B0606030504020204" pitchFamily="34" charset="0"/>
                <a:ea typeface="Open Sans" panose="020B0606030504020204" pitchFamily="34" charset="0"/>
                <a:cs typeface="Open Sans" panose="020B0606030504020204" pitchFamily="34" charset="0"/>
              </a:rPr>
              <a:t>No result is returned.</a:t>
            </a:r>
          </a:p>
        </p:txBody>
      </p:sp>
      <p:graphicFrame>
        <p:nvGraphicFramePr>
          <p:cNvPr id="2" name="Table 1">
            <a:extLst>
              <a:ext uri="{FF2B5EF4-FFF2-40B4-BE49-F238E27FC236}">
                <a16:creationId xmlns:a16="http://schemas.microsoft.com/office/drawing/2014/main" id="{E4C9215D-2F37-9800-90C2-FAACFF2B94F0}"/>
              </a:ext>
            </a:extLst>
          </p:cNvPr>
          <p:cNvGraphicFramePr>
            <a:graphicFrameLocks noGrp="1"/>
          </p:cNvGraphicFramePr>
          <p:nvPr/>
        </p:nvGraphicFramePr>
        <p:xfrm>
          <a:off x="952497" y="8696498"/>
          <a:ext cx="24445430" cy="2606740"/>
        </p:xfrm>
        <a:graphic>
          <a:graphicData uri="http://schemas.openxmlformats.org/drawingml/2006/table">
            <a:tbl>
              <a:tblPr firstRow="1" bandRow="1">
                <a:tableStyleId>{5C22544A-7EE6-4342-B048-85BDC9FD1C3A}</a:tableStyleId>
              </a:tblPr>
              <a:tblGrid>
                <a:gridCol w="15413397">
                  <a:extLst>
                    <a:ext uri="{9D8B030D-6E8A-4147-A177-3AD203B41FA5}">
                      <a16:colId xmlns:a16="http://schemas.microsoft.com/office/drawing/2014/main" val="2844207666"/>
                    </a:ext>
                  </a:extLst>
                </a:gridCol>
                <a:gridCol w="9032033">
                  <a:extLst>
                    <a:ext uri="{9D8B030D-6E8A-4147-A177-3AD203B41FA5}">
                      <a16:colId xmlns:a16="http://schemas.microsoft.com/office/drawing/2014/main" val="1891655341"/>
                    </a:ext>
                  </a:extLst>
                </a:gridCol>
              </a:tblGrid>
              <a:tr h="1188487">
                <a:tc>
                  <a:txBody>
                    <a:bodyPr/>
                    <a:lstStyle/>
                    <a:p>
                      <a:pPr marL="180000" algn="l"/>
                      <a:r>
                        <a:rPr lang="en-US" sz="5400" dirty="0">
                          <a:solidFill>
                            <a:schemeClr val="tx1"/>
                          </a:solidFill>
                          <a:latin typeface="Open Sans" panose="020B0606030504020204" pitchFamily="34" charset="0"/>
                          <a:ea typeface="Open Sans" panose="020B0606030504020204" pitchFamily="34" charset="0"/>
                          <a:cs typeface="Open Sans" panose="020B0606030504020204" pitchFamily="34" charset="0"/>
                        </a:rPr>
                        <a:t>Example Lambda Expression for Consumer</a:t>
                      </a:r>
                      <a:endParaRPr lang="en-PH" sz="5400" dirty="0">
                        <a:solidFill>
                          <a:schemeClr val="tx1"/>
                        </a:solidFill>
                        <a:latin typeface="Open Sans" panose="020B0606030504020204" pitchFamily="34" charset="0"/>
                        <a:ea typeface="Open Sans" panose="020B0606030504020204" pitchFamily="34" charset="0"/>
                        <a:cs typeface="Open Sans" panose="020B0606030504020204" pitchFamily="34" charset="0"/>
                      </a:endParaRPr>
                    </a:p>
                  </a:txBody>
                  <a:tcPr marL="86794" marR="86794" marT="43397" marB="43397">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BE4D5"/>
                    </a:solidFill>
                  </a:tcPr>
                </a:tc>
                <a:tc>
                  <a:txBody>
                    <a:bodyPr/>
                    <a:lstStyle/>
                    <a:p>
                      <a:pPr marL="180000" algn="l"/>
                      <a:r>
                        <a:rPr lang="en-US" sz="5400" dirty="0">
                          <a:solidFill>
                            <a:schemeClr val="tx1"/>
                          </a:solidFill>
                          <a:latin typeface="Open Sans" panose="020B0606030504020204" pitchFamily="34" charset="0"/>
                          <a:ea typeface="Open Sans" panose="020B0606030504020204" pitchFamily="34" charset="0"/>
                          <a:cs typeface="Open Sans" panose="020B0606030504020204" pitchFamily="34" charset="0"/>
                        </a:rPr>
                        <a:t>Consumer Method</a:t>
                      </a:r>
                      <a:endParaRPr lang="en-PH" sz="5400" dirty="0">
                        <a:solidFill>
                          <a:schemeClr val="tx1"/>
                        </a:solidFill>
                        <a:latin typeface="Open Sans" panose="020B0606030504020204" pitchFamily="34" charset="0"/>
                        <a:ea typeface="Open Sans" panose="020B0606030504020204" pitchFamily="34" charset="0"/>
                        <a:cs typeface="Open Sans" panose="020B0606030504020204" pitchFamily="34" charset="0"/>
                      </a:endParaRPr>
                    </a:p>
                  </a:txBody>
                  <a:tcPr marL="86794" marR="86794" marT="43397" marB="43397">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BE4D5"/>
                    </a:solidFill>
                  </a:tcPr>
                </a:tc>
                <a:extLst>
                  <a:ext uri="{0D108BD9-81ED-4DB2-BD59-A6C34878D82A}">
                    <a16:rowId xmlns:a16="http://schemas.microsoft.com/office/drawing/2014/main" val="3978129174"/>
                  </a:ext>
                </a:extLst>
              </a:tr>
              <a:tr h="1418253">
                <a:tc>
                  <a:txBody>
                    <a:bodyPr/>
                    <a:lstStyle/>
                    <a:p>
                      <a:pPr marL="180000" marR="0" lvl="0" indent="0" algn="l" defTabSz="914400" rtl="0" eaLnBrk="1" fontAlgn="auto" latinLnBrk="0" hangingPunct="1">
                        <a:lnSpc>
                          <a:spcPct val="100000"/>
                        </a:lnSpc>
                        <a:spcBef>
                          <a:spcPts val="0"/>
                        </a:spcBef>
                        <a:spcAft>
                          <a:spcPts val="1000"/>
                        </a:spcAft>
                        <a:buClr>
                          <a:srgbClr val="000000"/>
                        </a:buClr>
                        <a:buSzTx/>
                        <a:buFont typeface="Arial" panose="020B0604020202020204" pitchFamily="34" charset="0"/>
                        <a:buNone/>
                        <a:tabLst/>
                        <a:defRPr/>
                      </a:pPr>
                      <a:endParaRPr lang="en-US" sz="5400" b="0" dirty="0">
                        <a:solidFill>
                          <a:schemeClr val="tx1"/>
                        </a:solidFill>
                        <a:latin typeface="Open Sans" panose="020B0606030504020204" pitchFamily="34" charset="0"/>
                        <a:ea typeface="Open Sans" panose="020B0606030504020204" pitchFamily="34" charset="0"/>
                        <a:cs typeface="Open Sans" panose="020B0606030504020204" pitchFamily="34" charset="0"/>
                      </a:endParaRPr>
                    </a:p>
                  </a:txBody>
                  <a:tcPr marL="86794" marR="86794" marT="43397" marB="43397">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180000" marR="0" lvl="0" indent="0" algn="l" defTabSz="914400" rtl="0" eaLnBrk="1" fontAlgn="auto" latinLnBrk="0" hangingPunct="1">
                        <a:lnSpc>
                          <a:spcPct val="100000"/>
                        </a:lnSpc>
                        <a:spcBef>
                          <a:spcPts val="0"/>
                        </a:spcBef>
                        <a:spcAft>
                          <a:spcPts val="1000"/>
                        </a:spcAft>
                        <a:buClr>
                          <a:srgbClr val="000000"/>
                        </a:buClr>
                        <a:buSzTx/>
                        <a:buFont typeface="Arial" panose="020B0604020202020204" pitchFamily="34" charset="0"/>
                        <a:buNone/>
                        <a:tabLst/>
                        <a:defRPr/>
                      </a:pPr>
                      <a:endParaRPr lang="en-US" sz="5400" b="0" dirty="0">
                        <a:solidFill>
                          <a:schemeClr val="tx1"/>
                        </a:solidFill>
                        <a:latin typeface="Open Sans" panose="020B0606030504020204" pitchFamily="34" charset="0"/>
                        <a:ea typeface="Open Sans" panose="020B0606030504020204" pitchFamily="34" charset="0"/>
                        <a:cs typeface="Open Sans" panose="020B0606030504020204" pitchFamily="34" charset="0"/>
                      </a:endParaRPr>
                    </a:p>
                  </a:txBody>
                  <a:tcPr marL="86794" marR="86794" marT="43397" marB="43397">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640325450"/>
                  </a:ext>
                </a:extLst>
              </a:tr>
            </a:tbl>
          </a:graphicData>
        </a:graphic>
      </p:graphicFrame>
      <p:pic>
        <p:nvPicPr>
          <p:cNvPr id="5" name="Picture 4">
            <a:extLst>
              <a:ext uri="{FF2B5EF4-FFF2-40B4-BE49-F238E27FC236}">
                <a16:creationId xmlns:a16="http://schemas.microsoft.com/office/drawing/2014/main" id="{A48D929A-C717-A4DA-F636-912EA446EA2C}"/>
              </a:ext>
            </a:extLst>
          </p:cNvPr>
          <p:cNvPicPr>
            <a:picLocks noChangeAspect="1"/>
          </p:cNvPicPr>
          <p:nvPr/>
        </p:nvPicPr>
        <p:blipFill>
          <a:blip r:embed="rId4"/>
          <a:stretch>
            <a:fillRect/>
          </a:stretch>
        </p:blipFill>
        <p:spPr>
          <a:xfrm>
            <a:off x="1208574" y="9999868"/>
            <a:ext cx="13742857" cy="1014857"/>
          </a:xfrm>
          <a:prstGeom prst="rect">
            <a:avLst/>
          </a:prstGeom>
        </p:spPr>
      </p:pic>
      <p:pic>
        <p:nvPicPr>
          <p:cNvPr id="11" name="Picture 10">
            <a:extLst>
              <a:ext uri="{FF2B5EF4-FFF2-40B4-BE49-F238E27FC236}">
                <a16:creationId xmlns:a16="http://schemas.microsoft.com/office/drawing/2014/main" id="{866C6018-7FCD-2D9B-773C-AA74214427D4}"/>
              </a:ext>
            </a:extLst>
          </p:cNvPr>
          <p:cNvPicPr>
            <a:picLocks noChangeAspect="1"/>
          </p:cNvPicPr>
          <p:nvPr/>
        </p:nvPicPr>
        <p:blipFill>
          <a:blip r:embed="rId5"/>
          <a:stretch>
            <a:fillRect/>
          </a:stretch>
        </p:blipFill>
        <p:spPr>
          <a:xfrm>
            <a:off x="16602411" y="9999868"/>
            <a:ext cx="8478287" cy="1057142"/>
          </a:xfrm>
          <a:prstGeom prst="rect">
            <a:avLst/>
          </a:prstGeom>
        </p:spPr>
      </p:pic>
    </p:spTree>
    <p:extLst>
      <p:ext uri="{BB962C8B-B14F-4D97-AF65-F5344CB8AC3E}">
        <p14:creationId xmlns:p14="http://schemas.microsoft.com/office/powerpoint/2010/main" val="1510620748"/>
      </p:ext>
    </p:extLst>
  </p:cSld>
  <p:clrMapOvr>
    <a:masterClrMapping/>
  </p:clrMapOvr>
  <p:transition spd="slow"/>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 name="Shape 126"/>
          <p:cNvSpPr/>
          <p:nvPr/>
        </p:nvSpPr>
        <p:spPr>
          <a:xfrm>
            <a:off x="952498" y="459786"/>
            <a:ext cx="15082655" cy="1815882"/>
          </a:xfrm>
          <a:prstGeom prst="rect">
            <a:avLst/>
          </a:prstGeom>
          <a:ln w="12700">
            <a:miter lim="400000"/>
          </a:ln>
          <a:extLst>
            <a:ext uri="{C572A759-6A51-4108-AA02-DFA0A04FC94B}">
              <ma14:wrappingTextBoxFlag xmlns:ma14="http://schemas.microsoft.com/office/mac/drawingml/2011/main" xmlns="" val="1"/>
            </a:ext>
          </a:extLst>
        </p:spPr>
        <p:txBody>
          <a:bodyPr wrap="none" lIns="76200" tIns="76200" rIns="76200" bIns="76200">
            <a:spAutoFit/>
          </a:bodyPr>
          <a:lstStyle>
            <a:lvl1pPr algn="l">
              <a:defRPr sz="7000">
                <a:latin typeface="Alright Sans"/>
                <a:ea typeface="Alright Sans"/>
                <a:cs typeface="Alright Sans"/>
                <a:sym typeface="Alright Sans"/>
              </a:defRPr>
            </a:lvl1pPr>
          </a:lstStyle>
          <a:p>
            <a:pPr>
              <a:defRPr sz="3000">
                <a:latin typeface="Alright Sans"/>
                <a:ea typeface="Alright Sans"/>
                <a:cs typeface="Alright Sans"/>
                <a:sym typeface="Alright Sans"/>
              </a:defRPr>
            </a:pPr>
            <a:r>
              <a:rPr lang="en-US" sz="10800" dirty="0">
                <a:latin typeface="Open Sans" panose="020B0606030504020204" pitchFamily="34" charset="0"/>
                <a:ea typeface="Open Sans" panose="020B0606030504020204" pitchFamily="34" charset="0"/>
                <a:cs typeface="Open Sans" panose="020B0606030504020204" pitchFamily="34" charset="0"/>
              </a:rPr>
              <a:t>The Predicate Interface</a:t>
            </a:r>
          </a:p>
        </p:txBody>
      </p:sp>
      <p:sp>
        <p:nvSpPr>
          <p:cNvPr id="128" name="Shape 128"/>
          <p:cNvSpPr/>
          <p:nvPr/>
        </p:nvSpPr>
        <p:spPr>
          <a:xfrm>
            <a:off x="952500" y="18210515"/>
            <a:ext cx="34782668" cy="2"/>
          </a:xfrm>
          <a:prstGeom prst="line">
            <a:avLst/>
          </a:prstGeom>
          <a:ln w="76200">
            <a:solidFill>
              <a:schemeClr val="accent1">
                <a:satOff val="-3355"/>
                <a:lumOff val="26614"/>
              </a:schemeClr>
            </a:solidFill>
            <a:miter lim="400000"/>
          </a:ln>
        </p:spPr>
        <p:txBody>
          <a:bodyPr lIns="76200" tIns="76200" rIns="76200" bIns="76200" anchor="ctr"/>
          <a:lstStyle/>
          <a:p>
            <a:pPr>
              <a:defRPr sz="3200"/>
            </a:pPr>
            <a:endParaRPr sz="4800"/>
          </a:p>
        </p:txBody>
      </p:sp>
      <p:pic>
        <p:nvPicPr>
          <p:cNvPr id="129" name="Logo.png"/>
          <p:cNvPicPr>
            <a:picLocks noChangeAspect="1"/>
          </p:cNvPicPr>
          <p:nvPr/>
        </p:nvPicPr>
        <p:blipFill>
          <a:blip r:embed="rId3"/>
          <a:stretch>
            <a:fillRect/>
          </a:stretch>
        </p:blipFill>
        <p:spPr>
          <a:xfrm>
            <a:off x="14650974" y="18489726"/>
            <a:ext cx="6321552" cy="1392336"/>
          </a:xfrm>
          <a:prstGeom prst="rect">
            <a:avLst/>
          </a:prstGeom>
          <a:ln w="12700">
            <a:miter lim="400000"/>
          </a:ln>
        </p:spPr>
      </p:pic>
      <p:sp>
        <p:nvSpPr>
          <p:cNvPr id="9" name="Shape 127"/>
          <p:cNvSpPr/>
          <p:nvPr/>
        </p:nvSpPr>
        <p:spPr>
          <a:xfrm flipV="1">
            <a:off x="952499" y="2203340"/>
            <a:ext cx="34782670" cy="38132"/>
          </a:xfrm>
          <a:prstGeom prst="line">
            <a:avLst/>
          </a:prstGeom>
          <a:ln w="152400">
            <a:solidFill>
              <a:schemeClr val="accent1">
                <a:satOff val="-3355"/>
                <a:lumOff val="26614"/>
              </a:schemeClr>
            </a:solidFill>
            <a:miter lim="400000"/>
          </a:ln>
        </p:spPr>
        <p:txBody>
          <a:bodyPr lIns="76200" tIns="76200" rIns="76200" bIns="76200" anchor="ctr"/>
          <a:lstStyle/>
          <a:p>
            <a:pPr>
              <a:defRPr sz="3200"/>
            </a:pPr>
            <a:endParaRPr sz="4800"/>
          </a:p>
        </p:txBody>
      </p:sp>
      <p:sp>
        <p:nvSpPr>
          <p:cNvPr id="10" name="Shape 131"/>
          <p:cNvSpPr/>
          <p:nvPr/>
        </p:nvSpPr>
        <p:spPr>
          <a:xfrm>
            <a:off x="952500" y="18489726"/>
            <a:ext cx="16008688" cy="1308050"/>
          </a:xfrm>
          <a:prstGeom prst="rect">
            <a:avLst/>
          </a:prstGeom>
          <a:ln w="12700">
            <a:miter lim="400000"/>
          </a:ln>
          <a:extLst>
            <a:ext uri="{C572A759-6A51-4108-AA02-DFA0A04FC94B}">
              <ma14:wrappingTextBoxFlag xmlns="" xmlns:ma14="http://schemas.microsoft.com/office/mac/drawingml/2011/main" val="1"/>
            </a:ext>
          </a:extLst>
        </p:spPr>
        <p:txBody>
          <a:bodyPr lIns="76200" tIns="76200" rIns="76200" bIns="76200">
            <a:spAutoFit/>
          </a:bodyPr>
          <a:lstStyle/>
          <a:p>
            <a:pPr algn="l">
              <a:defRPr sz="2000">
                <a:latin typeface="Alright Sans"/>
                <a:ea typeface="Alright Sans"/>
                <a:cs typeface="Alright Sans"/>
                <a:sym typeface="Alright Sans"/>
              </a:defRPr>
            </a:pPr>
            <a:r>
              <a:rPr lang="en-US" sz="3000" dirty="0">
                <a:latin typeface="Open Sans" panose="020B0606030504020204" pitchFamily="34" charset="0"/>
                <a:ea typeface="Open Sans" panose="020B0606030504020204" pitchFamily="34" charset="0"/>
                <a:cs typeface="Open Sans" panose="020B0606030504020204" pitchFamily="34" charset="0"/>
              </a:rPr>
              <a:t>COMPLETE JAVA MASTERCLASS</a:t>
            </a:r>
          </a:p>
          <a:p>
            <a:pPr algn="l">
              <a:defRPr sz="3000">
                <a:latin typeface="Alright Sans"/>
                <a:ea typeface="Alright Sans"/>
                <a:cs typeface="Alright Sans"/>
                <a:sym typeface="Alright Sans"/>
              </a:defRPr>
            </a:pPr>
            <a:r>
              <a:rPr lang="en-US" sz="4500" dirty="0">
                <a:latin typeface="Open Sans" panose="020B0606030504020204" pitchFamily="34" charset="0"/>
                <a:ea typeface="Open Sans" panose="020B0606030504020204" pitchFamily="34" charset="0"/>
                <a:cs typeface="Open Sans" panose="020B0606030504020204" pitchFamily="34" charset="0"/>
              </a:rPr>
              <a:t>Java's Functional Interfaces, Consumer &amp; Predicate</a:t>
            </a:r>
          </a:p>
        </p:txBody>
      </p:sp>
      <p:sp>
        <p:nvSpPr>
          <p:cNvPr id="8" name="Rectangle 7">
            <a:extLst>
              <a:ext uri="{FF2B5EF4-FFF2-40B4-BE49-F238E27FC236}">
                <a16:creationId xmlns:a16="http://schemas.microsoft.com/office/drawing/2014/main" id="{89DBB243-EF27-4345-872D-E76597E95619}"/>
              </a:ext>
            </a:extLst>
          </p:cNvPr>
          <p:cNvSpPr/>
          <p:nvPr/>
        </p:nvSpPr>
        <p:spPr>
          <a:xfrm>
            <a:off x="952501" y="4285904"/>
            <a:ext cx="34782670" cy="11880176"/>
          </a:xfrm>
          <a:prstGeom prst="rect">
            <a:avLst/>
          </a:prstGeom>
        </p:spPr>
        <p:txBody>
          <a:bodyPr wrap="square">
            <a:normAutofit/>
          </a:bodyPr>
          <a:lstStyle/>
          <a:p>
            <a:pPr algn="l">
              <a:spcAft>
                <a:spcPts val="5022"/>
              </a:spcAft>
            </a:pPr>
            <a:r>
              <a:rPr lang="en-US" sz="6400" dirty="0">
                <a:latin typeface="Open Sans" panose="020B0606030504020204" pitchFamily="34" charset="0"/>
                <a:ea typeface="Open Sans" panose="020B0606030504020204" pitchFamily="34" charset="0"/>
                <a:cs typeface="Open Sans" panose="020B0606030504020204" pitchFamily="34" charset="0"/>
              </a:rPr>
              <a:t>The predicate interfaces take one or two arguments, and always returns a </a:t>
            </a:r>
            <a:r>
              <a:rPr lang="en-US" sz="6400" dirty="0" err="1">
                <a:latin typeface="Open Sans" panose="020B0606030504020204" pitchFamily="34" charset="0"/>
                <a:ea typeface="Open Sans" panose="020B0606030504020204" pitchFamily="34" charset="0"/>
                <a:cs typeface="Open Sans" panose="020B0606030504020204" pitchFamily="34" charset="0"/>
              </a:rPr>
              <a:t>boolean</a:t>
            </a:r>
            <a:r>
              <a:rPr lang="en-US" sz="6400" dirty="0">
                <a:latin typeface="Open Sans" panose="020B0606030504020204" pitchFamily="34" charset="0"/>
                <a:ea typeface="Open Sans" panose="020B0606030504020204" pitchFamily="34" charset="0"/>
                <a:cs typeface="Open Sans" panose="020B0606030504020204" pitchFamily="34" charset="0"/>
              </a:rPr>
              <a:t> value.</a:t>
            </a:r>
          </a:p>
          <a:p>
            <a:pPr algn="l">
              <a:spcAft>
                <a:spcPts val="5022"/>
              </a:spcAft>
            </a:pPr>
            <a:r>
              <a:rPr lang="en-US" sz="6400" dirty="0">
                <a:latin typeface="Open Sans" panose="020B0606030504020204" pitchFamily="34" charset="0"/>
                <a:ea typeface="Open Sans" panose="020B0606030504020204" pitchFamily="34" charset="0"/>
                <a:cs typeface="Open Sans" panose="020B0606030504020204" pitchFamily="34" charset="0"/>
              </a:rPr>
              <a:t>They are used to test a condition, and if the condition is true, to perform an operation.</a:t>
            </a:r>
          </a:p>
        </p:txBody>
      </p:sp>
      <p:graphicFrame>
        <p:nvGraphicFramePr>
          <p:cNvPr id="3" name="Table 2">
            <a:extLst>
              <a:ext uri="{FF2B5EF4-FFF2-40B4-BE49-F238E27FC236}">
                <a16:creationId xmlns:a16="http://schemas.microsoft.com/office/drawing/2014/main" id="{1D114168-23D7-7678-331D-626E159EB7C1}"/>
              </a:ext>
            </a:extLst>
          </p:cNvPr>
          <p:cNvGraphicFramePr>
            <a:graphicFrameLocks noGrp="1"/>
          </p:cNvGraphicFramePr>
          <p:nvPr/>
        </p:nvGraphicFramePr>
        <p:xfrm>
          <a:off x="952498" y="7837576"/>
          <a:ext cx="18119273" cy="4024993"/>
        </p:xfrm>
        <a:graphic>
          <a:graphicData uri="http://schemas.openxmlformats.org/drawingml/2006/table">
            <a:tbl>
              <a:tblPr firstRow="1" bandRow="1">
                <a:tableStyleId>{5C22544A-7EE6-4342-B048-85BDC9FD1C3A}</a:tableStyleId>
              </a:tblPr>
              <a:tblGrid>
                <a:gridCol w="6269396">
                  <a:extLst>
                    <a:ext uri="{9D8B030D-6E8A-4147-A177-3AD203B41FA5}">
                      <a16:colId xmlns:a16="http://schemas.microsoft.com/office/drawing/2014/main" val="2844207666"/>
                    </a:ext>
                  </a:extLst>
                </a:gridCol>
                <a:gridCol w="11849877">
                  <a:extLst>
                    <a:ext uri="{9D8B030D-6E8A-4147-A177-3AD203B41FA5}">
                      <a16:colId xmlns:a16="http://schemas.microsoft.com/office/drawing/2014/main" val="1891655341"/>
                    </a:ext>
                  </a:extLst>
                </a:gridCol>
              </a:tblGrid>
              <a:tr h="1188487">
                <a:tc>
                  <a:txBody>
                    <a:bodyPr/>
                    <a:lstStyle/>
                    <a:p>
                      <a:pPr marL="180000" algn="l"/>
                      <a:r>
                        <a:rPr lang="en-US" sz="5400" dirty="0">
                          <a:solidFill>
                            <a:schemeClr val="tx1"/>
                          </a:solidFill>
                          <a:latin typeface="Open Sans" panose="020B0606030504020204" pitchFamily="34" charset="0"/>
                          <a:ea typeface="Open Sans" panose="020B0606030504020204" pitchFamily="34" charset="0"/>
                          <a:cs typeface="Open Sans" panose="020B0606030504020204" pitchFamily="34" charset="0"/>
                        </a:rPr>
                        <a:t>Interface Name</a:t>
                      </a:r>
                      <a:endParaRPr lang="en-PH" sz="5400" dirty="0">
                        <a:solidFill>
                          <a:schemeClr val="tx1"/>
                        </a:solidFill>
                        <a:latin typeface="Open Sans" panose="020B0606030504020204" pitchFamily="34" charset="0"/>
                        <a:ea typeface="Open Sans" panose="020B0606030504020204" pitchFamily="34" charset="0"/>
                        <a:cs typeface="Open Sans" panose="020B0606030504020204" pitchFamily="34" charset="0"/>
                      </a:endParaRPr>
                    </a:p>
                  </a:txBody>
                  <a:tcPr marL="86794" marR="86794" marT="43397" marB="43397">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BE4D5"/>
                    </a:solidFill>
                  </a:tcPr>
                </a:tc>
                <a:tc>
                  <a:txBody>
                    <a:bodyPr/>
                    <a:lstStyle/>
                    <a:p>
                      <a:pPr marL="180000" algn="l"/>
                      <a:r>
                        <a:rPr lang="en-US" sz="5400" dirty="0">
                          <a:solidFill>
                            <a:schemeClr val="tx1"/>
                          </a:solidFill>
                          <a:latin typeface="Open Sans" panose="020B0606030504020204" pitchFamily="34" charset="0"/>
                          <a:ea typeface="Open Sans" panose="020B0606030504020204" pitchFamily="34" charset="0"/>
                          <a:cs typeface="Open Sans" panose="020B0606030504020204" pitchFamily="34" charset="0"/>
                        </a:rPr>
                        <a:t>Method Signature</a:t>
                      </a:r>
                      <a:endParaRPr lang="en-PH" sz="5400" dirty="0">
                        <a:solidFill>
                          <a:schemeClr val="tx1"/>
                        </a:solidFill>
                        <a:latin typeface="Open Sans" panose="020B0606030504020204" pitchFamily="34" charset="0"/>
                        <a:ea typeface="Open Sans" panose="020B0606030504020204" pitchFamily="34" charset="0"/>
                        <a:cs typeface="Open Sans" panose="020B0606030504020204" pitchFamily="34" charset="0"/>
                      </a:endParaRPr>
                    </a:p>
                  </a:txBody>
                  <a:tcPr marL="86794" marR="86794" marT="43397" marB="43397">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BE4D5"/>
                    </a:solidFill>
                  </a:tcPr>
                </a:tc>
                <a:extLst>
                  <a:ext uri="{0D108BD9-81ED-4DB2-BD59-A6C34878D82A}">
                    <a16:rowId xmlns:a16="http://schemas.microsoft.com/office/drawing/2014/main" val="3978129174"/>
                  </a:ext>
                </a:extLst>
              </a:tr>
              <a:tr h="1418253">
                <a:tc>
                  <a:txBody>
                    <a:bodyPr/>
                    <a:lstStyle/>
                    <a:p>
                      <a:pPr marL="180000" marR="0" lvl="0" indent="0" algn="l" defTabSz="914400" rtl="0" eaLnBrk="1" fontAlgn="auto" latinLnBrk="0" hangingPunct="1">
                        <a:lnSpc>
                          <a:spcPct val="100000"/>
                        </a:lnSpc>
                        <a:spcBef>
                          <a:spcPts val="0"/>
                        </a:spcBef>
                        <a:spcAft>
                          <a:spcPts val="1000"/>
                        </a:spcAft>
                        <a:buClr>
                          <a:srgbClr val="000000"/>
                        </a:buClr>
                        <a:buSzTx/>
                        <a:buFont typeface="Arial" panose="020B0604020202020204" pitchFamily="34" charset="0"/>
                        <a:buNone/>
                        <a:tabLst/>
                        <a:defRPr/>
                      </a:pPr>
                      <a:r>
                        <a:rPr lang="en-US" sz="5400" b="0" dirty="0">
                          <a:solidFill>
                            <a:schemeClr val="tx1"/>
                          </a:solidFill>
                          <a:latin typeface="Open Sans" panose="020B0606030504020204" pitchFamily="34" charset="0"/>
                          <a:ea typeface="Open Sans" panose="020B0606030504020204" pitchFamily="34" charset="0"/>
                          <a:cs typeface="Open Sans" panose="020B0606030504020204" pitchFamily="34" charset="0"/>
                        </a:rPr>
                        <a:t>Predicate</a:t>
                      </a:r>
                    </a:p>
                  </a:txBody>
                  <a:tcPr marL="86794" marR="86794" marT="43397" marB="43397">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180000" marR="0" lvl="0" indent="0" algn="l" defTabSz="914400" rtl="0" eaLnBrk="1" fontAlgn="auto" latinLnBrk="0" hangingPunct="1">
                        <a:lnSpc>
                          <a:spcPct val="100000"/>
                        </a:lnSpc>
                        <a:spcBef>
                          <a:spcPts val="0"/>
                        </a:spcBef>
                        <a:spcAft>
                          <a:spcPts val="1000"/>
                        </a:spcAft>
                        <a:buClr>
                          <a:srgbClr val="000000"/>
                        </a:buClr>
                        <a:buSzTx/>
                        <a:buFont typeface="Arial" panose="020B0604020202020204" pitchFamily="34" charset="0"/>
                        <a:buNone/>
                        <a:tabLst/>
                        <a:defRPr/>
                      </a:pPr>
                      <a:endParaRPr lang="en-US" sz="5400" b="0" dirty="0">
                        <a:solidFill>
                          <a:schemeClr val="tx1"/>
                        </a:solidFill>
                        <a:latin typeface="Open Sans" panose="020B0606030504020204" pitchFamily="34" charset="0"/>
                        <a:ea typeface="Open Sans" panose="020B0606030504020204" pitchFamily="34" charset="0"/>
                        <a:cs typeface="Open Sans" panose="020B0606030504020204" pitchFamily="34" charset="0"/>
                      </a:endParaRPr>
                    </a:p>
                  </a:txBody>
                  <a:tcPr marL="86794" marR="86794" marT="43397" marB="43397">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640325450"/>
                  </a:ext>
                </a:extLst>
              </a:tr>
              <a:tr h="1418253">
                <a:tc>
                  <a:txBody>
                    <a:bodyPr/>
                    <a:lstStyle/>
                    <a:p>
                      <a:pPr marL="180000" marR="0" lvl="0" indent="0" algn="l" defTabSz="914400" rtl="0" eaLnBrk="1" fontAlgn="auto" latinLnBrk="0" hangingPunct="1">
                        <a:lnSpc>
                          <a:spcPct val="100000"/>
                        </a:lnSpc>
                        <a:spcBef>
                          <a:spcPts val="0"/>
                        </a:spcBef>
                        <a:spcAft>
                          <a:spcPts val="1000"/>
                        </a:spcAft>
                        <a:buClr>
                          <a:srgbClr val="000000"/>
                        </a:buClr>
                        <a:buSzTx/>
                        <a:buFont typeface="Arial" panose="020B0604020202020204" pitchFamily="34" charset="0"/>
                        <a:buNone/>
                        <a:tabLst/>
                        <a:defRPr/>
                      </a:pPr>
                      <a:r>
                        <a:rPr lang="en-US" sz="5400" b="0" dirty="0" err="1">
                          <a:solidFill>
                            <a:schemeClr val="tx1"/>
                          </a:solidFill>
                          <a:latin typeface="Open Sans" panose="020B0606030504020204" pitchFamily="34" charset="0"/>
                          <a:ea typeface="Open Sans" panose="020B0606030504020204" pitchFamily="34" charset="0"/>
                          <a:cs typeface="Open Sans" panose="020B0606030504020204" pitchFamily="34" charset="0"/>
                        </a:rPr>
                        <a:t>BiPredicate</a:t>
                      </a:r>
                      <a:endParaRPr lang="en-US" sz="5400" b="0" dirty="0">
                        <a:solidFill>
                          <a:schemeClr val="tx1"/>
                        </a:solidFill>
                        <a:latin typeface="Open Sans" panose="020B0606030504020204" pitchFamily="34" charset="0"/>
                        <a:ea typeface="Open Sans" panose="020B0606030504020204" pitchFamily="34" charset="0"/>
                        <a:cs typeface="Open Sans" panose="020B0606030504020204" pitchFamily="34" charset="0"/>
                      </a:endParaRPr>
                    </a:p>
                  </a:txBody>
                  <a:tcPr marL="86794" marR="86794" marT="43397" marB="43397">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180000" marR="0" lvl="0" indent="0" algn="l" defTabSz="914400" rtl="0" eaLnBrk="1" fontAlgn="auto" latinLnBrk="0" hangingPunct="1">
                        <a:lnSpc>
                          <a:spcPct val="100000"/>
                        </a:lnSpc>
                        <a:spcBef>
                          <a:spcPts val="0"/>
                        </a:spcBef>
                        <a:spcAft>
                          <a:spcPts val="1000"/>
                        </a:spcAft>
                        <a:buClr>
                          <a:srgbClr val="000000"/>
                        </a:buClr>
                        <a:buSzTx/>
                        <a:buFont typeface="Arial" panose="020B0604020202020204" pitchFamily="34" charset="0"/>
                        <a:buNone/>
                        <a:tabLst/>
                        <a:defRPr/>
                      </a:pPr>
                      <a:endParaRPr lang="en-US" sz="5400" b="0" dirty="0">
                        <a:solidFill>
                          <a:schemeClr val="tx1"/>
                        </a:solidFill>
                        <a:latin typeface="Open Sans" panose="020B0606030504020204" pitchFamily="34" charset="0"/>
                        <a:ea typeface="Open Sans" panose="020B0606030504020204" pitchFamily="34" charset="0"/>
                        <a:cs typeface="Open Sans" panose="020B0606030504020204" pitchFamily="34" charset="0"/>
                      </a:endParaRPr>
                    </a:p>
                  </a:txBody>
                  <a:tcPr marL="86794" marR="86794" marT="43397" marB="43397">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521613951"/>
                  </a:ext>
                </a:extLst>
              </a:tr>
            </a:tbl>
          </a:graphicData>
        </a:graphic>
      </p:graphicFrame>
      <p:pic>
        <p:nvPicPr>
          <p:cNvPr id="6" name="Picture 5">
            <a:extLst>
              <a:ext uri="{FF2B5EF4-FFF2-40B4-BE49-F238E27FC236}">
                <a16:creationId xmlns:a16="http://schemas.microsoft.com/office/drawing/2014/main" id="{5C42184C-0ABE-2578-3B01-4EE0404E6157}"/>
              </a:ext>
            </a:extLst>
          </p:cNvPr>
          <p:cNvPicPr>
            <a:picLocks noChangeAspect="1"/>
          </p:cNvPicPr>
          <p:nvPr/>
        </p:nvPicPr>
        <p:blipFill>
          <a:blip r:embed="rId4"/>
          <a:stretch>
            <a:fillRect/>
          </a:stretch>
        </p:blipFill>
        <p:spPr>
          <a:xfrm>
            <a:off x="7311565" y="9204469"/>
            <a:ext cx="8964571" cy="972571"/>
          </a:xfrm>
          <a:prstGeom prst="rect">
            <a:avLst/>
          </a:prstGeom>
        </p:spPr>
      </p:pic>
      <p:pic>
        <p:nvPicPr>
          <p:cNvPr id="12" name="Picture 11">
            <a:extLst>
              <a:ext uri="{FF2B5EF4-FFF2-40B4-BE49-F238E27FC236}">
                <a16:creationId xmlns:a16="http://schemas.microsoft.com/office/drawing/2014/main" id="{B9263CB5-AFB5-2A5D-F466-D1CB8C4C95BF}"/>
              </a:ext>
            </a:extLst>
          </p:cNvPr>
          <p:cNvPicPr>
            <a:picLocks noChangeAspect="1"/>
          </p:cNvPicPr>
          <p:nvPr/>
        </p:nvPicPr>
        <p:blipFill>
          <a:blip r:embed="rId5"/>
          <a:stretch>
            <a:fillRect/>
          </a:stretch>
        </p:blipFill>
        <p:spPr>
          <a:xfrm>
            <a:off x="7311565" y="10654788"/>
            <a:ext cx="11628571" cy="1014857"/>
          </a:xfrm>
          <a:prstGeom prst="rect">
            <a:avLst/>
          </a:prstGeom>
        </p:spPr>
      </p:pic>
    </p:spTree>
    <p:extLst>
      <p:ext uri="{BB962C8B-B14F-4D97-AF65-F5344CB8AC3E}">
        <p14:creationId xmlns:p14="http://schemas.microsoft.com/office/powerpoint/2010/main" val="4273069098"/>
      </p:ext>
    </p:extLst>
  </p:cSld>
  <p:clrMapOvr>
    <a:masterClrMapping/>
  </p:clrMapOvr>
  <p:transition spd="slow"/>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 name="Shape 126"/>
          <p:cNvSpPr/>
          <p:nvPr/>
        </p:nvSpPr>
        <p:spPr>
          <a:xfrm>
            <a:off x="952498" y="459786"/>
            <a:ext cx="26364590" cy="1815882"/>
          </a:xfrm>
          <a:prstGeom prst="rect">
            <a:avLst/>
          </a:prstGeom>
          <a:ln w="12700">
            <a:miter lim="400000"/>
          </a:ln>
          <a:extLst>
            <a:ext uri="{C572A759-6A51-4108-AA02-DFA0A04FC94B}">
              <ma14:wrappingTextBoxFlag xmlns="" xmlns:ma14="http://schemas.microsoft.com/office/mac/drawingml/2011/main" val="1"/>
            </a:ext>
          </a:extLst>
        </p:spPr>
        <p:txBody>
          <a:bodyPr wrap="none" lIns="76200" tIns="76200" rIns="76200" bIns="76200">
            <a:spAutoFit/>
          </a:bodyPr>
          <a:lstStyle>
            <a:lvl1pPr algn="l">
              <a:defRPr sz="7000">
                <a:latin typeface="Alright Sans"/>
                <a:ea typeface="Alright Sans"/>
                <a:cs typeface="Alright Sans"/>
                <a:sym typeface="Alright Sans"/>
              </a:defRPr>
            </a:lvl1pPr>
          </a:lstStyle>
          <a:p>
            <a:pPr>
              <a:defRPr sz="3000">
                <a:latin typeface="Alright Sans"/>
                <a:ea typeface="Alright Sans"/>
                <a:cs typeface="Alright Sans"/>
                <a:sym typeface="Alright Sans"/>
              </a:defRPr>
            </a:pPr>
            <a:r>
              <a:rPr lang="en-US" sz="10800" dirty="0">
                <a:latin typeface="Open Sans" panose="020B0606030504020204" pitchFamily="34" charset="0"/>
                <a:ea typeface="Open Sans" panose="020B0606030504020204" pitchFamily="34" charset="0"/>
                <a:cs typeface="Open Sans" panose="020B0606030504020204" pitchFamily="34" charset="0"/>
              </a:rPr>
              <a:t>A Predicate Lambda Expression Example</a:t>
            </a:r>
          </a:p>
        </p:txBody>
      </p:sp>
      <p:sp>
        <p:nvSpPr>
          <p:cNvPr id="128" name="Shape 128"/>
          <p:cNvSpPr/>
          <p:nvPr/>
        </p:nvSpPr>
        <p:spPr>
          <a:xfrm>
            <a:off x="952500" y="18210515"/>
            <a:ext cx="34782668" cy="2"/>
          </a:xfrm>
          <a:prstGeom prst="line">
            <a:avLst/>
          </a:prstGeom>
          <a:ln w="76200">
            <a:solidFill>
              <a:schemeClr val="accent1">
                <a:satOff val="-3355"/>
                <a:lumOff val="26614"/>
              </a:schemeClr>
            </a:solidFill>
            <a:miter lim="400000"/>
          </a:ln>
        </p:spPr>
        <p:txBody>
          <a:bodyPr lIns="76200" tIns="76200" rIns="76200" bIns="76200" anchor="ctr"/>
          <a:lstStyle/>
          <a:p>
            <a:pPr>
              <a:defRPr sz="3200"/>
            </a:pPr>
            <a:endParaRPr sz="4800"/>
          </a:p>
        </p:txBody>
      </p:sp>
      <p:pic>
        <p:nvPicPr>
          <p:cNvPr id="129" name="Logo.png"/>
          <p:cNvPicPr>
            <a:picLocks noChangeAspect="1"/>
          </p:cNvPicPr>
          <p:nvPr/>
        </p:nvPicPr>
        <p:blipFill>
          <a:blip r:embed="rId3"/>
          <a:stretch>
            <a:fillRect/>
          </a:stretch>
        </p:blipFill>
        <p:spPr>
          <a:xfrm>
            <a:off x="14650974" y="18489726"/>
            <a:ext cx="6321552" cy="1392336"/>
          </a:xfrm>
          <a:prstGeom prst="rect">
            <a:avLst/>
          </a:prstGeom>
          <a:ln w="12700">
            <a:miter lim="400000"/>
          </a:ln>
        </p:spPr>
      </p:pic>
      <p:sp>
        <p:nvSpPr>
          <p:cNvPr id="9" name="Shape 127"/>
          <p:cNvSpPr/>
          <p:nvPr/>
        </p:nvSpPr>
        <p:spPr>
          <a:xfrm flipV="1">
            <a:off x="952499" y="2203340"/>
            <a:ext cx="34782670" cy="38132"/>
          </a:xfrm>
          <a:prstGeom prst="line">
            <a:avLst/>
          </a:prstGeom>
          <a:ln w="152400">
            <a:solidFill>
              <a:schemeClr val="accent1">
                <a:satOff val="-3355"/>
                <a:lumOff val="26614"/>
              </a:schemeClr>
            </a:solidFill>
            <a:miter lim="400000"/>
          </a:ln>
        </p:spPr>
        <p:txBody>
          <a:bodyPr lIns="76200" tIns="76200" rIns="76200" bIns="76200" anchor="ctr"/>
          <a:lstStyle/>
          <a:p>
            <a:pPr>
              <a:defRPr sz="3200"/>
            </a:pPr>
            <a:endParaRPr sz="4800"/>
          </a:p>
        </p:txBody>
      </p:sp>
      <p:sp>
        <p:nvSpPr>
          <p:cNvPr id="10" name="Shape 131"/>
          <p:cNvSpPr/>
          <p:nvPr/>
        </p:nvSpPr>
        <p:spPr>
          <a:xfrm>
            <a:off x="952500" y="18489726"/>
            <a:ext cx="16008688" cy="1308050"/>
          </a:xfrm>
          <a:prstGeom prst="rect">
            <a:avLst/>
          </a:prstGeom>
          <a:ln w="12700">
            <a:miter lim="400000"/>
          </a:ln>
          <a:extLst>
            <a:ext uri="{C572A759-6A51-4108-AA02-DFA0A04FC94B}">
              <ma14:wrappingTextBoxFlag xmlns:ma14="http://schemas.microsoft.com/office/mac/drawingml/2011/main" xmlns="" val="1"/>
            </a:ext>
          </a:extLst>
        </p:spPr>
        <p:txBody>
          <a:bodyPr lIns="76200" tIns="76200" rIns="76200" bIns="76200">
            <a:spAutoFit/>
          </a:bodyPr>
          <a:lstStyle/>
          <a:p>
            <a:pPr algn="l">
              <a:defRPr sz="2000">
                <a:latin typeface="Alright Sans"/>
                <a:ea typeface="Alright Sans"/>
                <a:cs typeface="Alright Sans"/>
                <a:sym typeface="Alright Sans"/>
              </a:defRPr>
            </a:pPr>
            <a:r>
              <a:rPr lang="en-US" sz="3000" dirty="0">
                <a:latin typeface="Open Sans" panose="020B0606030504020204" pitchFamily="34" charset="0"/>
                <a:ea typeface="Open Sans" panose="020B0606030504020204" pitchFamily="34" charset="0"/>
                <a:cs typeface="Open Sans" panose="020B0606030504020204" pitchFamily="34" charset="0"/>
              </a:rPr>
              <a:t>COMPLETE JAVA MASTERCLASS</a:t>
            </a:r>
          </a:p>
          <a:p>
            <a:pPr algn="l">
              <a:defRPr sz="3000">
                <a:latin typeface="Alright Sans"/>
                <a:ea typeface="Alright Sans"/>
                <a:cs typeface="Alright Sans"/>
                <a:sym typeface="Alright Sans"/>
              </a:defRPr>
            </a:pPr>
            <a:r>
              <a:rPr lang="en-US" sz="4500" dirty="0">
                <a:latin typeface="Open Sans" panose="020B0606030504020204" pitchFamily="34" charset="0"/>
                <a:ea typeface="Open Sans" panose="020B0606030504020204" pitchFamily="34" charset="0"/>
                <a:cs typeface="Open Sans" panose="020B0606030504020204" pitchFamily="34" charset="0"/>
              </a:rPr>
              <a:t>Java's Functional Interfaces, Consumer &amp; Predicate</a:t>
            </a:r>
          </a:p>
        </p:txBody>
      </p:sp>
      <p:sp>
        <p:nvSpPr>
          <p:cNvPr id="8" name="Rectangle 7">
            <a:extLst>
              <a:ext uri="{FF2B5EF4-FFF2-40B4-BE49-F238E27FC236}">
                <a16:creationId xmlns:a16="http://schemas.microsoft.com/office/drawing/2014/main" id="{89DBB243-EF27-4345-872D-E76597E95619}"/>
              </a:ext>
            </a:extLst>
          </p:cNvPr>
          <p:cNvSpPr/>
          <p:nvPr/>
        </p:nvSpPr>
        <p:spPr>
          <a:xfrm>
            <a:off x="952501" y="4285904"/>
            <a:ext cx="34782670" cy="11880176"/>
          </a:xfrm>
          <a:prstGeom prst="rect">
            <a:avLst/>
          </a:prstGeom>
        </p:spPr>
        <p:txBody>
          <a:bodyPr wrap="square">
            <a:normAutofit/>
          </a:bodyPr>
          <a:lstStyle/>
          <a:p>
            <a:pPr algn="l">
              <a:spcAft>
                <a:spcPts val="5022"/>
              </a:spcAft>
            </a:pPr>
            <a:r>
              <a:rPr lang="en-US" sz="6400" dirty="0">
                <a:latin typeface="Open Sans" panose="020B0606030504020204" pitchFamily="34" charset="0"/>
                <a:ea typeface="Open Sans" panose="020B0606030504020204" pitchFamily="34" charset="0"/>
                <a:cs typeface="Open Sans" panose="020B0606030504020204" pitchFamily="34" charset="0"/>
              </a:rPr>
              <a:t>In this example, the expression takes a String, and tests if it's equal to the literal text "Hello", ignoring case. It returns either true or false.</a:t>
            </a:r>
          </a:p>
        </p:txBody>
      </p:sp>
      <p:graphicFrame>
        <p:nvGraphicFramePr>
          <p:cNvPr id="2" name="Table 1">
            <a:extLst>
              <a:ext uri="{FF2B5EF4-FFF2-40B4-BE49-F238E27FC236}">
                <a16:creationId xmlns:a16="http://schemas.microsoft.com/office/drawing/2014/main" id="{77657538-26F2-AC04-24A6-16C6EFA67338}"/>
              </a:ext>
            </a:extLst>
          </p:cNvPr>
          <p:cNvGraphicFramePr>
            <a:graphicFrameLocks noGrp="1"/>
          </p:cNvGraphicFramePr>
          <p:nvPr/>
        </p:nvGraphicFramePr>
        <p:xfrm>
          <a:off x="952497" y="7072972"/>
          <a:ext cx="17354164" cy="2606740"/>
        </p:xfrm>
        <a:graphic>
          <a:graphicData uri="http://schemas.openxmlformats.org/drawingml/2006/table">
            <a:tbl>
              <a:tblPr firstRow="1" bandRow="1">
                <a:tableStyleId>{5C22544A-7EE6-4342-B048-85BDC9FD1C3A}</a:tableStyleId>
              </a:tblPr>
              <a:tblGrid>
                <a:gridCol w="17354164">
                  <a:extLst>
                    <a:ext uri="{9D8B030D-6E8A-4147-A177-3AD203B41FA5}">
                      <a16:colId xmlns:a16="http://schemas.microsoft.com/office/drawing/2014/main" val="2844207666"/>
                    </a:ext>
                  </a:extLst>
                </a:gridCol>
              </a:tblGrid>
              <a:tr h="1188487">
                <a:tc>
                  <a:txBody>
                    <a:bodyPr/>
                    <a:lstStyle/>
                    <a:p>
                      <a:pPr marL="180000" algn="l"/>
                      <a:r>
                        <a:rPr lang="en-US" sz="5400" dirty="0">
                          <a:solidFill>
                            <a:schemeClr val="tx1"/>
                          </a:solidFill>
                          <a:latin typeface="Open Sans" panose="020B0606030504020204" pitchFamily="34" charset="0"/>
                          <a:ea typeface="Open Sans" panose="020B0606030504020204" pitchFamily="34" charset="0"/>
                          <a:cs typeface="Open Sans" panose="020B0606030504020204" pitchFamily="34" charset="0"/>
                        </a:rPr>
                        <a:t>Example Lambda Expression for Consumer</a:t>
                      </a:r>
                      <a:endParaRPr lang="en-PH" sz="5400" dirty="0">
                        <a:solidFill>
                          <a:schemeClr val="tx1"/>
                        </a:solidFill>
                        <a:latin typeface="Open Sans" panose="020B0606030504020204" pitchFamily="34" charset="0"/>
                        <a:ea typeface="Open Sans" panose="020B0606030504020204" pitchFamily="34" charset="0"/>
                        <a:cs typeface="Open Sans" panose="020B0606030504020204" pitchFamily="34" charset="0"/>
                      </a:endParaRPr>
                    </a:p>
                  </a:txBody>
                  <a:tcPr marL="86794" marR="86794" marT="43397" marB="43397">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BE4D5"/>
                    </a:solidFill>
                  </a:tcPr>
                </a:tc>
                <a:extLst>
                  <a:ext uri="{0D108BD9-81ED-4DB2-BD59-A6C34878D82A}">
                    <a16:rowId xmlns:a16="http://schemas.microsoft.com/office/drawing/2014/main" val="3978129174"/>
                  </a:ext>
                </a:extLst>
              </a:tr>
              <a:tr h="1418253">
                <a:tc>
                  <a:txBody>
                    <a:bodyPr/>
                    <a:lstStyle/>
                    <a:p>
                      <a:pPr marL="180000" marR="0" lvl="0" indent="0" algn="l" defTabSz="914400" rtl="0" eaLnBrk="1" fontAlgn="auto" latinLnBrk="0" hangingPunct="1">
                        <a:lnSpc>
                          <a:spcPct val="100000"/>
                        </a:lnSpc>
                        <a:spcBef>
                          <a:spcPts val="0"/>
                        </a:spcBef>
                        <a:spcAft>
                          <a:spcPts val="1000"/>
                        </a:spcAft>
                        <a:buClr>
                          <a:srgbClr val="000000"/>
                        </a:buClr>
                        <a:buSzTx/>
                        <a:buFont typeface="Arial" panose="020B0604020202020204" pitchFamily="34" charset="0"/>
                        <a:buNone/>
                        <a:tabLst/>
                        <a:defRPr/>
                      </a:pPr>
                      <a:endParaRPr lang="en-US" sz="5400" b="0" dirty="0">
                        <a:solidFill>
                          <a:schemeClr val="tx1"/>
                        </a:solidFill>
                        <a:latin typeface="Open Sans" panose="020B0606030504020204" pitchFamily="34" charset="0"/>
                        <a:ea typeface="Open Sans" panose="020B0606030504020204" pitchFamily="34" charset="0"/>
                        <a:cs typeface="Open Sans" panose="020B0606030504020204" pitchFamily="34" charset="0"/>
                      </a:endParaRPr>
                    </a:p>
                  </a:txBody>
                  <a:tcPr marL="86794" marR="86794" marT="43397" marB="43397">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640325450"/>
                  </a:ext>
                </a:extLst>
              </a:tr>
            </a:tbl>
          </a:graphicData>
        </a:graphic>
      </p:graphicFrame>
      <p:pic>
        <p:nvPicPr>
          <p:cNvPr id="11" name="Picture 10">
            <a:extLst>
              <a:ext uri="{FF2B5EF4-FFF2-40B4-BE49-F238E27FC236}">
                <a16:creationId xmlns:a16="http://schemas.microsoft.com/office/drawing/2014/main" id="{EE6943E5-9876-49B0-A4AB-70DA72643730}"/>
              </a:ext>
            </a:extLst>
          </p:cNvPr>
          <p:cNvPicPr>
            <a:picLocks noChangeAspect="1"/>
          </p:cNvPicPr>
          <p:nvPr/>
        </p:nvPicPr>
        <p:blipFill>
          <a:blip r:embed="rId4"/>
          <a:stretch>
            <a:fillRect/>
          </a:stretch>
        </p:blipFill>
        <p:spPr>
          <a:xfrm>
            <a:off x="1102752" y="8450986"/>
            <a:ext cx="16977714" cy="1014857"/>
          </a:xfrm>
          <a:prstGeom prst="rect">
            <a:avLst/>
          </a:prstGeom>
        </p:spPr>
      </p:pic>
    </p:spTree>
    <p:extLst>
      <p:ext uri="{BB962C8B-B14F-4D97-AF65-F5344CB8AC3E}">
        <p14:creationId xmlns:p14="http://schemas.microsoft.com/office/powerpoint/2010/main" val="3771466198"/>
      </p:ext>
    </p:extLst>
  </p:cSld>
  <p:clrMapOvr>
    <a:masterClrMapping/>
  </p:clrMapOvr>
  <p:transition spd="slow"/>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 name="Shape 126"/>
          <p:cNvSpPr/>
          <p:nvPr/>
        </p:nvSpPr>
        <p:spPr>
          <a:xfrm>
            <a:off x="952498" y="459786"/>
            <a:ext cx="14574503" cy="1815882"/>
          </a:xfrm>
          <a:prstGeom prst="rect">
            <a:avLst/>
          </a:prstGeom>
          <a:ln w="12700">
            <a:miter lim="400000"/>
          </a:ln>
          <a:extLst>
            <a:ext uri="{C572A759-6A51-4108-AA02-DFA0A04FC94B}">
              <ma14:wrappingTextBoxFlag xmlns:ma14="http://schemas.microsoft.com/office/mac/drawingml/2011/main" xmlns="" val="1"/>
            </a:ext>
          </a:extLst>
        </p:spPr>
        <p:txBody>
          <a:bodyPr wrap="none" lIns="76200" tIns="76200" rIns="76200" bIns="76200">
            <a:spAutoFit/>
          </a:bodyPr>
          <a:lstStyle>
            <a:lvl1pPr algn="l">
              <a:defRPr sz="7000">
                <a:latin typeface="Alright Sans"/>
                <a:ea typeface="Alright Sans"/>
                <a:cs typeface="Alright Sans"/>
                <a:sym typeface="Alright Sans"/>
              </a:defRPr>
            </a:lvl1pPr>
          </a:lstStyle>
          <a:p>
            <a:pPr>
              <a:defRPr sz="3000">
                <a:latin typeface="Alright Sans"/>
                <a:ea typeface="Alright Sans"/>
                <a:cs typeface="Alright Sans"/>
                <a:sym typeface="Alright Sans"/>
              </a:defRPr>
            </a:pPr>
            <a:r>
              <a:rPr lang="en-US" sz="10800" dirty="0">
                <a:latin typeface="Open Sans" panose="020B0606030504020204" pitchFamily="34" charset="0"/>
                <a:ea typeface="Open Sans" panose="020B0606030504020204" pitchFamily="34" charset="0"/>
                <a:cs typeface="Open Sans" panose="020B0606030504020204" pitchFamily="34" charset="0"/>
              </a:rPr>
              <a:t>The Function interface</a:t>
            </a:r>
          </a:p>
        </p:txBody>
      </p:sp>
      <p:sp>
        <p:nvSpPr>
          <p:cNvPr id="128" name="Shape 128"/>
          <p:cNvSpPr/>
          <p:nvPr/>
        </p:nvSpPr>
        <p:spPr>
          <a:xfrm>
            <a:off x="952500" y="18210515"/>
            <a:ext cx="34782668" cy="2"/>
          </a:xfrm>
          <a:prstGeom prst="line">
            <a:avLst/>
          </a:prstGeom>
          <a:ln w="76200">
            <a:solidFill>
              <a:schemeClr val="accent1">
                <a:satOff val="-3355"/>
                <a:lumOff val="26614"/>
              </a:schemeClr>
            </a:solidFill>
            <a:miter lim="400000"/>
          </a:ln>
        </p:spPr>
        <p:txBody>
          <a:bodyPr lIns="76200" tIns="76200" rIns="76200" bIns="76200" anchor="ctr"/>
          <a:lstStyle/>
          <a:p>
            <a:pPr>
              <a:defRPr sz="3200"/>
            </a:pPr>
            <a:endParaRPr sz="4800"/>
          </a:p>
        </p:txBody>
      </p:sp>
      <p:pic>
        <p:nvPicPr>
          <p:cNvPr id="129" name="Logo.png"/>
          <p:cNvPicPr>
            <a:picLocks noChangeAspect="1"/>
          </p:cNvPicPr>
          <p:nvPr/>
        </p:nvPicPr>
        <p:blipFill>
          <a:blip r:embed="rId3"/>
          <a:stretch>
            <a:fillRect/>
          </a:stretch>
        </p:blipFill>
        <p:spPr>
          <a:xfrm>
            <a:off x="14650974" y="18489726"/>
            <a:ext cx="6321552" cy="1392336"/>
          </a:xfrm>
          <a:prstGeom prst="rect">
            <a:avLst/>
          </a:prstGeom>
          <a:ln w="12700">
            <a:miter lim="400000"/>
          </a:ln>
        </p:spPr>
      </p:pic>
      <p:sp>
        <p:nvSpPr>
          <p:cNvPr id="9" name="Shape 127"/>
          <p:cNvSpPr/>
          <p:nvPr/>
        </p:nvSpPr>
        <p:spPr>
          <a:xfrm flipV="1">
            <a:off x="952499" y="2203340"/>
            <a:ext cx="34782670" cy="38132"/>
          </a:xfrm>
          <a:prstGeom prst="line">
            <a:avLst/>
          </a:prstGeom>
          <a:ln w="152400">
            <a:solidFill>
              <a:schemeClr val="accent1">
                <a:satOff val="-3355"/>
                <a:lumOff val="26614"/>
              </a:schemeClr>
            </a:solidFill>
            <a:miter lim="400000"/>
          </a:ln>
        </p:spPr>
        <p:txBody>
          <a:bodyPr lIns="76200" tIns="76200" rIns="76200" bIns="76200" anchor="ctr"/>
          <a:lstStyle/>
          <a:p>
            <a:pPr>
              <a:defRPr sz="3200"/>
            </a:pPr>
            <a:endParaRPr sz="4800"/>
          </a:p>
        </p:txBody>
      </p:sp>
      <p:sp>
        <p:nvSpPr>
          <p:cNvPr id="10" name="Shape 131"/>
          <p:cNvSpPr/>
          <p:nvPr/>
        </p:nvSpPr>
        <p:spPr>
          <a:xfrm>
            <a:off x="952500" y="18489726"/>
            <a:ext cx="16008688" cy="1308050"/>
          </a:xfrm>
          <a:prstGeom prst="rect">
            <a:avLst/>
          </a:prstGeom>
          <a:ln w="12700">
            <a:miter lim="400000"/>
          </a:ln>
          <a:extLst>
            <a:ext uri="{C572A759-6A51-4108-AA02-DFA0A04FC94B}">
              <ma14:wrappingTextBoxFlag xmlns="" xmlns:ma14="http://schemas.microsoft.com/office/mac/drawingml/2011/main" val="1"/>
            </a:ext>
          </a:extLst>
        </p:spPr>
        <p:txBody>
          <a:bodyPr lIns="76200" tIns="76200" rIns="76200" bIns="76200">
            <a:spAutoFit/>
          </a:bodyPr>
          <a:lstStyle/>
          <a:p>
            <a:pPr algn="l">
              <a:defRPr sz="2000">
                <a:latin typeface="Alright Sans"/>
                <a:ea typeface="Alright Sans"/>
                <a:cs typeface="Alright Sans"/>
                <a:sym typeface="Alright Sans"/>
              </a:defRPr>
            </a:pPr>
            <a:r>
              <a:rPr lang="en-US" sz="3000" dirty="0">
                <a:latin typeface="Open Sans" panose="020B0606030504020204" pitchFamily="34" charset="0"/>
                <a:ea typeface="Open Sans" panose="020B0606030504020204" pitchFamily="34" charset="0"/>
                <a:cs typeface="Open Sans" panose="020B0606030504020204" pitchFamily="34" charset="0"/>
              </a:rPr>
              <a:t>COMPLETE JAVA MASTERCLASS</a:t>
            </a:r>
          </a:p>
          <a:p>
            <a:pPr algn="l">
              <a:defRPr sz="3000">
                <a:latin typeface="Alright Sans"/>
                <a:ea typeface="Alright Sans"/>
                <a:cs typeface="Alright Sans"/>
                <a:sym typeface="Alright Sans"/>
              </a:defRPr>
            </a:pPr>
            <a:r>
              <a:rPr lang="en-US" sz="4500" dirty="0">
                <a:latin typeface="Open Sans" panose="020B0606030504020204" pitchFamily="34" charset="0"/>
                <a:ea typeface="Open Sans" panose="020B0606030504020204" pitchFamily="34" charset="0"/>
                <a:cs typeface="Open Sans" panose="020B0606030504020204" pitchFamily="34" charset="0"/>
              </a:rPr>
              <a:t>Java's Functional Interfaces, Function &amp; Supplier</a:t>
            </a:r>
          </a:p>
        </p:txBody>
      </p:sp>
      <p:sp>
        <p:nvSpPr>
          <p:cNvPr id="8" name="Rectangle 7">
            <a:extLst>
              <a:ext uri="{FF2B5EF4-FFF2-40B4-BE49-F238E27FC236}">
                <a16:creationId xmlns:a16="http://schemas.microsoft.com/office/drawing/2014/main" id="{89DBB243-EF27-4345-872D-E76597E95619}"/>
              </a:ext>
            </a:extLst>
          </p:cNvPr>
          <p:cNvSpPr/>
          <p:nvPr/>
        </p:nvSpPr>
        <p:spPr>
          <a:xfrm>
            <a:off x="952501" y="2799186"/>
            <a:ext cx="34782670" cy="15093988"/>
          </a:xfrm>
          <a:prstGeom prst="rect">
            <a:avLst/>
          </a:prstGeom>
        </p:spPr>
        <p:txBody>
          <a:bodyPr wrap="square">
            <a:normAutofit/>
          </a:bodyPr>
          <a:lstStyle/>
          <a:p>
            <a:pPr algn="l">
              <a:spcAft>
                <a:spcPts val="5022"/>
              </a:spcAft>
            </a:pPr>
            <a:r>
              <a:rPr lang="en-US" sz="6400" dirty="0">
                <a:latin typeface="Open Sans" panose="020B0606030504020204" pitchFamily="34" charset="0"/>
                <a:ea typeface="Open Sans" panose="020B0606030504020204" pitchFamily="34" charset="0"/>
                <a:cs typeface="Open Sans" panose="020B0606030504020204" pitchFamily="34" charset="0"/>
              </a:rPr>
              <a:t>On this slide, I'm showing four of the most common interfaces in this category.</a:t>
            </a:r>
          </a:p>
          <a:p>
            <a:pPr algn="l">
              <a:spcAft>
                <a:spcPts val="5022"/>
              </a:spcAft>
            </a:pPr>
            <a:r>
              <a:rPr lang="en-US" sz="6400" dirty="0">
                <a:latin typeface="Open Sans" panose="020B0606030504020204" pitchFamily="34" charset="0"/>
                <a:ea typeface="Open Sans" panose="020B0606030504020204" pitchFamily="34" charset="0"/>
                <a:cs typeface="Open Sans" panose="020B0606030504020204" pitchFamily="34" charset="0"/>
              </a:rPr>
              <a:t>Each has a return type, shown here as either T, or R, which stands for result, meaning a result is expected for any of these.</a:t>
            </a:r>
          </a:p>
          <a:p>
            <a:pPr algn="l">
              <a:spcAft>
                <a:spcPts val="5022"/>
              </a:spcAft>
            </a:pPr>
            <a:r>
              <a:rPr lang="en-US" sz="6400" dirty="0">
                <a:latin typeface="Open Sans" panose="020B0606030504020204" pitchFamily="34" charset="0"/>
                <a:ea typeface="Open Sans" panose="020B0606030504020204" pitchFamily="34" charset="0"/>
                <a:cs typeface="Open Sans" panose="020B0606030504020204" pitchFamily="34" charset="0"/>
              </a:rPr>
              <a:t>In addition to Function and </a:t>
            </a:r>
            <a:r>
              <a:rPr lang="en-US" sz="6400" dirty="0" err="1">
                <a:latin typeface="Open Sans" panose="020B0606030504020204" pitchFamily="34" charset="0"/>
                <a:ea typeface="Open Sans" panose="020B0606030504020204" pitchFamily="34" charset="0"/>
                <a:cs typeface="Open Sans" panose="020B0606030504020204" pitchFamily="34" charset="0"/>
              </a:rPr>
              <a:t>BiFunction</a:t>
            </a:r>
            <a:r>
              <a:rPr lang="en-US" sz="6400" dirty="0">
                <a:latin typeface="Open Sans" panose="020B0606030504020204" pitchFamily="34" charset="0"/>
                <a:ea typeface="Open Sans" panose="020B0606030504020204" pitchFamily="34" charset="0"/>
                <a:cs typeface="Open Sans" panose="020B0606030504020204" pitchFamily="34" charset="0"/>
              </a:rPr>
              <a:t>, there is also </a:t>
            </a:r>
            <a:r>
              <a:rPr lang="en-US" sz="6400" dirty="0" err="1">
                <a:latin typeface="Open Sans" panose="020B0606030504020204" pitchFamily="34" charset="0"/>
                <a:ea typeface="Open Sans" panose="020B0606030504020204" pitchFamily="34" charset="0"/>
                <a:cs typeface="Open Sans" panose="020B0606030504020204" pitchFamily="34" charset="0"/>
              </a:rPr>
              <a:t>UnaryOperator</a:t>
            </a:r>
            <a:r>
              <a:rPr lang="en-US" sz="6400" dirty="0">
                <a:latin typeface="Open Sans" panose="020B0606030504020204" pitchFamily="34" charset="0"/>
                <a:ea typeface="Open Sans" panose="020B0606030504020204" pitchFamily="34" charset="0"/>
                <a:cs typeface="Open Sans" panose="020B0606030504020204" pitchFamily="34" charset="0"/>
              </a:rPr>
              <a:t> and </a:t>
            </a:r>
            <a:r>
              <a:rPr lang="en-US" sz="6400" dirty="0" err="1">
                <a:latin typeface="Open Sans" panose="020B0606030504020204" pitchFamily="34" charset="0"/>
                <a:ea typeface="Open Sans" panose="020B0606030504020204" pitchFamily="34" charset="0"/>
                <a:cs typeface="Open Sans" panose="020B0606030504020204" pitchFamily="34" charset="0"/>
              </a:rPr>
              <a:t>BinaryOperator</a:t>
            </a:r>
            <a:r>
              <a:rPr lang="en-US" sz="6400" dirty="0">
                <a:latin typeface="Open Sans" panose="020B0606030504020204" pitchFamily="34" charset="0"/>
                <a:ea typeface="Open Sans" panose="020B0606030504020204" pitchFamily="34" charset="0"/>
                <a:cs typeface="Open Sans" panose="020B0606030504020204" pitchFamily="34" charset="0"/>
              </a:rPr>
              <a:t>. </a:t>
            </a:r>
          </a:p>
          <a:p>
            <a:pPr algn="l">
              <a:spcAft>
                <a:spcPts val="5022"/>
              </a:spcAft>
            </a:pPr>
            <a:r>
              <a:rPr lang="en-US" sz="6400" dirty="0">
                <a:latin typeface="Open Sans" panose="020B0606030504020204" pitchFamily="34" charset="0"/>
                <a:ea typeface="Open Sans" panose="020B0606030504020204" pitchFamily="34" charset="0"/>
                <a:cs typeface="Open Sans" panose="020B0606030504020204" pitchFamily="34" charset="0"/>
              </a:rPr>
              <a:t>You can think of the </a:t>
            </a:r>
            <a:r>
              <a:rPr lang="en-US" sz="6400" dirty="0" err="1">
                <a:latin typeface="Open Sans" panose="020B0606030504020204" pitchFamily="34" charset="0"/>
                <a:ea typeface="Open Sans" panose="020B0606030504020204" pitchFamily="34" charset="0"/>
                <a:cs typeface="Open Sans" panose="020B0606030504020204" pitchFamily="34" charset="0"/>
              </a:rPr>
              <a:t>UnaryOperator</a:t>
            </a:r>
            <a:r>
              <a:rPr lang="en-US" sz="6400" dirty="0">
                <a:latin typeface="Open Sans" panose="020B0606030504020204" pitchFamily="34" charset="0"/>
                <a:ea typeface="Open Sans" panose="020B0606030504020204" pitchFamily="34" charset="0"/>
                <a:cs typeface="Open Sans" panose="020B0606030504020204" pitchFamily="34" charset="0"/>
              </a:rPr>
              <a:t> as a Function Interface, but where the argument type is the same as the result type.</a:t>
            </a:r>
          </a:p>
        </p:txBody>
      </p:sp>
      <p:graphicFrame>
        <p:nvGraphicFramePr>
          <p:cNvPr id="14" name="Table 13">
            <a:extLst>
              <a:ext uri="{FF2B5EF4-FFF2-40B4-BE49-F238E27FC236}">
                <a16:creationId xmlns:a16="http://schemas.microsoft.com/office/drawing/2014/main" id="{EC4C4E17-7B58-E1E9-3FD6-8E04C2144731}"/>
              </a:ext>
            </a:extLst>
          </p:cNvPr>
          <p:cNvGraphicFramePr>
            <a:graphicFrameLocks noGrp="1"/>
          </p:cNvGraphicFramePr>
          <p:nvPr/>
        </p:nvGraphicFramePr>
        <p:xfrm>
          <a:off x="952497" y="13152662"/>
          <a:ext cx="34782668" cy="4024993"/>
        </p:xfrm>
        <a:graphic>
          <a:graphicData uri="http://schemas.openxmlformats.org/drawingml/2006/table">
            <a:tbl>
              <a:tblPr firstRow="1" bandRow="1">
                <a:tableStyleId>{5C22544A-7EE6-4342-B048-85BDC9FD1C3A}</a:tableStyleId>
              </a:tblPr>
              <a:tblGrid>
                <a:gridCol w="8396776">
                  <a:extLst>
                    <a:ext uri="{9D8B030D-6E8A-4147-A177-3AD203B41FA5}">
                      <a16:colId xmlns:a16="http://schemas.microsoft.com/office/drawing/2014/main" val="2844207666"/>
                    </a:ext>
                  </a:extLst>
                </a:gridCol>
                <a:gridCol w="8434874">
                  <a:extLst>
                    <a:ext uri="{9D8B030D-6E8A-4147-A177-3AD203B41FA5}">
                      <a16:colId xmlns:a16="http://schemas.microsoft.com/office/drawing/2014/main" val="1891655341"/>
                    </a:ext>
                  </a:extLst>
                </a:gridCol>
                <a:gridCol w="8453535">
                  <a:extLst>
                    <a:ext uri="{9D8B030D-6E8A-4147-A177-3AD203B41FA5}">
                      <a16:colId xmlns:a16="http://schemas.microsoft.com/office/drawing/2014/main" val="2017387083"/>
                    </a:ext>
                  </a:extLst>
                </a:gridCol>
                <a:gridCol w="9497483">
                  <a:extLst>
                    <a:ext uri="{9D8B030D-6E8A-4147-A177-3AD203B41FA5}">
                      <a16:colId xmlns:a16="http://schemas.microsoft.com/office/drawing/2014/main" val="1020653276"/>
                    </a:ext>
                  </a:extLst>
                </a:gridCol>
              </a:tblGrid>
              <a:tr h="1188487">
                <a:tc>
                  <a:txBody>
                    <a:bodyPr/>
                    <a:lstStyle/>
                    <a:p>
                      <a:pPr marL="180000" algn="l"/>
                      <a:r>
                        <a:rPr lang="en-US" sz="5400" dirty="0">
                          <a:solidFill>
                            <a:schemeClr val="tx1"/>
                          </a:solidFill>
                          <a:latin typeface="Open Sans" panose="020B0606030504020204" pitchFamily="34" charset="0"/>
                          <a:ea typeface="Open Sans" panose="020B0606030504020204" pitchFamily="34" charset="0"/>
                          <a:cs typeface="Open Sans" panose="020B0606030504020204" pitchFamily="34" charset="0"/>
                        </a:rPr>
                        <a:t>Interface Name</a:t>
                      </a:r>
                      <a:endParaRPr lang="en-PH" sz="5400" dirty="0">
                        <a:solidFill>
                          <a:schemeClr val="tx1"/>
                        </a:solidFill>
                        <a:latin typeface="Open Sans" panose="020B0606030504020204" pitchFamily="34" charset="0"/>
                        <a:ea typeface="Open Sans" panose="020B0606030504020204" pitchFamily="34" charset="0"/>
                        <a:cs typeface="Open Sans" panose="020B0606030504020204" pitchFamily="34" charset="0"/>
                      </a:endParaRPr>
                    </a:p>
                  </a:txBody>
                  <a:tcPr marL="86794" marR="86794" marT="43397" marB="43397">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BE4D5"/>
                    </a:solidFill>
                  </a:tcPr>
                </a:tc>
                <a:tc>
                  <a:txBody>
                    <a:bodyPr/>
                    <a:lstStyle/>
                    <a:p>
                      <a:pPr marL="180000" algn="l"/>
                      <a:r>
                        <a:rPr lang="en-US" sz="5400" dirty="0">
                          <a:solidFill>
                            <a:schemeClr val="tx1"/>
                          </a:solidFill>
                          <a:latin typeface="Open Sans" panose="020B0606030504020204" pitchFamily="34" charset="0"/>
                          <a:ea typeface="Open Sans" panose="020B0606030504020204" pitchFamily="34" charset="0"/>
                          <a:cs typeface="Open Sans" panose="020B0606030504020204" pitchFamily="34" charset="0"/>
                        </a:rPr>
                        <a:t>Method Signature</a:t>
                      </a:r>
                      <a:endParaRPr lang="en-PH" sz="5400" dirty="0">
                        <a:solidFill>
                          <a:schemeClr val="tx1"/>
                        </a:solidFill>
                        <a:latin typeface="Open Sans" panose="020B0606030504020204" pitchFamily="34" charset="0"/>
                        <a:ea typeface="Open Sans" panose="020B0606030504020204" pitchFamily="34" charset="0"/>
                        <a:cs typeface="Open Sans" panose="020B0606030504020204" pitchFamily="34" charset="0"/>
                      </a:endParaRPr>
                    </a:p>
                  </a:txBody>
                  <a:tcPr marL="86794" marR="86794" marT="43397" marB="43397">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BE4D5"/>
                    </a:solidFill>
                  </a:tcPr>
                </a:tc>
                <a:tc>
                  <a:txBody>
                    <a:bodyPr/>
                    <a:lstStyle/>
                    <a:p>
                      <a:pPr marL="180000" algn="l"/>
                      <a:r>
                        <a:rPr lang="en-US" sz="5400" dirty="0">
                          <a:solidFill>
                            <a:schemeClr val="tx1"/>
                          </a:solidFill>
                          <a:latin typeface="Open Sans" panose="020B0606030504020204" pitchFamily="34" charset="0"/>
                          <a:ea typeface="Open Sans" panose="020B0606030504020204" pitchFamily="34" charset="0"/>
                          <a:cs typeface="Open Sans" panose="020B0606030504020204" pitchFamily="34" charset="0"/>
                        </a:rPr>
                        <a:t>Interface Name</a:t>
                      </a:r>
                      <a:endParaRPr lang="en-PH" sz="5400" dirty="0">
                        <a:solidFill>
                          <a:schemeClr val="tx1"/>
                        </a:solidFill>
                        <a:latin typeface="Open Sans" panose="020B0606030504020204" pitchFamily="34" charset="0"/>
                        <a:ea typeface="Open Sans" panose="020B0606030504020204" pitchFamily="34" charset="0"/>
                        <a:cs typeface="Open Sans" panose="020B0606030504020204" pitchFamily="34" charset="0"/>
                      </a:endParaRPr>
                    </a:p>
                  </a:txBody>
                  <a:tcPr marL="86794" marR="86794" marT="43397" marB="43397">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BE4D5"/>
                    </a:solidFill>
                  </a:tcPr>
                </a:tc>
                <a:tc>
                  <a:txBody>
                    <a:bodyPr/>
                    <a:lstStyle/>
                    <a:p>
                      <a:pPr marL="180000" algn="l"/>
                      <a:r>
                        <a:rPr lang="en-US" sz="5400" dirty="0">
                          <a:solidFill>
                            <a:schemeClr val="tx1"/>
                          </a:solidFill>
                          <a:latin typeface="Open Sans" panose="020B0606030504020204" pitchFamily="34" charset="0"/>
                          <a:ea typeface="Open Sans" panose="020B0606030504020204" pitchFamily="34" charset="0"/>
                          <a:cs typeface="Open Sans" panose="020B0606030504020204" pitchFamily="34" charset="0"/>
                        </a:rPr>
                        <a:t>Method Signature</a:t>
                      </a:r>
                      <a:endParaRPr lang="en-PH" sz="5400" dirty="0">
                        <a:solidFill>
                          <a:schemeClr val="tx1"/>
                        </a:solidFill>
                        <a:latin typeface="Open Sans" panose="020B0606030504020204" pitchFamily="34" charset="0"/>
                        <a:ea typeface="Open Sans" panose="020B0606030504020204" pitchFamily="34" charset="0"/>
                        <a:cs typeface="Open Sans" panose="020B0606030504020204" pitchFamily="34" charset="0"/>
                      </a:endParaRPr>
                    </a:p>
                  </a:txBody>
                  <a:tcPr marL="86794" marR="86794" marT="43397" marB="43397">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BE4D5"/>
                    </a:solidFill>
                  </a:tcPr>
                </a:tc>
                <a:extLst>
                  <a:ext uri="{0D108BD9-81ED-4DB2-BD59-A6C34878D82A}">
                    <a16:rowId xmlns:a16="http://schemas.microsoft.com/office/drawing/2014/main" val="3978129174"/>
                  </a:ext>
                </a:extLst>
              </a:tr>
              <a:tr h="1418253">
                <a:tc>
                  <a:txBody>
                    <a:bodyPr/>
                    <a:lstStyle/>
                    <a:p>
                      <a:pPr marL="180000" marR="0" lvl="0" indent="0" algn="l" defTabSz="914400" rtl="0" eaLnBrk="1" fontAlgn="auto" latinLnBrk="0" hangingPunct="1">
                        <a:lnSpc>
                          <a:spcPct val="100000"/>
                        </a:lnSpc>
                        <a:spcBef>
                          <a:spcPts val="0"/>
                        </a:spcBef>
                        <a:spcAft>
                          <a:spcPts val="1000"/>
                        </a:spcAft>
                        <a:buClr>
                          <a:srgbClr val="000000"/>
                        </a:buClr>
                        <a:buSzTx/>
                        <a:buFont typeface="Arial" panose="020B0604020202020204" pitchFamily="34" charset="0"/>
                        <a:buNone/>
                        <a:tabLst/>
                        <a:defRPr/>
                      </a:pPr>
                      <a:endParaRPr lang="en-US" sz="5400" b="0" dirty="0">
                        <a:solidFill>
                          <a:schemeClr val="tx1"/>
                        </a:solidFill>
                        <a:latin typeface="Open Sans" panose="020B0606030504020204" pitchFamily="34" charset="0"/>
                        <a:ea typeface="Open Sans" panose="020B0606030504020204" pitchFamily="34" charset="0"/>
                        <a:cs typeface="Open Sans" panose="020B0606030504020204" pitchFamily="34" charset="0"/>
                      </a:endParaRPr>
                    </a:p>
                  </a:txBody>
                  <a:tcPr marL="86794" marR="86794" marT="43397" marB="43397">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180000" marR="0" lvl="0" indent="0" algn="l" defTabSz="914400" rtl="0" eaLnBrk="1" fontAlgn="auto" latinLnBrk="0" hangingPunct="1">
                        <a:lnSpc>
                          <a:spcPct val="100000"/>
                        </a:lnSpc>
                        <a:spcBef>
                          <a:spcPts val="0"/>
                        </a:spcBef>
                        <a:spcAft>
                          <a:spcPts val="1000"/>
                        </a:spcAft>
                        <a:buClr>
                          <a:srgbClr val="000000"/>
                        </a:buClr>
                        <a:buSzTx/>
                        <a:buFont typeface="Arial" panose="020B0604020202020204" pitchFamily="34" charset="0"/>
                        <a:buNone/>
                        <a:tabLst/>
                        <a:defRPr/>
                      </a:pPr>
                      <a:endParaRPr lang="en-US" sz="5400" b="0" dirty="0">
                        <a:solidFill>
                          <a:schemeClr val="tx1"/>
                        </a:solidFill>
                        <a:latin typeface="Open Sans" panose="020B0606030504020204" pitchFamily="34" charset="0"/>
                        <a:ea typeface="Open Sans" panose="020B0606030504020204" pitchFamily="34" charset="0"/>
                        <a:cs typeface="Open Sans" panose="020B0606030504020204" pitchFamily="34" charset="0"/>
                      </a:endParaRPr>
                    </a:p>
                  </a:txBody>
                  <a:tcPr marL="86794" marR="86794" marT="43397" marB="43397">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180000" marR="0" lvl="0" indent="0" algn="l" defTabSz="914400" rtl="0" eaLnBrk="1" fontAlgn="auto" latinLnBrk="0" hangingPunct="1">
                        <a:lnSpc>
                          <a:spcPct val="100000"/>
                        </a:lnSpc>
                        <a:spcBef>
                          <a:spcPts val="0"/>
                        </a:spcBef>
                        <a:spcAft>
                          <a:spcPts val="1000"/>
                        </a:spcAft>
                        <a:buClr>
                          <a:srgbClr val="000000"/>
                        </a:buClr>
                        <a:buSzTx/>
                        <a:buFont typeface="Arial" panose="020B0604020202020204" pitchFamily="34" charset="0"/>
                        <a:buNone/>
                        <a:tabLst/>
                        <a:defRPr/>
                      </a:pPr>
                      <a:endParaRPr lang="en-US" sz="5400" b="0" dirty="0">
                        <a:solidFill>
                          <a:schemeClr val="tx1"/>
                        </a:solidFill>
                        <a:latin typeface="Open Sans" panose="020B0606030504020204" pitchFamily="34" charset="0"/>
                        <a:ea typeface="Open Sans" panose="020B0606030504020204" pitchFamily="34" charset="0"/>
                        <a:cs typeface="Open Sans" panose="020B0606030504020204" pitchFamily="34" charset="0"/>
                      </a:endParaRPr>
                    </a:p>
                  </a:txBody>
                  <a:tcPr marL="86794" marR="86794" marT="43397" marB="43397">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180000" marR="0" lvl="0" indent="0" algn="l" defTabSz="914400" rtl="0" eaLnBrk="1" fontAlgn="auto" latinLnBrk="0" hangingPunct="1">
                        <a:lnSpc>
                          <a:spcPct val="100000"/>
                        </a:lnSpc>
                        <a:spcBef>
                          <a:spcPts val="0"/>
                        </a:spcBef>
                        <a:spcAft>
                          <a:spcPts val="1000"/>
                        </a:spcAft>
                        <a:buClr>
                          <a:srgbClr val="000000"/>
                        </a:buClr>
                        <a:buSzTx/>
                        <a:buFont typeface="Arial" panose="020B0604020202020204" pitchFamily="34" charset="0"/>
                        <a:buNone/>
                        <a:tabLst/>
                        <a:defRPr/>
                      </a:pPr>
                      <a:endParaRPr lang="en-US" sz="5400" b="0" dirty="0">
                        <a:solidFill>
                          <a:schemeClr val="tx1"/>
                        </a:solidFill>
                        <a:latin typeface="Open Sans" panose="020B0606030504020204" pitchFamily="34" charset="0"/>
                        <a:ea typeface="Open Sans" panose="020B0606030504020204" pitchFamily="34" charset="0"/>
                        <a:cs typeface="Open Sans" panose="020B0606030504020204" pitchFamily="34" charset="0"/>
                      </a:endParaRPr>
                    </a:p>
                  </a:txBody>
                  <a:tcPr marL="86794" marR="86794" marT="43397" marB="43397">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640325450"/>
                  </a:ext>
                </a:extLst>
              </a:tr>
              <a:tr h="1418253">
                <a:tc>
                  <a:txBody>
                    <a:bodyPr/>
                    <a:lstStyle/>
                    <a:p>
                      <a:pPr marL="180000" marR="0" lvl="0" indent="0" algn="l" defTabSz="914400" rtl="0" eaLnBrk="1" fontAlgn="auto" latinLnBrk="0" hangingPunct="1">
                        <a:lnSpc>
                          <a:spcPct val="100000"/>
                        </a:lnSpc>
                        <a:spcBef>
                          <a:spcPts val="0"/>
                        </a:spcBef>
                        <a:spcAft>
                          <a:spcPts val="1000"/>
                        </a:spcAft>
                        <a:buClr>
                          <a:srgbClr val="000000"/>
                        </a:buClr>
                        <a:buSzTx/>
                        <a:buFont typeface="Arial" panose="020B0604020202020204" pitchFamily="34" charset="0"/>
                        <a:buNone/>
                        <a:tabLst/>
                        <a:defRPr/>
                      </a:pPr>
                      <a:endParaRPr lang="en-US" sz="5400" b="0" dirty="0">
                        <a:solidFill>
                          <a:schemeClr val="tx1"/>
                        </a:solidFill>
                        <a:latin typeface="Open Sans" panose="020B0606030504020204" pitchFamily="34" charset="0"/>
                        <a:ea typeface="Open Sans" panose="020B0606030504020204" pitchFamily="34" charset="0"/>
                        <a:cs typeface="Open Sans" panose="020B0606030504020204" pitchFamily="34" charset="0"/>
                      </a:endParaRPr>
                    </a:p>
                  </a:txBody>
                  <a:tcPr marL="86794" marR="86794" marT="43397" marB="43397">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180000" marR="0" lvl="0" indent="0" algn="l" defTabSz="914400" rtl="0" eaLnBrk="1" fontAlgn="auto" latinLnBrk="0" hangingPunct="1">
                        <a:lnSpc>
                          <a:spcPct val="100000"/>
                        </a:lnSpc>
                        <a:spcBef>
                          <a:spcPts val="0"/>
                        </a:spcBef>
                        <a:spcAft>
                          <a:spcPts val="1000"/>
                        </a:spcAft>
                        <a:buClr>
                          <a:srgbClr val="000000"/>
                        </a:buClr>
                        <a:buSzTx/>
                        <a:buFont typeface="Arial" panose="020B0604020202020204" pitchFamily="34" charset="0"/>
                        <a:buNone/>
                        <a:tabLst/>
                        <a:defRPr/>
                      </a:pPr>
                      <a:endParaRPr lang="en-US" sz="5400" b="0" dirty="0">
                        <a:solidFill>
                          <a:schemeClr val="tx1"/>
                        </a:solidFill>
                        <a:latin typeface="Open Sans" panose="020B0606030504020204" pitchFamily="34" charset="0"/>
                        <a:ea typeface="Open Sans" panose="020B0606030504020204" pitchFamily="34" charset="0"/>
                        <a:cs typeface="Open Sans" panose="020B0606030504020204" pitchFamily="34" charset="0"/>
                      </a:endParaRPr>
                    </a:p>
                  </a:txBody>
                  <a:tcPr marL="86794" marR="86794" marT="43397" marB="43397">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180000" marR="0" lvl="0" indent="0" algn="l" defTabSz="914400" rtl="0" eaLnBrk="1" fontAlgn="auto" latinLnBrk="0" hangingPunct="1">
                        <a:lnSpc>
                          <a:spcPct val="100000"/>
                        </a:lnSpc>
                        <a:spcBef>
                          <a:spcPts val="0"/>
                        </a:spcBef>
                        <a:spcAft>
                          <a:spcPts val="1000"/>
                        </a:spcAft>
                        <a:buClr>
                          <a:srgbClr val="000000"/>
                        </a:buClr>
                        <a:buSzTx/>
                        <a:buFont typeface="Arial" panose="020B0604020202020204" pitchFamily="34" charset="0"/>
                        <a:buNone/>
                        <a:tabLst/>
                        <a:defRPr/>
                      </a:pPr>
                      <a:endParaRPr lang="en-US" sz="5400" b="0" dirty="0">
                        <a:solidFill>
                          <a:schemeClr val="tx1"/>
                        </a:solidFill>
                        <a:latin typeface="Open Sans" panose="020B0606030504020204" pitchFamily="34" charset="0"/>
                        <a:ea typeface="Open Sans" panose="020B0606030504020204" pitchFamily="34" charset="0"/>
                        <a:cs typeface="Open Sans" panose="020B0606030504020204" pitchFamily="34" charset="0"/>
                      </a:endParaRPr>
                    </a:p>
                  </a:txBody>
                  <a:tcPr marL="86794" marR="86794" marT="43397" marB="43397">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180000" marR="0" lvl="0" indent="0" algn="l" defTabSz="914400" rtl="0" eaLnBrk="1" fontAlgn="auto" latinLnBrk="0" hangingPunct="1">
                        <a:lnSpc>
                          <a:spcPct val="100000"/>
                        </a:lnSpc>
                        <a:spcBef>
                          <a:spcPts val="0"/>
                        </a:spcBef>
                        <a:spcAft>
                          <a:spcPts val="1000"/>
                        </a:spcAft>
                        <a:buClr>
                          <a:srgbClr val="000000"/>
                        </a:buClr>
                        <a:buSzTx/>
                        <a:buFont typeface="Arial" panose="020B0604020202020204" pitchFamily="34" charset="0"/>
                        <a:buNone/>
                        <a:tabLst/>
                        <a:defRPr/>
                      </a:pPr>
                      <a:endParaRPr lang="en-US" sz="5400" b="0" dirty="0">
                        <a:solidFill>
                          <a:schemeClr val="tx1"/>
                        </a:solidFill>
                        <a:latin typeface="Open Sans" panose="020B0606030504020204" pitchFamily="34" charset="0"/>
                        <a:ea typeface="Open Sans" panose="020B0606030504020204" pitchFamily="34" charset="0"/>
                        <a:cs typeface="Open Sans" panose="020B0606030504020204" pitchFamily="34" charset="0"/>
                      </a:endParaRPr>
                    </a:p>
                  </a:txBody>
                  <a:tcPr marL="86794" marR="86794" marT="43397" marB="43397">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521613951"/>
                  </a:ext>
                </a:extLst>
              </a:tr>
            </a:tbl>
          </a:graphicData>
        </a:graphic>
      </p:graphicFrame>
      <p:pic>
        <p:nvPicPr>
          <p:cNvPr id="15" name="Picture 14">
            <a:extLst>
              <a:ext uri="{FF2B5EF4-FFF2-40B4-BE49-F238E27FC236}">
                <a16:creationId xmlns:a16="http://schemas.microsoft.com/office/drawing/2014/main" id="{4F28168E-93DD-3D1F-30A8-FC0F02DFB20A}"/>
              </a:ext>
            </a:extLst>
          </p:cNvPr>
          <p:cNvPicPr>
            <a:picLocks noChangeAspect="1"/>
          </p:cNvPicPr>
          <p:nvPr/>
        </p:nvPicPr>
        <p:blipFill>
          <a:blip r:embed="rId4"/>
          <a:stretch>
            <a:fillRect/>
          </a:stretch>
        </p:blipFill>
        <p:spPr>
          <a:xfrm>
            <a:off x="1027243" y="14626946"/>
            <a:ext cx="6266666" cy="838096"/>
          </a:xfrm>
          <a:prstGeom prst="rect">
            <a:avLst/>
          </a:prstGeom>
        </p:spPr>
      </p:pic>
      <p:pic>
        <p:nvPicPr>
          <p:cNvPr id="16" name="Picture 15">
            <a:extLst>
              <a:ext uri="{FF2B5EF4-FFF2-40B4-BE49-F238E27FC236}">
                <a16:creationId xmlns:a16="http://schemas.microsoft.com/office/drawing/2014/main" id="{A3CCC9C8-5DC0-E1BF-8177-536A68574072}"/>
              </a:ext>
            </a:extLst>
          </p:cNvPr>
          <p:cNvPicPr>
            <a:picLocks noChangeAspect="1"/>
          </p:cNvPicPr>
          <p:nvPr/>
        </p:nvPicPr>
        <p:blipFill>
          <a:blip r:embed="rId5"/>
          <a:stretch>
            <a:fillRect/>
          </a:stretch>
        </p:blipFill>
        <p:spPr>
          <a:xfrm>
            <a:off x="1027243" y="16006379"/>
            <a:ext cx="8133334" cy="914286"/>
          </a:xfrm>
          <a:prstGeom prst="rect">
            <a:avLst/>
          </a:prstGeom>
        </p:spPr>
      </p:pic>
      <p:pic>
        <p:nvPicPr>
          <p:cNvPr id="17" name="Picture 16">
            <a:extLst>
              <a:ext uri="{FF2B5EF4-FFF2-40B4-BE49-F238E27FC236}">
                <a16:creationId xmlns:a16="http://schemas.microsoft.com/office/drawing/2014/main" id="{2545777B-04E3-B522-9D33-CEE4000BF388}"/>
              </a:ext>
            </a:extLst>
          </p:cNvPr>
          <p:cNvPicPr>
            <a:picLocks noChangeAspect="1"/>
          </p:cNvPicPr>
          <p:nvPr/>
        </p:nvPicPr>
        <p:blipFill>
          <a:blip r:embed="rId6"/>
          <a:stretch>
            <a:fillRect/>
          </a:stretch>
        </p:blipFill>
        <p:spPr>
          <a:xfrm>
            <a:off x="9503913" y="14474566"/>
            <a:ext cx="5733334" cy="990476"/>
          </a:xfrm>
          <a:prstGeom prst="rect">
            <a:avLst/>
          </a:prstGeom>
        </p:spPr>
      </p:pic>
      <p:pic>
        <p:nvPicPr>
          <p:cNvPr id="18" name="Picture 17">
            <a:extLst>
              <a:ext uri="{FF2B5EF4-FFF2-40B4-BE49-F238E27FC236}">
                <a16:creationId xmlns:a16="http://schemas.microsoft.com/office/drawing/2014/main" id="{84819701-4FA1-901F-FCE5-03364D2728E8}"/>
              </a:ext>
            </a:extLst>
          </p:cNvPr>
          <p:cNvPicPr>
            <a:picLocks noChangeAspect="1"/>
          </p:cNvPicPr>
          <p:nvPr/>
        </p:nvPicPr>
        <p:blipFill>
          <a:blip r:embed="rId7"/>
          <a:stretch>
            <a:fillRect/>
          </a:stretch>
        </p:blipFill>
        <p:spPr>
          <a:xfrm>
            <a:off x="9503913" y="16006379"/>
            <a:ext cx="8095238" cy="952380"/>
          </a:xfrm>
          <a:prstGeom prst="rect">
            <a:avLst/>
          </a:prstGeom>
        </p:spPr>
      </p:pic>
      <p:pic>
        <p:nvPicPr>
          <p:cNvPr id="19" name="Picture 18">
            <a:extLst>
              <a:ext uri="{FF2B5EF4-FFF2-40B4-BE49-F238E27FC236}">
                <a16:creationId xmlns:a16="http://schemas.microsoft.com/office/drawing/2014/main" id="{A49C95DF-A17F-A971-C4AB-956290AFC0A5}"/>
              </a:ext>
            </a:extLst>
          </p:cNvPr>
          <p:cNvPicPr>
            <a:picLocks noChangeAspect="1"/>
          </p:cNvPicPr>
          <p:nvPr/>
        </p:nvPicPr>
        <p:blipFill>
          <a:blip r:embed="rId8"/>
          <a:stretch>
            <a:fillRect/>
          </a:stretch>
        </p:blipFill>
        <p:spPr>
          <a:xfrm>
            <a:off x="17942200" y="14603208"/>
            <a:ext cx="7657142" cy="857142"/>
          </a:xfrm>
          <a:prstGeom prst="rect">
            <a:avLst/>
          </a:prstGeom>
        </p:spPr>
      </p:pic>
      <p:pic>
        <p:nvPicPr>
          <p:cNvPr id="20" name="Picture 19">
            <a:extLst>
              <a:ext uri="{FF2B5EF4-FFF2-40B4-BE49-F238E27FC236}">
                <a16:creationId xmlns:a16="http://schemas.microsoft.com/office/drawing/2014/main" id="{4A5F4936-EB9D-6F4A-AB73-DDADF14ED66E}"/>
              </a:ext>
            </a:extLst>
          </p:cNvPr>
          <p:cNvPicPr>
            <a:picLocks noChangeAspect="1"/>
          </p:cNvPicPr>
          <p:nvPr/>
        </p:nvPicPr>
        <p:blipFill>
          <a:blip r:embed="rId9"/>
          <a:stretch>
            <a:fillRect/>
          </a:stretch>
        </p:blipFill>
        <p:spPr>
          <a:xfrm>
            <a:off x="17942200" y="16030332"/>
            <a:ext cx="8152380" cy="914286"/>
          </a:xfrm>
          <a:prstGeom prst="rect">
            <a:avLst/>
          </a:prstGeom>
        </p:spPr>
      </p:pic>
      <p:pic>
        <p:nvPicPr>
          <p:cNvPr id="21" name="Picture 20">
            <a:extLst>
              <a:ext uri="{FF2B5EF4-FFF2-40B4-BE49-F238E27FC236}">
                <a16:creationId xmlns:a16="http://schemas.microsoft.com/office/drawing/2014/main" id="{E711658D-60D2-C281-BF3A-80FAAB77C8D9}"/>
              </a:ext>
            </a:extLst>
          </p:cNvPr>
          <p:cNvPicPr>
            <a:picLocks noChangeAspect="1"/>
          </p:cNvPicPr>
          <p:nvPr/>
        </p:nvPicPr>
        <p:blipFill>
          <a:blip r:embed="rId10"/>
          <a:stretch>
            <a:fillRect/>
          </a:stretch>
        </p:blipFill>
        <p:spPr>
          <a:xfrm>
            <a:off x="26464151" y="14527016"/>
            <a:ext cx="5771428" cy="933334"/>
          </a:xfrm>
          <a:prstGeom prst="rect">
            <a:avLst/>
          </a:prstGeom>
        </p:spPr>
      </p:pic>
      <p:pic>
        <p:nvPicPr>
          <p:cNvPr id="22" name="Picture 21">
            <a:extLst>
              <a:ext uri="{FF2B5EF4-FFF2-40B4-BE49-F238E27FC236}">
                <a16:creationId xmlns:a16="http://schemas.microsoft.com/office/drawing/2014/main" id="{80C7AEB3-5251-967C-0C72-67E7F4742440}"/>
              </a:ext>
            </a:extLst>
          </p:cNvPr>
          <p:cNvPicPr>
            <a:picLocks noChangeAspect="1"/>
          </p:cNvPicPr>
          <p:nvPr/>
        </p:nvPicPr>
        <p:blipFill>
          <a:blip r:embed="rId11"/>
          <a:stretch>
            <a:fillRect/>
          </a:stretch>
        </p:blipFill>
        <p:spPr>
          <a:xfrm>
            <a:off x="26437629" y="15997907"/>
            <a:ext cx="9028572" cy="895238"/>
          </a:xfrm>
          <a:prstGeom prst="rect">
            <a:avLst/>
          </a:prstGeom>
        </p:spPr>
      </p:pic>
    </p:spTree>
    <p:extLst>
      <p:ext uri="{BB962C8B-B14F-4D97-AF65-F5344CB8AC3E}">
        <p14:creationId xmlns:p14="http://schemas.microsoft.com/office/powerpoint/2010/main" val="1624281845"/>
      </p:ext>
    </p:extLst>
  </p:cSld>
  <p:clrMapOvr>
    <a:masterClrMapping/>
  </p:clrMapOvr>
  <p:transition spd="slow"/>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 name="Shape 126"/>
          <p:cNvSpPr/>
          <p:nvPr/>
        </p:nvSpPr>
        <p:spPr>
          <a:xfrm>
            <a:off x="952498" y="459786"/>
            <a:ext cx="14574503" cy="1815882"/>
          </a:xfrm>
          <a:prstGeom prst="rect">
            <a:avLst/>
          </a:prstGeom>
          <a:ln w="12700">
            <a:miter lim="400000"/>
          </a:ln>
          <a:extLst>
            <a:ext uri="{C572A759-6A51-4108-AA02-DFA0A04FC94B}">
              <ma14:wrappingTextBoxFlag xmlns="" xmlns:ma14="http://schemas.microsoft.com/office/mac/drawingml/2011/main" val="1"/>
            </a:ext>
          </a:extLst>
        </p:spPr>
        <p:txBody>
          <a:bodyPr wrap="none" lIns="76200" tIns="76200" rIns="76200" bIns="76200">
            <a:spAutoFit/>
          </a:bodyPr>
          <a:lstStyle>
            <a:lvl1pPr algn="l">
              <a:defRPr sz="7000">
                <a:latin typeface="Alright Sans"/>
                <a:ea typeface="Alright Sans"/>
                <a:cs typeface="Alright Sans"/>
                <a:sym typeface="Alright Sans"/>
              </a:defRPr>
            </a:lvl1pPr>
          </a:lstStyle>
          <a:p>
            <a:pPr>
              <a:defRPr sz="3000">
                <a:latin typeface="Alright Sans"/>
                <a:ea typeface="Alright Sans"/>
                <a:cs typeface="Alright Sans"/>
                <a:sym typeface="Alright Sans"/>
              </a:defRPr>
            </a:pPr>
            <a:r>
              <a:rPr lang="en-US" sz="10800" dirty="0">
                <a:latin typeface="Open Sans" panose="020B0606030504020204" pitchFamily="34" charset="0"/>
                <a:ea typeface="Open Sans" panose="020B0606030504020204" pitchFamily="34" charset="0"/>
                <a:cs typeface="Open Sans" panose="020B0606030504020204" pitchFamily="34" charset="0"/>
              </a:rPr>
              <a:t>The Function interface</a:t>
            </a:r>
          </a:p>
        </p:txBody>
      </p:sp>
      <p:sp>
        <p:nvSpPr>
          <p:cNvPr id="128" name="Shape 128"/>
          <p:cNvSpPr/>
          <p:nvPr/>
        </p:nvSpPr>
        <p:spPr>
          <a:xfrm>
            <a:off x="952500" y="18210515"/>
            <a:ext cx="34782668" cy="2"/>
          </a:xfrm>
          <a:prstGeom prst="line">
            <a:avLst/>
          </a:prstGeom>
          <a:ln w="76200">
            <a:solidFill>
              <a:schemeClr val="accent1">
                <a:satOff val="-3355"/>
                <a:lumOff val="26614"/>
              </a:schemeClr>
            </a:solidFill>
            <a:miter lim="400000"/>
          </a:ln>
        </p:spPr>
        <p:txBody>
          <a:bodyPr lIns="76200" tIns="76200" rIns="76200" bIns="76200" anchor="ctr"/>
          <a:lstStyle/>
          <a:p>
            <a:pPr>
              <a:defRPr sz="3200"/>
            </a:pPr>
            <a:endParaRPr sz="4800"/>
          </a:p>
        </p:txBody>
      </p:sp>
      <p:pic>
        <p:nvPicPr>
          <p:cNvPr id="129" name="Logo.png"/>
          <p:cNvPicPr>
            <a:picLocks noChangeAspect="1"/>
          </p:cNvPicPr>
          <p:nvPr/>
        </p:nvPicPr>
        <p:blipFill>
          <a:blip r:embed="rId3"/>
          <a:stretch>
            <a:fillRect/>
          </a:stretch>
        </p:blipFill>
        <p:spPr>
          <a:xfrm>
            <a:off x="14650974" y="18489726"/>
            <a:ext cx="6321552" cy="1392336"/>
          </a:xfrm>
          <a:prstGeom prst="rect">
            <a:avLst/>
          </a:prstGeom>
          <a:ln w="12700">
            <a:miter lim="400000"/>
          </a:ln>
        </p:spPr>
      </p:pic>
      <p:sp>
        <p:nvSpPr>
          <p:cNvPr id="9" name="Shape 127"/>
          <p:cNvSpPr/>
          <p:nvPr/>
        </p:nvSpPr>
        <p:spPr>
          <a:xfrm flipV="1">
            <a:off x="952499" y="2203340"/>
            <a:ext cx="34782670" cy="38132"/>
          </a:xfrm>
          <a:prstGeom prst="line">
            <a:avLst/>
          </a:prstGeom>
          <a:ln w="152400">
            <a:solidFill>
              <a:schemeClr val="accent1">
                <a:satOff val="-3355"/>
                <a:lumOff val="26614"/>
              </a:schemeClr>
            </a:solidFill>
            <a:miter lim="400000"/>
          </a:ln>
        </p:spPr>
        <p:txBody>
          <a:bodyPr lIns="76200" tIns="76200" rIns="76200" bIns="76200" anchor="ctr"/>
          <a:lstStyle/>
          <a:p>
            <a:pPr>
              <a:defRPr sz="3200"/>
            </a:pPr>
            <a:endParaRPr sz="4800"/>
          </a:p>
        </p:txBody>
      </p:sp>
      <p:sp>
        <p:nvSpPr>
          <p:cNvPr id="10" name="Shape 131"/>
          <p:cNvSpPr/>
          <p:nvPr/>
        </p:nvSpPr>
        <p:spPr>
          <a:xfrm>
            <a:off x="952500" y="18489726"/>
            <a:ext cx="16008688" cy="1308050"/>
          </a:xfrm>
          <a:prstGeom prst="rect">
            <a:avLst/>
          </a:prstGeom>
          <a:ln w="12700">
            <a:miter lim="400000"/>
          </a:ln>
          <a:extLst>
            <a:ext uri="{C572A759-6A51-4108-AA02-DFA0A04FC94B}">
              <ma14:wrappingTextBoxFlag xmlns:ma14="http://schemas.microsoft.com/office/mac/drawingml/2011/main" xmlns="" val="1"/>
            </a:ext>
          </a:extLst>
        </p:spPr>
        <p:txBody>
          <a:bodyPr lIns="76200" tIns="76200" rIns="76200" bIns="76200">
            <a:spAutoFit/>
          </a:bodyPr>
          <a:lstStyle/>
          <a:p>
            <a:pPr algn="l">
              <a:defRPr sz="2000">
                <a:latin typeface="Alright Sans"/>
                <a:ea typeface="Alright Sans"/>
                <a:cs typeface="Alright Sans"/>
                <a:sym typeface="Alright Sans"/>
              </a:defRPr>
            </a:pPr>
            <a:r>
              <a:rPr lang="en-US" sz="3000" dirty="0">
                <a:latin typeface="Open Sans" panose="020B0606030504020204" pitchFamily="34" charset="0"/>
                <a:ea typeface="Open Sans" panose="020B0606030504020204" pitchFamily="34" charset="0"/>
                <a:cs typeface="Open Sans" panose="020B0606030504020204" pitchFamily="34" charset="0"/>
              </a:rPr>
              <a:t>COMPLETE JAVA MASTERCLASS</a:t>
            </a:r>
          </a:p>
          <a:p>
            <a:pPr algn="l">
              <a:defRPr sz="3000">
                <a:latin typeface="Alright Sans"/>
                <a:ea typeface="Alright Sans"/>
                <a:cs typeface="Alright Sans"/>
                <a:sym typeface="Alright Sans"/>
              </a:defRPr>
            </a:pPr>
            <a:r>
              <a:rPr lang="en-US" sz="4500" dirty="0">
                <a:latin typeface="Open Sans" panose="020B0606030504020204" pitchFamily="34" charset="0"/>
                <a:ea typeface="Open Sans" panose="020B0606030504020204" pitchFamily="34" charset="0"/>
                <a:cs typeface="Open Sans" panose="020B0606030504020204" pitchFamily="34" charset="0"/>
              </a:rPr>
              <a:t>Java's Functional Interfaces, Function &amp; Supplier</a:t>
            </a:r>
          </a:p>
        </p:txBody>
      </p:sp>
      <p:sp>
        <p:nvSpPr>
          <p:cNvPr id="8" name="Rectangle 7">
            <a:extLst>
              <a:ext uri="{FF2B5EF4-FFF2-40B4-BE49-F238E27FC236}">
                <a16:creationId xmlns:a16="http://schemas.microsoft.com/office/drawing/2014/main" id="{89DBB243-EF27-4345-872D-E76597E95619}"/>
              </a:ext>
            </a:extLst>
          </p:cNvPr>
          <p:cNvSpPr/>
          <p:nvPr/>
        </p:nvSpPr>
        <p:spPr>
          <a:xfrm>
            <a:off x="952501" y="2799186"/>
            <a:ext cx="34782670" cy="15093988"/>
          </a:xfrm>
          <a:prstGeom prst="rect">
            <a:avLst/>
          </a:prstGeom>
        </p:spPr>
        <p:txBody>
          <a:bodyPr wrap="square">
            <a:normAutofit/>
          </a:bodyPr>
          <a:lstStyle/>
          <a:p>
            <a:pPr algn="l">
              <a:spcAft>
                <a:spcPts val="5022"/>
              </a:spcAft>
            </a:pPr>
            <a:r>
              <a:rPr lang="en-US" sz="6400" dirty="0">
                <a:latin typeface="Open Sans" panose="020B0606030504020204" pitchFamily="34" charset="0"/>
                <a:ea typeface="Open Sans" panose="020B0606030504020204" pitchFamily="34" charset="0"/>
                <a:cs typeface="Open Sans" panose="020B0606030504020204" pitchFamily="34" charset="0"/>
              </a:rPr>
              <a:t>The </a:t>
            </a:r>
            <a:r>
              <a:rPr lang="en-US" sz="6400" dirty="0" err="1">
                <a:latin typeface="Open Sans" panose="020B0606030504020204" pitchFamily="34" charset="0"/>
                <a:ea typeface="Open Sans" panose="020B0606030504020204" pitchFamily="34" charset="0"/>
                <a:cs typeface="Open Sans" panose="020B0606030504020204" pitchFamily="34" charset="0"/>
              </a:rPr>
              <a:t>BinaryOperator</a:t>
            </a:r>
            <a:r>
              <a:rPr lang="en-US" sz="6400" dirty="0">
                <a:latin typeface="Open Sans" panose="020B0606030504020204" pitchFamily="34" charset="0"/>
                <a:ea typeface="Open Sans" panose="020B0606030504020204" pitchFamily="34" charset="0"/>
                <a:cs typeface="Open Sans" panose="020B0606030504020204" pitchFamily="34" charset="0"/>
              </a:rPr>
              <a:t> is a </a:t>
            </a:r>
            <a:r>
              <a:rPr lang="en-US" sz="6400" dirty="0" err="1">
                <a:latin typeface="Open Sans" panose="020B0606030504020204" pitchFamily="34" charset="0"/>
                <a:ea typeface="Open Sans" panose="020B0606030504020204" pitchFamily="34" charset="0"/>
                <a:cs typeface="Open Sans" panose="020B0606030504020204" pitchFamily="34" charset="0"/>
              </a:rPr>
              <a:t>BiFunction</a:t>
            </a:r>
            <a:r>
              <a:rPr lang="en-US" sz="6400" dirty="0">
                <a:latin typeface="Open Sans" panose="020B0606030504020204" pitchFamily="34" charset="0"/>
                <a:ea typeface="Open Sans" panose="020B0606030504020204" pitchFamily="34" charset="0"/>
                <a:cs typeface="Open Sans" panose="020B0606030504020204" pitchFamily="34" charset="0"/>
              </a:rPr>
              <a:t> interface, where both arguments have the same type, as does the result, which is why the result is shown as T, and not R.</a:t>
            </a:r>
          </a:p>
          <a:p>
            <a:pPr algn="l">
              <a:spcAft>
                <a:spcPts val="5022"/>
              </a:spcAft>
            </a:pPr>
            <a:r>
              <a:rPr lang="en-US" sz="6400" dirty="0">
                <a:latin typeface="Open Sans" panose="020B0606030504020204" pitchFamily="34" charset="0"/>
                <a:ea typeface="Open Sans" panose="020B0606030504020204" pitchFamily="34" charset="0"/>
                <a:cs typeface="Open Sans" panose="020B0606030504020204" pitchFamily="34" charset="0"/>
              </a:rPr>
              <a:t>This reminds us that the result will be the same type as the arguments to the methods.</a:t>
            </a:r>
          </a:p>
          <a:p>
            <a:pPr algn="l">
              <a:spcAft>
                <a:spcPts val="5022"/>
              </a:spcAft>
            </a:pPr>
            <a:r>
              <a:rPr lang="en-US" sz="6400" dirty="0">
                <a:latin typeface="Open Sans" panose="020B0606030504020204" pitchFamily="34" charset="0"/>
                <a:ea typeface="Open Sans" panose="020B0606030504020204" pitchFamily="34" charset="0"/>
                <a:cs typeface="Open Sans" panose="020B0606030504020204" pitchFamily="34" charset="0"/>
              </a:rPr>
              <a:t>I've also included the type parameters with each interface name on this slide, because I wanted you to see that the result for a Function or </a:t>
            </a:r>
            <a:r>
              <a:rPr lang="en-US" sz="6400" dirty="0" err="1">
                <a:latin typeface="Open Sans" panose="020B0606030504020204" pitchFamily="34" charset="0"/>
                <a:ea typeface="Open Sans" panose="020B0606030504020204" pitchFamily="34" charset="0"/>
                <a:cs typeface="Open Sans" panose="020B0606030504020204" pitchFamily="34" charset="0"/>
              </a:rPr>
              <a:t>BiFunction</a:t>
            </a:r>
            <a:r>
              <a:rPr lang="en-US" sz="6400" dirty="0">
                <a:latin typeface="Open Sans" panose="020B0606030504020204" pitchFamily="34" charset="0"/>
                <a:ea typeface="Open Sans" panose="020B0606030504020204" pitchFamily="34" charset="0"/>
                <a:cs typeface="Open Sans" panose="020B0606030504020204" pitchFamily="34" charset="0"/>
              </a:rPr>
              <a:t>, is declared as the last type argument.</a:t>
            </a:r>
          </a:p>
          <a:p>
            <a:pPr algn="l">
              <a:spcAft>
                <a:spcPts val="5022"/>
              </a:spcAft>
            </a:pPr>
            <a:r>
              <a:rPr lang="en-US" sz="6400" dirty="0">
                <a:latin typeface="Open Sans" panose="020B0606030504020204" pitchFamily="34" charset="0"/>
                <a:ea typeface="Open Sans" panose="020B0606030504020204" pitchFamily="34" charset="0"/>
                <a:cs typeface="Open Sans" panose="020B0606030504020204" pitchFamily="34" charset="0"/>
              </a:rPr>
              <a:t>For </a:t>
            </a:r>
            <a:r>
              <a:rPr lang="en-US" sz="6400" dirty="0" err="1">
                <a:latin typeface="Open Sans" panose="020B0606030504020204" pitchFamily="34" charset="0"/>
                <a:ea typeface="Open Sans" panose="020B0606030504020204" pitchFamily="34" charset="0"/>
                <a:cs typeface="Open Sans" panose="020B0606030504020204" pitchFamily="34" charset="0"/>
              </a:rPr>
              <a:t>UnaryOperator</a:t>
            </a:r>
            <a:r>
              <a:rPr lang="en-US" sz="6400" dirty="0">
                <a:latin typeface="Open Sans" panose="020B0606030504020204" pitchFamily="34" charset="0"/>
                <a:ea typeface="Open Sans" panose="020B0606030504020204" pitchFamily="34" charset="0"/>
                <a:cs typeface="Open Sans" panose="020B0606030504020204" pitchFamily="34" charset="0"/>
              </a:rPr>
              <a:t> and </a:t>
            </a:r>
            <a:r>
              <a:rPr lang="en-US" sz="6400" dirty="0" err="1">
                <a:latin typeface="Open Sans" panose="020B0606030504020204" pitchFamily="34" charset="0"/>
                <a:ea typeface="Open Sans" panose="020B0606030504020204" pitchFamily="34" charset="0"/>
                <a:cs typeface="Open Sans" panose="020B0606030504020204" pitchFamily="34" charset="0"/>
              </a:rPr>
              <a:t>BinaryOperator</a:t>
            </a:r>
            <a:r>
              <a:rPr lang="en-US" sz="6400" dirty="0">
                <a:latin typeface="Open Sans" panose="020B0606030504020204" pitchFamily="34" charset="0"/>
                <a:ea typeface="Open Sans" panose="020B0606030504020204" pitchFamily="34" charset="0"/>
                <a:cs typeface="Open Sans" panose="020B0606030504020204" pitchFamily="34" charset="0"/>
              </a:rPr>
              <a:t>, there is only one type argument declared, because the types of the arguments and results, will be the same.</a:t>
            </a:r>
          </a:p>
        </p:txBody>
      </p:sp>
      <p:graphicFrame>
        <p:nvGraphicFramePr>
          <p:cNvPr id="2" name="Table 1">
            <a:extLst>
              <a:ext uri="{FF2B5EF4-FFF2-40B4-BE49-F238E27FC236}">
                <a16:creationId xmlns:a16="http://schemas.microsoft.com/office/drawing/2014/main" id="{9F7355EB-E97F-EB5F-E46A-4725C47F372E}"/>
              </a:ext>
            </a:extLst>
          </p:cNvPr>
          <p:cNvGraphicFramePr>
            <a:graphicFrameLocks noGrp="1"/>
          </p:cNvGraphicFramePr>
          <p:nvPr/>
        </p:nvGraphicFramePr>
        <p:xfrm>
          <a:off x="952497" y="13152662"/>
          <a:ext cx="34782668" cy="4024993"/>
        </p:xfrm>
        <a:graphic>
          <a:graphicData uri="http://schemas.openxmlformats.org/drawingml/2006/table">
            <a:tbl>
              <a:tblPr firstRow="1" bandRow="1">
                <a:tableStyleId>{5C22544A-7EE6-4342-B048-85BDC9FD1C3A}</a:tableStyleId>
              </a:tblPr>
              <a:tblGrid>
                <a:gridCol w="8396776">
                  <a:extLst>
                    <a:ext uri="{9D8B030D-6E8A-4147-A177-3AD203B41FA5}">
                      <a16:colId xmlns:a16="http://schemas.microsoft.com/office/drawing/2014/main" val="2844207666"/>
                    </a:ext>
                  </a:extLst>
                </a:gridCol>
                <a:gridCol w="8434874">
                  <a:extLst>
                    <a:ext uri="{9D8B030D-6E8A-4147-A177-3AD203B41FA5}">
                      <a16:colId xmlns:a16="http://schemas.microsoft.com/office/drawing/2014/main" val="1891655341"/>
                    </a:ext>
                  </a:extLst>
                </a:gridCol>
                <a:gridCol w="8453535">
                  <a:extLst>
                    <a:ext uri="{9D8B030D-6E8A-4147-A177-3AD203B41FA5}">
                      <a16:colId xmlns:a16="http://schemas.microsoft.com/office/drawing/2014/main" val="2017387083"/>
                    </a:ext>
                  </a:extLst>
                </a:gridCol>
                <a:gridCol w="9497483">
                  <a:extLst>
                    <a:ext uri="{9D8B030D-6E8A-4147-A177-3AD203B41FA5}">
                      <a16:colId xmlns:a16="http://schemas.microsoft.com/office/drawing/2014/main" val="1020653276"/>
                    </a:ext>
                  </a:extLst>
                </a:gridCol>
              </a:tblGrid>
              <a:tr h="1188487">
                <a:tc>
                  <a:txBody>
                    <a:bodyPr/>
                    <a:lstStyle/>
                    <a:p>
                      <a:pPr marL="180000" algn="l"/>
                      <a:r>
                        <a:rPr lang="en-US" sz="5400" dirty="0">
                          <a:solidFill>
                            <a:schemeClr val="tx1"/>
                          </a:solidFill>
                          <a:latin typeface="Open Sans" panose="020B0606030504020204" pitchFamily="34" charset="0"/>
                          <a:ea typeface="Open Sans" panose="020B0606030504020204" pitchFamily="34" charset="0"/>
                          <a:cs typeface="Open Sans" panose="020B0606030504020204" pitchFamily="34" charset="0"/>
                        </a:rPr>
                        <a:t>Interface Name</a:t>
                      </a:r>
                      <a:endParaRPr lang="en-PH" sz="5400" dirty="0">
                        <a:solidFill>
                          <a:schemeClr val="tx1"/>
                        </a:solidFill>
                        <a:latin typeface="Open Sans" panose="020B0606030504020204" pitchFamily="34" charset="0"/>
                        <a:ea typeface="Open Sans" panose="020B0606030504020204" pitchFamily="34" charset="0"/>
                        <a:cs typeface="Open Sans" panose="020B0606030504020204" pitchFamily="34" charset="0"/>
                      </a:endParaRPr>
                    </a:p>
                  </a:txBody>
                  <a:tcPr marL="86794" marR="86794" marT="43397" marB="43397">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BE4D5"/>
                    </a:solidFill>
                  </a:tcPr>
                </a:tc>
                <a:tc>
                  <a:txBody>
                    <a:bodyPr/>
                    <a:lstStyle/>
                    <a:p>
                      <a:pPr marL="180000" algn="l"/>
                      <a:r>
                        <a:rPr lang="en-US" sz="5400" dirty="0">
                          <a:solidFill>
                            <a:schemeClr val="tx1"/>
                          </a:solidFill>
                          <a:latin typeface="Open Sans" panose="020B0606030504020204" pitchFamily="34" charset="0"/>
                          <a:ea typeface="Open Sans" panose="020B0606030504020204" pitchFamily="34" charset="0"/>
                          <a:cs typeface="Open Sans" panose="020B0606030504020204" pitchFamily="34" charset="0"/>
                        </a:rPr>
                        <a:t>Method Signature</a:t>
                      </a:r>
                      <a:endParaRPr lang="en-PH" sz="5400" dirty="0">
                        <a:solidFill>
                          <a:schemeClr val="tx1"/>
                        </a:solidFill>
                        <a:latin typeface="Open Sans" panose="020B0606030504020204" pitchFamily="34" charset="0"/>
                        <a:ea typeface="Open Sans" panose="020B0606030504020204" pitchFamily="34" charset="0"/>
                        <a:cs typeface="Open Sans" panose="020B0606030504020204" pitchFamily="34" charset="0"/>
                      </a:endParaRPr>
                    </a:p>
                  </a:txBody>
                  <a:tcPr marL="86794" marR="86794" marT="43397" marB="43397">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BE4D5"/>
                    </a:solidFill>
                  </a:tcPr>
                </a:tc>
                <a:tc>
                  <a:txBody>
                    <a:bodyPr/>
                    <a:lstStyle/>
                    <a:p>
                      <a:pPr marL="180000" algn="l"/>
                      <a:r>
                        <a:rPr lang="en-US" sz="5400" dirty="0">
                          <a:solidFill>
                            <a:schemeClr val="tx1"/>
                          </a:solidFill>
                          <a:latin typeface="Open Sans" panose="020B0606030504020204" pitchFamily="34" charset="0"/>
                          <a:ea typeface="Open Sans" panose="020B0606030504020204" pitchFamily="34" charset="0"/>
                          <a:cs typeface="Open Sans" panose="020B0606030504020204" pitchFamily="34" charset="0"/>
                        </a:rPr>
                        <a:t>Interface Name</a:t>
                      </a:r>
                      <a:endParaRPr lang="en-PH" sz="5400" dirty="0">
                        <a:solidFill>
                          <a:schemeClr val="tx1"/>
                        </a:solidFill>
                        <a:latin typeface="Open Sans" panose="020B0606030504020204" pitchFamily="34" charset="0"/>
                        <a:ea typeface="Open Sans" panose="020B0606030504020204" pitchFamily="34" charset="0"/>
                        <a:cs typeface="Open Sans" panose="020B0606030504020204" pitchFamily="34" charset="0"/>
                      </a:endParaRPr>
                    </a:p>
                  </a:txBody>
                  <a:tcPr marL="86794" marR="86794" marT="43397" marB="43397">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BE4D5"/>
                    </a:solidFill>
                  </a:tcPr>
                </a:tc>
                <a:tc>
                  <a:txBody>
                    <a:bodyPr/>
                    <a:lstStyle/>
                    <a:p>
                      <a:pPr marL="180000" algn="l"/>
                      <a:r>
                        <a:rPr lang="en-US" sz="5400" dirty="0">
                          <a:solidFill>
                            <a:schemeClr val="tx1"/>
                          </a:solidFill>
                          <a:latin typeface="Open Sans" panose="020B0606030504020204" pitchFamily="34" charset="0"/>
                          <a:ea typeface="Open Sans" panose="020B0606030504020204" pitchFamily="34" charset="0"/>
                          <a:cs typeface="Open Sans" panose="020B0606030504020204" pitchFamily="34" charset="0"/>
                        </a:rPr>
                        <a:t>Method Signature</a:t>
                      </a:r>
                      <a:endParaRPr lang="en-PH" sz="5400" dirty="0">
                        <a:solidFill>
                          <a:schemeClr val="tx1"/>
                        </a:solidFill>
                        <a:latin typeface="Open Sans" panose="020B0606030504020204" pitchFamily="34" charset="0"/>
                        <a:ea typeface="Open Sans" panose="020B0606030504020204" pitchFamily="34" charset="0"/>
                        <a:cs typeface="Open Sans" panose="020B0606030504020204" pitchFamily="34" charset="0"/>
                      </a:endParaRPr>
                    </a:p>
                  </a:txBody>
                  <a:tcPr marL="86794" marR="86794" marT="43397" marB="43397">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BE4D5"/>
                    </a:solidFill>
                  </a:tcPr>
                </a:tc>
                <a:extLst>
                  <a:ext uri="{0D108BD9-81ED-4DB2-BD59-A6C34878D82A}">
                    <a16:rowId xmlns:a16="http://schemas.microsoft.com/office/drawing/2014/main" val="3978129174"/>
                  </a:ext>
                </a:extLst>
              </a:tr>
              <a:tr h="1418253">
                <a:tc>
                  <a:txBody>
                    <a:bodyPr/>
                    <a:lstStyle/>
                    <a:p>
                      <a:pPr marL="180000" marR="0" lvl="0" indent="0" algn="l" defTabSz="914400" rtl="0" eaLnBrk="1" fontAlgn="auto" latinLnBrk="0" hangingPunct="1">
                        <a:lnSpc>
                          <a:spcPct val="100000"/>
                        </a:lnSpc>
                        <a:spcBef>
                          <a:spcPts val="0"/>
                        </a:spcBef>
                        <a:spcAft>
                          <a:spcPts val="1000"/>
                        </a:spcAft>
                        <a:buClr>
                          <a:srgbClr val="000000"/>
                        </a:buClr>
                        <a:buSzTx/>
                        <a:buFont typeface="Arial" panose="020B0604020202020204" pitchFamily="34" charset="0"/>
                        <a:buNone/>
                        <a:tabLst/>
                        <a:defRPr/>
                      </a:pPr>
                      <a:endParaRPr lang="en-US" sz="5400" b="0" dirty="0">
                        <a:solidFill>
                          <a:schemeClr val="tx1"/>
                        </a:solidFill>
                        <a:latin typeface="Open Sans" panose="020B0606030504020204" pitchFamily="34" charset="0"/>
                        <a:ea typeface="Open Sans" panose="020B0606030504020204" pitchFamily="34" charset="0"/>
                        <a:cs typeface="Open Sans" panose="020B0606030504020204" pitchFamily="34" charset="0"/>
                      </a:endParaRPr>
                    </a:p>
                  </a:txBody>
                  <a:tcPr marL="86794" marR="86794" marT="43397" marB="43397">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180000" marR="0" lvl="0" indent="0" algn="l" defTabSz="914400" rtl="0" eaLnBrk="1" fontAlgn="auto" latinLnBrk="0" hangingPunct="1">
                        <a:lnSpc>
                          <a:spcPct val="100000"/>
                        </a:lnSpc>
                        <a:spcBef>
                          <a:spcPts val="0"/>
                        </a:spcBef>
                        <a:spcAft>
                          <a:spcPts val="1000"/>
                        </a:spcAft>
                        <a:buClr>
                          <a:srgbClr val="000000"/>
                        </a:buClr>
                        <a:buSzTx/>
                        <a:buFont typeface="Arial" panose="020B0604020202020204" pitchFamily="34" charset="0"/>
                        <a:buNone/>
                        <a:tabLst/>
                        <a:defRPr/>
                      </a:pPr>
                      <a:endParaRPr lang="en-US" sz="5400" b="0" dirty="0">
                        <a:solidFill>
                          <a:schemeClr val="tx1"/>
                        </a:solidFill>
                        <a:latin typeface="Open Sans" panose="020B0606030504020204" pitchFamily="34" charset="0"/>
                        <a:ea typeface="Open Sans" panose="020B0606030504020204" pitchFamily="34" charset="0"/>
                        <a:cs typeface="Open Sans" panose="020B0606030504020204" pitchFamily="34" charset="0"/>
                      </a:endParaRPr>
                    </a:p>
                  </a:txBody>
                  <a:tcPr marL="86794" marR="86794" marT="43397" marB="43397">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180000" marR="0" lvl="0" indent="0" algn="l" defTabSz="914400" rtl="0" eaLnBrk="1" fontAlgn="auto" latinLnBrk="0" hangingPunct="1">
                        <a:lnSpc>
                          <a:spcPct val="100000"/>
                        </a:lnSpc>
                        <a:spcBef>
                          <a:spcPts val="0"/>
                        </a:spcBef>
                        <a:spcAft>
                          <a:spcPts val="1000"/>
                        </a:spcAft>
                        <a:buClr>
                          <a:srgbClr val="000000"/>
                        </a:buClr>
                        <a:buSzTx/>
                        <a:buFont typeface="Arial" panose="020B0604020202020204" pitchFamily="34" charset="0"/>
                        <a:buNone/>
                        <a:tabLst/>
                        <a:defRPr/>
                      </a:pPr>
                      <a:endParaRPr lang="en-US" sz="5400" b="0" dirty="0">
                        <a:solidFill>
                          <a:schemeClr val="tx1"/>
                        </a:solidFill>
                        <a:latin typeface="Open Sans" panose="020B0606030504020204" pitchFamily="34" charset="0"/>
                        <a:ea typeface="Open Sans" panose="020B0606030504020204" pitchFamily="34" charset="0"/>
                        <a:cs typeface="Open Sans" panose="020B0606030504020204" pitchFamily="34" charset="0"/>
                      </a:endParaRPr>
                    </a:p>
                  </a:txBody>
                  <a:tcPr marL="86794" marR="86794" marT="43397" marB="43397">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180000" marR="0" lvl="0" indent="0" algn="l" defTabSz="914400" rtl="0" eaLnBrk="1" fontAlgn="auto" latinLnBrk="0" hangingPunct="1">
                        <a:lnSpc>
                          <a:spcPct val="100000"/>
                        </a:lnSpc>
                        <a:spcBef>
                          <a:spcPts val="0"/>
                        </a:spcBef>
                        <a:spcAft>
                          <a:spcPts val="1000"/>
                        </a:spcAft>
                        <a:buClr>
                          <a:srgbClr val="000000"/>
                        </a:buClr>
                        <a:buSzTx/>
                        <a:buFont typeface="Arial" panose="020B0604020202020204" pitchFamily="34" charset="0"/>
                        <a:buNone/>
                        <a:tabLst/>
                        <a:defRPr/>
                      </a:pPr>
                      <a:endParaRPr lang="en-US" sz="5400" b="0" dirty="0">
                        <a:solidFill>
                          <a:schemeClr val="tx1"/>
                        </a:solidFill>
                        <a:latin typeface="Open Sans" panose="020B0606030504020204" pitchFamily="34" charset="0"/>
                        <a:ea typeface="Open Sans" panose="020B0606030504020204" pitchFamily="34" charset="0"/>
                        <a:cs typeface="Open Sans" panose="020B0606030504020204" pitchFamily="34" charset="0"/>
                      </a:endParaRPr>
                    </a:p>
                  </a:txBody>
                  <a:tcPr marL="86794" marR="86794" marT="43397" marB="43397">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640325450"/>
                  </a:ext>
                </a:extLst>
              </a:tr>
              <a:tr h="1418253">
                <a:tc>
                  <a:txBody>
                    <a:bodyPr/>
                    <a:lstStyle/>
                    <a:p>
                      <a:pPr marL="180000" marR="0" lvl="0" indent="0" algn="l" defTabSz="914400" rtl="0" eaLnBrk="1" fontAlgn="auto" latinLnBrk="0" hangingPunct="1">
                        <a:lnSpc>
                          <a:spcPct val="100000"/>
                        </a:lnSpc>
                        <a:spcBef>
                          <a:spcPts val="0"/>
                        </a:spcBef>
                        <a:spcAft>
                          <a:spcPts val="1000"/>
                        </a:spcAft>
                        <a:buClr>
                          <a:srgbClr val="000000"/>
                        </a:buClr>
                        <a:buSzTx/>
                        <a:buFont typeface="Arial" panose="020B0604020202020204" pitchFamily="34" charset="0"/>
                        <a:buNone/>
                        <a:tabLst/>
                        <a:defRPr/>
                      </a:pPr>
                      <a:endParaRPr lang="en-US" sz="5400" b="0" dirty="0">
                        <a:solidFill>
                          <a:schemeClr val="tx1"/>
                        </a:solidFill>
                        <a:latin typeface="Open Sans" panose="020B0606030504020204" pitchFamily="34" charset="0"/>
                        <a:ea typeface="Open Sans" panose="020B0606030504020204" pitchFamily="34" charset="0"/>
                        <a:cs typeface="Open Sans" panose="020B0606030504020204" pitchFamily="34" charset="0"/>
                      </a:endParaRPr>
                    </a:p>
                  </a:txBody>
                  <a:tcPr marL="86794" marR="86794" marT="43397" marB="43397">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180000" marR="0" lvl="0" indent="0" algn="l" defTabSz="914400" rtl="0" eaLnBrk="1" fontAlgn="auto" latinLnBrk="0" hangingPunct="1">
                        <a:lnSpc>
                          <a:spcPct val="100000"/>
                        </a:lnSpc>
                        <a:spcBef>
                          <a:spcPts val="0"/>
                        </a:spcBef>
                        <a:spcAft>
                          <a:spcPts val="1000"/>
                        </a:spcAft>
                        <a:buClr>
                          <a:srgbClr val="000000"/>
                        </a:buClr>
                        <a:buSzTx/>
                        <a:buFont typeface="Arial" panose="020B0604020202020204" pitchFamily="34" charset="0"/>
                        <a:buNone/>
                        <a:tabLst/>
                        <a:defRPr/>
                      </a:pPr>
                      <a:endParaRPr lang="en-US" sz="5400" b="0" dirty="0">
                        <a:solidFill>
                          <a:schemeClr val="tx1"/>
                        </a:solidFill>
                        <a:latin typeface="Open Sans" panose="020B0606030504020204" pitchFamily="34" charset="0"/>
                        <a:ea typeface="Open Sans" panose="020B0606030504020204" pitchFamily="34" charset="0"/>
                        <a:cs typeface="Open Sans" panose="020B0606030504020204" pitchFamily="34" charset="0"/>
                      </a:endParaRPr>
                    </a:p>
                  </a:txBody>
                  <a:tcPr marL="86794" marR="86794" marT="43397" marB="43397">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180000" marR="0" lvl="0" indent="0" algn="l" defTabSz="914400" rtl="0" eaLnBrk="1" fontAlgn="auto" latinLnBrk="0" hangingPunct="1">
                        <a:lnSpc>
                          <a:spcPct val="100000"/>
                        </a:lnSpc>
                        <a:spcBef>
                          <a:spcPts val="0"/>
                        </a:spcBef>
                        <a:spcAft>
                          <a:spcPts val="1000"/>
                        </a:spcAft>
                        <a:buClr>
                          <a:srgbClr val="000000"/>
                        </a:buClr>
                        <a:buSzTx/>
                        <a:buFont typeface="Arial" panose="020B0604020202020204" pitchFamily="34" charset="0"/>
                        <a:buNone/>
                        <a:tabLst/>
                        <a:defRPr/>
                      </a:pPr>
                      <a:endParaRPr lang="en-US" sz="5400" b="0" dirty="0">
                        <a:solidFill>
                          <a:schemeClr val="tx1"/>
                        </a:solidFill>
                        <a:latin typeface="Open Sans" panose="020B0606030504020204" pitchFamily="34" charset="0"/>
                        <a:ea typeface="Open Sans" panose="020B0606030504020204" pitchFamily="34" charset="0"/>
                        <a:cs typeface="Open Sans" panose="020B0606030504020204" pitchFamily="34" charset="0"/>
                      </a:endParaRPr>
                    </a:p>
                  </a:txBody>
                  <a:tcPr marL="86794" marR="86794" marT="43397" marB="43397">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180000" marR="0" lvl="0" indent="0" algn="l" defTabSz="914400" rtl="0" eaLnBrk="1" fontAlgn="auto" latinLnBrk="0" hangingPunct="1">
                        <a:lnSpc>
                          <a:spcPct val="100000"/>
                        </a:lnSpc>
                        <a:spcBef>
                          <a:spcPts val="0"/>
                        </a:spcBef>
                        <a:spcAft>
                          <a:spcPts val="1000"/>
                        </a:spcAft>
                        <a:buClr>
                          <a:srgbClr val="000000"/>
                        </a:buClr>
                        <a:buSzTx/>
                        <a:buFont typeface="Arial" panose="020B0604020202020204" pitchFamily="34" charset="0"/>
                        <a:buNone/>
                        <a:tabLst/>
                        <a:defRPr/>
                      </a:pPr>
                      <a:endParaRPr lang="en-US" sz="5400" b="0" dirty="0">
                        <a:solidFill>
                          <a:schemeClr val="tx1"/>
                        </a:solidFill>
                        <a:latin typeface="Open Sans" panose="020B0606030504020204" pitchFamily="34" charset="0"/>
                        <a:ea typeface="Open Sans" panose="020B0606030504020204" pitchFamily="34" charset="0"/>
                        <a:cs typeface="Open Sans" panose="020B0606030504020204" pitchFamily="34" charset="0"/>
                      </a:endParaRPr>
                    </a:p>
                  </a:txBody>
                  <a:tcPr marL="86794" marR="86794" marT="43397" marB="43397">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521613951"/>
                  </a:ext>
                </a:extLst>
              </a:tr>
            </a:tbl>
          </a:graphicData>
        </a:graphic>
      </p:graphicFrame>
      <p:pic>
        <p:nvPicPr>
          <p:cNvPr id="3" name="Picture 2">
            <a:extLst>
              <a:ext uri="{FF2B5EF4-FFF2-40B4-BE49-F238E27FC236}">
                <a16:creationId xmlns:a16="http://schemas.microsoft.com/office/drawing/2014/main" id="{1DF6E9CA-240C-3453-4AB3-4EF0DE4B93D5}"/>
              </a:ext>
            </a:extLst>
          </p:cNvPr>
          <p:cNvPicPr>
            <a:picLocks noChangeAspect="1"/>
          </p:cNvPicPr>
          <p:nvPr/>
        </p:nvPicPr>
        <p:blipFill>
          <a:blip r:embed="rId4"/>
          <a:stretch>
            <a:fillRect/>
          </a:stretch>
        </p:blipFill>
        <p:spPr>
          <a:xfrm>
            <a:off x="1027243" y="14626946"/>
            <a:ext cx="6266666" cy="838096"/>
          </a:xfrm>
          <a:prstGeom prst="rect">
            <a:avLst/>
          </a:prstGeom>
        </p:spPr>
      </p:pic>
      <p:pic>
        <p:nvPicPr>
          <p:cNvPr id="4" name="Picture 3">
            <a:extLst>
              <a:ext uri="{FF2B5EF4-FFF2-40B4-BE49-F238E27FC236}">
                <a16:creationId xmlns:a16="http://schemas.microsoft.com/office/drawing/2014/main" id="{904B5F58-C7BF-491B-2787-88473F7F42DF}"/>
              </a:ext>
            </a:extLst>
          </p:cNvPr>
          <p:cNvPicPr>
            <a:picLocks noChangeAspect="1"/>
          </p:cNvPicPr>
          <p:nvPr/>
        </p:nvPicPr>
        <p:blipFill>
          <a:blip r:embed="rId5"/>
          <a:stretch>
            <a:fillRect/>
          </a:stretch>
        </p:blipFill>
        <p:spPr>
          <a:xfrm>
            <a:off x="1027243" y="16006379"/>
            <a:ext cx="8133334" cy="914286"/>
          </a:xfrm>
          <a:prstGeom prst="rect">
            <a:avLst/>
          </a:prstGeom>
        </p:spPr>
      </p:pic>
      <p:pic>
        <p:nvPicPr>
          <p:cNvPr id="5" name="Picture 4">
            <a:extLst>
              <a:ext uri="{FF2B5EF4-FFF2-40B4-BE49-F238E27FC236}">
                <a16:creationId xmlns:a16="http://schemas.microsoft.com/office/drawing/2014/main" id="{241D727F-0434-3CB7-EF39-C555C10D0BF0}"/>
              </a:ext>
            </a:extLst>
          </p:cNvPr>
          <p:cNvPicPr>
            <a:picLocks noChangeAspect="1"/>
          </p:cNvPicPr>
          <p:nvPr/>
        </p:nvPicPr>
        <p:blipFill>
          <a:blip r:embed="rId6"/>
          <a:stretch>
            <a:fillRect/>
          </a:stretch>
        </p:blipFill>
        <p:spPr>
          <a:xfrm>
            <a:off x="9503913" y="14474566"/>
            <a:ext cx="5733334" cy="990476"/>
          </a:xfrm>
          <a:prstGeom prst="rect">
            <a:avLst/>
          </a:prstGeom>
        </p:spPr>
      </p:pic>
      <p:pic>
        <p:nvPicPr>
          <p:cNvPr id="6" name="Picture 5">
            <a:extLst>
              <a:ext uri="{FF2B5EF4-FFF2-40B4-BE49-F238E27FC236}">
                <a16:creationId xmlns:a16="http://schemas.microsoft.com/office/drawing/2014/main" id="{4021D5D6-D7DF-E728-6EC9-BFFC7024917E}"/>
              </a:ext>
            </a:extLst>
          </p:cNvPr>
          <p:cNvPicPr>
            <a:picLocks noChangeAspect="1"/>
          </p:cNvPicPr>
          <p:nvPr/>
        </p:nvPicPr>
        <p:blipFill>
          <a:blip r:embed="rId7"/>
          <a:stretch>
            <a:fillRect/>
          </a:stretch>
        </p:blipFill>
        <p:spPr>
          <a:xfrm>
            <a:off x="9503913" y="16006379"/>
            <a:ext cx="8095238" cy="952380"/>
          </a:xfrm>
          <a:prstGeom prst="rect">
            <a:avLst/>
          </a:prstGeom>
        </p:spPr>
      </p:pic>
      <p:pic>
        <p:nvPicPr>
          <p:cNvPr id="7" name="Picture 6">
            <a:extLst>
              <a:ext uri="{FF2B5EF4-FFF2-40B4-BE49-F238E27FC236}">
                <a16:creationId xmlns:a16="http://schemas.microsoft.com/office/drawing/2014/main" id="{889D3925-2B16-519C-1F78-897905A0A3E7}"/>
              </a:ext>
            </a:extLst>
          </p:cNvPr>
          <p:cNvPicPr>
            <a:picLocks noChangeAspect="1"/>
          </p:cNvPicPr>
          <p:nvPr/>
        </p:nvPicPr>
        <p:blipFill>
          <a:blip r:embed="rId8"/>
          <a:stretch>
            <a:fillRect/>
          </a:stretch>
        </p:blipFill>
        <p:spPr>
          <a:xfrm>
            <a:off x="17942200" y="14603208"/>
            <a:ext cx="7657142" cy="857142"/>
          </a:xfrm>
          <a:prstGeom prst="rect">
            <a:avLst/>
          </a:prstGeom>
        </p:spPr>
      </p:pic>
      <p:pic>
        <p:nvPicPr>
          <p:cNvPr id="11" name="Picture 10">
            <a:extLst>
              <a:ext uri="{FF2B5EF4-FFF2-40B4-BE49-F238E27FC236}">
                <a16:creationId xmlns:a16="http://schemas.microsoft.com/office/drawing/2014/main" id="{78D260D4-8A33-51DF-C769-0CF66582DB58}"/>
              </a:ext>
            </a:extLst>
          </p:cNvPr>
          <p:cNvPicPr>
            <a:picLocks noChangeAspect="1"/>
          </p:cNvPicPr>
          <p:nvPr/>
        </p:nvPicPr>
        <p:blipFill>
          <a:blip r:embed="rId9"/>
          <a:stretch>
            <a:fillRect/>
          </a:stretch>
        </p:blipFill>
        <p:spPr>
          <a:xfrm>
            <a:off x="17942200" y="16030332"/>
            <a:ext cx="8152380" cy="914286"/>
          </a:xfrm>
          <a:prstGeom prst="rect">
            <a:avLst/>
          </a:prstGeom>
        </p:spPr>
      </p:pic>
      <p:pic>
        <p:nvPicPr>
          <p:cNvPr id="12" name="Picture 11">
            <a:extLst>
              <a:ext uri="{FF2B5EF4-FFF2-40B4-BE49-F238E27FC236}">
                <a16:creationId xmlns:a16="http://schemas.microsoft.com/office/drawing/2014/main" id="{AF503043-7305-21C5-F127-EF64ACDFA678}"/>
              </a:ext>
            </a:extLst>
          </p:cNvPr>
          <p:cNvPicPr>
            <a:picLocks noChangeAspect="1"/>
          </p:cNvPicPr>
          <p:nvPr/>
        </p:nvPicPr>
        <p:blipFill>
          <a:blip r:embed="rId10"/>
          <a:stretch>
            <a:fillRect/>
          </a:stretch>
        </p:blipFill>
        <p:spPr>
          <a:xfrm>
            <a:off x="26464151" y="14527016"/>
            <a:ext cx="5771428" cy="933334"/>
          </a:xfrm>
          <a:prstGeom prst="rect">
            <a:avLst/>
          </a:prstGeom>
        </p:spPr>
      </p:pic>
      <p:pic>
        <p:nvPicPr>
          <p:cNvPr id="13" name="Picture 12">
            <a:extLst>
              <a:ext uri="{FF2B5EF4-FFF2-40B4-BE49-F238E27FC236}">
                <a16:creationId xmlns:a16="http://schemas.microsoft.com/office/drawing/2014/main" id="{E1871F86-13E3-B53B-3F6E-24AD91F1124A}"/>
              </a:ext>
            </a:extLst>
          </p:cNvPr>
          <p:cNvPicPr>
            <a:picLocks noChangeAspect="1"/>
          </p:cNvPicPr>
          <p:nvPr/>
        </p:nvPicPr>
        <p:blipFill>
          <a:blip r:embed="rId11"/>
          <a:stretch>
            <a:fillRect/>
          </a:stretch>
        </p:blipFill>
        <p:spPr>
          <a:xfrm>
            <a:off x="26437629" y="15997907"/>
            <a:ext cx="9028572" cy="895238"/>
          </a:xfrm>
          <a:prstGeom prst="rect">
            <a:avLst/>
          </a:prstGeom>
        </p:spPr>
      </p:pic>
    </p:spTree>
    <p:extLst>
      <p:ext uri="{BB962C8B-B14F-4D97-AF65-F5344CB8AC3E}">
        <p14:creationId xmlns:p14="http://schemas.microsoft.com/office/powerpoint/2010/main" val="3197454218"/>
      </p:ext>
    </p:extLst>
  </p:cSld>
  <p:clrMapOvr>
    <a:masterClrMapping/>
  </p:clrMapOvr>
  <p:transition spd="slow"/>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 name="Shape 126"/>
          <p:cNvSpPr/>
          <p:nvPr/>
        </p:nvSpPr>
        <p:spPr>
          <a:xfrm>
            <a:off x="952498" y="459786"/>
            <a:ext cx="31995938" cy="1815882"/>
          </a:xfrm>
          <a:prstGeom prst="rect">
            <a:avLst/>
          </a:prstGeom>
          <a:ln w="12700">
            <a:miter lim="400000"/>
          </a:ln>
          <a:extLst>
            <a:ext uri="{C572A759-6A51-4108-AA02-DFA0A04FC94B}">
              <ma14:wrappingTextBoxFlag xmlns="" xmlns:ma14="http://schemas.microsoft.com/office/mac/drawingml/2011/main" val="1"/>
            </a:ext>
          </a:extLst>
        </p:spPr>
        <p:txBody>
          <a:bodyPr wrap="none" lIns="76200" tIns="76200" rIns="76200" bIns="76200">
            <a:spAutoFit/>
          </a:bodyPr>
          <a:lstStyle>
            <a:lvl1pPr algn="l">
              <a:defRPr sz="7000">
                <a:latin typeface="Alright Sans"/>
                <a:ea typeface="Alright Sans"/>
                <a:cs typeface="Alright Sans"/>
                <a:sym typeface="Alright Sans"/>
              </a:defRPr>
            </a:lvl1pPr>
          </a:lstStyle>
          <a:p>
            <a:pPr>
              <a:defRPr sz="3000">
                <a:latin typeface="Alright Sans"/>
                <a:ea typeface="Alright Sans"/>
                <a:cs typeface="Alright Sans"/>
                <a:sym typeface="Alright Sans"/>
              </a:defRPr>
            </a:pPr>
            <a:r>
              <a:rPr lang="en-US" sz="10800" dirty="0">
                <a:latin typeface="Open Sans" panose="020B0606030504020204" pitchFamily="34" charset="0"/>
                <a:ea typeface="Open Sans" panose="020B0606030504020204" pitchFamily="34" charset="0"/>
                <a:cs typeface="Open Sans" panose="020B0606030504020204" pitchFamily="34" charset="0"/>
              </a:rPr>
              <a:t>A Function Interface Lambda Expression Example</a:t>
            </a:r>
          </a:p>
        </p:txBody>
      </p:sp>
      <p:sp>
        <p:nvSpPr>
          <p:cNvPr id="128" name="Shape 128"/>
          <p:cNvSpPr/>
          <p:nvPr/>
        </p:nvSpPr>
        <p:spPr>
          <a:xfrm>
            <a:off x="952500" y="18210515"/>
            <a:ext cx="34782668" cy="2"/>
          </a:xfrm>
          <a:prstGeom prst="line">
            <a:avLst/>
          </a:prstGeom>
          <a:ln w="76200">
            <a:solidFill>
              <a:schemeClr val="accent1">
                <a:satOff val="-3355"/>
                <a:lumOff val="26614"/>
              </a:schemeClr>
            </a:solidFill>
            <a:miter lim="400000"/>
          </a:ln>
        </p:spPr>
        <p:txBody>
          <a:bodyPr lIns="76200" tIns="76200" rIns="76200" bIns="76200" anchor="ctr"/>
          <a:lstStyle/>
          <a:p>
            <a:pPr>
              <a:defRPr sz="3200"/>
            </a:pPr>
            <a:endParaRPr sz="4800"/>
          </a:p>
        </p:txBody>
      </p:sp>
      <p:pic>
        <p:nvPicPr>
          <p:cNvPr id="129" name="Logo.png"/>
          <p:cNvPicPr>
            <a:picLocks noChangeAspect="1"/>
          </p:cNvPicPr>
          <p:nvPr/>
        </p:nvPicPr>
        <p:blipFill>
          <a:blip r:embed="rId3"/>
          <a:stretch>
            <a:fillRect/>
          </a:stretch>
        </p:blipFill>
        <p:spPr>
          <a:xfrm>
            <a:off x="14650974" y="18489726"/>
            <a:ext cx="6321552" cy="1392336"/>
          </a:xfrm>
          <a:prstGeom prst="rect">
            <a:avLst/>
          </a:prstGeom>
          <a:ln w="12700">
            <a:miter lim="400000"/>
          </a:ln>
        </p:spPr>
      </p:pic>
      <p:sp>
        <p:nvSpPr>
          <p:cNvPr id="9" name="Shape 127"/>
          <p:cNvSpPr/>
          <p:nvPr/>
        </p:nvSpPr>
        <p:spPr>
          <a:xfrm flipV="1">
            <a:off x="952499" y="2203340"/>
            <a:ext cx="34782670" cy="38132"/>
          </a:xfrm>
          <a:prstGeom prst="line">
            <a:avLst/>
          </a:prstGeom>
          <a:ln w="152400">
            <a:solidFill>
              <a:schemeClr val="accent1">
                <a:satOff val="-3355"/>
                <a:lumOff val="26614"/>
              </a:schemeClr>
            </a:solidFill>
            <a:miter lim="400000"/>
          </a:ln>
        </p:spPr>
        <p:txBody>
          <a:bodyPr lIns="76200" tIns="76200" rIns="76200" bIns="76200" anchor="ctr"/>
          <a:lstStyle/>
          <a:p>
            <a:pPr>
              <a:defRPr sz="3200"/>
            </a:pPr>
            <a:endParaRPr sz="4800"/>
          </a:p>
        </p:txBody>
      </p:sp>
      <p:sp>
        <p:nvSpPr>
          <p:cNvPr id="10" name="Shape 131"/>
          <p:cNvSpPr/>
          <p:nvPr/>
        </p:nvSpPr>
        <p:spPr>
          <a:xfrm>
            <a:off x="952500" y="18489726"/>
            <a:ext cx="16008688" cy="1308050"/>
          </a:xfrm>
          <a:prstGeom prst="rect">
            <a:avLst/>
          </a:prstGeom>
          <a:ln w="12700">
            <a:miter lim="400000"/>
          </a:ln>
          <a:extLst>
            <a:ext uri="{C572A759-6A51-4108-AA02-DFA0A04FC94B}">
              <ma14:wrappingTextBoxFlag xmlns:ma14="http://schemas.microsoft.com/office/mac/drawingml/2011/main" xmlns="" val="1"/>
            </a:ext>
          </a:extLst>
        </p:spPr>
        <p:txBody>
          <a:bodyPr lIns="76200" tIns="76200" rIns="76200" bIns="76200">
            <a:spAutoFit/>
          </a:bodyPr>
          <a:lstStyle/>
          <a:p>
            <a:pPr algn="l">
              <a:defRPr sz="2000">
                <a:latin typeface="Alright Sans"/>
                <a:ea typeface="Alright Sans"/>
                <a:cs typeface="Alright Sans"/>
                <a:sym typeface="Alright Sans"/>
              </a:defRPr>
            </a:pPr>
            <a:r>
              <a:rPr lang="en-US" sz="3000" dirty="0">
                <a:latin typeface="Open Sans" panose="020B0606030504020204" pitchFamily="34" charset="0"/>
                <a:ea typeface="Open Sans" panose="020B0606030504020204" pitchFamily="34" charset="0"/>
                <a:cs typeface="Open Sans" panose="020B0606030504020204" pitchFamily="34" charset="0"/>
              </a:rPr>
              <a:t>COMPLETE JAVA MASTERCLASS</a:t>
            </a:r>
          </a:p>
          <a:p>
            <a:pPr algn="l">
              <a:defRPr sz="3000">
                <a:latin typeface="Alright Sans"/>
                <a:ea typeface="Alright Sans"/>
                <a:cs typeface="Alright Sans"/>
                <a:sym typeface="Alright Sans"/>
              </a:defRPr>
            </a:pPr>
            <a:r>
              <a:rPr lang="en-US" sz="4500" dirty="0">
                <a:latin typeface="Open Sans" panose="020B0606030504020204" pitchFamily="34" charset="0"/>
                <a:ea typeface="Open Sans" panose="020B0606030504020204" pitchFamily="34" charset="0"/>
                <a:cs typeface="Open Sans" panose="020B0606030504020204" pitchFamily="34" charset="0"/>
              </a:rPr>
              <a:t>Java's Functional Interfaces, Function &amp; Supplier</a:t>
            </a:r>
          </a:p>
        </p:txBody>
      </p:sp>
      <p:sp>
        <p:nvSpPr>
          <p:cNvPr id="8" name="Rectangle 7">
            <a:extLst>
              <a:ext uri="{FF2B5EF4-FFF2-40B4-BE49-F238E27FC236}">
                <a16:creationId xmlns:a16="http://schemas.microsoft.com/office/drawing/2014/main" id="{89DBB243-EF27-4345-872D-E76597E95619}"/>
              </a:ext>
            </a:extLst>
          </p:cNvPr>
          <p:cNvSpPr/>
          <p:nvPr/>
        </p:nvSpPr>
        <p:spPr>
          <a:xfrm>
            <a:off x="952501" y="4285904"/>
            <a:ext cx="34782670" cy="11880176"/>
          </a:xfrm>
          <a:prstGeom prst="rect">
            <a:avLst/>
          </a:prstGeom>
        </p:spPr>
        <p:txBody>
          <a:bodyPr wrap="square">
            <a:normAutofit/>
          </a:bodyPr>
          <a:lstStyle/>
          <a:p>
            <a:pPr algn="l">
              <a:spcAft>
                <a:spcPts val="5022"/>
              </a:spcAft>
            </a:pPr>
            <a:r>
              <a:rPr lang="en-US" sz="6400" dirty="0">
                <a:latin typeface="Open Sans" panose="020B0606030504020204" pitchFamily="34" charset="0"/>
                <a:ea typeface="Open Sans" panose="020B0606030504020204" pitchFamily="34" charset="0"/>
                <a:cs typeface="Open Sans" panose="020B0606030504020204" pitchFamily="34" charset="0"/>
              </a:rPr>
              <a:t>On this slide, I'm showing an example of a lambda expression which targets a Function interface.</a:t>
            </a:r>
          </a:p>
          <a:p>
            <a:pPr algn="l">
              <a:spcAft>
                <a:spcPts val="5022"/>
              </a:spcAft>
            </a:pPr>
            <a:r>
              <a:rPr lang="en-US" sz="6400" dirty="0">
                <a:latin typeface="Open Sans" panose="020B0606030504020204" pitchFamily="34" charset="0"/>
                <a:ea typeface="Open Sans" panose="020B0606030504020204" pitchFamily="34" charset="0"/>
                <a:cs typeface="Open Sans" panose="020B0606030504020204" pitchFamily="34" charset="0"/>
              </a:rPr>
              <a:t>This lambda expression takes a String, s, and splits that String on commas, returning an array of String.</a:t>
            </a:r>
          </a:p>
          <a:p>
            <a:pPr algn="l">
              <a:spcAft>
                <a:spcPts val="5022"/>
              </a:spcAft>
            </a:pPr>
            <a:r>
              <a:rPr lang="en-US" sz="6400" dirty="0">
                <a:latin typeface="Open Sans" panose="020B0606030504020204" pitchFamily="34" charset="0"/>
                <a:ea typeface="Open Sans" panose="020B0606030504020204" pitchFamily="34" charset="0"/>
                <a:cs typeface="Open Sans" panose="020B0606030504020204" pitchFamily="34" charset="0"/>
              </a:rPr>
              <a:t>In this case, the argument type, T, is a String, and the result, R, is an array of String.</a:t>
            </a:r>
          </a:p>
          <a:p>
            <a:pPr algn="l">
              <a:spcAft>
                <a:spcPts val="5022"/>
              </a:spcAft>
            </a:pPr>
            <a:r>
              <a:rPr lang="en-US" sz="6400" dirty="0">
                <a:latin typeface="Open Sans" panose="020B0606030504020204" pitchFamily="34" charset="0"/>
                <a:ea typeface="Open Sans" panose="020B0606030504020204" pitchFamily="34" charset="0"/>
                <a:cs typeface="Open Sans" panose="020B0606030504020204" pitchFamily="34" charset="0"/>
              </a:rPr>
              <a:t>To demonstrate how to declare a variable of this type, I'm showing a variable declaration as well.</a:t>
            </a:r>
          </a:p>
        </p:txBody>
      </p:sp>
      <p:graphicFrame>
        <p:nvGraphicFramePr>
          <p:cNvPr id="2" name="Table 1">
            <a:extLst>
              <a:ext uri="{FF2B5EF4-FFF2-40B4-BE49-F238E27FC236}">
                <a16:creationId xmlns:a16="http://schemas.microsoft.com/office/drawing/2014/main" id="{659F0D44-13E6-4DF8-54C4-F2FAA3590B03}"/>
              </a:ext>
            </a:extLst>
          </p:cNvPr>
          <p:cNvGraphicFramePr>
            <a:graphicFrameLocks noGrp="1"/>
          </p:cNvGraphicFramePr>
          <p:nvPr/>
        </p:nvGraphicFramePr>
        <p:xfrm>
          <a:off x="952501" y="14037330"/>
          <a:ext cx="34782667" cy="3150967"/>
        </p:xfrm>
        <a:graphic>
          <a:graphicData uri="http://schemas.openxmlformats.org/drawingml/2006/table">
            <a:tbl>
              <a:tblPr firstRow="1" bandRow="1">
                <a:tableStyleId>{5C22544A-7EE6-4342-B048-85BDC9FD1C3A}</a:tableStyleId>
              </a:tblPr>
              <a:tblGrid>
                <a:gridCol w="11513197">
                  <a:extLst>
                    <a:ext uri="{9D8B030D-6E8A-4147-A177-3AD203B41FA5}">
                      <a16:colId xmlns:a16="http://schemas.microsoft.com/office/drawing/2014/main" val="2844207666"/>
                    </a:ext>
                  </a:extLst>
                </a:gridCol>
                <a:gridCol w="7595118">
                  <a:extLst>
                    <a:ext uri="{9D8B030D-6E8A-4147-A177-3AD203B41FA5}">
                      <a16:colId xmlns:a16="http://schemas.microsoft.com/office/drawing/2014/main" val="1891655341"/>
                    </a:ext>
                  </a:extLst>
                </a:gridCol>
                <a:gridCol w="15674352">
                  <a:extLst>
                    <a:ext uri="{9D8B030D-6E8A-4147-A177-3AD203B41FA5}">
                      <a16:colId xmlns:a16="http://schemas.microsoft.com/office/drawing/2014/main" val="2017387083"/>
                    </a:ext>
                  </a:extLst>
                </a:gridCol>
              </a:tblGrid>
              <a:tr h="1188487">
                <a:tc>
                  <a:txBody>
                    <a:bodyPr/>
                    <a:lstStyle/>
                    <a:p>
                      <a:pPr marL="180000" algn="l"/>
                      <a:r>
                        <a:rPr lang="en-US" sz="5400" dirty="0">
                          <a:solidFill>
                            <a:schemeClr val="tx1"/>
                          </a:solidFill>
                          <a:latin typeface="Open Sans" panose="020B0606030504020204" pitchFamily="34" charset="0"/>
                          <a:ea typeface="Open Sans" panose="020B0606030504020204" pitchFamily="34" charset="0"/>
                          <a:cs typeface="Open Sans" panose="020B0606030504020204" pitchFamily="34" charset="0"/>
                        </a:rPr>
                        <a:t>Example Lambda Expression for Function</a:t>
                      </a:r>
                      <a:endParaRPr lang="en-PH" sz="5400" dirty="0">
                        <a:solidFill>
                          <a:schemeClr val="tx1"/>
                        </a:solidFill>
                        <a:latin typeface="Open Sans" panose="020B0606030504020204" pitchFamily="34" charset="0"/>
                        <a:ea typeface="Open Sans" panose="020B0606030504020204" pitchFamily="34" charset="0"/>
                        <a:cs typeface="Open Sans" panose="020B0606030504020204" pitchFamily="34" charset="0"/>
                      </a:endParaRPr>
                    </a:p>
                  </a:txBody>
                  <a:tcPr marL="86794" marR="86794" marT="43397" marB="43397">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BE4D5"/>
                    </a:solidFill>
                  </a:tcPr>
                </a:tc>
                <a:tc>
                  <a:txBody>
                    <a:bodyPr/>
                    <a:lstStyle/>
                    <a:p>
                      <a:pPr marL="180000" algn="l"/>
                      <a:r>
                        <a:rPr lang="en-US" sz="5400" dirty="0">
                          <a:solidFill>
                            <a:schemeClr val="tx1"/>
                          </a:solidFill>
                          <a:latin typeface="Open Sans" panose="020B0606030504020204" pitchFamily="34" charset="0"/>
                          <a:ea typeface="Open Sans" panose="020B0606030504020204" pitchFamily="34" charset="0"/>
                          <a:cs typeface="Open Sans" panose="020B0606030504020204" pitchFamily="34" charset="0"/>
                        </a:rPr>
                        <a:t>Function Method</a:t>
                      </a:r>
                      <a:endParaRPr lang="en-PH" sz="5400" dirty="0">
                        <a:solidFill>
                          <a:schemeClr val="tx1"/>
                        </a:solidFill>
                        <a:latin typeface="Open Sans" panose="020B0606030504020204" pitchFamily="34" charset="0"/>
                        <a:ea typeface="Open Sans" panose="020B0606030504020204" pitchFamily="34" charset="0"/>
                        <a:cs typeface="Open Sans" panose="020B0606030504020204" pitchFamily="34" charset="0"/>
                      </a:endParaRPr>
                    </a:p>
                  </a:txBody>
                  <a:tcPr marL="86794" marR="86794" marT="43397" marB="43397">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BE4D5"/>
                    </a:solidFill>
                  </a:tcPr>
                </a:tc>
                <a:tc>
                  <a:txBody>
                    <a:bodyPr/>
                    <a:lstStyle/>
                    <a:p>
                      <a:pPr marL="180000" algn="l"/>
                      <a:r>
                        <a:rPr lang="en-US" sz="5400" dirty="0">
                          <a:solidFill>
                            <a:schemeClr val="tx1"/>
                          </a:solidFill>
                          <a:latin typeface="Open Sans" panose="020B0606030504020204" pitchFamily="34" charset="0"/>
                          <a:ea typeface="Open Sans" panose="020B0606030504020204" pitchFamily="34" charset="0"/>
                          <a:cs typeface="Open Sans" panose="020B0606030504020204" pitchFamily="34" charset="0"/>
                        </a:rPr>
                        <a:t>Variable Declaration for this example</a:t>
                      </a:r>
                      <a:endParaRPr lang="en-PH" sz="5400" dirty="0">
                        <a:solidFill>
                          <a:schemeClr val="tx1"/>
                        </a:solidFill>
                        <a:latin typeface="Open Sans" panose="020B0606030504020204" pitchFamily="34" charset="0"/>
                        <a:ea typeface="Open Sans" panose="020B0606030504020204" pitchFamily="34" charset="0"/>
                        <a:cs typeface="Open Sans" panose="020B0606030504020204" pitchFamily="34" charset="0"/>
                      </a:endParaRPr>
                    </a:p>
                  </a:txBody>
                  <a:tcPr marL="86794" marR="86794" marT="43397" marB="43397">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BE4D5"/>
                    </a:solidFill>
                  </a:tcPr>
                </a:tc>
                <a:extLst>
                  <a:ext uri="{0D108BD9-81ED-4DB2-BD59-A6C34878D82A}">
                    <a16:rowId xmlns:a16="http://schemas.microsoft.com/office/drawing/2014/main" val="3978129174"/>
                  </a:ext>
                </a:extLst>
              </a:tr>
              <a:tr h="1418253">
                <a:tc>
                  <a:txBody>
                    <a:bodyPr/>
                    <a:lstStyle/>
                    <a:p>
                      <a:pPr marL="180000" marR="0" lvl="0" indent="0" algn="l" defTabSz="914400" rtl="0" eaLnBrk="1" fontAlgn="auto" latinLnBrk="0" hangingPunct="1">
                        <a:lnSpc>
                          <a:spcPct val="100000"/>
                        </a:lnSpc>
                        <a:spcBef>
                          <a:spcPts val="0"/>
                        </a:spcBef>
                        <a:spcAft>
                          <a:spcPts val="1000"/>
                        </a:spcAft>
                        <a:buClr>
                          <a:srgbClr val="000000"/>
                        </a:buClr>
                        <a:buSzTx/>
                        <a:buFont typeface="Arial" panose="020B0604020202020204" pitchFamily="34" charset="0"/>
                        <a:buNone/>
                        <a:tabLst/>
                        <a:defRPr/>
                      </a:pPr>
                      <a:endParaRPr lang="en-US" sz="5400" b="0" dirty="0">
                        <a:solidFill>
                          <a:schemeClr val="tx1"/>
                        </a:solidFill>
                        <a:latin typeface="Open Sans" panose="020B0606030504020204" pitchFamily="34" charset="0"/>
                        <a:ea typeface="Open Sans" panose="020B0606030504020204" pitchFamily="34" charset="0"/>
                        <a:cs typeface="Open Sans" panose="020B0606030504020204" pitchFamily="34" charset="0"/>
                      </a:endParaRPr>
                    </a:p>
                  </a:txBody>
                  <a:tcPr marL="86794" marR="86794" marT="43397" marB="43397">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180000" marR="0" lvl="0" indent="0" algn="l" defTabSz="914400" rtl="0" eaLnBrk="1" fontAlgn="auto" latinLnBrk="0" hangingPunct="1">
                        <a:lnSpc>
                          <a:spcPct val="100000"/>
                        </a:lnSpc>
                        <a:spcBef>
                          <a:spcPts val="0"/>
                        </a:spcBef>
                        <a:spcAft>
                          <a:spcPts val="1000"/>
                        </a:spcAft>
                        <a:buClr>
                          <a:srgbClr val="000000"/>
                        </a:buClr>
                        <a:buSzTx/>
                        <a:buFont typeface="Arial" panose="020B0604020202020204" pitchFamily="34" charset="0"/>
                        <a:buNone/>
                        <a:tabLst/>
                        <a:defRPr/>
                      </a:pPr>
                      <a:endParaRPr lang="en-US" sz="5400" b="0" dirty="0">
                        <a:solidFill>
                          <a:schemeClr val="tx1"/>
                        </a:solidFill>
                        <a:latin typeface="Open Sans" panose="020B0606030504020204" pitchFamily="34" charset="0"/>
                        <a:ea typeface="Open Sans" panose="020B0606030504020204" pitchFamily="34" charset="0"/>
                        <a:cs typeface="Open Sans" panose="020B0606030504020204" pitchFamily="34" charset="0"/>
                      </a:endParaRPr>
                    </a:p>
                  </a:txBody>
                  <a:tcPr marL="86794" marR="86794" marT="43397" marB="43397">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180000" marR="0" lvl="0" indent="0" algn="l" defTabSz="914400" rtl="0" eaLnBrk="1" fontAlgn="auto" latinLnBrk="0" hangingPunct="1">
                        <a:lnSpc>
                          <a:spcPct val="100000"/>
                        </a:lnSpc>
                        <a:spcBef>
                          <a:spcPts val="0"/>
                        </a:spcBef>
                        <a:spcAft>
                          <a:spcPts val="1000"/>
                        </a:spcAft>
                        <a:buClr>
                          <a:srgbClr val="000000"/>
                        </a:buClr>
                        <a:buSzTx/>
                        <a:buFont typeface="Arial" panose="020B0604020202020204" pitchFamily="34" charset="0"/>
                        <a:buNone/>
                        <a:tabLst/>
                        <a:defRPr/>
                      </a:pPr>
                      <a:endParaRPr lang="en-US" sz="5400" b="0" dirty="0">
                        <a:solidFill>
                          <a:schemeClr val="tx1"/>
                        </a:solidFill>
                        <a:latin typeface="Open Sans" panose="020B0606030504020204" pitchFamily="34" charset="0"/>
                        <a:ea typeface="Open Sans" panose="020B0606030504020204" pitchFamily="34" charset="0"/>
                        <a:cs typeface="Open Sans" panose="020B0606030504020204" pitchFamily="34" charset="0"/>
                      </a:endParaRPr>
                    </a:p>
                  </a:txBody>
                  <a:tcPr marL="86794" marR="86794" marT="43397" marB="43397">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640325450"/>
                  </a:ext>
                </a:extLst>
              </a:tr>
            </a:tbl>
          </a:graphicData>
        </a:graphic>
      </p:graphicFrame>
      <p:pic>
        <p:nvPicPr>
          <p:cNvPr id="23" name="Picture 22">
            <a:extLst>
              <a:ext uri="{FF2B5EF4-FFF2-40B4-BE49-F238E27FC236}">
                <a16:creationId xmlns:a16="http://schemas.microsoft.com/office/drawing/2014/main" id="{4B11EB16-AB99-54A1-49B8-B4DE2308D007}"/>
              </a:ext>
            </a:extLst>
          </p:cNvPr>
          <p:cNvPicPr>
            <a:picLocks noChangeAspect="1"/>
          </p:cNvPicPr>
          <p:nvPr/>
        </p:nvPicPr>
        <p:blipFill>
          <a:blip r:embed="rId4"/>
          <a:stretch>
            <a:fillRect/>
          </a:stretch>
        </p:blipFill>
        <p:spPr>
          <a:xfrm>
            <a:off x="1169703" y="15940140"/>
            <a:ext cx="8533334" cy="1047620"/>
          </a:xfrm>
          <a:prstGeom prst="rect">
            <a:avLst/>
          </a:prstGeom>
        </p:spPr>
      </p:pic>
      <p:pic>
        <p:nvPicPr>
          <p:cNvPr id="25" name="Picture 24">
            <a:extLst>
              <a:ext uri="{FF2B5EF4-FFF2-40B4-BE49-F238E27FC236}">
                <a16:creationId xmlns:a16="http://schemas.microsoft.com/office/drawing/2014/main" id="{6C482F22-06C3-4C1F-4799-03B8ADCABD10}"/>
              </a:ext>
            </a:extLst>
          </p:cNvPr>
          <p:cNvPicPr>
            <a:picLocks noChangeAspect="1"/>
          </p:cNvPicPr>
          <p:nvPr/>
        </p:nvPicPr>
        <p:blipFill>
          <a:blip r:embed="rId5"/>
          <a:stretch>
            <a:fillRect/>
          </a:stretch>
        </p:blipFill>
        <p:spPr>
          <a:xfrm>
            <a:off x="12704341" y="16000874"/>
            <a:ext cx="5714286" cy="990476"/>
          </a:xfrm>
          <a:prstGeom prst="rect">
            <a:avLst/>
          </a:prstGeom>
        </p:spPr>
      </p:pic>
      <p:pic>
        <p:nvPicPr>
          <p:cNvPr id="27" name="Picture 26">
            <a:extLst>
              <a:ext uri="{FF2B5EF4-FFF2-40B4-BE49-F238E27FC236}">
                <a16:creationId xmlns:a16="http://schemas.microsoft.com/office/drawing/2014/main" id="{87DAD051-824A-CDE0-912D-F6BE39B78AE1}"/>
              </a:ext>
            </a:extLst>
          </p:cNvPr>
          <p:cNvPicPr>
            <a:picLocks noChangeAspect="1"/>
          </p:cNvPicPr>
          <p:nvPr/>
        </p:nvPicPr>
        <p:blipFill>
          <a:blip r:embed="rId6"/>
          <a:stretch>
            <a:fillRect/>
          </a:stretch>
        </p:blipFill>
        <p:spPr>
          <a:xfrm>
            <a:off x="20341985" y="15959188"/>
            <a:ext cx="14228572" cy="1028572"/>
          </a:xfrm>
          <a:prstGeom prst="rect">
            <a:avLst/>
          </a:prstGeom>
        </p:spPr>
      </p:pic>
    </p:spTree>
    <p:extLst>
      <p:ext uri="{BB962C8B-B14F-4D97-AF65-F5344CB8AC3E}">
        <p14:creationId xmlns:p14="http://schemas.microsoft.com/office/powerpoint/2010/main" val="4005837409"/>
      </p:ext>
    </p:extLst>
  </p:cSld>
  <p:clrMapOvr>
    <a:masterClrMapping/>
  </p:clrMapOvr>
  <p:transition spd="slow"/>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 name="Shape 126"/>
          <p:cNvSpPr/>
          <p:nvPr/>
        </p:nvSpPr>
        <p:spPr>
          <a:xfrm>
            <a:off x="952498" y="459786"/>
            <a:ext cx="14574503" cy="1815882"/>
          </a:xfrm>
          <a:prstGeom prst="rect">
            <a:avLst/>
          </a:prstGeom>
          <a:ln w="12700">
            <a:miter lim="400000"/>
          </a:ln>
          <a:extLst>
            <a:ext uri="{C572A759-6A51-4108-AA02-DFA0A04FC94B}">
              <ma14:wrappingTextBoxFlag xmlns:ma14="http://schemas.microsoft.com/office/mac/drawingml/2011/main" xmlns="" val="1"/>
            </a:ext>
          </a:extLst>
        </p:spPr>
        <p:txBody>
          <a:bodyPr wrap="none" lIns="76200" tIns="76200" rIns="76200" bIns="76200">
            <a:spAutoFit/>
          </a:bodyPr>
          <a:lstStyle>
            <a:lvl1pPr algn="l">
              <a:defRPr sz="7000">
                <a:latin typeface="Alright Sans"/>
                <a:ea typeface="Alright Sans"/>
                <a:cs typeface="Alright Sans"/>
                <a:sym typeface="Alright Sans"/>
              </a:defRPr>
            </a:lvl1pPr>
          </a:lstStyle>
          <a:p>
            <a:pPr>
              <a:defRPr sz="3000">
                <a:latin typeface="Alright Sans"/>
                <a:ea typeface="Alright Sans"/>
                <a:cs typeface="Alright Sans"/>
                <a:sym typeface="Alright Sans"/>
              </a:defRPr>
            </a:pPr>
            <a:r>
              <a:rPr lang="en-US" sz="10800" dirty="0">
                <a:latin typeface="Open Sans" panose="020B0606030504020204" pitchFamily="34" charset="0"/>
                <a:ea typeface="Open Sans" panose="020B0606030504020204" pitchFamily="34" charset="0"/>
                <a:cs typeface="Open Sans" panose="020B0606030504020204" pitchFamily="34" charset="0"/>
              </a:rPr>
              <a:t>The Supplier Interface</a:t>
            </a:r>
          </a:p>
        </p:txBody>
      </p:sp>
      <p:sp>
        <p:nvSpPr>
          <p:cNvPr id="128" name="Shape 128"/>
          <p:cNvSpPr/>
          <p:nvPr/>
        </p:nvSpPr>
        <p:spPr>
          <a:xfrm>
            <a:off x="952500" y="18210515"/>
            <a:ext cx="34782668" cy="2"/>
          </a:xfrm>
          <a:prstGeom prst="line">
            <a:avLst/>
          </a:prstGeom>
          <a:ln w="76200">
            <a:solidFill>
              <a:schemeClr val="accent1">
                <a:satOff val="-3355"/>
                <a:lumOff val="26614"/>
              </a:schemeClr>
            </a:solidFill>
            <a:miter lim="400000"/>
          </a:ln>
        </p:spPr>
        <p:txBody>
          <a:bodyPr lIns="76200" tIns="76200" rIns="76200" bIns="76200" anchor="ctr"/>
          <a:lstStyle/>
          <a:p>
            <a:pPr>
              <a:defRPr sz="3200"/>
            </a:pPr>
            <a:endParaRPr sz="4800"/>
          </a:p>
        </p:txBody>
      </p:sp>
      <p:pic>
        <p:nvPicPr>
          <p:cNvPr id="129" name="Logo.png"/>
          <p:cNvPicPr>
            <a:picLocks noChangeAspect="1"/>
          </p:cNvPicPr>
          <p:nvPr/>
        </p:nvPicPr>
        <p:blipFill>
          <a:blip r:embed="rId3"/>
          <a:stretch>
            <a:fillRect/>
          </a:stretch>
        </p:blipFill>
        <p:spPr>
          <a:xfrm>
            <a:off x="14650974" y="18489726"/>
            <a:ext cx="6321552" cy="1392336"/>
          </a:xfrm>
          <a:prstGeom prst="rect">
            <a:avLst/>
          </a:prstGeom>
          <a:ln w="12700">
            <a:miter lim="400000"/>
          </a:ln>
        </p:spPr>
      </p:pic>
      <p:sp>
        <p:nvSpPr>
          <p:cNvPr id="9" name="Shape 127"/>
          <p:cNvSpPr/>
          <p:nvPr/>
        </p:nvSpPr>
        <p:spPr>
          <a:xfrm flipV="1">
            <a:off x="952499" y="2203340"/>
            <a:ext cx="34782670" cy="38132"/>
          </a:xfrm>
          <a:prstGeom prst="line">
            <a:avLst/>
          </a:prstGeom>
          <a:ln w="152400">
            <a:solidFill>
              <a:schemeClr val="accent1">
                <a:satOff val="-3355"/>
                <a:lumOff val="26614"/>
              </a:schemeClr>
            </a:solidFill>
            <a:miter lim="400000"/>
          </a:ln>
        </p:spPr>
        <p:txBody>
          <a:bodyPr lIns="76200" tIns="76200" rIns="76200" bIns="76200" anchor="ctr"/>
          <a:lstStyle/>
          <a:p>
            <a:pPr>
              <a:defRPr sz="3200"/>
            </a:pPr>
            <a:endParaRPr sz="4800"/>
          </a:p>
        </p:txBody>
      </p:sp>
      <p:sp>
        <p:nvSpPr>
          <p:cNvPr id="10" name="Shape 131"/>
          <p:cNvSpPr/>
          <p:nvPr/>
        </p:nvSpPr>
        <p:spPr>
          <a:xfrm>
            <a:off x="952500" y="18489726"/>
            <a:ext cx="16008688" cy="1308050"/>
          </a:xfrm>
          <a:prstGeom prst="rect">
            <a:avLst/>
          </a:prstGeom>
          <a:ln w="12700">
            <a:miter lim="400000"/>
          </a:ln>
          <a:extLst>
            <a:ext uri="{C572A759-6A51-4108-AA02-DFA0A04FC94B}">
              <ma14:wrappingTextBoxFlag xmlns="" xmlns:ma14="http://schemas.microsoft.com/office/mac/drawingml/2011/main" val="1"/>
            </a:ext>
          </a:extLst>
        </p:spPr>
        <p:txBody>
          <a:bodyPr lIns="76200" tIns="76200" rIns="76200" bIns="76200">
            <a:spAutoFit/>
          </a:bodyPr>
          <a:lstStyle/>
          <a:p>
            <a:pPr algn="l">
              <a:defRPr sz="2000">
                <a:latin typeface="Alright Sans"/>
                <a:ea typeface="Alright Sans"/>
                <a:cs typeface="Alright Sans"/>
                <a:sym typeface="Alright Sans"/>
              </a:defRPr>
            </a:pPr>
            <a:r>
              <a:rPr lang="en-US" sz="3000" dirty="0">
                <a:latin typeface="Open Sans" panose="020B0606030504020204" pitchFamily="34" charset="0"/>
                <a:ea typeface="Open Sans" panose="020B0606030504020204" pitchFamily="34" charset="0"/>
                <a:cs typeface="Open Sans" panose="020B0606030504020204" pitchFamily="34" charset="0"/>
              </a:rPr>
              <a:t>COMPLETE JAVA MASTERCLASS</a:t>
            </a:r>
          </a:p>
          <a:p>
            <a:pPr algn="l">
              <a:defRPr sz="3000">
                <a:latin typeface="Alright Sans"/>
                <a:ea typeface="Alright Sans"/>
                <a:cs typeface="Alright Sans"/>
                <a:sym typeface="Alright Sans"/>
              </a:defRPr>
            </a:pPr>
            <a:r>
              <a:rPr lang="en-US" sz="4500" dirty="0">
                <a:latin typeface="Open Sans" panose="020B0606030504020204" pitchFamily="34" charset="0"/>
                <a:ea typeface="Open Sans" panose="020B0606030504020204" pitchFamily="34" charset="0"/>
                <a:cs typeface="Open Sans" panose="020B0606030504020204" pitchFamily="34" charset="0"/>
              </a:rPr>
              <a:t>Java's Functional Interfaces, Function &amp; Supplier</a:t>
            </a:r>
          </a:p>
        </p:txBody>
      </p:sp>
      <p:sp>
        <p:nvSpPr>
          <p:cNvPr id="8" name="Rectangle 7">
            <a:extLst>
              <a:ext uri="{FF2B5EF4-FFF2-40B4-BE49-F238E27FC236}">
                <a16:creationId xmlns:a16="http://schemas.microsoft.com/office/drawing/2014/main" id="{89DBB243-EF27-4345-872D-E76597E95619}"/>
              </a:ext>
            </a:extLst>
          </p:cNvPr>
          <p:cNvSpPr/>
          <p:nvPr/>
        </p:nvSpPr>
        <p:spPr>
          <a:xfrm>
            <a:off x="952501" y="4285904"/>
            <a:ext cx="34782670" cy="11880176"/>
          </a:xfrm>
          <a:prstGeom prst="rect">
            <a:avLst/>
          </a:prstGeom>
        </p:spPr>
        <p:txBody>
          <a:bodyPr wrap="square">
            <a:normAutofit/>
          </a:bodyPr>
          <a:lstStyle/>
          <a:p>
            <a:pPr algn="l">
              <a:spcAft>
                <a:spcPts val="5022"/>
              </a:spcAft>
            </a:pPr>
            <a:r>
              <a:rPr lang="en-US" sz="6400" dirty="0">
                <a:latin typeface="Open Sans" panose="020B0606030504020204" pitchFamily="34" charset="0"/>
                <a:ea typeface="Open Sans" panose="020B0606030504020204" pitchFamily="34" charset="0"/>
                <a:cs typeface="Open Sans" panose="020B0606030504020204" pitchFamily="34" charset="0"/>
              </a:rPr>
              <a:t>The supplier interface takes no arguments but returns an instance of some type, T.</a:t>
            </a:r>
          </a:p>
          <a:p>
            <a:pPr algn="l">
              <a:spcAft>
                <a:spcPts val="5022"/>
              </a:spcAft>
            </a:pPr>
            <a:endParaRPr lang="en-US" sz="6400" dirty="0">
              <a:latin typeface="Open Sans" panose="020B0606030504020204" pitchFamily="34" charset="0"/>
              <a:ea typeface="Open Sans" panose="020B0606030504020204" pitchFamily="34" charset="0"/>
              <a:cs typeface="Open Sans" panose="020B0606030504020204" pitchFamily="34" charset="0"/>
            </a:endParaRPr>
          </a:p>
          <a:p>
            <a:pPr algn="l">
              <a:spcAft>
                <a:spcPts val="5022"/>
              </a:spcAft>
            </a:pPr>
            <a:endParaRPr lang="en-US" sz="6400" dirty="0">
              <a:latin typeface="Open Sans" panose="020B0606030504020204" pitchFamily="34" charset="0"/>
              <a:ea typeface="Open Sans" panose="020B0606030504020204" pitchFamily="34" charset="0"/>
              <a:cs typeface="Open Sans" panose="020B0606030504020204" pitchFamily="34" charset="0"/>
            </a:endParaRPr>
          </a:p>
          <a:p>
            <a:pPr algn="l">
              <a:spcAft>
                <a:spcPts val="5022"/>
              </a:spcAft>
            </a:pPr>
            <a:r>
              <a:rPr lang="en-US" sz="6400" dirty="0">
                <a:latin typeface="Open Sans" panose="020B0606030504020204" pitchFamily="34" charset="0"/>
                <a:ea typeface="Open Sans" panose="020B0606030504020204" pitchFamily="34" charset="0"/>
                <a:cs typeface="Open Sans" panose="020B0606030504020204" pitchFamily="34" charset="0"/>
              </a:rPr>
              <a:t>You can think of this as kind of like a factory method.</a:t>
            </a:r>
          </a:p>
          <a:p>
            <a:pPr algn="l">
              <a:spcAft>
                <a:spcPts val="5022"/>
              </a:spcAft>
            </a:pPr>
            <a:r>
              <a:rPr lang="en-US" sz="6400" dirty="0">
                <a:latin typeface="Open Sans" panose="020B0606030504020204" pitchFamily="34" charset="0"/>
                <a:ea typeface="Open Sans" panose="020B0606030504020204" pitchFamily="34" charset="0"/>
                <a:cs typeface="Open Sans" panose="020B0606030504020204" pitchFamily="34" charset="0"/>
              </a:rPr>
              <a:t>It will produce an instance of some object.</a:t>
            </a:r>
          </a:p>
          <a:p>
            <a:pPr algn="l">
              <a:spcAft>
                <a:spcPts val="5022"/>
              </a:spcAft>
            </a:pPr>
            <a:r>
              <a:rPr lang="en-US" sz="6400" dirty="0">
                <a:latin typeface="Open Sans" panose="020B0606030504020204" pitchFamily="34" charset="0"/>
                <a:ea typeface="Open Sans" panose="020B0606030504020204" pitchFamily="34" charset="0"/>
                <a:cs typeface="Open Sans" panose="020B0606030504020204" pitchFamily="34" charset="0"/>
              </a:rPr>
              <a:t>However, this doesn't have to be a new or a distinct result returned.</a:t>
            </a:r>
          </a:p>
        </p:txBody>
      </p:sp>
      <p:graphicFrame>
        <p:nvGraphicFramePr>
          <p:cNvPr id="2" name="Table 1">
            <a:extLst>
              <a:ext uri="{FF2B5EF4-FFF2-40B4-BE49-F238E27FC236}">
                <a16:creationId xmlns:a16="http://schemas.microsoft.com/office/drawing/2014/main" id="{659F0D44-13E6-4DF8-54C4-F2FAA3590B03}"/>
              </a:ext>
            </a:extLst>
          </p:cNvPr>
          <p:cNvGraphicFramePr>
            <a:graphicFrameLocks noGrp="1"/>
          </p:cNvGraphicFramePr>
          <p:nvPr/>
        </p:nvGraphicFramePr>
        <p:xfrm>
          <a:off x="952497" y="5915975"/>
          <a:ext cx="16831650" cy="2606740"/>
        </p:xfrm>
        <a:graphic>
          <a:graphicData uri="http://schemas.openxmlformats.org/drawingml/2006/table">
            <a:tbl>
              <a:tblPr firstRow="1" bandRow="1">
                <a:tableStyleId>{5C22544A-7EE6-4342-B048-85BDC9FD1C3A}</a:tableStyleId>
              </a:tblPr>
              <a:tblGrid>
                <a:gridCol w="8396776">
                  <a:extLst>
                    <a:ext uri="{9D8B030D-6E8A-4147-A177-3AD203B41FA5}">
                      <a16:colId xmlns:a16="http://schemas.microsoft.com/office/drawing/2014/main" val="2844207666"/>
                    </a:ext>
                  </a:extLst>
                </a:gridCol>
                <a:gridCol w="8434874">
                  <a:extLst>
                    <a:ext uri="{9D8B030D-6E8A-4147-A177-3AD203B41FA5}">
                      <a16:colId xmlns:a16="http://schemas.microsoft.com/office/drawing/2014/main" val="1891655341"/>
                    </a:ext>
                  </a:extLst>
                </a:gridCol>
              </a:tblGrid>
              <a:tr h="1188487">
                <a:tc>
                  <a:txBody>
                    <a:bodyPr/>
                    <a:lstStyle/>
                    <a:p>
                      <a:pPr marL="180000" algn="l"/>
                      <a:r>
                        <a:rPr lang="en-US" sz="5400" dirty="0">
                          <a:solidFill>
                            <a:schemeClr val="tx1"/>
                          </a:solidFill>
                          <a:latin typeface="Open Sans" panose="020B0606030504020204" pitchFamily="34" charset="0"/>
                          <a:ea typeface="Open Sans" panose="020B0606030504020204" pitchFamily="34" charset="0"/>
                          <a:cs typeface="Open Sans" panose="020B0606030504020204" pitchFamily="34" charset="0"/>
                        </a:rPr>
                        <a:t>Interface Name</a:t>
                      </a:r>
                      <a:endParaRPr lang="en-PH" sz="5400" dirty="0">
                        <a:solidFill>
                          <a:schemeClr val="tx1"/>
                        </a:solidFill>
                        <a:latin typeface="Open Sans" panose="020B0606030504020204" pitchFamily="34" charset="0"/>
                        <a:ea typeface="Open Sans" panose="020B0606030504020204" pitchFamily="34" charset="0"/>
                        <a:cs typeface="Open Sans" panose="020B0606030504020204" pitchFamily="34" charset="0"/>
                      </a:endParaRPr>
                    </a:p>
                  </a:txBody>
                  <a:tcPr marL="86794" marR="86794" marT="43397" marB="43397">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BE4D5"/>
                    </a:solidFill>
                  </a:tcPr>
                </a:tc>
                <a:tc>
                  <a:txBody>
                    <a:bodyPr/>
                    <a:lstStyle/>
                    <a:p>
                      <a:pPr marL="180000" algn="l"/>
                      <a:r>
                        <a:rPr lang="en-US" sz="5400" dirty="0">
                          <a:solidFill>
                            <a:schemeClr val="tx1"/>
                          </a:solidFill>
                          <a:latin typeface="Open Sans" panose="020B0606030504020204" pitchFamily="34" charset="0"/>
                          <a:ea typeface="Open Sans" panose="020B0606030504020204" pitchFamily="34" charset="0"/>
                          <a:cs typeface="Open Sans" panose="020B0606030504020204" pitchFamily="34" charset="0"/>
                        </a:rPr>
                        <a:t>Method Signature</a:t>
                      </a:r>
                      <a:endParaRPr lang="en-PH" sz="5400" dirty="0">
                        <a:solidFill>
                          <a:schemeClr val="tx1"/>
                        </a:solidFill>
                        <a:latin typeface="Open Sans" panose="020B0606030504020204" pitchFamily="34" charset="0"/>
                        <a:ea typeface="Open Sans" panose="020B0606030504020204" pitchFamily="34" charset="0"/>
                        <a:cs typeface="Open Sans" panose="020B0606030504020204" pitchFamily="34" charset="0"/>
                      </a:endParaRPr>
                    </a:p>
                  </a:txBody>
                  <a:tcPr marL="86794" marR="86794" marT="43397" marB="43397">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BE4D5"/>
                    </a:solidFill>
                  </a:tcPr>
                </a:tc>
                <a:extLst>
                  <a:ext uri="{0D108BD9-81ED-4DB2-BD59-A6C34878D82A}">
                    <a16:rowId xmlns:a16="http://schemas.microsoft.com/office/drawing/2014/main" val="3978129174"/>
                  </a:ext>
                </a:extLst>
              </a:tr>
              <a:tr h="1418253">
                <a:tc>
                  <a:txBody>
                    <a:bodyPr/>
                    <a:lstStyle/>
                    <a:p>
                      <a:pPr marL="180000" marR="0" lvl="0" indent="0" algn="l" defTabSz="914400" rtl="0" eaLnBrk="1" fontAlgn="auto" latinLnBrk="0" hangingPunct="1">
                        <a:lnSpc>
                          <a:spcPct val="100000"/>
                        </a:lnSpc>
                        <a:spcBef>
                          <a:spcPts val="0"/>
                        </a:spcBef>
                        <a:spcAft>
                          <a:spcPts val="1000"/>
                        </a:spcAft>
                        <a:buClr>
                          <a:srgbClr val="000000"/>
                        </a:buClr>
                        <a:buSzTx/>
                        <a:buFont typeface="Arial" panose="020B0604020202020204" pitchFamily="34" charset="0"/>
                        <a:buNone/>
                        <a:tabLst/>
                        <a:defRPr/>
                      </a:pPr>
                      <a:r>
                        <a:rPr lang="en-US" sz="5400" b="0" dirty="0">
                          <a:solidFill>
                            <a:schemeClr val="tx1"/>
                          </a:solidFill>
                          <a:latin typeface="Open Sans" panose="020B0606030504020204" pitchFamily="34" charset="0"/>
                          <a:ea typeface="Open Sans" panose="020B0606030504020204" pitchFamily="34" charset="0"/>
                          <a:cs typeface="Open Sans" panose="020B0606030504020204" pitchFamily="34" charset="0"/>
                        </a:rPr>
                        <a:t>Supplier</a:t>
                      </a:r>
                    </a:p>
                  </a:txBody>
                  <a:tcPr marL="86794" marR="86794" marT="43397" marB="43397">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180000" marR="0" lvl="0" indent="0" algn="l" defTabSz="914400" rtl="0" eaLnBrk="1" fontAlgn="auto" latinLnBrk="0" hangingPunct="1">
                        <a:lnSpc>
                          <a:spcPct val="100000"/>
                        </a:lnSpc>
                        <a:spcBef>
                          <a:spcPts val="0"/>
                        </a:spcBef>
                        <a:spcAft>
                          <a:spcPts val="1000"/>
                        </a:spcAft>
                        <a:buClr>
                          <a:srgbClr val="000000"/>
                        </a:buClr>
                        <a:buSzTx/>
                        <a:buFont typeface="Arial" panose="020B0604020202020204" pitchFamily="34" charset="0"/>
                        <a:buNone/>
                        <a:tabLst/>
                        <a:defRPr/>
                      </a:pPr>
                      <a:endParaRPr lang="en-US" sz="5400" b="0" dirty="0">
                        <a:solidFill>
                          <a:schemeClr val="tx1"/>
                        </a:solidFill>
                        <a:latin typeface="Open Sans" panose="020B0606030504020204" pitchFamily="34" charset="0"/>
                        <a:ea typeface="Open Sans" panose="020B0606030504020204" pitchFamily="34" charset="0"/>
                        <a:cs typeface="Open Sans" panose="020B0606030504020204" pitchFamily="34" charset="0"/>
                      </a:endParaRPr>
                    </a:p>
                  </a:txBody>
                  <a:tcPr marL="86794" marR="86794" marT="43397" marB="43397">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640325450"/>
                  </a:ext>
                </a:extLst>
              </a:tr>
            </a:tbl>
          </a:graphicData>
        </a:graphic>
      </p:graphicFrame>
      <p:pic>
        <p:nvPicPr>
          <p:cNvPr id="5" name="Picture 4">
            <a:extLst>
              <a:ext uri="{FF2B5EF4-FFF2-40B4-BE49-F238E27FC236}">
                <a16:creationId xmlns:a16="http://schemas.microsoft.com/office/drawing/2014/main" id="{7695C246-117A-6870-8A43-61F8888F904C}"/>
              </a:ext>
            </a:extLst>
          </p:cNvPr>
          <p:cNvPicPr>
            <a:picLocks noChangeAspect="1"/>
          </p:cNvPicPr>
          <p:nvPr/>
        </p:nvPicPr>
        <p:blipFill>
          <a:blip r:embed="rId4"/>
          <a:stretch>
            <a:fillRect/>
          </a:stretch>
        </p:blipFill>
        <p:spPr>
          <a:xfrm>
            <a:off x="9532784" y="7182023"/>
            <a:ext cx="3371428" cy="1028572"/>
          </a:xfrm>
          <a:prstGeom prst="rect">
            <a:avLst/>
          </a:prstGeom>
        </p:spPr>
      </p:pic>
    </p:spTree>
    <p:extLst>
      <p:ext uri="{BB962C8B-B14F-4D97-AF65-F5344CB8AC3E}">
        <p14:creationId xmlns:p14="http://schemas.microsoft.com/office/powerpoint/2010/main" val="3483727924"/>
      </p:ext>
    </p:extLst>
  </p:cSld>
  <p:clrMapOvr>
    <a:masterClrMapping/>
  </p:clrMapOvr>
  <p:transition spd="slow"/>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 name="Shape 126"/>
          <p:cNvSpPr/>
          <p:nvPr/>
        </p:nvSpPr>
        <p:spPr>
          <a:xfrm>
            <a:off x="952498" y="459786"/>
            <a:ext cx="25643238" cy="1815882"/>
          </a:xfrm>
          <a:prstGeom prst="rect">
            <a:avLst/>
          </a:prstGeom>
          <a:ln w="12700">
            <a:miter lim="400000"/>
          </a:ln>
          <a:extLst>
            <a:ext uri="{C572A759-6A51-4108-AA02-DFA0A04FC94B}">
              <ma14:wrappingTextBoxFlag xmlns="" xmlns:ma14="http://schemas.microsoft.com/office/mac/drawingml/2011/main" val="1"/>
            </a:ext>
          </a:extLst>
        </p:spPr>
        <p:txBody>
          <a:bodyPr wrap="none" lIns="76200" tIns="76200" rIns="76200" bIns="76200">
            <a:spAutoFit/>
          </a:bodyPr>
          <a:lstStyle>
            <a:lvl1pPr algn="l">
              <a:defRPr sz="7000">
                <a:latin typeface="Alright Sans"/>
                <a:ea typeface="Alright Sans"/>
                <a:cs typeface="Alright Sans"/>
                <a:sym typeface="Alright Sans"/>
              </a:defRPr>
            </a:lvl1pPr>
          </a:lstStyle>
          <a:p>
            <a:pPr>
              <a:defRPr sz="3000">
                <a:latin typeface="Alright Sans"/>
                <a:ea typeface="Alright Sans"/>
                <a:cs typeface="Alright Sans"/>
                <a:sym typeface="Alright Sans"/>
              </a:defRPr>
            </a:pPr>
            <a:r>
              <a:rPr lang="en-US" sz="10800" dirty="0">
                <a:latin typeface="Open Sans" panose="020B0606030504020204" pitchFamily="34" charset="0"/>
                <a:ea typeface="Open Sans" panose="020B0606030504020204" pitchFamily="34" charset="0"/>
                <a:cs typeface="Open Sans" panose="020B0606030504020204" pitchFamily="34" charset="0"/>
              </a:rPr>
              <a:t>A Supplier Lambda Expression Example</a:t>
            </a:r>
          </a:p>
        </p:txBody>
      </p:sp>
      <p:sp>
        <p:nvSpPr>
          <p:cNvPr id="128" name="Shape 128"/>
          <p:cNvSpPr/>
          <p:nvPr/>
        </p:nvSpPr>
        <p:spPr>
          <a:xfrm>
            <a:off x="952500" y="18210515"/>
            <a:ext cx="34782668" cy="2"/>
          </a:xfrm>
          <a:prstGeom prst="line">
            <a:avLst/>
          </a:prstGeom>
          <a:ln w="76200">
            <a:solidFill>
              <a:schemeClr val="accent1">
                <a:satOff val="-3355"/>
                <a:lumOff val="26614"/>
              </a:schemeClr>
            </a:solidFill>
            <a:miter lim="400000"/>
          </a:ln>
        </p:spPr>
        <p:txBody>
          <a:bodyPr lIns="76200" tIns="76200" rIns="76200" bIns="76200" anchor="ctr"/>
          <a:lstStyle/>
          <a:p>
            <a:pPr>
              <a:defRPr sz="3200"/>
            </a:pPr>
            <a:endParaRPr sz="4800"/>
          </a:p>
        </p:txBody>
      </p:sp>
      <p:pic>
        <p:nvPicPr>
          <p:cNvPr id="129" name="Logo.png"/>
          <p:cNvPicPr>
            <a:picLocks noChangeAspect="1"/>
          </p:cNvPicPr>
          <p:nvPr/>
        </p:nvPicPr>
        <p:blipFill>
          <a:blip r:embed="rId3"/>
          <a:stretch>
            <a:fillRect/>
          </a:stretch>
        </p:blipFill>
        <p:spPr>
          <a:xfrm>
            <a:off x="14650974" y="18489726"/>
            <a:ext cx="6321552" cy="1392336"/>
          </a:xfrm>
          <a:prstGeom prst="rect">
            <a:avLst/>
          </a:prstGeom>
          <a:ln w="12700">
            <a:miter lim="400000"/>
          </a:ln>
        </p:spPr>
      </p:pic>
      <p:sp>
        <p:nvSpPr>
          <p:cNvPr id="9" name="Shape 127"/>
          <p:cNvSpPr/>
          <p:nvPr/>
        </p:nvSpPr>
        <p:spPr>
          <a:xfrm flipV="1">
            <a:off x="952499" y="2203340"/>
            <a:ext cx="34782670" cy="38132"/>
          </a:xfrm>
          <a:prstGeom prst="line">
            <a:avLst/>
          </a:prstGeom>
          <a:ln w="152400">
            <a:solidFill>
              <a:schemeClr val="accent1">
                <a:satOff val="-3355"/>
                <a:lumOff val="26614"/>
              </a:schemeClr>
            </a:solidFill>
            <a:miter lim="400000"/>
          </a:ln>
        </p:spPr>
        <p:txBody>
          <a:bodyPr lIns="76200" tIns="76200" rIns="76200" bIns="76200" anchor="ctr"/>
          <a:lstStyle/>
          <a:p>
            <a:pPr>
              <a:defRPr sz="3200"/>
            </a:pPr>
            <a:endParaRPr sz="4800"/>
          </a:p>
        </p:txBody>
      </p:sp>
      <p:sp>
        <p:nvSpPr>
          <p:cNvPr id="10" name="Shape 131"/>
          <p:cNvSpPr/>
          <p:nvPr/>
        </p:nvSpPr>
        <p:spPr>
          <a:xfrm>
            <a:off x="952500" y="18489726"/>
            <a:ext cx="16008688" cy="1308050"/>
          </a:xfrm>
          <a:prstGeom prst="rect">
            <a:avLst/>
          </a:prstGeom>
          <a:ln w="12700">
            <a:miter lim="400000"/>
          </a:ln>
          <a:extLst>
            <a:ext uri="{C572A759-6A51-4108-AA02-DFA0A04FC94B}">
              <ma14:wrappingTextBoxFlag xmlns:ma14="http://schemas.microsoft.com/office/mac/drawingml/2011/main" xmlns="" val="1"/>
            </a:ext>
          </a:extLst>
        </p:spPr>
        <p:txBody>
          <a:bodyPr lIns="76200" tIns="76200" rIns="76200" bIns="76200">
            <a:spAutoFit/>
          </a:bodyPr>
          <a:lstStyle/>
          <a:p>
            <a:pPr algn="l">
              <a:defRPr sz="2000">
                <a:latin typeface="Alright Sans"/>
                <a:ea typeface="Alright Sans"/>
                <a:cs typeface="Alright Sans"/>
                <a:sym typeface="Alright Sans"/>
              </a:defRPr>
            </a:pPr>
            <a:r>
              <a:rPr lang="en-US" sz="3000" dirty="0">
                <a:latin typeface="Open Sans" panose="020B0606030504020204" pitchFamily="34" charset="0"/>
                <a:ea typeface="Open Sans" panose="020B0606030504020204" pitchFamily="34" charset="0"/>
                <a:cs typeface="Open Sans" panose="020B0606030504020204" pitchFamily="34" charset="0"/>
              </a:rPr>
              <a:t>COMPLETE JAVA MASTERCLASS</a:t>
            </a:r>
          </a:p>
          <a:p>
            <a:pPr algn="l">
              <a:defRPr sz="3000">
                <a:latin typeface="Alright Sans"/>
                <a:ea typeface="Alright Sans"/>
                <a:cs typeface="Alright Sans"/>
                <a:sym typeface="Alright Sans"/>
              </a:defRPr>
            </a:pPr>
            <a:r>
              <a:rPr lang="en-US" sz="4500" dirty="0">
                <a:latin typeface="Open Sans" panose="020B0606030504020204" pitchFamily="34" charset="0"/>
                <a:ea typeface="Open Sans" panose="020B0606030504020204" pitchFamily="34" charset="0"/>
                <a:cs typeface="Open Sans" panose="020B0606030504020204" pitchFamily="34" charset="0"/>
              </a:rPr>
              <a:t>Java's Functional Interfaces, Function &amp; Supplier</a:t>
            </a:r>
          </a:p>
        </p:txBody>
      </p:sp>
      <p:sp>
        <p:nvSpPr>
          <p:cNvPr id="8" name="Rectangle 7">
            <a:extLst>
              <a:ext uri="{FF2B5EF4-FFF2-40B4-BE49-F238E27FC236}">
                <a16:creationId xmlns:a16="http://schemas.microsoft.com/office/drawing/2014/main" id="{89DBB243-EF27-4345-872D-E76597E95619}"/>
              </a:ext>
            </a:extLst>
          </p:cNvPr>
          <p:cNvSpPr/>
          <p:nvPr/>
        </p:nvSpPr>
        <p:spPr>
          <a:xfrm>
            <a:off x="952501" y="4285904"/>
            <a:ext cx="34782670" cy="11880176"/>
          </a:xfrm>
          <a:prstGeom prst="rect">
            <a:avLst/>
          </a:prstGeom>
        </p:spPr>
        <p:txBody>
          <a:bodyPr wrap="square">
            <a:normAutofit/>
          </a:bodyPr>
          <a:lstStyle/>
          <a:p>
            <a:pPr algn="l">
              <a:spcAft>
                <a:spcPts val="5022"/>
              </a:spcAft>
            </a:pPr>
            <a:r>
              <a:rPr lang="en-US" sz="6400" dirty="0">
                <a:latin typeface="Open Sans" panose="020B0606030504020204" pitchFamily="34" charset="0"/>
                <a:ea typeface="Open Sans" panose="020B0606030504020204" pitchFamily="34" charset="0"/>
                <a:cs typeface="Open Sans" panose="020B0606030504020204" pitchFamily="34" charset="0"/>
              </a:rPr>
              <a:t>In the example I'm showing you on this slide, I'm using the Random class to generate a random Integer. </a:t>
            </a:r>
          </a:p>
          <a:p>
            <a:pPr algn="l">
              <a:spcAft>
                <a:spcPts val="5022"/>
              </a:spcAft>
            </a:pPr>
            <a:r>
              <a:rPr lang="en-US" sz="6400" dirty="0">
                <a:latin typeface="Open Sans" panose="020B0606030504020204" pitchFamily="34" charset="0"/>
                <a:ea typeface="Open Sans" panose="020B0606030504020204" pitchFamily="34" charset="0"/>
                <a:cs typeface="Open Sans" panose="020B0606030504020204" pitchFamily="34" charset="0"/>
              </a:rPr>
              <a:t>This method takes no argument, but lambda expressions can use final or effectively final variables in their expressions, which I'm demonstrating here.</a:t>
            </a:r>
          </a:p>
          <a:p>
            <a:pPr algn="l">
              <a:spcAft>
                <a:spcPts val="5022"/>
              </a:spcAft>
            </a:pPr>
            <a:r>
              <a:rPr lang="en-US" sz="6400" dirty="0">
                <a:latin typeface="Open Sans" panose="020B0606030504020204" pitchFamily="34" charset="0"/>
                <a:ea typeface="Open Sans" panose="020B0606030504020204" pitchFamily="34" charset="0"/>
                <a:cs typeface="Open Sans" panose="020B0606030504020204" pitchFamily="34" charset="0"/>
              </a:rPr>
              <a:t>The variable random is an example of a variable from the enclosing code.</a:t>
            </a:r>
          </a:p>
        </p:txBody>
      </p:sp>
      <p:graphicFrame>
        <p:nvGraphicFramePr>
          <p:cNvPr id="2" name="Table 1">
            <a:extLst>
              <a:ext uri="{FF2B5EF4-FFF2-40B4-BE49-F238E27FC236}">
                <a16:creationId xmlns:a16="http://schemas.microsoft.com/office/drawing/2014/main" id="{659F0D44-13E6-4DF8-54C4-F2FAA3590B03}"/>
              </a:ext>
            </a:extLst>
          </p:cNvPr>
          <p:cNvGraphicFramePr>
            <a:graphicFrameLocks noGrp="1"/>
          </p:cNvGraphicFramePr>
          <p:nvPr/>
        </p:nvGraphicFramePr>
        <p:xfrm>
          <a:off x="952498" y="11439698"/>
          <a:ext cx="15245446" cy="2606740"/>
        </p:xfrm>
        <a:graphic>
          <a:graphicData uri="http://schemas.openxmlformats.org/drawingml/2006/table">
            <a:tbl>
              <a:tblPr firstRow="1" bandRow="1">
                <a:tableStyleId>{5C22544A-7EE6-4342-B048-85BDC9FD1C3A}</a:tableStyleId>
              </a:tblPr>
              <a:tblGrid>
                <a:gridCol w="15245446">
                  <a:extLst>
                    <a:ext uri="{9D8B030D-6E8A-4147-A177-3AD203B41FA5}">
                      <a16:colId xmlns:a16="http://schemas.microsoft.com/office/drawing/2014/main" val="2844207666"/>
                    </a:ext>
                  </a:extLst>
                </a:gridCol>
              </a:tblGrid>
              <a:tr h="1188487">
                <a:tc>
                  <a:txBody>
                    <a:bodyPr/>
                    <a:lstStyle/>
                    <a:p>
                      <a:pPr marL="180000" algn="l"/>
                      <a:r>
                        <a:rPr lang="en-US" sz="5400" dirty="0">
                          <a:solidFill>
                            <a:schemeClr val="tx1"/>
                          </a:solidFill>
                          <a:latin typeface="Open Sans" panose="020B0606030504020204" pitchFamily="34" charset="0"/>
                          <a:ea typeface="Open Sans" panose="020B0606030504020204" pitchFamily="34" charset="0"/>
                          <a:cs typeface="Open Sans" panose="020B0606030504020204" pitchFamily="34" charset="0"/>
                        </a:rPr>
                        <a:t>Example Lambda Expression for Consumer</a:t>
                      </a:r>
                      <a:endParaRPr lang="en-PH" sz="5400" dirty="0">
                        <a:solidFill>
                          <a:schemeClr val="tx1"/>
                        </a:solidFill>
                        <a:latin typeface="Open Sans" panose="020B0606030504020204" pitchFamily="34" charset="0"/>
                        <a:ea typeface="Open Sans" panose="020B0606030504020204" pitchFamily="34" charset="0"/>
                        <a:cs typeface="Open Sans" panose="020B0606030504020204" pitchFamily="34" charset="0"/>
                      </a:endParaRPr>
                    </a:p>
                  </a:txBody>
                  <a:tcPr marL="86794" marR="86794" marT="43397" marB="43397">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BE4D5"/>
                    </a:solidFill>
                  </a:tcPr>
                </a:tc>
                <a:extLst>
                  <a:ext uri="{0D108BD9-81ED-4DB2-BD59-A6C34878D82A}">
                    <a16:rowId xmlns:a16="http://schemas.microsoft.com/office/drawing/2014/main" val="3978129174"/>
                  </a:ext>
                </a:extLst>
              </a:tr>
              <a:tr h="1418253">
                <a:tc>
                  <a:txBody>
                    <a:bodyPr/>
                    <a:lstStyle/>
                    <a:p>
                      <a:pPr marL="180000" marR="0" lvl="0" indent="0" algn="l" defTabSz="914400" rtl="0" eaLnBrk="1" fontAlgn="auto" latinLnBrk="0" hangingPunct="1">
                        <a:lnSpc>
                          <a:spcPct val="100000"/>
                        </a:lnSpc>
                        <a:spcBef>
                          <a:spcPts val="0"/>
                        </a:spcBef>
                        <a:spcAft>
                          <a:spcPts val="1000"/>
                        </a:spcAft>
                        <a:buClr>
                          <a:srgbClr val="000000"/>
                        </a:buClr>
                        <a:buSzTx/>
                        <a:buFont typeface="Arial" panose="020B0604020202020204" pitchFamily="34" charset="0"/>
                        <a:buNone/>
                        <a:tabLst/>
                        <a:defRPr/>
                      </a:pPr>
                      <a:endParaRPr lang="en-US" sz="5400" b="0" dirty="0">
                        <a:solidFill>
                          <a:schemeClr val="tx1"/>
                        </a:solidFill>
                        <a:latin typeface="Open Sans" panose="020B0606030504020204" pitchFamily="34" charset="0"/>
                        <a:ea typeface="Open Sans" panose="020B0606030504020204" pitchFamily="34" charset="0"/>
                        <a:cs typeface="Open Sans" panose="020B0606030504020204" pitchFamily="34" charset="0"/>
                      </a:endParaRPr>
                    </a:p>
                  </a:txBody>
                  <a:tcPr marL="86794" marR="86794" marT="43397" marB="43397">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640325450"/>
                  </a:ext>
                </a:extLst>
              </a:tr>
            </a:tbl>
          </a:graphicData>
        </a:graphic>
      </p:graphicFrame>
      <p:pic>
        <p:nvPicPr>
          <p:cNvPr id="4" name="Picture 3">
            <a:extLst>
              <a:ext uri="{FF2B5EF4-FFF2-40B4-BE49-F238E27FC236}">
                <a16:creationId xmlns:a16="http://schemas.microsoft.com/office/drawing/2014/main" id="{B2CCD363-7B7F-B401-FF65-408FDCC70B38}"/>
              </a:ext>
            </a:extLst>
          </p:cNvPr>
          <p:cNvPicPr>
            <a:picLocks noChangeAspect="1"/>
          </p:cNvPicPr>
          <p:nvPr/>
        </p:nvPicPr>
        <p:blipFill>
          <a:blip r:embed="rId4"/>
          <a:stretch>
            <a:fillRect/>
          </a:stretch>
        </p:blipFill>
        <p:spPr>
          <a:xfrm>
            <a:off x="1120446" y="12799051"/>
            <a:ext cx="13352380" cy="971428"/>
          </a:xfrm>
          <a:prstGeom prst="rect">
            <a:avLst/>
          </a:prstGeom>
        </p:spPr>
      </p:pic>
    </p:spTree>
    <p:extLst>
      <p:ext uri="{BB962C8B-B14F-4D97-AF65-F5344CB8AC3E}">
        <p14:creationId xmlns:p14="http://schemas.microsoft.com/office/powerpoint/2010/main" val="3522900318"/>
      </p:ext>
    </p:extLst>
  </p:cSld>
  <p:clrMapOvr>
    <a:masterClrMapping/>
  </p:clrMapOvr>
  <p:transition spd="slow"/>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 name="Shape 126"/>
          <p:cNvSpPr/>
          <p:nvPr/>
        </p:nvSpPr>
        <p:spPr>
          <a:xfrm>
            <a:off x="952498" y="627735"/>
            <a:ext cx="33448259" cy="1538883"/>
          </a:xfrm>
          <a:prstGeom prst="rect">
            <a:avLst/>
          </a:prstGeom>
          <a:ln w="12700">
            <a:miter lim="400000"/>
          </a:ln>
          <a:extLst>
            <a:ext uri="{C572A759-6A51-4108-AA02-DFA0A04FC94B}">
              <ma14:wrappingTextBoxFlag xmlns:ma14="http://schemas.microsoft.com/office/mac/drawingml/2011/main" xmlns="" val="1"/>
            </a:ext>
          </a:extLst>
        </p:spPr>
        <p:txBody>
          <a:bodyPr wrap="none" lIns="76200" tIns="76200" rIns="76200" bIns="76200">
            <a:spAutoFit/>
          </a:bodyPr>
          <a:lstStyle>
            <a:lvl1pPr algn="l">
              <a:defRPr sz="7000">
                <a:latin typeface="Alright Sans"/>
                <a:ea typeface="Alright Sans"/>
                <a:cs typeface="Alright Sans"/>
                <a:sym typeface="Alright Sans"/>
              </a:defRPr>
            </a:lvl1pPr>
          </a:lstStyle>
          <a:p>
            <a:pPr>
              <a:defRPr sz="3000">
                <a:latin typeface="Alright Sans"/>
                <a:ea typeface="Alright Sans"/>
                <a:cs typeface="Alright Sans"/>
                <a:sym typeface="Alright Sans"/>
              </a:defRPr>
            </a:pPr>
            <a:r>
              <a:rPr lang="en-US" sz="9000" dirty="0">
                <a:latin typeface="Open Sans" panose="020B0606030504020204" pitchFamily="34" charset="0"/>
                <a:ea typeface="Open Sans" panose="020B0606030504020204" pitchFamily="34" charset="0"/>
                <a:cs typeface="Open Sans" panose="020B0606030504020204" pitchFamily="34" charset="0"/>
              </a:rPr>
              <a:t>Valid Lambda Declarations for different number of arguments</a:t>
            </a:r>
          </a:p>
        </p:txBody>
      </p:sp>
      <p:sp>
        <p:nvSpPr>
          <p:cNvPr id="128" name="Shape 128"/>
          <p:cNvSpPr/>
          <p:nvPr/>
        </p:nvSpPr>
        <p:spPr>
          <a:xfrm>
            <a:off x="952500" y="18210515"/>
            <a:ext cx="34782668" cy="2"/>
          </a:xfrm>
          <a:prstGeom prst="line">
            <a:avLst/>
          </a:prstGeom>
          <a:ln w="76200">
            <a:solidFill>
              <a:schemeClr val="accent1">
                <a:satOff val="-3355"/>
                <a:lumOff val="26614"/>
              </a:schemeClr>
            </a:solidFill>
            <a:miter lim="400000"/>
          </a:ln>
        </p:spPr>
        <p:txBody>
          <a:bodyPr lIns="76200" tIns="76200" rIns="76200" bIns="76200" anchor="ctr"/>
          <a:lstStyle/>
          <a:p>
            <a:pPr>
              <a:defRPr sz="3200"/>
            </a:pPr>
            <a:endParaRPr sz="4800"/>
          </a:p>
        </p:txBody>
      </p:sp>
      <p:pic>
        <p:nvPicPr>
          <p:cNvPr id="129" name="Logo.png"/>
          <p:cNvPicPr>
            <a:picLocks noChangeAspect="1"/>
          </p:cNvPicPr>
          <p:nvPr/>
        </p:nvPicPr>
        <p:blipFill>
          <a:blip r:embed="rId3"/>
          <a:stretch>
            <a:fillRect/>
          </a:stretch>
        </p:blipFill>
        <p:spPr>
          <a:xfrm>
            <a:off x="14650974" y="18489726"/>
            <a:ext cx="6321552" cy="1392336"/>
          </a:xfrm>
          <a:prstGeom prst="rect">
            <a:avLst/>
          </a:prstGeom>
          <a:ln w="12700">
            <a:miter lim="400000"/>
          </a:ln>
        </p:spPr>
      </p:pic>
      <p:sp>
        <p:nvSpPr>
          <p:cNvPr id="9" name="Shape 127"/>
          <p:cNvSpPr/>
          <p:nvPr/>
        </p:nvSpPr>
        <p:spPr>
          <a:xfrm flipV="1">
            <a:off x="952499" y="2203340"/>
            <a:ext cx="34782670" cy="38132"/>
          </a:xfrm>
          <a:prstGeom prst="line">
            <a:avLst/>
          </a:prstGeom>
          <a:ln w="152400">
            <a:solidFill>
              <a:schemeClr val="accent1">
                <a:satOff val="-3355"/>
                <a:lumOff val="26614"/>
              </a:schemeClr>
            </a:solidFill>
            <a:miter lim="400000"/>
          </a:ln>
        </p:spPr>
        <p:txBody>
          <a:bodyPr lIns="76200" tIns="76200" rIns="76200" bIns="76200" anchor="ctr"/>
          <a:lstStyle/>
          <a:p>
            <a:pPr>
              <a:defRPr sz="3200"/>
            </a:pPr>
            <a:endParaRPr sz="4800"/>
          </a:p>
        </p:txBody>
      </p:sp>
      <p:sp>
        <p:nvSpPr>
          <p:cNvPr id="10" name="Shape 131"/>
          <p:cNvSpPr/>
          <p:nvPr/>
        </p:nvSpPr>
        <p:spPr>
          <a:xfrm>
            <a:off x="952500" y="18489726"/>
            <a:ext cx="16008688" cy="1308050"/>
          </a:xfrm>
          <a:prstGeom prst="rect">
            <a:avLst/>
          </a:prstGeom>
          <a:ln w="12700">
            <a:miter lim="400000"/>
          </a:ln>
          <a:extLst>
            <a:ext uri="{C572A759-6A51-4108-AA02-DFA0A04FC94B}">
              <ma14:wrappingTextBoxFlag xmlns="" xmlns:ma14="http://schemas.microsoft.com/office/mac/drawingml/2011/main" val="1"/>
            </a:ext>
          </a:extLst>
        </p:spPr>
        <p:txBody>
          <a:bodyPr lIns="76200" tIns="76200" rIns="76200" bIns="76200">
            <a:spAutoFit/>
          </a:bodyPr>
          <a:lstStyle/>
          <a:p>
            <a:pPr algn="l">
              <a:defRPr sz="2000">
                <a:latin typeface="Alright Sans"/>
                <a:ea typeface="Alright Sans"/>
                <a:cs typeface="Alright Sans"/>
                <a:sym typeface="Alright Sans"/>
              </a:defRPr>
            </a:pPr>
            <a:r>
              <a:rPr lang="en-US" sz="3000" dirty="0">
                <a:latin typeface="Open Sans" panose="020B0606030504020204" pitchFamily="34" charset="0"/>
                <a:ea typeface="Open Sans" panose="020B0606030504020204" pitchFamily="34" charset="0"/>
                <a:cs typeface="Open Sans" panose="020B0606030504020204" pitchFamily="34" charset="0"/>
              </a:rPr>
              <a:t>COMPLETE JAVA MASTERCLASS</a:t>
            </a:r>
          </a:p>
          <a:p>
            <a:pPr algn="l">
              <a:defRPr sz="3000">
                <a:latin typeface="Alright Sans"/>
                <a:ea typeface="Alright Sans"/>
                <a:cs typeface="Alright Sans"/>
                <a:sym typeface="Alright Sans"/>
              </a:defRPr>
            </a:pPr>
            <a:r>
              <a:rPr lang="en-US" sz="4500" dirty="0">
                <a:latin typeface="Open Sans" panose="020B0606030504020204" pitchFamily="34" charset="0"/>
                <a:ea typeface="Open Sans" panose="020B0606030504020204" pitchFamily="34" charset="0"/>
                <a:cs typeface="Open Sans" panose="020B0606030504020204" pitchFamily="34" charset="0"/>
              </a:rPr>
              <a:t>Java's Functional Interfaces, Function &amp; Supplier</a:t>
            </a:r>
          </a:p>
        </p:txBody>
      </p:sp>
      <p:sp>
        <p:nvSpPr>
          <p:cNvPr id="8" name="Rectangle 7">
            <a:extLst>
              <a:ext uri="{FF2B5EF4-FFF2-40B4-BE49-F238E27FC236}">
                <a16:creationId xmlns:a16="http://schemas.microsoft.com/office/drawing/2014/main" id="{89DBB243-EF27-4345-872D-E76597E95619}"/>
              </a:ext>
            </a:extLst>
          </p:cNvPr>
          <p:cNvSpPr/>
          <p:nvPr/>
        </p:nvSpPr>
        <p:spPr>
          <a:xfrm>
            <a:off x="952501" y="2520681"/>
            <a:ext cx="34782670" cy="15410625"/>
          </a:xfrm>
          <a:prstGeom prst="rect">
            <a:avLst/>
          </a:prstGeom>
        </p:spPr>
        <p:txBody>
          <a:bodyPr wrap="square">
            <a:normAutofit/>
          </a:bodyPr>
          <a:lstStyle/>
          <a:p>
            <a:pPr algn="l">
              <a:spcAft>
                <a:spcPts val="5022"/>
              </a:spcAft>
            </a:pPr>
            <a:r>
              <a:rPr lang="en-US" sz="6400" dirty="0">
                <a:latin typeface="Open Sans" panose="020B0606030504020204" pitchFamily="34" charset="0"/>
                <a:ea typeface="Open Sans" panose="020B0606030504020204" pitchFamily="34" charset="0"/>
                <a:cs typeface="Open Sans" panose="020B0606030504020204" pitchFamily="34" charset="0"/>
              </a:rPr>
              <a:t>This slide shows the many varieties of declaring a parameter type in a lambda expression.</a:t>
            </a:r>
          </a:p>
          <a:p>
            <a:pPr algn="l">
              <a:spcAft>
                <a:spcPts val="5022"/>
              </a:spcAft>
            </a:pPr>
            <a:r>
              <a:rPr lang="en-US" sz="6400" dirty="0">
                <a:latin typeface="Open Sans" panose="020B0606030504020204" pitchFamily="34" charset="0"/>
                <a:ea typeface="Open Sans" panose="020B0606030504020204" pitchFamily="34" charset="0"/>
                <a:cs typeface="Open Sans" panose="020B0606030504020204" pitchFamily="34" charset="0"/>
              </a:rPr>
              <a:t>Parentheses are required in all but the one case, where the functional method has a single argument, and you don't specify a type, or use var.</a:t>
            </a:r>
          </a:p>
        </p:txBody>
      </p:sp>
      <p:graphicFrame>
        <p:nvGraphicFramePr>
          <p:cNvPr id="3" name="Table 2">
            <a:extLst>
              <a:ext uri="{FF2B5EF4-FFF2-40B4-BE49-F238E27FC236}">
                <a16:creationId xmlns:a16="http://schemas.microsoft.com/office/drawing/2014/main" id="{D0D593E2-8097-17AF-2800-552E95189514}"/>
              </a:ext>
            </a:extLst>
          </p:cNvPr>
          <p:cNvGraphicFramePr>
            <a:graphicFrameLocks noGrp="1"/>
          </p:cNvGraphicFramePr>
          <p:nvPr/>
        </p:nvGraphicFramePr>
        <p:xfrm>
          <a:off x="952497" y="6587778"/>
          <a:ext cx="31070163" cy="11252353"/>
        </p:xfrm>
        <a:graphic>
          <a:graphicData uri="http://schemas.openxmlformats.org/drawingml/2006/table">
            <a:tbl>
              <a:tblPr firstRow="1" bandRow="1">
                <a:tableStyleId>{5C22544A-7EE6-4342-B048-85BDC9FD1C3A}</a:tableStyleId>
              </a:tblPr>
              <a:tblGrid>
                <a:gridCol w="15499919">
                  <a:extLst>
                    <a:ext uri="{9D8B030D-6E8A-4147-A177-3AD203B41FA5}">
                      <a16:colId xmlns:a16="http://schemas.microsoft.com/office/drawing/2014/main" val="2844207666"/>
                    </a:ext>
                  </a:extLst>
                </a:gridCol>
                <a:gridCol w="15570244">
                  <a:extLst>
                    <a:ext uri="{9D8B030D-6E8A-4147-A177-3AD203B41FA5}">
                      <a16:colId xmlns:a16="http://schemas.microsoft.com/office/drawing/2014/main" val="1891655341"/>
                    </a:ext>
                  </a:extLst>
                </a:gridCol>
              </a:tblGrid>
              <a:tr h="1584362">
                <a:tc>
                  <a:txBody>
                    <a:bodyPr/>
                    <a:lstStyle/>
                    <a:p>
                      <a:pPr marL="180000" algn="l"/>
                      <a:r>
                        <a:rPr lang="en-US" sz="5400" dirty="0">
                          <a:solidFill>
                            <a:schemeClr val="tx1"/>
                          </a:solidFill>
                          <a:latin typeface="Open Sans" panose="020B0606030504020204" pitchFamily="34" charset="0"/>
                          <a:ea typeface="Open Sans" panose="020B0606030504020204" pitchFamily="34" charset="0"/>
                          <a:cs typeface="Open Sans" panose="020B0606030504020204" pitchFamily="34" charset="0"/>
                        </a:rPr>
                        <a:t>Arguments in Functional Method</a:t>
                      </a:r>
                      <a:endParaRPr lang="en-PH" sz="5400" dirty="0">
                        <a:solidFill>
                          <a:schemeClr val="tx1"/>
                        </a:solidFill>
                        <a:latin typeface="Open Sans" panose="020B0606030504020204" pitchFamily="34" charset="0"/>
                        <a:ea typeface="Open Sans" panose="020B0606030504020204" pitchFamily="34" charset="0"/>
                        <a:cs typeface="Open Sans" panose="020B0606030504020204" pitchFamily="34" charset="0"/>
                      </a:endParaRPr>
                    </a:p>
                  </a:txBody>
                  <a:tcPr marL="86794" marR="86794" marT="43397" marB="43397">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BE4D5"/>
                    </a:solidFill>
                  </a:tcPr>
                </a:tc>
                <a:tc>
                  <a:txBody>
                    <a:bodyPr/>
                    <a:lstStyle/>
                    <a:p>
                      <a:pPr marL="180000" algn="l"/>
                      <a:r>
                        <a:rPr lang="en-US" sz="5400" dirty="0">
                          <a:solidFill>
                            <a:schemeClr val="tx1"/>
                          </a:solidFill>
                          <a:latin typeface="Open Sans" panose="020B0606030504020204" pitchFamily="34" charset="0"/>
                          <a:ea typeface="Open Sans" panose="020B0606030504020204" pitchFamily="34" charset="0"/>
                          <a:cs typeface="Open Sans" panose="020B0606030504020204" pitchFamily="34" charset="0"/>
                        </a:rPr>
                        <a:t>Valid lambda syntax</a:t>
                      </a:r>
                      <a:endParaRPr lang="en-PH" sz="5400" dirty="0">
                        <a:solidFill>
                          <a:schemeClr val="tx1"/>
                        </a:solidFill>
                        <a:latin typeface="Open Sans" panose="020B0606030504020204" pitchFamily="34" charset="0"/>
                        <a:ea typeface="Open Sans" panose="020B0606030504020204" pitchFamily="34" charset="0"/>
                        <a:cs typeface="Open Sans" panose="020B0606030504020204" pitchFamily="34" charset="0"/>
                      </a:endParaRPr>
                    </a:p>
                  </a:txBody>
                  <a:tcPr marL="86794" marR="86794" marT="43397" marB="43397">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BE4D5"/>
                    </a:solidFill>
                  </a:tcPr>
                </a:tc>
                <a:extLst>
                  <a:ext uri="{0D108BD9-81ED-4DB2-BD59-A6C34878D82A}">
                    <a16:rowId xmlns:a16="http://schemas.microsoft.com/office/drawing/2014/main" val="3978129174"/>
                  </a:ext>
                </a:extLst>
              </a:tr>
              <a:tr h="1382407">
                <a:tc>
                  <a:txBody>
                    <a:bodyPr/>
                    <a:lstStyle/>
                    <a:p>
                      <a:pPr marL="180000" marR="0" lvl="0" indent="0" algn="l" defTabSz="914400" rtl="0" eaLnBrk="1" fontAlgn="auto" latinLnBrk="0" hangingPunct="1">
                        <a:lnSpc>
                          <a:spcPct val="100000"/>
                        </a:lnSpc>
                        <a:spcBef>
                          <a:spcPts val="0"/>
                        </a:spcBef>
                        <a:spcAft>
                          <a:spcPts val="1000"/>
                        </a:spcAft>
                        <a:buClr>
                          <a:srgbClr val="000000"/>
                        </a:buClr>
                        <a:buSzTx/>
                        <a:buFont typeface="Arial" panose="020B0604020202020204" pitchFamily="34" charset="0"/>
                        <a:buNone/>
                        <a:tabLst/>
                        <a:defRPr/>
                      </a:pPr>
                      <a:r>
                        <a:rPr lang="en-US" sz="5400" b="0" dirty="0">
                          <a:solidFill>
                            <a:schemeClr val="tx1"/>
                          </a:solidFill>
                          <a:latin typeface="Open Sans" panose="020B0606030504020204" pitchFamily="34" charset="0"/>
                          <a:ea typeface="Open Sans" panose="020B0606030504020204" pitchFamily="34" charset="0"/>
                          <a:cs typeface="Open Sans" panose="020B0606030504020204" pitchFamily="34" charset="0"/>
                        </a:rPr>
                        <a:t>None</a:t>
                      </a:r>
                    </a:p>
                  </a:txBody>
                  <a:tcPr marL="86794" marR="86794" marT="43397" marB="43397">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180000" marR="0" lvl="0" indent="0" algn="l" defTabSz="914400" rtl="0" eaLnBrk="1" fontAlgn="auto" latinLnBrk="0" hangingPunct="1">
                        <a:lnSpc>
                          <a:spcPct val="100000"/>
                        </a:lnSpc>
                        <a:spcBef>
                          <a:spcPts val="0"/>
                        </a:spcBef>
                        <a:spcAft>
                          <a:spcPts val="1000"/>
                        </a:spcAft>
                        <a:buClr>
                          <a:srgbClr val="000000"/>
                        </a:buClr>
                        <a:buSzTx/>
                        <a:buFont typeface="Arial" panose="020B0604020202020204" pitchFamily="34" charset="0"/>
                        <a:buNone/>
                        <a:tabLst/>
                        <a:defRPr/>
                      </a:pPr>
                      <a:endParaRPr lang="en-US" sz="5400" b="0" dirty="0">
                        <a:solidFill>
                          <a:schemeClr val="tx1"/>
                        </a:solidFill>
                        <a:latin typeface="Open Sans" panose="020B0606030504020204" pitchFamily="34" charset="0"/>
                        <a:ea typeface="Open Sans" panose="020B0606030504020204" pitchFamily="34" charset="0"/>
                        <a:cs typeface="Open Sans" panose="020B0606030504020204" pitchFamily="34" charset="0"/>
                      </a:endParaRPr>
                    </a:p>
                  </a:txBody>
                  <a:tcPr marL="86794" marR="86794" marT="43397" marB="43397">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640325450"/>
                  </a:ext>
                </a:extLst>
              </a:tr>
              <a:tr h="3620277">
                <a:tc>
                  <a:txBody>
                    <a:bodyPr/>
                    <a:lstStyle/>
                    <a:p>
                      <a:pPr marL="180000" marR="0" lvl="0" indent="0" algn="l" defTabSz="914400" rtl="0" eaLnBrk="1" fontAlgn="auto" latinLnBrk="0" hangingPunct="1">
                        <a:lnSpc>
                          <a:spcPct val="100000"/>
                        </a:lnSpc>
                        <a:spcBef>
                          <a:spcPts val="0"/>
                        </a:spcBef>
                        <a:spcAft>
                          <a:spcPts val="1000"/>
                        </a:spcAft>
                        <a:buClr>
                          <a:srgbClr val="000000"/>
                        </a:buClr>
                        <a:buSzTx/>
                        <a:buFont typeface="Arial" panose="020B0604020202020204" pitchFamily="34" charset="0"/>
                        <a:buNone/>
                        <a:tabLst/>
                        <a:defRPr/>
                      </a:pPr>
                      <a:r>
                        <a:rPr lang="en-US" sz="5400" b="0" dirty="0">
                          <a:solidFill>
                            <a:schemeClr val="tx1"/>
                          </a:solidFill>
                          <a:latin typeface="Open Sans" panose="020B0606030504020204" pitchFamily="34" charset="0"/>
                          <a:ea typeface="Open Sans" panose="020B0606030504020204" pitchFamily="34" charset="0"/>
                          <a:cs typeface="Open Sans" panose="020B0606030504020204" pitchFamily="34" charset="0"/>
                        </a:rPr>
                        <a:t>One</a:t>
                      </a:r>
                    </a:p>
                  </a:txBody>
                  <a:tcPr marL="86794" marR="86794" marT="43397" marB="43397">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180000" marR="0" lvl="0" indent="0" algn="l" defTabSz="914400" rtl="0" eaLnBrk="1" fontAlgn="auto" latinLnBrk="0" hangingPunct="1">
                        <a:lnSpc>
                          <a:spcPct val="100000"/>
                        </a:lnSpc>
                        <a:spcBef>
                          <a:spcPts val="0"/>
                        </a:spcBef>
                        <a:spcAft>
                          <a:spcPts val="1000"/>
                        </a:spcAft>
                        <a:buClr>
                          <a:srgbClr val="000000"/>
                        </a:buClr>
                        <a:buSzTx/>
                        <a:buFont typeface="Arial" panose="020B0604020202020204" pitchFamily="34" charset="0"/>
                        <a:buNone/>
                        <a:tabLst/>
                        <a:defRPr/>
                      </a:pPr>
                      <a:endParaRPr lang="en-US" sz="5400" b="0" dirty="0">
                        <a:solidFill>
                          <a:schemeClr val="tx1"/>
                        </a:solidFill>
                        <a:latin typeface="Open Sans" panose="020B0606030504020204" pitchFamily="34" charset="0"/>
                        <a:ea typeface="Open Sans" panose="020B0606030504020204" pitchFamily="34" charset="0"/>
                        <a:cs typeface="Open Sans" panose="020B0606030504020204" pitchFamily="34" charset="0"/>
                      </a:endParaRPr>
                    </a:p>
                  </a:txBody>
                  <a:tcPr marL="86794" marR="86794" marT="43397" marB="43397">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853046320"/>
                  </a:ext>
                </a:extLst>
              </a:tr>
              <a:tr h="4665307">
                <a:tc>
                  <a:txBody>
                    <a:bodyPr/>
                    <a:lstStyle/>
                    <a:p>
                      <a:pPr marL="180000" marR="0" lvl="0" indent="0" algn="l" defTabSz="914400" rtl="0" eaLnBrk="1" fontAlgn="auto" latinLnBrk="0" hangingPunct="1">
                        <a:lnSpc>
                          <a:spcPct val="100000"/>
                        </a:lnSpc>
                        <a:spcBef>
                          <a:spcPts val="0"/>
                        </a:spcBef>
                        <a:spcAft>
                          <a:spcPts val="1000"/>
                        </a:spcAft>
                        <a:buClr>
                          <a:srgbClr val="000000"/>
                        </a:buClr>
                        <a:buSzTx/>
                        <a:buFont typeface="Arial" panose="020B0604020202020204" pitchFamily="34" charset="0"/>
                        <a:buNone/>
                        <a:tabLst/>
                        <a:defRPr/>
                      </a:pPr>
                      <a:r>
                        <a:rPr lang="en-US" sz="5400" b="0" dirty="0">
                          <a:solidFill>
                            <a:schemeClr val="tx1"/>
                          </a:solidFill>
                          <a:latin typeface="Open Sans" panose="020B0606030504020204" pitchFamily="34" charset="0"/>
                          <a:ea typeface="Open Sans" panose="020B0606030504020204" pitchFamily="34" charset="0"/>
                          <a:cs typeface="Open Sans" panose="020B0606030504020204" pitchFamily="34" charset="0"/>
                        </a:rPr>
                        <a:t>Two</a:t>
                      </a:r>
                    </a:p>
                    <a:p>
                      <a:pPr marL="865800" marR="0" lvl="0" indent="-685800" algn="l" defTabSz="914400" rtl="0" eaLnBrk="1" fontAlgn="auto" latinLnBrk="0" hangingPunct="1">
                        <a:lnSpc>
                          <a:spcPct val="100000"/>
                        </a:lnSpc>
                        <a:spcBef>
                          <a:spcPts val="0"/>
                        </a:spcBef>
                        <a:spcAft>
                          <a:spcPts val="1000"/>
                        </a:spcAft>
                        <a:buClr>
                          <a:srgbClr val="000000"/>
                        </a:buClr>
                        <a:buSzTx/>
                        <a:buFont typeface="Arial" panose="020B0604020202020204" pitchFamily="34" charset="0"/>
                        <a:buChar char="•"/>
                        <a:tabLst/>
                        <a:defRPr/>
                      </a:pPr>
                      <a:r>
                        <a:rPr lang="en-US" sz="5400" b="0" dirty="0">
                          <a:solidFill>
                            <a:schemeClr val="tx1"/>
                          </a:solidFill>
                          <a:latin typeface="Open Sans" panose="020B0606030504020204" pitchFamily="34" charset="0"/>
                          <a:ea typeface="Open Sans" panose="020B0606030504020204" pitchFamily="34" charset="0"/>
                          <a:cs typeface="Open Sans" panose="020B0606030504020204" pitchFamily="34" charset="0"/>
                        </a:rPr>
                        <a:t>When using var, all arguments must use var.</a:t>
                      </a:r>
                    </a:p>
                    <a:p>
                      <a:pPr marL="865800" marR="0" lvl="0" indent="-685800" algn="l" defTabSz="914400" rtl="0" eaLnBrk="1" fontAlgn="auto" latinLnBrk="0" hangingPunct="1">
                        <a:lnSpc>
                          <a:spcPct val="100000"/>
                        </a:lnSpc>
                        <a:spcBef>
                          <a:spcPts val="0"/>
                        </a:spcBef>
                        <a:spcAft>
                          <a:spcPts val="1000"/>
                        </a:spcAft>
                        <a:buClr>
                          <a:srgbClr val="000000"/>
                        </a:buClr>
                        <a:buSzTx/>
                        <a:buFont typeface="Arial" panose="020B0604020202020204" pitchFamily="34" charset="0"/>
                        <a:buChar char="•"/>
                        <a:tabLst/>
                        <a:defRPr/>
                      </a:pPr>
                      <a:r>
                        <a:rPr lang="en-US" sz="5400" b="0" dirty="0">
                          <a:solidFill>
                            <a:schemeClr val="tx1"/>
                          </a:solidFill>
                          <a:latin typeface="Open Sans" panose="020B0606030504020204" pitchFamily="34" charset="0"/>
                          <a:ea typeface="Open Sans" panose="020B0606030504020204" pitchFamily="34" charset="0"/>
                          <a:cs typeface="Open Sans" panose="020B0606030504020204" pitchFamily="34" charset="0"/>
                        </a:rPr>
                        <a:t>When specifying explicit types, all arguments must specify explicit types.</a:t>
                      </a:r>
                    </a:p>
                  </a:txBody>
                  <a:tcPr marL="86794" marR="86794" marT="43397" marB="43397">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180000" marR="0" lvl="0" indent="0" algn="l" defTabSz="914400" rtl="0" eaLnBrk="1" fontAlgn="auto" latinLnBrk="0" hangingPunct="1">
                        <a:lnSpc>
                          <a:spcPct val="100000"/>
                        </a:lnSpc>
                        <a:spcBef>
                          <a:spcPts val="0"/>
                        </a:spcBef>
                        <a:spcAft>
                          <a:spcPts val="1000"/>
                        </a:spcAft>
                        <a:buClr>
                          <a:srgbClr val="000000"/>
                        </a:buClr>
                        <a:buSzTx/>
                        <a:buFont typeface="Arial" panose="020B0604020202020204" pitchFamily="34" charset="0"/>
                        <a:buNone/>
                        <a:tabLst/>
                        <a:defRPr/>
                      </a:pPr>
                      <a:endParaRPr lang="en-US" sz="5400" b="0" dirty="0">
                        <a:solidFill>
                          <a:schemeClr val="tx1"/>
                        </a:solidFill>
                        <a:latin typeface="Open Sans" panose="020B0606030504020204" pitchFamily="34" charset="0"/>
                        <a:ea typeface="Open Sans" panose="020B0606030504020204" pitchFamily="34" charset="0"/>
                        <a:cs typeface="Open Sans" panose="020B0606030504020204" pitchFamily="34" charset="0"/>
                      </a:endParaRPr>
                    </a:p>
                  </a:txBody>
                  <a:tcPr marL="86794" marR="86794" marT="43397" marB="43397">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943315230"/>
                  </a:ext>
                </a:extLst>
              </a:tr>
            </a:tbl>
          </a:graphicData>
        </a:graphic>
      </p:graphicFrame>
      <p:pic>
        <p:nvPicPr>
          <p:cNvPr id="7" name="Picture 6">
            <a:extLst>
              <a:ext uri="{FF2B5EF4-FFF2-40B4-BE49-F238E27FC236}">
                <a16:creationId xmlns:a16="http://schemas.microsoft.com/office/drawing/2014/main" id="{B444EC92-E945-2766-F3A9-41330424FBCB}"/>
              </a:ext>
            </a:extLst>
          </p:cNvPr>
          <p:cNvPicPr>
            <a:picLocks noChangeAspect="1"/>
          </p:cNvPicPr>
          <p:nvPr/>
        </p:nvPicPr>
        <p:blipFill>
          <a:blip r:embed="rId4"/>
          <a:stretch>
            <a:fillRect/>
          </a:stretch>
        </p:blipFill>
        <p:spPr>
          <a:xfrm>
            <a:off x="16671550" y="8378954"/>
            <a:ext cx="6283333" cy="749999"/>
          </a:xfrm>
          <a:prstGeom prst="rect">
            <a:avLst/>
          </a:prstGeom>
        </p:spPr>
      </p:pic>
      <p:pic>
        <p:nvPicPr>
          <p:cNvPr id="12" name="Picture 11">
            <a:extLst>
              <a:ext uri="{FF2B5EF4-FFF2-40B4-BE49-F238E27FC236}">
                <a16:creationId xmlns:a16="http://schemas.microsoft.com/office/drawing/2014/main" id="{4788C508-EB5A-3AD2-62FF-EA45D63B7215}"/>
              </a:ext>
            </a:extLst>
          </p:cNvPr>
          <p:cNvPicPr>
            <a:picLocks noChangeAspect="1"/>
          </p:cNvPicPr>
          <p:nvPr/>
        </p:nvPicPr>
        <p:blipFill>
          <a:blip r:embed="rId5"/>
          <a:stretch>
            <a:fillRect/>
          </a:stretch>
        </p:blipFill>
        <p:spPr>
          <a:xfrm>
            <a:off x="16671550" y="13493920"/>
            <a:ext cx="12950000" cy="4200000"/>
          </a:xfrm>
          <a:prstGeom prst="rect">
            <a:avLst/>
          </a:prstGeom>
        </p:spPr>
      </p:pic>
      <p:pic>
        <p:nvPicPr>
          <p:cNvPr id="14" name="Picture 13">
            <a:extLst>
              <a:ext uri="{FF2B5EF4-FFF2-40B4-BE49-F238E27FC236}">
                <a16:creationId xmlns:a16="http://schemas.microsoft.com/office/drawing/2014/main" id="{AE997691-A8CC-754C-853A-984FA3C42CA9}"/>
              </a:ext>
            </a:extLst>
          </p:cNvPr>
          <p:cNvPicPr>
            <a:picLocks noChangeAspect="1"/>
          </p:cNvPicPr>
          <p:nvPr/>
        </p:nvPicPr>
        <p:blipFill>
          <a:blip r:embed="rId6"/>
          <a:stretch>
            <a:fillRect/>
          </a:stretch>
        </p:blipFill>
        <p:spPr>
          <a:xfrm>
            <a:off x="16671550" y="9802899"/>
            <a:ext cx="9550000" cy="3216666"/>
          </a:xfrm>
          <a:prstGeom prst="rect">
            <a:avLst/>
          </a:prstGeom>
        </p:spPr>
      </p:pic>
    </p:spTree>
    <p:extLst>
      <p:ext uri="{BB962C8B-B14F-4D97-AF65-F5344CB8AC3E}">
        <p14:creationId xmlns:p14="http://schemas.microsoft.com/office/powerpoint/2010/main" val="66711207"/>
      </p:ext>
    </p:extLst>
  </p:cSld>
  <p:clrMapOvr>
    <a:masterClrMapping/>
  </p:clrMapOvr>
  <p:transition spd="slow"/>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 name="Shape 126"/>
          <p:cNvSpPr/>
          <p:nvPr/>
        </p:nvSpPr>
        <p:spPr>
          <a:xfrm>
            <a:off x="952498" y="627735"/>
            <a:ext cx="33448259" cy="1538883"/>
          </a:xfrm>
          <a:prstGeom prst="rect">
            <a:avLst/>
          </a:prstGeom>
          <a:ln w="12700">
            <a:miter lim="400000"/>
          </a:ln>
          <a:extLst>
            <a:ext uri="{C572A759-6A51-4108-AA02-DFA0A04FC94B}">
              <ma14:wrappingTextBoxFlag xmlns="" xmlns:ma14="http://schemas.microsoft.com/office/mac/drawingml/2011/main" val="1"/>
            </a:ext>
          </a:extLst>
        </p:spPr>
        <p:txBody>
          <a:bodyPr wrap="none" lIns="76200" tIns="76200" rIns="76200" bIns="76200">
            <a:spAutoFit/>
          </a:bodyPr>
          <a:lstStyle>
            <a:lvl1pPr algn="l">
              <a:defRPr sz="7000">
                <a:latin typeface="Alright Sans"/>
                <a:ea typeface="Alright Sans"/>
                <a:cs typeface="Alright Sans"/>
                <a:sym typeface="Alright Sans"/>
              </a:defRPr>
            </a:lvl1pPr>
          </a:lstStyle>
          <a:p>
            <a:pPr>
              <a:defRPr sz="3000">
                <a:latin typeface="Alright Sans"/>
                <a:ea typeface="Alright Sans"/>
                <a:cs typeface="Alright Sans"/>
                <a:sym typeface="Alright Sans"/>
              </a:defRPr>
            </a:pPr>
            <a:r>
              <a:rPr lang="en-US" sz="9000" dirty="0">
                <a:latin typeface="Open Sans" panose="020B0606030504020204" pitchFamily="34" charset="0"/>
                <a:ea typeface="Open Sans" panose="020B0606030504020204" pitchFamily="34" charset="0"/>
                <a:cs typeface="Open Sans" panose="020B0606030504020204" pitchFamily="34" charset="0"/>
              </a:rPr>
              <a:t>Valid Lambda Declarations for different number of arguments</a:t>
            </a:r>
          </a:p>
        </p:txBody>
      </p:sp>
      <p:sp>
        <p:nvSpPr>
          <p:cNvPr id="128" name="Shape 128"/>
          <p:cNvSpPr/>
          <p:nvPr/>
        </p:nvSpPr>
        <p:spPr>
          <a:xfrm>
            <a:off x="952500" y="18210515"/>
            <a:ext cx="34782668" cy="2"/>
          </a:xfrm>
          <a:prstGeom prst="line">
            <a:avLst/>
          </a:prstGeom>
          <a:ln w="76200">
            <a:solidFill>
              <a:schemeClr val="accent1">
                <a:satOff val="-3355"/>
                <a:lumOff val="26614"/>
              </a:schemeClr>
            </a:solidFill>
            <a:miter lim="400000"/>
          </a:ln>
        </p:spPr>
        <p:txBody>
          <a:bodyPr lIns="76200" tIns="76200" rIns="76200" bIns="76200" anchor="ctr"/>
          <a:lstStyle/>
          <a:p>
            <a:pPr>
              <a:defRPr sz="3200"/>
            </a:pPr>
            <a:endParaRPr sz="4800"/>
          </a:p>
        </p:txBody>
      </p:sp>
      <p:pic>
        <p:nvPicPr>
          <p:cNvPr id="129" name="Logo.png"/>
          <p:cNvPicPr>
            <a:picLocks noChangeAspect="1"/>
          </p:cNvPicPr>
          <p:nvPr/>
        </p:nvPicPr>
        <p:blipFill>
          <a:blip r:embed="rId3"/>
          <a:stretch>
            <a:fillRect/>
          </a:stretch>
        </p:blipFill>
        <p:spPr>
          <a:xfrm>
            <a:off x="14650974" y="18489726"/>
            <a:ext cx="6321552" cy="1392336"/>
          </a:xfrm>
          <a:prstGeom prst="rect">
            <a:avLst/>
          </a:prstGeom>
          <a:ln w="12700">
            <a:miter lim="400000"/>
          </a:ln>
        </p:spPr>
      </p:pic>
      <p:sp>
        <p:nvSpPr>
          <p:cNvPr id="9" name="Shape 127"/>
          <p:cNvSpPr/>
          <p:nvPr/>
        </p:nvSpPr>
        <p:spPr>
          <a:xfrm flipV="1">
            <a:off x="952499" y="2203340"/>
            <a:ext cx="34782670" cy="38132"/>
          </a:xfrm>
          <a:prstGeom prst="line">
            <a:avLst/>
          </a:prstGeom>
          <a:ln w="152400">
            <a:solidFill>
              <a:schemeClr val="accent1">
                <a:satOff val="-3355"/>
                <a:lumOff val="26614"/>
              </a:schemeClr>
            </a:solidFill>
            <a:miter lim="400000"/>
          </a:ln>
        </p:spPr>
        <p:txBody>
          <a:bodyPr lIns="76200" tIns="76200" rIns="76200" bIns="76200" anchor="ctr"/>
          <a:lstStyle/>
          <a:p>
            <a:pPr>
              <a:defRPr sz="3200"/>
            </a:pPr>
            <a:endParaRPr sz="4800"/>
          </a:p>
        </p:txBody>
      </p:sp>
      <p:sp>
        <p:nvSpPr>
          <p:cNvPr id="10" name="Shape 131"/>
          <p:cNvSpPr/>
          <p:nvPr/>
        </p:nvSpPr>
        <p:spPr>
          <a:xfrm>
            <a:off x="952500" y="18489726"/>
            <a:ext cx="16008688" cy="1308050"/>
          </a:xfrm>
          <a:prstGeom prst="rect">
            <a:avLst/>
          </a:prstGeom>
          <a:ln w="12700">
            <a:miter lim="400000"/>
          </a:ln>
          <a:extLst>
            <a:ext uri="{C572A759-6A51-4108-AA02-DFA0A04FC94B}">
              <ma14:wrappingTextBoxFlag xmlns:ma14="http://schemas.microsoft.com/office/mac/drawingml/2011/main" xmlns="" val="1"/>
            </a:ext>
          </a:extLst>
        </p:spPr>
        <p:txBody>
          <a:bodyPr lIns="76200" tIns="76200" rIns="76200" bIns="76200">
            <a:spAutoFit/>
          </a:bodyPr>
          <a:lstStyle/>
          <a:p>
            <a:pPr algn="l">
              <a:defRPr sz="2000">
                <a:latin typeface="Alright Sans"/>
                <a:ea typeface="Alright Sans"/>
                <a:cs typeface="Alright Sans"/>
                <a:sym typeface="Alright Sans"/>
              </a:defRPr>
            </a:pPr>
            <a:r>
              <a:rPr lang="en-US" sz="3000" dirty="0">
                <a:latin typeface="Open Sans" panose="020B0606030504020204" pitchFamily="34" charset="0"/>
                <a:ea typeface="Open Sans" panose="020B0606030504020204" pitchFamily="34" charset="0"/>
                <a:cs typeface="Open Sans" panose="020B0606030504020204" pitchFamily="34" charset="0"/>
              </a:rPr>
              <a:t>COMPLETE JAVA MASTERCLASS</a:t>
            </a:r>
          </a:p>
          <a:p>
            <a:pPr algn="l">
              <a:defRPr sz="3000">
                <a:latin typeface="Alright Sans"/>
                <a:ea typeface="Alright Sans"/>
                <a:cs typeface="Alright Sans"/>
                <a:sym typeface="Alright Sans"/>
              </a:defRPr>
            </a:pPr>
            <a:r>
              <a:rPr lang="en-US" sz="4500" dirty="0">
                <a:latin typeface="Open Sans" panose="020B0606030504020204" pitchFamily="34" charset="0"/>
                <a:ea typeface="Open Sans" panose="020B0606030504020204" pitchFamily="34" charset="0"/>
                <a:cs typeface="Open Sans" panose="020B0606030504020204" pitchFamily="34" charset="0"/>
              </a:rPr>
              <a:t>Java's Functional Interfaces, Function &amp; Supplier</a:t>
            </a:r>
          </a:p>
        </p:txBody>
      </p:sp>
      <p:sp>
        <p:nvSpPr>
          <p:cNvPr id="8" name="Rectangle 7">
            <a:extLst>
              <a:ext uri="{FF2B5EF4-FFF2-40B4-BE49-F238E27FC236}">
                <a16:creationId xmlns:a16="http://schemas.microsoft.com/office/drawing/2014/main" id="{89DBB243-EF27-4345-872D-E76597E95619}"/>
              </a:ext>
            </a:extLst>
          </p:cNvPr>
          <p:cNvSpPr/>
          <p:nvPr/>
        </p:nvSpPr>
        <p:spPr>
          <a:xfrm>
            <a:off x="952501" y="2520681"/>
            <a:ext cx="34782670" cy="15410625"/>
          </a:xfrm>
          <a:prstGeom prst="rect">
            <a:avLst/>
          </a:prstGeom>
        </p:spPr>
        <p:txBody>
          <a:bodyPr wrap="square">
            <a:normAutofit/>
          </a:bodyPr>
          <a:lstStyle/>
          <a:p>
            <a:pPr algn="l">
              <a:spcAft>
                <a:spcPts val="5022"/>
              </a:spcAft>
            </a:pPr>
            <a:r>
              <a:rPr lang="en-US" sz="6400" dirty="0">
                <a:latin typeface="Open Sans" panose="020B0606030504020204" pitchFamily="34" charset="0"/>
                <a:ea typeface="Open Sans" panose="020B0606030504020204" pitchFamily="34" charset="0"/>
                <a:cs typeface="Open Sans" panose="020B0606030504020204" pitchFamily="34" charset="0"/>
              </a:rPr>
              <a:t>When using var as the type, every argument must use var.</a:t>
            </a:r>
          </a:p>
          <a:p>
            <a:pPr algn="l">
              <a:spcAft>
                <a:spcPts val="5022"/>
              </a:spcAft>
            </a:pPr>
            <a:r>
              <a:rPr lang="en-US" sz="6400" dirty="0">
                <a:latin typeface="Open Sans" panose="020B0606030504020204" pitchFamily="34" charset="0"/>
                <a:ea typeface="Open Sans" panose="020B0606030504020204" pitchFamily="34" charset="0"/>
                <a:cs typeface="Open Sans" panose="020B0606030504020204" pitchFamily="34" charset="0"/>
              </a:rPr>
              <a:t>When specifying explicit types, every argument must include a specific type.</a:t>
            </a:r>
          </a:p>
        </p:txBody>
      </p:sp>
      <p:graphicFrame>
        <p:nvGraphicFramePr>
          <p:cNvPr id="2" name="Table 1">
            <a:extLst>
              <a:ext uri="{FF2B5EF4-FFF2-40B4-BE49-F238E27FC236}">
                <a16:creationId xmlns:a16="http://schemas.microsoft.com/office/drawing/2014/main" id="{94F82C2E-F645-FEB5-0F2F-B5D8AD9064D0}"/>
              </a:ext>
            </a:extLst>
          </p:cNvPr>
          <p:cNvGraphicFramePr>
            <a:graphicFrameLocks noGrp="1"/>
          </p:cNvGraphicFramePr>
          <p:nvPr/>
        </p:nvGraphicFramePr>
        <p:xfrm>
          <a:off x="952497" y="6587778"/>
          <a:ext cx="31070163" cy="11252353"/>
        </p:xfrm>
        <a:graphic>
          <a:graphicData uri="http://schemas.openxmlformats.org/drawingml/2006/table">
            <a:tbl>
              <a:tblPr firstRow="1" bandRow="1">
                <a:tableStyleId>{5C22544A-7EE6-4342-B048-85BDC9FD1C3A}</a:tableStyleId>
              </a:tblPr>
              <a:tblGrid>
                <a:gridCol w="15499919">
                  <a:extLst>
                    <a:ext uri="{9D8B030D-6E8A-4147-A177-3AD203B41FA5}">
                      <a16:colId xmlns:a16="http://schemas.microsoft.com/office/drawing/2014/main" val="2844207666"/>
                    </a:ext>
                  </a:extLst>
                </a:gridCol>
                <a:gridCol w="15570244">
                  <a:extLst>
                    <a:ext uri="{9D8B030D-6E8A-4147-A177-3AD203B41FA5}">
                      <a16:colId xmlns:a16="http://schemas.microsoft.com/office/drawing/2014/main" val="1891655341"/>
                    </a:ext>
                  </a:extLst>
                </a:gridCol>
              </a:tblGrid>
              <a:tr h="1584362">
                <a:tc>
                  <a:txBody>
                    <a:bodyPr/>
                    <a:lstStyle/>
                    <a:p>
                      <a:pPr marL="180000" algn="l"/>
                      <a:r>
                        <a:rPr lang="en-US" sz="5400" dirty="0">
                          <a:solidFill>
                            <a:schemeClr val="tx1"/>
                          </a:solidFill>
                          <a:latin typeface="Open Sans" panose="020B0606030504020204" pitchFamily="34" charset="0"/>
                          <a:ea typeface="Open Sans" panose="020B0606030504020204" pitchFamily="34" charset="0"/>
                          <a:cs typeface="Open Sans" panose="020B0606030504020204" pitchFamily="34" charset="0"/>
                        </a:rPr>
                        <a:t>Arguments in Functional Method</a:t>
                      </a:r>
                      <a:endParaRPr lang="en-PH" sz="5400" dirty="0">
                        <a:solidFill>
                          <a:schemeClr val="tx1"/>
                        </a:solidFill>
                        <a:latin typeface="Open Sans" panose="020B0606030504020204" pitchFamily="34" charset="0"/>
                        <a:ea typeface="Open Sans" panose="020B0606030504020204" pitchFamily="34" charset="0"/>
                        <a:cs typeface="Open Sans" panose="020B0606030504020204" pitchFamily="34" charset="0"/>
                      </a:endParaRPr>
                    </a:p>
                  </a:txBody>
                  <a:tcPr marL="86794" marR="86794" marT="43397" marB="43397">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BE4D5"/>
                    </a:solidFill>
                  </a:tcPr>
                </a:tc>
                <a:tc>
                  <a:txBody>
                    <a:bodyPr/>
                    <a:lstStyle/>
                    <a:p>
                      <a:pPr marL="180000" algn="l"/>
                      <a:r>
                        <a:rPr lang="en-US" sz="5400" dirty="0">
                          <a:solidFill>
                            <a:schemeClr val="tx1"/>
                          </a:solidFill>
                          <a:latin typeface="Open Sans" panose="020B0606030504020204" pitchFamily="34" charset="0"/>
                          <a:ea typeface="Open Sans" panose="020B0606030504020204" pitchFamily="34" charset="0"/>
                          <a:cs typeface="Open Sans" panose="020B0606030504020204" pitchFamily="34" charset="0"/>
                        </a:rPr>
                        <a:t>Valid lambda syntax</a:t>
                      </a:r>
                      <a:endParaRPr lang="en-PH" sz="5400" dirty="0">
                        <a:solidFill>
                          <a:schemeClr val="tx1"/>
                        </a:solidFill>
                        <a:latin typeface="Open Sans" panose="020B0606030504020204" pitchFamily="34" charset="0"/>
                        <a:ea typeface="Open Sans" panose="020B0606030504020204" pitchFamily="34" charset="0"/>
                        <a:cs typeface="Open Sans" panose="020B0606030504020204" pitchFamily="34" charset="0"/>
                      </a:endParaRPr>
                    </a:p>
                  </a:txBody>
                  <a:tcPr marL="86794" marR="86794" marT="43397" marB="43397">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BE4D5"/>
                    </a:solidFill>
                  </a:tcPr>
                </a:tc>
                <a:extLst>
                  <a:ext uri="{0D108BD9-81ED-4DB2-BD59-A6C34878D82A}">
                    <a16:rowId xmlns:a16="http://schemas.microsoft.com/office/drawing/2014/main" val="3978129174"/>
                  </a:ext>
                </a:extLst>
              </a:tr>
              <a:tr h="1382407">
                <a:tc>
                  <a:txBody>
                    <a:bodyPr/>
                    <a:lstStyle/>
                    <a:p>
                      <a:pPr marL="180000" marR="0" lvl="0" indent="0" algn="l" defTabSz="914400" rtl="0" eaLnBrk="1" fontAlgn="auto" latinLnBrk="0" hangingPunct="1">
                        <a:lnSpc>
                          <a:spcPct val="100000"/>
                        </a:lnSpc>
                        <a:spcBef>
                          <a:spcPts val="0"/>
                        </a:spcBef>
                        <a:spcAft>
                          <a:spcPts val="1000"/>
                        </a:spcAft>
                        <a:buClr>
                          <a:srgbClr val="000000"/>
                        </a:buClr>
                        <a:buSzTx/>
                        <a:buFont typeface="Arial" panose="020B0604020202020204" pitchFamily="34" charset="0"/>
                        <a:buNone/>
                        <a:tabLst/>
                        <a:defRPr/>
                      </a:pPr>
                      <a:r>
                        <a:rPr lang="en-US" sz="5400" b="0" dirty="0">
                          <a:solidFill>
                            <a:schemeClr val="tx1"/>
                          </a:solidFill>
                          <a:latin typeface="Open Sans" panose="020B0606030504020204" pitchFamily="34" charset="0"/>
                          <a:ea typeface="Open Sans" panose="020B0606030504020204" pitchFamily="34" charset="0"/>
                          <a:cs typeface="Open Sans" panose="020B0606030504020204" pitchFamily="34" charset="0"/>
                        </a:rPr>
                        <a:t>None</a:t>
                      </a:r>
                    </a:p>
                  </a:txBody>
                  <a:tcPr marL="86794" marR="86794" marT="43397" marB="43397">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180000" marR="0" lvl="0" indent="0" algn="l" defTabSz="914400" rtl="0" eaLnBrk="1" fontAlgn="auto" latinLnBrk="0" hangingPunct="1">
                        <a:lnSpc>
                          <a:spcPct val="100000"/>
                        </a:lnSpc>
                        <a:spcBef>
                          <a:spcPts val="0"/>
                        </a:spcBef>
                        <a:spcAft>
                          <a:spcPts val="1000"/>
                        </a:spcAft>
                        <a:buClr>
                          <a:srgbClr val="000000"/>
                        </a:buClr>
                        <a:buSzTx/>
                        <a:buFont typeface="Arial" panose="020B0604020202020204" pitchFamily="34" charset="0"/>
                        <a:buNone/>
                        <a:tabLst/>
                        <a:defRPr/>
                      </a:pPr>
                      <a:endParaRPr lang="en-US" sz="5400" b="0" dirty="0">
                        <a:solidFill>
                          <a:schemeClr val="tx1"/>
                        </a:solidFill>
                        <a:latin typeface="Open Sans" panose="020B0606030504020204" pitchFamily="34" charset="0"/>
                        <a:ea typeface="Open Sans" panose="020B0606030504020204" pitchFamily="34" charset="0"/>
                        <a:cs typeface="Open Sans" panose="020B0606030504020204" pitchFamily="34" charset="0"/>
                      </a:endParaRPr>
                    </a:p>
                  </a:txBody>
                  <a:tcPr marL="86794" marR="86794" marT="43397" marB="43397">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640325450"/>
                  </a:ext>
                </a:extLst>
              </a:tr>
              <a:tr h="3620277">
                <a:tc>
                  <a:txBody>
                    <a:bodyPr/>
                    <a:lstStyle/>
                    <a:p>
                      <a:pPr marL="180000" marR="0" lvl="0" indent="0" algn="l" defTabSz="914400" rtl="0" eaLnBrk="1" fontAlgn="auto" latinLnBrk="0" hangingPunct="1">
                        <a:lnSpc>
                          <a:spcPct val="100000"/>
                        </a:lnSpc>
                        <a:spcBef>
                          <a:spcPts val="0"/>
                        </a:spcBef>
                        <a:spcAft>
                          <a:spcPts val="1000"/>
                        </a:spcAft>
                        <a:buClr>
                          <a:srgbClr val="000000"/>
                        </a:buClr>
                        <a:buSzTx/>
                        <a:buFont typeface="Arial" panose="020B0604020202020204" pitchFamily="34" charset="0"/>
                        <a:buNone/>
                        <a:tabLst/>
                        <a:defRPr/>
                      </a:pPr>
                      <a:r>
                        <a:rPr lang="en-US" sz="5400" b="0" dirty="0">
                          <a:solidFill>
                            <a:schemeClr val="tx1"/>
                          </a:solidFill>
                          <a:latin typeface="Open Sans" panose="020B0606030504020204" pitchFamily="34" charset="0"/>
                          <a:ea typeface="Open Sans" panose="020B0606030504020204" pitchFamily="34" charset="0"/>
                          <a:cs typeface="Open Sans" panose="020B0606030504020204" pitchFamily="34" charset="0"/>
                        </a:rPr>
                        <a:t>One</a:t>
                      </a:r>
                    </a:p>
                  </a:txBody>
                  <a:tcPr marL="86794" marR="86794" marT="43397" marB="43397">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180000" marR="0" lvl="0" indent="0" algn="l" defTabSz="914400" rtl="0" eaLnBrk="1" fontAlgn="auto" latinLnBrk="0" hangingPunct="1">
                        <a:lnSpc>
                          <a:spcPct val="100000"/>
                        </a:lnSpc>
                        <a:spcBef>
                          <a:spcPts val="0"/>
                        </a:spcBef>
                        <a:spcAft>
                          <a:spcPts val="1000"/>
                        </a:spcAft>
                        <a:buClr>
                          <a:srgbClr val="000000"/>
                        </a:buClr>
                        <a:buSzTx/>
                        <a:buFont typeface="Arial" panose="020B0604020202020204" pitchFamily="34" charset="0"/>
                        <a:buNone/>
                        <a:tabLst/>
                        <a:defRPr/>
                      </a:pPr>
                      <a:endParaRPr lang="en-US" sz="5400" b="0" dirty="0">
                        <a:solidFill>
                          <a:schemeClr val="tx1"/>
                        </a:solidFill>
                        <a:latin typeface="Open Sans" panose="020B0606030504020204" pitchFamily="34" charset="0"/>
                        <a:ea typeface="Open Sans" panose="020B0606030504020204" pitchFamily="34" charset="0"/>
                        <a:cs typeface="Open Sans" panose="020B0606030504020204" pitchFamily="34" charset="0"/>
                      </a:endParaRPr>
                    </a:p>
                  </a:txBody>
                  <a:tcPr marL="86794" marR="86794" marT="43397" marB="43397">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853046320"/>
                  </a:ext>
                </a:extLst>
              </a:tr>
              <a:tr h="4665307">
                <a:tc>
                  <a:txBody>
                    <a:bodyPr/>
                    <a:lstStyle/>
                    <a:p>
                      <a:pPr marL="180000" marR="0" lvl="0" indent="0" algn="l" defTabSz="914400" rtl="0" eaLnBrk="1" fontAlgn="auto" latinLnBrk="0" hangingPunct="1">
                        <a:lnSpc>
                          <a:spcPct val="100000"/>
                        </a:lnSpc>
                        <a:spcBef>
                          <a:spcPts val="0"/>
                        </a:spcBef>
                        <a:spcAft>
                          <a:spcPts val="1000"/>
                        </a:spcAft>
                        <a:buClr>
                          <a:srgbClr val="000000"/>
                        </a:buClr>
                        <a:buSzTx/>
                        <a:buFont typeface="Arial" panose="020B0604020202020204" pitchFamily="34" charset="0"/>
                        <a:buNone/>
                        <a:tabLst/>
                        <a:defRPr/>
                      </a:pPr>
                      <a:r>
                        <a:rPr lang="en-US" sz="5400" b="0" dirty="0">
                          <a:solidFill>
                            <a:schemeClr val="tx1"/>
                          </a:solidFill>
                          <a:latin typeface="Open Sans" panose="020B0606030504020204" pitchFamily="34" charset="0"/>
                          <a:ea typeface="Open Sans" panose="020B0606030504020204" pitchFamily="34" charset="0"/>
                          <a:cs typeface="Open Sans" panose="020B0606030504020204" pitchFamily="34" charset="0"/>
                        </a:rPr>
                        <a:t>Two</a:t>
                      </a:r>
                    </a:p>
                    <a:p>
                      <a:pPr marL="865800" marR="0" lvl="0" indent="-685800" algn="l" defTabSz="914400" rtl="0" eaLnBrk="1" fontAlgn="auto" latinLnBrk="0" hangingPunct="1">
                        <a:lnSpc>
                          <a:spcPct val="100000"/>
                        </a:lnSpc>
                        <a:spcBef>
                          <a:spcPts val="0"/>
                        </a:spcBef>
                        <a:spcAft>
                          <a:spcPts val="1000"/>
                        </a:spcAft>
                        <a:buClr>
                          <a:srgbClr val="000000"/>
                        </a:buClr>
                        <a:buSzTx/>
                        <a:buFont typeface="Arial" panose="020B0604020202020204" pitchFamily="34" charset="0"/>
                        <a:buChar char="•"/>
                        <a:tabLst/>
                        <a:defRPr/>
                      </a:pPr>
                      <a:r>
                        <a:rPr lang="en-US" sz="5400" b="0" dirty="0">
                          <a:solidFill>
                            <a:schemeClr val="tx1"/>
                          </a:solidFill>
                          <a:latin typeface="Open Sans" panose="020B0606030504020204" pitchFamily="34" charset="0"/>
                          <a:ea typeface="Open Sans" panose="020B0606030504020204" pitchFamily="34" charset="0"/>
                          <a:cs typeface="Open Sans" panose="020B0606030504020204" pitchFamily="34" charset="0"/>
                        </a:rPr>
                        <a:t>When using var, all arguments must use var.</a:t>
                      </a:r>
                    </a:p>
                    <a:p>
                      <a:pPr marL="865800" marR="0" lvl="0" indent="-685800" algn="l" defTabSz="914400" rtl="0" eaLnBrk="1" fontAlgn="auto" latinLnBrk="0" hangingPunct="1">
                        <a:lnSpc>
                          <a:spcPct val="100000"/>
                        </a:lnSpc>
                        <a:spcBef>
                          <a:spcPts val="0"/>
                        </a:spcBef>
                        <a:spcAft>
                          <a:spcPts val="1000"/>
                        </a:spcAft>
                        <a:buClr>
                          <a:srgbClr val="000000"/>
                        </a:buClr>
                        <a:buSzTx/>
                        <a:buFont typeface="Arial" panose="020B0604020202020204" pitchFamily="34" charset="0"/>
                        <a:buChar char="•"/>
                        <a:tabLst/>
                        <a:defRPr/>
                      </a:pPr>
                      <a:r>
                        <a:rPr lang="en-US" sz="5400" b="0" dirty="0">
                          <a:solidFill>
                            <a:schemeClr val="tx1"/>
                          </a:solidFill>
                          <a:latin typeface="Open Sans" panose="020B0606030504020204" pitchFamily="34" charset="0"/>
                          <a:ea typeface="Open Sans" panose="020B0606030504020204" pitchFamily="34" charset="0"/>
                          <a:cs typeface="Open Sans" panose="020B0606030504020204" pitchFamily="34" charset="0"/>
                        </a:rPr>
                        <a:t>When specifying explicit types, all arguments must specify explicit types.</a:t>
                      </a:r>
                    </a:p>
                  </a:txBody>
                  <a:tcPr marL="86794" marR="86794" marT="43397" marB="43397">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180000" marR="0" lvl="0" indent="0" algn="l" defTabSz="914400" rtl="0" eaLnBrk="1" fontAlgn="auto" latinLnBrk="0" hangingPunct="1">
                        <a:lnSpc>
                          <a:spcPct val="100000"/>
                        </a:lnSpc>
                        <a:spcBef>
                          <a:spcPts val="0"/>
                        </a:spcBef>
                        <a:spcAft>
                          <a:spcPts val="1000"/>
                        </a:spcAft>
                        <a:buClr>
                          <a:srgbClr val="000000"/>
                        </a:buClr>
                        <a:buSzTx/>
                        <a:buFont typeface="Arial" panose="020B0604020202020204" pitchFamily="34" charset="0"/>
                        <a:buNone/>
                        <a:tabLst/>
                        <a:defRPr/>
                      </a:pPr>
                      <a:endParaRPr lang="en-US" sz="5400" b="0" dirty="0">
                        <a:solidFill>
                          <a:schemeClr val="tx1"/>
                        </a:solidFill>
                        <a:latin typeface="Open Sans" panose="020B0606030504020204" pitchFamily="34" charset="0"/>
                        <a:ea typeface="Open Sans" panose="020B0606030504020204" pitchFamily="34" charset="0"/>
                        <a:cs typeface="Open Sans" panose="020B0606030504020204" pitchFamily="34" charset="0"/>
                      </a:endParaRPr>
                    </a:p>
                  </a:txBody>
                  <a:tcPr marL="86794" marR="86794" marT="43397" marB="43397">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943315230"/>
                  </a:ext>
                </a:extLst>
              </a:tr>
            </a:tbl>
          </a:graphicData>
        </a:graphic>
      </p:graphicFrame>
      <p:pic>
        <p:nvPicPr>
          <p:cNvPr id="4" name="Picture 3">
            <a:extLst>
              <a:ext uri="{FF2B5EF4-FFF2-40B4-BE49-F238E27FC236}">
                <a16:creationId xmlns:a16="http://schemas.microsoft.com/office/drawing/2014/main" id="{E8F77231-6A1A-AB3B-A7C8-BA187DF6AB93}"/>
              </a:ext>
            </a:extLst>
          </p:cNvPr>
          <p:cNvPicPr>
            <a:picLocks noChangeAspect="1"/>
          </p:cNvPicPr>
          <p:nvPr/>
        </p:nvPicPr>
        <p:blipFill>
          <a:blip r:embed="rId4"/>
          <a:stretch>
            <a:fillRect/>
          </a:stretch>
        </p:blipFill>
        <p:spPr>
          <a:xfrm>
            <a:off x="16671550" y="8378954"/>
            <a:ext cx="6283333" cy="749999"/>
          </a:xfrm>
          <a:prstGeom prst="rect">
            <a:avLst/>
          </a:prstGeom>
        </p:spPr>
      </p:pic>
      <p:pic>
        <p:nvPicPr>
          <p:cNvPr id="5" name="Picture 4">
            <a:extLst>
              <a:ext uri="{FF2B5EF4-FFF2-40B4-BE49-F238E27FC236}">
                <a16:creationId xmlns:a16="http://schemas.microsoft.com/office/drawing/2014/main" id="{9A248B08-2A73-3C88-2BD6-2FFC033737E4}"/>
              </a:ext>
            </a:extLst>
          </p:cNvPr>
          <p:cNvPicPr>
            <a:picLocks noChangeAspect="1"/>
          </p:cNvPicPr>
          <p:nvPr/>
        </p:nvPicPr>
        <p:blipFill>
          <a:blip r:embed="rId5"/>
          <a:stretch>
            <a:fillRect/>
          </a:stretch>
        </p:blipFill>
        <p:spPr>
          <a:xfrm>
            <a:off x="16671550" y="13493920"/>
            <a:ext cx="12950000" cy="4200000"/>
          </a:xfrm>
          <a:prstGeom prst="rect">
            <a:avLst/>
          </a:prstGeom>
        </p:spPr>
      </p:pic>
      <p:pic>
        <p:nvPicPr>
          <p:cNvPr id="6" name="Picture 5">
            <a:extLst>
              <a:ext uri="{FF2B5EF4-FFF2-40B4-BE49-F238E27FC236}">
                <a16:creationId xmlns:a16="http://schemas.microsoft.com/office/drawing/2014/main" id="{9E7B2AF6-CF89-9D4B-2458-D900E33739E5}"/>
              </a:ext>
            </a:extLst>
          </p:cNvPr>
          <p:cNvPicPr>
            <a:picLocks noChangeAspect="1"/>
          </p:cNvPicPr>
          <p:nvPr/>
        </p:nvPicPr>
        <p:blipFill>
          <a:blip r:embed="rId6"/>
          <a:stretch>
            <a:fillRect/>
          </a:stretch>
        </p:blipFill>
        <p:spPr>
          <a:xfrm>
            <a:off x="16671550" y="9802899"/>
            <a:ext cx="9550000" cy="3216666"/>
          </a:xfrm>
          <a:prstGeom prst="rect">
            <a:avLst/>
          </a:prstGeom>
        </p:spPr>
      </p:pic>
    </p:spTree>
    <p:extLst>
      <p:ext uri="{BB962C8B-B14F-4D97-AF65-F5344CB8AC3E}">
        <p14:creationId xmlns:p14="http://schemas.microsoft.com/office/powerpoint/2010/main" val="2291099263"/>
      </p:ext>
    </p:extLst>
  </p:cSld>
  <p:clrMapOvr>
    <a:masterClrMapping/>
  </p:clrMapOvr>
  <p:transition spd="slow"/>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 name="Shape 126"/>
          <p:cNvSpPr/>
          <p:nvPr/>
        </p:nvSpPr>
        <p:spPr>
          <a:xfrm>
            <a:off x="952498" y="459786"/>
            <a:ext cx="15938659" cy="1815882"/>
          </a:xfrm>
          <a:prstGeom prst="rect">
            <a:avLst/>
          </a:prstGeom>
          <a:ln w="12700">
            <a:miter lim="400000"/>
          </a:ln>
          <a:extLst>
            <a:ext uri="{C572A759-6A51-4108-AA02-DFA0A04FC94B}">
              <ma14:wrappingTextBoxFlag xmlns:ma14="http://schemas.microsoft.com/office/mac/drawingml/2011/main" xmlns="" val="1"/>
            </a:ext>
          </a:extLst>
        </p:spPr>
        <p:txBody>
          <a:bodyPr wrap="none" lIns="76200" tIns="76200" rIns="76200" bIns="76200">
            <a:spAutoFit/>
          </a:bodyPr>
          <a:lstStyle>
            <a:lvl1pPr algn="l">
              <a:defRPr sz="7000">
                <a:latin typeface="Alright Sans"/>
                <a:ea typeface="Alright Sans"/>
                <a:cs typeface="Alright Sans"/>
                <a:sym typeface="Alright Sans"/>
              </a:defRPr>
            </a:lvl1pPr>
          </a:lstStyle>
          <a:p>
            <a:pPr>
              <a:defRPr sz="3000">
                <a:latin typeface="Alright Sans"/>
                <a:ea typeface="Alright Sans"/>
                <a:cs typeface="Alright Sans"/>
                <a:sym typeface="Alright Sans"/>
              </a:defRPr>
            </a:pPr>
            <a:r>
              <a:rPr lang="en-US" sz="10800" dirty="0">
                <a:latin typeface="Open Sans" panose="020B0606030504020204" pitchFamily="34" charset="0"/>
                <a:ea typeface="Open Sans" panose="020B0606030504020204" pitchFamily="34" charset="0"/>
                <a:cs typeface="Open Sans" panose="020B0606030504020204" pitchFamily="34" charset="0"/>
              </a:rPr>
              <a:t>Lambda Mini Challenges</a:t>
            </a:r>
          </a:p>
        </p:txBody>
      </p:sp>
      <p:sp>
        <p:nvSpPr>
          <p:cNvPr id="128" name="Shape 128"/>
          <p:cNvSpPr/>
          <p:nvPr/>
        </p:nvSpPr>
        <p:spPr>
          <a:xfrm>
            <a:off x="952500" y="18210515"/>
            <a:ext cx="34782668" cy="2"/>
          </a:xfrm>
          <a:prstGeom prst="line">
            <a:avLst/>
          </a:prstGeom>
          <a:ln w="76200">
            <a:solidFill>
              <a:schemeClr val="accent1">
                <a:satOff val="-3355"/>
                <a:lumOff val="26614"/>
              </a:schemeClr>
            </a:solidFill>
            <a:miter lim="400000"/>
          </a:ln>
        </p:spPr>
        <p:txBody>
          <a:bodyPr lIns="76200" tIns="76200" rIns="76200" bIns="76200" anchor="ctr"/>
          <a:lstStyle/>
          <a:p>
            <a:pPr>
              <a:defRPr sz="3200"/>
            </a:pPr>
            <a:endParaRPr sz="4800"/>
          </a:p>
        </p:txBody>
      </p:sp>
      <p:pic>
        <p:nvPicPr>
          <p:cNvPr id="129" name="Logo.png"/>
          <p:cNvPicPr>
            <a:picLocks noChangeAspect="1"/>
          </p:cNvPicPr>
          <p:nvPr/>
        </p:nvPicPr>
        <p:blipFill>
          <a:blip r:embed="rId3"/>
          <a:stretch>
            <a:fillRect/>
          </a:stretch>
        </p:blipFill>
        <p:spPr>
          <a:xfrm>
            <a:off x="14650974" y="18489726"/>
            <a:ext cx="6321552" cy="1392336"/>
          </a:xfrm>
          <a:prstGeom prst="rect">
            <a:avLst/>
          </a:prstGeom>
          <a:ln w="12700">
            <a:miter lim="400000"/>
          </a:ln>
        </p:spPr>
      </p:pic>
      <p:sp>
        <p:nvSpPr>
          <p:cNvPr id="9" name="Shape 127"/>
          <p:cNvSpPr/>
          <p:nvPr/>
        </p:nvSpPr>
        <p:spPr>
          <a:xfrm flipV="1">
            <a:off x="952499" y="2203340"/>
            <a:ext cx="34782670" cy="38132"/>
          </a:xfrm>
          <a:prstGeom prst="line">
            <a:avLst/>
          </a:prstGeom>
          <a:ln w="152400">
            <a:solidFill>
              <a:schemeClr val="accent1">
                <a:satOff val="-3355"/>
                <a:lumOff val="26614"/>
              </a:schemeClr>
            </a:solidFill>
            <a:miter lim="400000"/>
          </a:ln>
        </p:spPr>
        <p:txBody>
          <a:bodyPr lIns="76200" tIns="76200" rIns="76200" bIns="76200" anchor="ctr"/>
          <a:lstStyle/>
          <a:p>
            <a:pPr>
              <a:defRPr sz="3200"/>
            </a:pPr>
            <a:endParaRPr sz="4800"/>
          </a:p>
        </p:txBody>
      </p:sp>
      <p:sp>
        <p:nvSpPr>
          <p:cNvPr id="10" name="Shape 131"/>
          <p:cNvSpPr/>
          <p:nvPr/>
        </p:nvSpPr>
        <p:spPr>
          <a:xfrm>
            <a:off x="952500" y="18489726"/>
            <a:ext cx="16008688" cy="1308050"/>
          </a:xfrm>
          <a:prstGeom prst="rect">
            <a:avLst/>
          </a:prstGeom>
          <a:ln w="12700">
            <a:miter lim="400000"/>
          </a:ln>
          <a:extLst>
            <a:ext uri="{C572A759-6A51-4108-AA02-DFA0A04FC94B}">
              <ma14:wrappingTextBoxFlag xmlns="" xmlns:ma14="http://schemas.microsoft.com/office/mac/drawingml/2011/main" val="1"/>
            </a:ext>
          </a:extLst>
        </p:spPr>
        <p:txBody>
          <a:bodyPr lIns="76200" tIns="76200" rIns="76200" bIns="76200">
            <a:spAutoFit/>
          </a:bodyPr>
          <a:lstStyle/>
          <a:p>
            <a:pPr algn="l">
              <a:defRPr sz="2000">
                <a:latin typeface="Alright Sans"/>
                <a:ea typeface="Alright Sans"/>
                <a:cs typeface="Alright Sans"/>
                <a:sym typeface="Alright Sans"/>
              </a:defRPr>
            </a:pPr>
            <a:r>
              <a:rPr lang="en-US" sz="3000" dirty="0">
                <a:latin typeface="Open Sans" panose="020B0606030504020204" pitchFamily="34" charset="0"/>
                <a:ea typeface="Open Sans" panose="020B0606030504020204" pitchFamily="34" charset="0"/>
                <a:cs typeface="Open Sans" panose="020B0606030504020204" pitchFamily="34" charset="0"/>
              </a:rPr>
              <a:t>COMPLETE JAVA MASTERCLASS</a:t>
            </a:r>
          </a:p>
          <a:p>
            <a:pPr algn="l">
              <a:defRPr sz="3000">
                <a:latin typeface="Alright Sans"/>
                <a:ea typeface="Alright Sans"/>
                <a:cs typeface="Alright Sans"/>
                <a:sym typeface="Alright Sans"/>
              </a:defRPr>
            </a:pPr>
            <a:r>
              <a:rPr lang="en-US" sz="4500" dirty="0">
                <a:latin typeface="Open Sans" panose="020B0606030504020204" pitchFamily="34" charset="0"/>
                <a:ea typeface="Open Sans" panose="020B0606030504020204" pitchFamily="34" charset="0"/>
                <a:cs typeface="Open Sans" panose="020B0606030504020204" pitchFamily="34" charset="0"/>
              </a:rPr>
              <a:t>Lambda Mini Challenges</a:t>
            </a:r>
          </a:p>
        </p:txBody>
      </p:sp>
      <p:sp>
        <p:nvSpPr>
          <p:cNvPr id="8" name="Rectangle 7">
            <a:extLst>
              <a:ext uri="{FF2B5EF4-FFF2-40B4-BE49-F238E27FC236}">
                <a16:creationId xmlns:a16="http://schemas.microsoft.com/office/drawing/2014/main" id="{89DBB243-EF27-4345-872D-E76597E95619}"/>
              </a:ext>
            </a:extLst>
          </p:cNvPr>
          <p:cNvSpPr/>
          <p:nvPr/>
        </p:nvSpPr>
        <p:spPr>
          <a:xfrm>
            <a:off x="952501" y="4285904"/>
            <a:ext cx="34782670" cy="11880176"/>
          </a:xfrm>
          <a:prstGeom prst="rect">
            <a:avLst/>
          </a:prstGeom>
        </p:spPr>
        <p:txBody>
          <a:bodyPr wrap="square">
            <a:normAutofit/>
          </a:bodyPr>
          <a:lstStyle/>
          <a:p>
            <a:pPr algn="l">
              <a:spcAft>
                <a:spcPts val="5022"/>
              </a:spcAft>
            </a:pPr>
            <a:r>
              <a:rPr lang="en-US" sz="6400" dirty="0">
                <a:latin typeface="Open Sans" panose="020B0606030504020204" pitchFamily="34" charset="0"/>
                <a:ea typeface="Open Sans" panose="020B0606030504020204" pitchFamily="34" charset="0"/>
                <a:cs typeface="Open Sans" panose="020B0606030504020204" pitchFamily="34" charset="0"/>
              </a:rPr>
              <a:t>This challenge video is going to be a little different, and consist of several small tasks, to help you really practice creating and using lambda expressions.</a:t>
            </a:r>
          </a:p>
          <a:p>
            <a:pPr algn="l">
              <a:spcAft>
                <a:spcPts val="5022"/>
              </a:spcAft>
            </a:pPr>
            <a:r>
              <a:rPr lang="en-US" sz="6400" dirty="0">
                <a:latin typeface="Open Sans" panose="020B0606030504020204" pitchFamily="34" charset="0"/>
                <a:ea typeface="Open Sans" panose="020B0606030504020204" pitchFamily="34" charset="0"/>
                <a:cs typeface="Open Sans" panose="020B0606030504020204" pitchFamily="34" charset="0"/>
              </a:rPr>
              <a:t>I'll assign a task for you to try on your own, and then we will solve it together.</a:t>
            </a:r>
          </a:p>
          <a:p>
            <a:pPr algn="l">
              <a:spcAft>
                <a:spcPts val="5022"/>
              </a:spcAft>
            </a:pPr>
            <a:r>
              <a:rPr lang="en-US" sz="6400" dirty="0">
                <a:latin typeface="Open Sans" panose="020B0606030504020204" pitchFamily="34" charset="0"/>
                <a:ea typeface="Open Sans" panose="020B0606030504020204" pitchFamily="34" charset="0"/>
                <a:cs typeface="Open Sans" panose="020B0606030504020204" pitchFamily="34" charset="0"/>
              </a:rPr>
              <a:t>Then I'll present the next one, and so on.</a:t>
            </a:r>
          </a:p>
        </p:txBody>
      </p:sp>
    </p:spTree>
    <p:extLst>
      <p:ext uri="{BB962C8B-B14F-4D97-AF65-F5344CB8AC3E}">
        <p14:creationId xmlns:p14="http://schemas.microsoft.com/office/powerpoint/2010/main" val="3284519254"/>
      </p:ext>
    </p:extLst>
  </p:cSld>
  <p:clrMapOvr>
    <a:masterClrMapping/>
  </p:clrMapOvr>
  <p:transition spd="slow"/>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 name="Shape 126"/>
          <p:cNvSpPr/>
          <p:nvPr/>
        </p:nvSpPr>
        <p:spPr>
          <a:xfrm>
            <a:off x="952498" y="459786"/>
            <a:ext cx="10825079" cy="1815882"/>
          </a:xfrm>
          <a:prstGeom prst="rect">
            <a:avLst/>
          </a:prstGeom>
          <a:ln w="12700">
            <a:miter lim="400000"/>
          </a:ln>
          <a:extLst>
            <a:ext uri="{C572A759-6A51-4108-AA02-DFA0A04FC94B}">
              <ma14:wrappingTextBoxFlag xmlns="" xmlns:ma14="http://schemas.microsoft.com/office/mac/drawingml/2011/main" val="1"/>
            </a:ext>
          </a:extLst>
        </p:spPr>
        <p:txBody>
          <a:bodyPr wrap="none" lIns="76200" tIns="76200" rIns="76200" bIns="76200">
            <a:spAutoFit/>
          </a:bodyPr>
          <a:lstStyle>
            <a:lvl1pPr algn="l">
              <a:defRPr sz="7000">
                <a:latin typeface="Alright Sans"/>
                <a:ea typeface="Alright Sans"/>
                <a:cs typeface="Alright Sans"/>
                <a:sym typeface="Alright Sans"/>
              </a:defRPr>
            </a:lvl1pPr>
          </a:lstStyle>
          <a:p>
            <a:pPr>
              <a:defRPr sz="3000">
                <a:latin typeface="Alright Sans"/>
                <a:ea typeface="Alright Sans"/>
                <a:cs typeface="Alright Sans"/>
                <a:sym typeface="Alright Sans"/>
              </a:defRPr>
            </a:pPr>
            <a:r>
              <a:rPr lang="en-US" sz="10800" dirty="0">
                <a:latin typeface="Open Sans" panose="020B0606030504020204" pitchFamily="34" charset="0"/>
                <a:ea typeface="Open Sans" panose="020B0606030504020204" pitchFamily="34" charset="0"/>
                <a:cs typeface="Open Sans" panose="020B0606030504020204" pitchFamily="34" charset="0"/>
              </a:rPr>
              <a:t>Mini Challenge 1</a:t>
            </a:r>
          </a:p>
        </p:txBody>
      </p:sp>
      <p:sp>
        <p:nvSpPr>
          <p:cNvPr id="128" name="Shape 128"/>
          <p:cNvSpPr/>
          <p:nvPr/>
        </p:nvSpPr>
        <p:spPr>
          <a:xfrm>
            <a:off x="952500" y="18210515"/>
            <a:ext cx="34782668" cy="2"/>
          </a:xfrm>
          <a:prstGeom prst="line">
            <a:avLst/>
          </a:prstGeom>
          <a:ln w="76200">
            <a:solidFill>
              <a:schemeClr val="accent1">
                <a:satOff val="-3355"/>
                <a:lumOff val="26614"/>
              </a:schemeClr>
            </a:solidFill>
            <a:miter lim="400000"/>
          </a:ln>
        </p:spPr>
        <p:txBody>
          <a:bodyPr lIns="76200" tIns="76200" rIns="76200" bIns="76200" anchor="ctr"/>
          <a:lstStyle/>
          <a:p>
            <a:pPr>
              <a:defRPr sz="3200"/>
            </a:pPr>
            <a:endParaRPr sz="4800"/>
          </a:p>
        </p:txBody>
      </p:sp>
      <p:pic>
        <p:nvPicPr>
          <p:cNvPr id="129" name="Logo.png"/>
          <p:cNvPicPr>
            <a:picLocks noChangeAspect="1"/>
          </p:cNvPicPr>
          <p:nvPr/>
        </p:nvPicPr>
        <p:blipFill>
          <a:blip r:embed="rId3"/>
          <a:stretch>
            <a:fillRect/>
          </a:stretch>
        </p:blipFill>
        <p:spPr>
          <a:xfrm>
            <a:off x="14650974" y="18489726"/>
            <a:ext cx="6321552" cy="1392336"/>
          </a:xfrm>
          <a:prstGeom prst="rect">
            <a:avLst/>
          </a:prstGeom>
          <a:ln w="12700">
            <a:miter lim="400000"/>
          </a:ln>
        </p:spPr>
      </p:pic>
      <p:sp>
        <p:nvSpPr>
          <p:cNvPr id="9" name="Shape 127"/>
          <p:cNvSpPr/>
          <p:nvPr/>
        </p:nvSpPr>
        <p:spPr>
          <a:xfrm flipV="1">
            <a:off x="952499" y="2203340"/>
            <a:ext cx="34782670" cy="38132"/>
          </a:xfrm>
          <a:prstGeom prst="line">
            <a:avLst/>
          </a:prstGeom>
          <a:ln w="152400">
            <a:solidFill>
              <a:schemeClr val="accent1">
                <a:satOff val="-3355"/>
                <a:lumOff val="26614"/>
              </a:schemeClr>
            </a:solidFill>
            <a:miter lim="400000"/>
          </a:ln>
        </p:spPr>
        <p:txBody>
          <a:bodyPr lIns="76200" tIns="76200" rIns="76200" bIns="76200" anchor="ctr"/>
          <a:lstStyle/>
          <a:p>
            <a:pPr>
              <a:defRPr sz="3200"/>
            </a:pPr>
            <a:endParaRPr sz="4800"/>
          </a:p>
        </p:txBody>
      </p:sp>
      <p:sp>
        <p:nvSpPr>
          <p:cNvPr id="10" name="Shape 131"/>
          <p:cNvSpPr/>
          <p:nvPr/>
        </p:nvSpPr>
        <p:spPr>
          <a:xfrm>
            <a:off x="952500" y="18489726"/>
            <a:ext cx="16008688" cy="1308050"/>
          </a:xfrm>
          <a:prstGeom prst="rect">
            <a:avLst/>
          </a:prstGeom>
          <a:ln w="12700">
            <a:miter lim="400000"/>
          </a:ln>
          <a:extLst>
            <a:ext uri="{C572A759-6A51-4108-AA02-DFA0A04FC94B}">
              <ma14:wrappingTextBoxFlag xmlns:ma14="http://schemas.microsoft.com/office/mac/drawingml/2011/main" xmlns="" val="1"/>
            </a:ext>
          </a:extLst>
        </p:spPr>
        <p:txBody>
          <a:bodyPr lIns="76200" tIns="76200" rIns="76200" bIns="76200">
            <a:spAutoFit/>
          </a:bodyPr>
          <a:lstStyle/>
          <a:p>
            <a:pPr algn="l">
              <a:defRPr sz="2000">
                <a:latin typeface="Alright Sans"/>
                <a:ea typeface="Alright Sans"/>
                <a:cs typeface="Alright Sans"/>
                <a:sym typeface="Alright Sans"/>
              </a:defRPr>
            </a:pPr>
            <a:r>
              <a:rPr lang="en-US" sz="3000" dirty="0">
                <a:latin typeface="Open Sans" panose="020B0606030504020204" pitchFamily="34" charset="0"/>
                <a:ea typeface="Open Sans" panose="020B0606030504020204" pitchFamily="34" charset="0"/>
                <a:cs typeface="Open Sans" panose="020B0606030504020204" pitchFamily="34" charset="0"/>
              </a:rPr>
              <a:t>COMPLETE JAVA MASTERCLASS</a:t>
            </a:r>
          </a:p>
          <a:p>
            <a:pPr algn="l">
              <a:defRPr sz="3000">
                <a:latin typeface="Alright Sans"/>
                <a:ea typeface="Alright Sans"/>
                <a:cs typeface="Alright Sans"/>
                <a:sym typeface="Alright Sans"/>
              </a:defRPr>
            </a:pPr>
            <a:r>
              <a:rPr lang="en-US" sz="4500" dirty="0">
                <a:latin typeface="Open Sans" panose="020B0606030504020204" pitchFamily="34" charset="0"/>
                <a:ea typeface="Open Sans" panose="020B0606030504020204" pitchFamily="34" charset="0"/>
                <a:cs typeface="Open Sans" panose="020B0606030504020204" pitchFamily="34" charset="0"/>
              </a:rPr>
              <a:t>Lambda Mini Challenges</a:t>
            </a:r>
          </a:p>
        </p:txBody>
      </p:sp>
      <p:sp>
        <p:nvSpPr>
          <p:cNvPr id="8" name="Rectangle 7">
            <a:extLst>
              <a:ext uri="{FF2B5EF4-FFF2-40B4-BE49-F238E27FC236}">
                <a16:creationId xmlns:a16="http://schemas.microsoft.com/office/drawing/2014/main" id="{89DBB243-EF27-4345-872D-E76597E95619}"/>
              </a:ext>
            </a:extLst>
          </p:cNvPr>
          <p:cNvSpPr/>
          <p:nvPr/>
        </p:nvSpPr>
        <p:spPr>
          <a:xfrm>
            <a:off x="952501" y="3452327"/>
            <a:ext cx="34782670" cy="12713753"/>
          </a:xfrm>
          <a:prstGeom prst="rect">
            <a:avLst/>
          </a:prstGeom>
        </p:spPr>
        <p:txBody>
          <a:bodyPr wrap="square">
            <a:normAutofit/>
          </a:bodyPr>
          <a:lstStyle/>
          <a:p>
            <a:pPr algn="l">
              <a:spcAft>
                <a:spcPts val="5022"/>
              </a:spcAft>
            </a:pPr>
            <a:r>
              <a:rPr lang="en-US" sz="6400" dirty="0">
                <a:latin typeface="Open Sans" panose="020B0606030504020204" pitchFamily="34" charset="0"/>
                <a:ea typeface="Open Sans" panose="020B0606030504020204" pitchFamily="34" charset="0"/>
                <a:cs typeface="Open Sans" panose="020B0606030504020204" pitchFamily="34" charset="0"/>
              </a:rPr>
              <a:t>Write the following anonymous class that you can see on screen, as a lambda expression.</a:t>
            </a:r>
          </a:p>
          <a:p>
            <a:pPr algn="l">
              <a:spcAft>
                <a:spcPts val="5022"/>
              </a:spcAft>
            </a:pPr>
            <a:r>
              <a:rPr lang="en-US" sz="6400" dirty="0">
                <a:latin typeface="Open Sans" panose="020B0606030504020204" pitchFamily="34" charset="0"/>
                <a:ea typeface="Open Sans" panose="020B0606030504020204" pitchFamily="34" charset="0"/>
                <a:cs typeface="Open Sans" panose="020B0606030504020204" pitchFamily="34" charset="0"/>
              </a:rPr>
              <a:t>Try to do it manually on your own, rather than relying on IntelliJ's tools to do it for you. </a:t>
            </a:r>
          </a:p>
          <a:p>
            <a:pPr algn="l">
              <a:spcAft>
                <a:spcPts val="5022"/>
              </a:spcAft>
            </a:pPr>
            <a:r>
              <a:rPr lang="en-US" sz="6400" dirty="0">
                <a:latin typeface="Open Sans" panose="020B0606030504020204" pitchFamily="34" charset="0"/>
                <a:ea typeface="Open Sans" panose="020B0606030504020204" pitchFamily="34" charset="0"/>
                <a:cs typeface="Open Sans" panose="020B0606030504020204" pitchFamily="34" charset="0"/>
              </a:rPr>
              <a:t>This will help you understand lambdas better.</a:t>
            </a:r>
          </a:p>
        </p:txBody>
      </p:sp>
      <p:pic>
        <p:nvPicPr>
          <p:cNvPr id="3" name="Picture 2">
            <a:extLst>
              <a:ext uri="{FF2B5EF4-FFF2-40B4-BE49-F238E27FC236}">
                <a16:creationId xmlns:a16="http://schemas.microsoft.com/office/drawing/2014/main" id="{15226C76-1E13-A3A0-083A-43473E72AD0A}"/>
              </a:ext>
            </a:extLst>
          </p:cNvPr>
          <p:cNvPicPr>
            <a:picLocks noChangeAspect="1"/>
          </p:cNvPicPr>
          <p:nvPr/>
        </p:nvPicPr>
        <p:blipFill>
          <a:blip r:embed="rId4"/>
          <a:stretch>
            <a:fillRect/>
          </a:stretch>
        </p:blipFill>
        <p:spPr>
          <a:xfrm>
            <a:off x="950106" y="8350354"/>
            <a:ext cx="27123810" cy="9580952"/>
          </a:xfrm>
          <a:prstGeom prst="rect">
            <a:avLst/>
          </a:prstGeom>
        </p:spPr>
      </p:pic>
    </p:spTree>
    <p:extLst>
      <p:ext uri="{BB962C8B-B14F-4D97-AF65-F5344CB8AC3E}">
        <p14:creationId xmlns:p14="http://schemas.microsoft.com/office/powerpoint/2010/main" val="1685503326"/>
      </p:ext>
    </p:extLst>
  </p:cSld>
  <p:clrMapOvr>
    <a:masterClrMapping/>
  </p:clrMapOvr>
  <p:transition spd="slow"/>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 name="Shape 126"/>
          <p:cNvSpPr/>
          <p:nvPr/>
        </p:nvSpPr>
        <p:spPr>
          <a:xfrm>
            <a:off x="952498" y="459786"/>
            <a:ext cx="10825079" cy="1815882"/>
          </a:xfrm>
          <a:prstGeom prst="rect">
            <a:avLst/>
          </a:prstGeom>
          <a:ln w="12700">
            <a:miter lim="400000"/>
          </a:ln>
          <a:extLst>
            <a:ext uri="{C572A759-6A51-4108-AA02-DFA0A04FC94B}">
              <ma14:wrappingTextBoxFlag xmlns="" xmlns:ma14="http://schemas.microsoft.com/office/mac/drawingml/2011/main" val="1"/>
            </a:ext>
          </a:extLst>
        </p:spPr>
        <p:txBody>
          <a:bodyPr wrap="none" lIns="76200" tIns="76200" rIns="76200" bIns="76200">
            <a:spAutoFit/>
          </a:bodyPr>
          <a:lstStyle>
            <a:lvl1pPr algn="l">
              <a:defRPr sz="7000">
                <a:latin typeface="Alright Sans"/>
                <a:ea typeface="Alright Sans"/>
                <a:cs typeface="Alright Sans"/>
                <a:sym typeface="Alright Sans"/>
              </a:defRPr>
            </a:lvl1pPr>
          </a:lstStyle>
          <a:p>
            <a:pPr>
              <a:defRPr sz="3000">
                <a:latin typeface="Alright Sans"/>
                <a:ea typeface="Alright Sans"/>
                <a:cs typeface="Alright Sans"/>
                <a:sym typeface="Alright Sans"/>
              </a:defRPr>
            </a:pPr>
            <a:r>
              <a:rPr lang="en-US" sz="10800" dirty="0">
                <a:latin typeface="Open Sans" panose="020B0606030504020204" pitchFamily="34" charset="0"/>
                <a:ea typeface="Open Sans" panose="020B0606030504020204" pitchFamily="34" charset="0"/>
                <a:cs typeface="Open Sans" panose="020B0606030504020204" pitchFamily="34" charset="0"/>
              </a:rPr>
              <a:t>Mini Challenge 2</a:t>
            </a:r>
          </a:p>
        </p:txBody>
      </p:sp>
      <p:sp>
        <p:nvSpPr>
          <p:cNvPr id="128" name="Shape 128"/>
          <p:cNvSpPr/>
          <p:nvPr/>
        </p:nvSpPr>
        <p:spPr>
          <a:xfrm>
            <a:off x="952500" y="18210515"/>
            <a:ext cx="34782668" cy="2"/>
          </a:xfrm>
          <a:prstGeom prst="line">
            <a:avLst/>
          </a:prstGeom>
          <a:ln w="76200">
            <a:solidFill>
              <a:schemeClr val="accent1">
                <a:satOff val="-3355"/>
                <a:lumOff val="26614"/>
              </a:schemeClr>
            </a:solidFill>
            <a:miter lim="400000"/>
          </a:ln>
        </p:spPr>
        <p:txBody>
          <a:bodyPr lIns="76200" tIns="76200" rIns="76200" bIns="76200" anchor="ctr"/>
          <a:lstStyle/>
          <a:p>
            <a:pPr>
              <a:defRPr sz="3200"/>
            </a:pPr>
            <a:endParaRPr sz="4800"/>
          </a:p>
        </p:txBody>
      </p:sp>
      <p:pic>
        <p:nvPicPr>
          <p:cNvPr id="129" name="Logo.png"/>
          <p:cNvPicPr>
            <a:picLocks noChangeAspect="1"/>
          </p:cNvPicPr>
          <p:nvPr/>
        </p:nvPicPr>
        <p:blipFill>
          <a:blip r:embed="rId3"/>
          <a:stretch>
            <a:fillRect/>
          </a:stretch>
        </p:blipFill>
        <p:spPr>
          <a:xfrm>
            <a:off x="14650974" y="18489726"/>
            <a:ext cx="6321552" cy="1392336"/>
          </a:xfrm>
          <a:prstGeom prst="rect">
            <a:avLst/>
          </a:prstGeom>
          <a:ln w="12700">
            <a:miter lim="400000"/>
          </a:ln>
        </p:spPr>
      </p:pic>
      <p:sp>
        <p:nvSpPr>
          <p:cNvPr id="9" name="Shape 127"/>
          <p:cNvSpPr/>
          <p:nvPr/>
        </p:nvSpPr>
        <p:spPr>
          <a:xfrm flipV="1">
            <a:off x="952499" y="2203340"/>
            <a:ext cx="34782670" cy="38132"/>
          </a:xfrm>
          <a:prstGeom prst="line">
            <a:avLst/>
          </a:prstGeom>
          <a:ln w="152400">
            <a:solidFill>
              <a:schemeClr val="accent1">
                <a:satOff val="-3355"/>
                <a:lumOff val="26614"/>
              </a:schemeClr>
            </a:solidFill>
            <a:miter lim="400000"/>
          </a:ln>
        </p:spPr>
        <p:txBody>
          <a:bodyPr lIns="76200" tIns="76200" rIns="76200" bIns="76200" anchor="ctr"/>
          <a:lstStyle/>
          <a:p>
            <a:pPr>
              <a:defRPr sz="3200"/>
            </a:pPr>
            <a:endParaRPr sz="4800"/>
          </a:p>
        </p:txBody>
      </p:sp>
      <p:sp>
        <p:nvSpPr>
          <p:cNvPr id="10" name="Shape 131"/>
          <p:cNvSpPr/>
          <p:nvPr/>
        </p:nvSpPr>
        <p:spPr>
          <a:xfrm>
            <a:off x="952500" y="18489726"/>
            <a:ext cx="16008688" cy="1308050"/>
          </a:xfrm>
          <a:prstGeom prst="rect">
            <a:avLst/>
          </a:prstGeom>
          <a:ln w="12700">
            <a:miter lim="400000"/>
          </a:ln>
          <a:extLst>
            <a:ext uri="{C572A759-6A51-4108-AA02-DFA0A04FC94B}">
              <ma14:wrappingTextBoxFlag xmlns:ma14="http://schemas.microsoft.com/office/mac/drawingml/2011/main" xmlns="" val="1"/>
            </a:ext>
          </a:extLst>
        </p:spPr>
        <p:txBody>
          <a:bodyPr lIns="76200" tIns="76200" rIns="76200" bIns="76200">
            <a:spAutoFit/>
          </a:bodyPr>
          <a:lstStyle/>
          <a:p>
            <a:pPr algn="l">
              <a:defRPr sz="2000">
                <a:latin typeface="Alright Sans"/>
                <a:ea typeface="Alright Sans"/>
                <a:cs typeface="Alright Sans"/>
                <a:sym typeface="Alright Sans"/>
              </a:defRPr>
            </a:pPr>
            <a:r>
              <a:rPr lang="en-US" sz="3000" dirty="0">
                <a:latin typeface="Open Sans" panose="020B0606030504020204" pitchFamily="34" charset="0"/>
                <a:ea typeface="Open Sans" panose="020B0606030504020204" pitchFamily="34" charset="0"/>
                <a:cs typeface="Open Sans" panose="020B0606030504020204" pitchFamily="34" charset="0"/>
              </a:rPr>
              <a:t>COMPLETE JAVA MASTERCLASS</a:t>
            </a:r>
          </a:p>
          <a:p>
            <a:pPr algn="l">
              <a:defRPr sz="3000">
                <a:latin typeface="Alright Sans"/>
                <a:ea typeface="Alright Sans"/>
                <a:cs typeface="Alright Sans"/>
                <a:sym typeface="Alright Sans"/>
              </a:defRPr>
            </a:pPr>
            <a:r>
              <a:rPr lang="en-US" sz="4500" dirty="0">
                <a:latin typeface="Open Sans" panose="020B0606030504020204" pitchFamily="34" charset="0"/>
                <a:ea typeface="Open Sans" panose="020B0606030504020204" pitchFamily="34" charset="0"/>
                <a:cs typeface="Open Sans" panose="020B0606030504020204" pitchFamily="34" charset="0"/>
              </a:rPr>
              <a:t>Lambda Mini Challenges</a:t>
            </a:r>
          </a:p>
        </p:txBody>
      </p:sp>
      <p:sp>
        <p:nvSpPr>
          <p:cNvPr id="8" name="Rectangle 7">
            <a:extLst>
              <a:ext uri="{FF2B5EF4-FFF2-40B4-BE49-F238E27FC236}">
                <a16:creationId xmlns:a16="http://schemas.microsoft.com/office/drawing/2014/main" id="{89DBB243-EF27-4345-872D-E76597E95619}"/>
              </a:ext>
            </a:extLst>
          </p:cNvPr>
          <p:cNvSpPr/>
          <p:nvPr/>
        </p:nvSpPr>
        <p:spPr>
          <a:xfrm>
            <a:off x="952501" y="3135091"/>
            <a:ext cx="34782670" cy="14796207"/>
          </a:xfrm>
          <a:prstGeom prst="rect">
            <a:avLst/>
          </a:prstGeom>
        </p:spPr>
        <p:txBody>
          <a:bodyPr wrap="square">
            <a:normAutofit/>
          </a:bodyPr>
          <a:lstStyle/>
          <a:p>
            <a:pPr algn="l">
              <a:spcAft>
                <a:spcPts val="5022"/>
              </a:spcAft>
            </a:pPr>
            <a:r>
              <a:rPr lang="en-US" sz="6400" dirty="0">
                <a:latin typeface="Open Sans" panose="020B0606030504020204" pitchFamily="34" charset="0"/>
                <a:ea typeface="Open Sans" panose="020B0606030504020204" pitchFamily="34" charset="0"/>
                <a:cs typeface="Open Sans" panose="020B0606030504020204" pitchFamily="34" charset="0"/>
              </a:rPr>
              <a:t>Write the following method as a lambda expression.</a:t>
            </a:r>
          </a:p>
          <a:p>
            <a:pPr algn="l">
              <a:spcAft>
                <a:spcPts val="5022"/>
              </a:spcAft>
            </a:pPr>
            <a:endParaRPr lang="en-US" sz="6400" dirty="0">
              <a:latin typeface="Open Sans" panose="020B0606030504020204" pitchFamily="34" charset="0"/>
              <a:ea typeface="Open Sans" panose="020B0606030504020204" pitchFamily="34" charset="0"/>
              <a:cs typeface="Open Sans" panose="020B0606030504020204" pitchFamily="34" charset="0"/>
            </a:endParaRPr>
          </a:p>
          <a:p>
            <a:pPr algn="l">
              <a:spcAft>
                <a:spcPts val="5022"/>
              </a:spcAft>
            </a:pPr>
            <a:endParaRPr lang="en-US" sz="6400" dirty="0">
              <a:latin typeface="Open Sans" panose="020B0606030504020204" pitchFamily="34" charset="0"/>
              <a:ea typeface="Open Sans" panose="020B0606030504020204" pitchFamily="34" charset="0"/>
              <a:cs typeface="Open Sans" panose="020B0606030504020204" pitchFamily="34" charset="0"/>
            </a:endParaRPr>
          </a:p>
          <a:p>
            <a:pPr algn="l">
              <a:spcAft>
                <a:spcPts val="5022"/>
              </a:spcAft>
            </a:pPr>
            <a:endParaRPr lang="en-US" sz="6400" dirty="0">
              <a:latin typeface="Open Sans" panose="020B0606030504020204" pitchFamily="34" charset="0"/>
              <a:ea typeface="Open Sans" panose="020B0606030504020204" pitchFamily="34" charset="0"/>
              <a:cs typeface="Open Sans" panose="020B0606030504020204" pitchFamily="34" charset="0"/>
            </a:endParaRPr>
          </a:p>
          <a:p>
            <a:pPr algn="l">
              <a:spcAft>
                <a:spcPts val="5022"/>
              </a:spcAft>
            </a:pPr>
            <a:endParaRPr lang="en-US" sz="6400" dirty="0">
              <a:latin typeface="Open Sans" panose="020B0606030504020204" pitchFamily="34" charset="0"/>
              <a:ea typeface="Open Sans" panose="020B0606030504020204" pitchFamily="34" charset="0"/>
              <a:cs typeface="Open Sans" panose="020B0606030504020204" pitchFamily="34" charset="0"/>
            </a:endParaRPr>
          </a:p>
          <a:p>
            <a:pPr algn="l">
              <a:spcAft>
                <a:spcPts val="5022"/>
              </a:spcAft>
            </a:pPr>
            <a:endParaRPr lang="en-US" sz="6400" dirty="0">
              <a:latin typeface="Open Sans" panose="020B0606030504020204" pitchFamily="34" charset="0"/>
              <a:ea typeface="Open Sans" panose="020B0606030504020204" pitchFamily="34" charset="0"/>
              <a:cs typeface="Open Sans" panose="020B0606030504020204" pitchFamily="34" charset="0"/>
            </a:endParaRPr>
          </a:p>
          <a:p>
            <a:pPr algn="l">
              <a:spcAft>
                <a:spcPts val="5022"/>
              </a:spcAft>
            </a:pPr>
            <a:endParaRPr lang="en-US" sz="6400" dirty="0">
              <a:latin typeface="Open Sans" panose="020B0606030504020204" pitchFamily="34" charset="0"/>
              <a:ea typeface="Open Sans" panose="020B0606030504020204" pitchFamily="34" charset="0"/>
              <a:cs typeface="Open Sans" panose="020B0606030504020204" pitchFamily="34" charset="0"/>
            </a:endParaRPr>
          </a:p>
          <a:p>
            <a:pPr algn="l">
              <a:spcAft>
                <a:spcPts val="5022"/>
              </a:spcAft>
            </a:pPr>
            <a:r>
              <a:rPr lang="en-US" sz="6400" dirty="0">
                <a:latin typeface="Open Sans" panose="020B0606030504020204" pitchFamily="34" charset="0"/>
                <a:ea typeface="Open Sans" panose="020B0606030504020204" pitchFamily="34" charset="0"/>
                <a:cs typeface="Open Sans" panose="020B0606030504020204" pitchFamily="34" charset="0"/>
              </a:rPr>
              <a:t>In other words, create a variable, using a type that makes sense for this method.</a:t>
            </a:r>
          </a:p>
          <a:p>
            <a:pPr algn="l">
              <a:spcAft>
                <a:spcPts val="5022"/>
              </a:spcAft>
            </a:pPr>
            <a:r>
              <a:rPr lang="en-US" sz="6400" dirty="0">
                <a:latin typeface="Open Sans" panose="020B0606030504020204" pitchFamily="34" charset="0"/>
                <a:ea typeface="Open Sans" panose="020B0606030504020204" pitchFamily="34" charset="0"/>
                <a:cs typeface="Open Sans" panose="020B0606030504020204" pitchFamily="34" charset="0"/>
              </a:rPr>
              <a:t>Don't worry about executing it though.</a:t>
            </a:r>
          </a:p>
        </p:txBody>
      </p:sp>
      <p:pic>
        <p:nvPicPr>
          <p:cNvPr id="3" name="Picture 2">
            <a:extLst>
              <a:ext uri="{FF2B5EF4-FFF2-40B4-BE49-F238E27FC236}">
                <a16:creationId xmlns:a16="http://schemas.microsoft.com/office/drawing/2014/main" id="{B6801C9B-0E16-0330-28AA-2D99BA671A49}"/>
              </a:ext>
            </a:extLst>
          </p:cNvPr>
          <p:cNvPicPr>
            <a:picLocks noChangeAspect="1"/>
          </p:cNvPicPr>
          <p:nvPr/>
        </p:nvPicPr>
        <p:blipFill>
          <a:blip r:embed="rId4"/>
          <a:stretch>
            <a:fillRect/>
          </a:stretch>
        </p:blipFill>
        <p:spPr>
          <a:xfrm>
            <a:off x="952498" y="4573646"/>
            <a:ext cx="25238094" cy="9561904"/>
          </a:xfrm>
          <a:prstGeom prst="rect">
            <a:avLst/>
          </a:prstGeom>
        </p:spPr>
      </p:pic>
    </p:spTree>
    <p:extLst>
      <p:ext uri="{BB962C8B-B14F-4D97-AF65-F5344CB8AC3E}">
        <p14:creationId xmlns:p14="http://schemas.microsoft.com/office/powerpoint/2010/main" val="4207164632"/>
      </p:ext>
    </p:extLst>
  </p:cSld>
  <p:clrMapOvr>
    <a:masterClrMapping/>
  </p:clrMapOvr>
  <p:transition spd="slow"/>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 name="Shape 126"/>
          <p:cNvSpPr/>
          <p:nvPr/>
        </p:nvSpPr>
        <p:spPr>
          <a:xfrm>
            <a:off x="952498" y="459786"/>
            <a:ext cx="10825079" cy="1815882"/>
          </a:xfrm>
          <a:prstGeom prst="rect">
            <a:avLst/>
          </a:prstGeom>
          <a:ln w="12700">
            <a:miter lim="400000"/>
          </a:ln>
          <a:extLst>
            <a:ext uri="{C572A759-6A51-4108-AA02-DFA0A04FC94B}">
              <ma14:wrappingTextBoxFlag xmlns="" xmlns:ma14="http://schemas.microsoft.com/office/mac/drawingml/2011/main" val="1"/>
            </a:ext>
          </a:extLst>
        </p:spPr>
        <p:txBody>
          <a:bodyPr wrap="none" lIns="76200" tIns="76200" rIns="76200" bIns="76200">
            <a:spAutoFit/>
          </a:bodyPr>
          <a:lstStyle>
            <a:lvl1pPr algn="l">
              <a:defRPr sz="7000">
                <a:latin typeface="Alright Sans"/>
                <a:ea typeface="Alright Sans"/>
                <a:cs typeface="Alright Sans"/>
                <a:sym typeface="Alright Sans"/>
              </a:defRPr>
            </a:lvl1pPr>
          </a:lstStyle>
          <a:p>
            <a:pPr>
              <a:defRPr sz="3000">
                <a:latin typeface="Alright Sans"/>
                <a:ea typeface="Alright Sans"/>
                <a:cs typeface="Alright Sans"/>
                <a:sym typeface="Alright Sans"/>
              </a:defRPr>
            </a:pPr>
            <a:r>
              <a:rPr lang="en-US" sz="10800" dirty="0">
                <a:latin typeface="Open Sans" panose="020B0606030504020204" pitchFamily="34" charset="0"/>
                <a:ea typeface="Open Sans" panose="020B0606030504020204" pitchFamily="34" charset="0"/>
                <a:cs typeface="Open Sans" panose="020B0606030504020204" pitchFamily="34" charset="0"/>
              </a:rPr>
              <a:t>Mini Challenge 3</a:t>
            </a:r>
          </a:p>
        </p:txBody>
      </p:sp>
      <p:sp>
        <p:nvSpPr>
          <p:cNvPr id="128" name="Shape 128"/>
          <p:cNvSpPr/>
          <p:nvPr/>
        </p:nvSpPr>
        <p:spPr>
          <a:xfrm>
            <a:off x="952500" y="18210515"/>
            <a:ext cx="34782668" cy="2"/>
          </a:xfrm>
          <a:prstGeom prst="line">
            <a:avLst/>
          </a:prstGeom>
          <a:ln w="76200">
            <a:solidFill>
              <a:schemeClr val="accent1">
                <a:satOff val="-3355"/>
                <a:lumOff val="26614"/>
              </a:schemeClr>
            </a:solidFill>
            <a:miter lim="400000"/>
          </a:ln>
        </p:spPr>
        <p:txBody>
          <a:bodyPr lIns="76200" tIns="76200" rIns="76200" bIns="76200" anchor="ctr"/>
          <a:lstStyle/>
          <a:p>
            <a:pPr>
              <a:defRPr sz="3200"/>
            </a:pPr>
            <a:endParaRPr sz="4800"/>
          </a:p>
        </p:txBody>
      </p:sp>
      <p:pic>
        <p:nvPicPr>
          <p:cNvPr id="129" name="Logo.png"/>
          <p:cNvPicPr>
            <a:picLocks noChangeAspect="1"/>
          </p:cNvPicPr>
          <p:nvPr/>
        </p:nvPicPr>
        <p:blipFill>
          <a:blip r:embed="rId3"/>
          <a:stretch>
            <a:fillRect/>
          </a:stretch>
        </p:blipFill>
        <p:spPr>
          <a:xfrm>
            <a:off x="14650974" y="18489726"/>
            <a:ext cx="6321552" cy="1392336"/>
          </a:xfrm>
          <a:prstGeom prst="rect">
            <a:avLst/>
          </a:prstGeom>
          <a:ln w="12700">
            <a:miter lim="400000"/>
          </a:ln>
        </p:spPr>
      </p:pic>
      <p:sp>
        <p:nvSpPr>
          <p:cNvPr id="9" name="Shape 127"/>
          <p:cNvSpPr/>
          <p:nvPr/>
        </p:nvSpPr>
        <p:spPr>
          <a:xfrm flipV="1">
            <a:off x="952499" y="2203340"/>
            <a:ext cx="34782670" cy="38132"/>
          </a:xfrm>
          <a:prstGeom prst="line">
            <a:avLst/>
          </a:prstGeom>
          <a:ln w="152400">
            <a:solidFill>
              <a:schemeClr val="accent1">
                <a:satOff val="-3355"/>
                <a:lumOff val="26614"/>
              </a:schemeClr>
            </a:solidFill>
            <a:miter lim="400000"/>
          </a:ln>
        </p:spPr>
        <p:txBody>
          <a:bodyPr lIns="76200" tIns="76200" rIns="76200" bIns="76200" anchor="ctr"/>
          <a:lstStyle/>
          <a:p>
            <a:pPr>
              <a:defRPr sz="3200"/>
            </a:pPr>
            <a:endParaRPr sz="4800"/>
          </a:p>
        </p:txBody>
      </p:sp>
      <p:sp>
        <p:nvSpPr>
          <p:cNvPr id="10" name="Shape 131"/>
          <p:cNvSpPr/>
          <p:nvPr/>
        </p:nvSpPr>
        <p:spPr>
          <a:xfrm>
            <a:off x="952500" y="18489726"/>
            <a:ext cx="16008688" cy="1308050"/>
          </a:xfrm>
          <a:prstGeom prst="rect">
            <a:avLst/>
          </a:prstGeom>
          <a:ln w="12700">
            <a:miter lim="400000"/>
          </a:ln>
          <a:extLst>
            <a:ext uri="{C572A759-6A51-4108-AA02-DFA0A04FC94B}">
              <ma14:wrappingTextBoxFlag xmlns:ma14="http://schemas.microsoft.com/office/mac/drawingml/2011/main" xmlns="" val="1"/>
            </a:ext>
          </a:extLst>
        </p:spPr>
        <p:txBody>
          <a:bodyPr lIns="76200" tIns="76200" rIns="76200" bIns="76200">
            <a:spAutoFit/>
          </a:bodyPr>
          <a:lstStyle/>
          <a:p>
            <a:pPr algn="l">
              <a:defRPr sz="2000">
                <a:latin typeface="Alright Sans"/>
                <a:ea typeface="Alright Sans"/>
                <a:cs typeface="Alright Sans"/>
                <a:sym typeface="Alright Sans"/>
              </a:defRPr>
            </a:pPr>
            <a:r>
              <a:rPr lang="en-US" sz="3000" dirty="0">
                <a:latin typeface="Open Sans" panose="020B0606030504020204" pitchFamily="34" charset="0"/>
                <a:ea typeface="Open Sans" panose="020B0606030504020204" pitchFamily="34" charset="0"/>
                <a:cs typeface="Open Sans" panose="020B0606030504020204" pitchFamily="34" charset="0"/>
              </a:rPr>
              <a:t>COMPLETE JAVA MASTERCLASS</a:t>
            </a:r>
          </a:p>
          <a:p>
            <a:pPr algn="l">
              <a:defRPr sz="3000">
                <a:latin typeface="Alright Sans"/>
                <a:ea typeface="Alright Sans"/>
                <a:cs typeface="Alright Sans"/>
                <a:sym typeface="Alright Sans"/>
              </a:defRPr>
            </a:pPr>
            <a:r>
              <a:rPr lang="en-US" sz="4500" dirty="0">
                <a:latin typeface="Open Sans" panose="020B0606030504020204" pitchFamily="34" charset="0"/>
                <a:ea typeface="Open Sans" panose="020B0606030504020204" pitchFamily="34" charset="0"/>
                <a:cs typeface="Open Sans" panose="020B0606030504020204" pitchFamily="34" charset="0"/>
              </a:rPr>
              <a:t>Lambda Mini Challenges</a:t>
            </a:r>
          </a:p>
        </p:txBody>
      </p:sp>
      <p:sp>
        <p:nvSpPr>
          <p:cNvPr id="8" name="Rectangle 7">
            <a:extLst>
              <a:ext uri="{FF2B5EF4-FFF2-40B4-BE49-F238E27FC236}">
                <a16:creationId xmlns:a16="http://schemas.microsoft.com/office/drawing/2014/main" id="{89DBB243-EF27-4345-872D-E76597E95619}"/>
              </a:ext>
            </a:extLst>
          </p:cNvPr>
          <p:cNvSpPr/>
          <p:nvPr/>
        </p:nvSpPr>
        <p:spPr>
          <a:xfrm>
            <a:off x="952501" y="4285904"/>
            <a:ext cx="34782670" cy="11880176"/>
          </a:xfrm>
          <a:prstGeom prst="rect">
            <a:avLst/>
          </a:prstGeom>
        </p:spPr>
        <p:txBody>
          <a:bodyPr wrap="square">
            <a:normAutofit/>
          </a:bodyPr>
          <a:lstStyle/>
          <a:p>
            <a:pPr algn="l">
              <a:spcAft>
                <a:spcPts val="5022"/>
              </a:spcAft>
            </a:pPr>
            <a:r>
              <a:rPr lang="en-US" sz="6400" dirty="0">
                <a:latin typeface="Open Sans" panose="020B0606030504020204" pitchFamily="34" charset="0"/>
                <a:ea typeface="Open Sans" panose="020B0606030504020204" pitchFamily="34" charset="0"/>
                <a:cs typeface="Open Sans" panose="020B0606030504020204" pitchFamily="34" charset="0"/>
              </a:rPr>
              <a:t>The lambda expression we created in Challenge 2 doesn't do anything right now.</a:t>
            </a:r>
          </a:p>
          <a:p>
            <a:pPr algn="l">
              <a:spcAft>
                <a:spcPts val="5022"/>
              </a:spcAft>
            </a:pPr>
            <a:r>
              <a:rPr lang="en-US" sz="6400" dirty="0">
                <a:latin typeface="Open Sans" panose="020B0606030504020204" pitchFamily="34" charset="0"/>
                <a:ea typeface="Open Sans" panose="020B0606030504020204" pitchFamily="34" charset="0"/>
                <a:cs typeface="Open Sans" panose="020B0606030504020204" pitchFamily="34" charset="0"/>
              </a:rPr>
              <a:t>I want you to write the code to execute this lambda expression's functional method, using 1234567890, as the argument to that method, and print the result out.</a:t>
            </a:r>
          </a:p>
        </p:txBody>
      </p:sp>
      <p:pic>
        <p:nvPicPr>
          <p:cNvPr id="3" name="Picture 2">
            <a:extLst>
              <a:ext uri="{FF2B5EF4-FFF2-40B4-BE49-F238E27FC236}">
                <a16:creationId xmlns:a16="http://schemas.microsoft.com/office/drawing/2014/main" id="{79404212-9BED-19FD-76F7-4C47625E55B9}"/>
              </a:ext>
            </a:extLst>
          </p:cNvPr>
          <p:cNvPicPr>
            <a:picLocks noChangeAspect="1"/>
          </p:cNvPicPr>
          <p:nvPr/>
        </p:nvPicPr>
        <p:blipFill>
          <a:blip r:embed="rId4"/>
          <a:stretch>
            <a:fillRect/>
          </a:stretch>
        </p:blipFill>
        <p:spPr>
          <a:xfrm>
            <a:off x="952498" y="8559726"/>
            <a:ext cx="24285714" cy="8628572"/>
          </a:xfrm>
          <a:prstGeom prst="rect">
            <a:avLst/>
          </a:prstGeom>
        </p:spPr>
      </p:pic>
    </p:spTree>
    <p:extLst>
      <p:ext uri="{BB962C8B-B14F-4D97-AF65-F5344CB8AC3E}">
        <p14:creationId xmlns:p14="http://schemas.microsoft.com/office/powerpoint/2010/main" val="2633774031"/>
      </p:ext>
    </p:extLst>
  </p:cSld>
  <p:clrMapOvr>
    <a:masterClrMapping/>
  </p:clrMapOvr>
  <p:transition spd="slow"/>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 name="Shape 126"/>
          <p:cNvSpPr/>
          <p:nvPr/>
        </p:nvSpPr>
        <p:spPr>
          <a:xfrm>
            <a:off x="952498" y="459786"/>
            <a:ext cx="10825079" cy="1815882"/>
          </a:xfrm>
          <a:prstGeom prst="rect">
            <a:avLst/>
          </a:prstGeom>
          <a:ln w="12700">
            <a:miter lim="400000"/>
          </a:ln>
          <a:extLst>
            <a:ext uri="{C572A759-6A51-4108-AA02-DFA0A04FC94B}">
              <ma14:wrappingTextBoxFlag xmlns:ma14="http://schemas.microsoft.com/office/mac/drawingml/2011/main" xmlns="" val="1"/>
            </a:ext>
          </a:extLst>
        </p:spPr>
        <p:txBody>
          <a:bodyPr wrap="none" lIns="76200" tIns="76200" rIns="76200" bIns="76200">
            <a:spAutoFit/>
          </a:bodyPr>
          <a:lstStyle>
            <a:lvl1pPr algn="l">
              <a:defRPr sz="7000">
                <a:latin typeface="Alright Sans"/>
                <a:ea typeface="Alright Sans"/>
                <a:cs typeface="Alright Sans"/>
                <a:sym typeface="Alright Sans"/>
              </a:defRPr>
            </a:lvl1pPr>
          </a:lstStyle>
          <a:p>
            <a:pPr>
              <a:defRPr sz="3000">
                <a:latin typeface="Alright Sans"/>
                <a:ea typeface="Alright Sans"/>
                <a:cs typeface="Alright Sans"/>
                <a:sym typeface="Alright Sans"/>
              </a:defRPr>
            </a:pPr>
            <a:r>
              <a:rPr lang="en-US" sz="10800" dirty="0">
                <a:latin typeface="Open Sans" panose="020B0606030504020204" pitchFamily="34" charset="0"/>
                <a:ea typeface="Open Sans" panose="020B0606030504020204" pitchFamily="34" charset="0"/>
                <a:cs typeface="Open Sans" panose="020B0606030504020204" pitchFamily="34" charset="0"/>
              </a:rPr>
              <a:t>Mini Challenge 4</a:t>
            </a:r>
          </a:p>
        </p:txBody>
      </p:sp>
      <p:sp>
        <p:nvSpPr>
          <p:cNvPr id="128" name="Shape 128"/>
          <p:cNvSpPr/>
          <p:nvPr/>
        </p:nvSpPr>
        <p:spPr>
          <a:xfrm>
            <a:off x="952500" y="18210515"/>
            <a:ext cx="34782668" cy="2"/>
          </a:xfrm>
          <a:prstGeom prst="line">
            <a:avLst/>
          </a:prstGeom>
          <a:ln w="76200">
            <a:solidFill>
              <a:schemeClr val="accent1">
                <a:satOff val="-3355"/>
                <a:lumOff val="26614"/>
              </a:schemeClr>
            </a:solidFill>
            <a:miter lim="400000"/>
          </a:ln>
        </p:spPr>
        <p:txBody>
          <a:bodyPr lIns="76200" tIns="76200" rIns="76200" bIns="76200" anchor="ctr"/>
          <a:lstStyle/>
          <a:p>
            <a:pPr>
              <a:defRPr sz="3200"/>
            </a:pPr>
            <a:endParaRPr sz="4800"/>
          </a:p>
        </p:txBody>
      </p:sp>
      <p:pic>
        <p:nvPicPr>
          <p:cNvPr id="129" name="Logo.png"/>
          <p:cNvPicPr>
            <a:picLocks noChangeAspect="1"/>
          </p:cNvPicPr>
          <p:nvPr/>
        </p:nvPicPr>
        <p:blipFill>
          <a:blip r:embed="rId3"/>
          <a:stretch>
            <a:fillRect/>
          </a:stretch>
        </p:blipFill>
        <p:spPr>
          <a:xfrm>
            <a:off x="14650974" y="18489726"/>
            <a:ext cx="6321552" cy="1392336"/>
          </a:xfrm>
          <a:prstGeom prst="rect">
            <a:avLst/>
          </a:prstGeom>
          <a:ln w="12700">
            <a:miter lim="400000"/>
          </a:ln>
        </p:spPr>
      </p:pic>
      <p:sp>
        <p:nvSpPr>
          <p:cNvPr id="9" name="Shape 127"/>
          <p:cNvSpPr/>
          <p:nvPr/>
        </p:nvSpPr>
        <p:spPr>
          <a:xfrm flipV="1">
            <a:off x="952499" y="2203340"/>
            <a:ext cx="34782670" cy="38132"/>
          </a:xfrm>
          <a:prstGeom prst="line">
            <a:avLst/>
          </a:prstGeom>
          <a:ln w="152400">
            <a:solidFill>
              <a:schemeClr val="accent1">
                <a:satOff val="-3355"/>
                <a:lumOff val="26614"/>
              </a:schemeClr>
            </a:solidFill>
            <a:miter lim="400000"/>
          </a:ln>
        </p:spPr>
        <p:txBody>
          <a:bodyPr lIns="76200" tIns="76200" rIns="76200" bIns="76200" anchor="ctr"/>
          <a:lstStyle/>
          <a:p>
            <a:pPr>
              <a:defRPr sz="3200"/>
            </a:pPr>
            <a:endParaRPr sz="4800"/>
          </a:p>
        </p:txBody>
      </p:sp>
      <p:sp>
        <p:nvSpPr>
          <p:cNvPr id="10" name="Shape 131"/>
          <p:cNvSpPr/>
          <p:nvPr/>
        </p:nvSpPr>
        <p:spPr>
          <a:xfrm>
            <a:off x="952500" y="18489726"/>
            <a:ext cx="16008688" cy="1308050"/>
          </a:xfrm>
          <a:prstGeom prst="rect">
            <a:avLst/>
          </a:prstGeom>
          <a:ln w="12700">
            <a:miter lim="400000"/>
          </a:ln>
          <a:extLst>
            <a:ext uri="{C572A759-6A51-4108-AA02-DFA0A04FC94B}">
              <ma14:wrappingTextBoxFlag xmlns="" xmlns:ma14="http://schemas.microsoft.com/office/mac/drawingml/2011/main" val="1"/>
            </a:ext>
          </a:extLst>
        </p:spPr>
        <p:txBody>
          <a:bodyPr lIns="76200" tIns="76200" rIns="76200" bIns="76200">
            <a:spAutoFit/>
          </a:bodyPr>
          <a:lstStyle/>
          <a:p>
            <a:pPr algn="l">
              <a:defRPr sz="2000">
                <a:latin typeface="Alright Sans"/>
                <a:ea typeface="Alright Sans"/>
                <a:cs typeface="Alright Sans"/>
                <a:sym typeface="Alright Sans"/>
              </a:defRPr>
            </a:pPr>
            <a:r>
              <a:rPr lang="en-US" sz="3000" dirty="0">
                <a:latin typeface="Open Sans" panose="020B0606030504020204" pitchFamily="34" charset="0"/>
                <a:ea typeface="Open Sans" panose="020B0606030504020204" pitchFamily="34" charset="0"/>
                <a:cs typeface="Open Sans" panose="020B0606030504020204" pitchFamily="34" charset="0"/>
              </a:rPr>
              <a:t>COMPLETE JAVA MASTERCLASS</a:t>
            </a:r>
          </a:p>
          <a:p>
            <a:pPr algn="l">
              <a:defRPr sz="3000">
                <a:latin typeface="Alright Sans"/>
                <a:ea typeface="Alright Sans"/>
                <a:cs typeface="Alright Sans"/>
                <a:sym typeface="Alright Sans"/>
              </a:defRPr>
            </a:pPr>
            <a:r>
              <a:rPr lang="en-US" sz="4500" dirty="0">
                <a:latin typeface="Open Sans" panose="020B0606030504020204" pitchFamily="34" charset="0"/>
                <a:ea typeface="Open Sans" panose="020B0606030504020204" pitchFamily="34" charset="0"/>
                <a:cs typeface="Open Sans" panose="020B0606030504020204" pitchFamily="34" charset="0"/>
              </a:rPr>
              <a:t>Lambda Mini Challenges</a:t>
            </a:r>
          </a:p>
        </p:txBody>
      </p:sp>
      <p:sp>
        <p:nvSpPr>
          <p:cNvPr id="8" name="Rectangle 7">
            <a:extLst>
              <a:ext uri="{FF2B5EF4-FFF2-40B4-BE49-F238E27FC236}">
                <a16:creationId xmlns:a16="http://schemas.microsoft.com/office/drawing/2014/main" id="{89DBB243-EF27-4345-872D-E76597E95619}"/>
              </a:ext>
            </a:extLst>
          </p:cNvPr>
          <p:cNvSpPr/>
          <p:nvPr/>
        </p:nvSpPr>
        <p:spPr>
          <a:xfrm>
            <a:off x="952501" y="4285904"/>
            <a:ext cx="34782670" cy="11880176"/>
          </a:xfrm>
          <a:prstGeom prst="rect">
            <a:avLst/>
          </a:prstGeom>
        </p:spPr>
        <p:txBody>
          <a:bodyPr wrap="square">
            <a:normAutofit/>
          </a:bodyPr>
          <a:lstStyle/>
          <a:p>
            <a:pPr algn="l">
              <a:spcAft>
                <a:spcPts val="5022"/>
              </a:spcAft>
            </a:pPr>
            <a:r>
              <a:rPr lang="en-US" sz="6400" dirty="0">
                <a:latin typeface="Open Sans" panose="020B0606030504020204" pitchFamily="34" charset="0"/>
                <a:ea typeface="Open Sans" panose="020B0606030504020204" pitchFamily="34" charset="0"/>
                <a:cs typeface="Open Sans" panose="020B0606030504020204" pitchFamily="34" charset="0"/>
              </a:rPr>
              <a:t>Instead of executing this function directly, suppose we want to pass it to a method.</a:t>
            </a:r>
          </a:p>
          <a:p>
            <a:pPr algn="l">
              <a:spcAft>
                <a:spcPts val="5022"/>
              </a:spcAft>
            </a:pPr>
            <a:r>
              <a:rPr lang="en-US" sz="6400" dirty="0">
                <a:latin typeface="Open Sans" panose="020B0606030504020204" pitchFamily="34" charset="0"/>
                <a:ea typeface="Open Sans" panose="020B0606030504020204" pitchFamily="34" charset="0"/>
                <a:cs typeface="Open Sans" panose="020B0606030504020204" pitchFamily="34" charset="0"/>
              </a:rPr>
              <a:t>Write another method on your class, called </a:t>
            </a:r>
            <a:r>
              <a:rPr lang="en-US" sz="6400" dirty="0" err="1">
                <a:latin typeface="Open Sans" panose="020B0606030504020204" pitchFamily="34" charset="0"/>
                <a:ea typeface="Open Sans" panose="020B0606030504020204" pitchFamily="34" charset="0"/>
                <a:cs typeface="Open Sans" panose="020B0606030504020204" pitchFamily="34" charset="0"/>
              </a:rPr>
              <a:t>everySecondCharacter</a:t>
            </a:r>
            <a:r>
              <a:rPr lang="en-US" sz="6400" dirty="0">
                <a:latin typeface="Open Sans" panose="020B0606030504020204" pitchFamily="34" charset="0"/>
                <a:ea typeface="Open Sans" panose="020B0606030504020204" pitchFamily="34" charset="0"/>
                <a:cs typeface="Open Sans" panose="020B0606030504020204" pitchFamily="34" charset="0"/>
              </a:rPr>
              <a:t>.</a:t>
            </a:r>
          </a:p>
          <a:p>
            <a:pPr algn="l">
              <a:spcAft>
                <a:spcPts val="5022"/>
              </a:spcAft>
            </a:pPr>
            <a:r>
              <a:rPr lang="en-US" sz="6400" dirty="0">
                <a:latin typeface="Open Sans" panose="020B0606030504020204" pitchFamily="34" charset="0"/>
                <a:ea typeface="Open Sans" panose="020B0606030504020204" pitchFamily="34" charset="0"/>
                <a:cs typeface="Open Sans" panose="020B0606030504020204" pitchFamily="34" charset="0"/>
              </a:rPr>
              <a:t>This method should accept a Function, or </a:t>
            </a:r>
            <a:r>
              <a:rPr lang="en-US" sz="6400" dirty="0" err="1">
                <a:latin typeface="Open Sans" panose="020B0606030504020204" pitchFamily="34" charset="0"/>
                <a:ea typeface="Open Sans" panose="020B0606030504020204" pitchFamily="34" charset="0"/>
                <a:cs typeface="Open Sans" panose="020B0606030504020204" pitchFamily="34" charset="0"/>
              </a:rPr>
              <a:t>UnaryOperator</a:t>
            </a:r>
            <a:r>
              <a:rPr lang="en-US" sz="6400" dirty="0">
                <a:latin typeface="Open Sans" panose="020B0606030504020204" pitchFamily="34" charset="0"/>
                <a:ea typeface="Open Sans" panose="020B0606030504020204" pitchFamily="34" charset="0"/>
                <a:cs typeface="Open Sans" panose="020B0606030504020204" pitchFamily="34" charset="0"/>
              </a:rPr>
              <a:t>, as a parameter, as well as a second parameter that lets us pass, "1234567890".</a:t>
            </a:r>
          </a:p>
          <a:p>
            <a:pPr algn="l">
              <a:spcAft>
                <a:spcPts val="5022"/>
              </a:spcAft>
            </a:pPr>
            <a:r>
              <a:rPr lang="en-US" sz="6400" dirty="0">
                <a:latin typeface="Open Sans" panose="020B0606030504020204" pitchFamily="34" charset="0"/>
                <a:ea typeface="Open Sans" panose="020B0606030504020204" pitchFamily="34" charset="0"/>
                <a:cs typeface="Open Sans" panose="020B0606030504020204" pitchFamily="34" charset="0"/>
              </a:rPr>
              <a:t>In other words, don't hard code that String in your method code.</a:t>
            </a:r>
          </a:p>
          <a:p>
            <a:pPr algn="l">
              <a:spcAft>
                <a:spcPts val="5022"/>
              </a:spcAft>
            </a:pPr>
            <a:r>
              <a:rPr lang="en-US" sz="6400" dirty="0">
                <a:latin typeface="Open Sans" panose="020B0606030504020204" pitchFamily="34" charset="0"/>
                <a:ea typeface="Open Sans" panose="020B0606030504020204" pitchFamily="34" charset="0"/>
                <a:cs typeface="Open Sans" panose="020B0606030504020204" pitchFamily="34" charset="0"/>
              </a:rPr>
              <a:t>The method code should execute the functional method on the first argument, passing it the value of the String passed, from the enclosing method.</a:t>
            </a:r>
          </a:p>
          <a:p>
            <a:pPr algn="l">
              <a:spcAft>
                <a:spcPts val="5022"/>
              </a:spcAft>
            </a:pPr>
            <a:r>
              <a:rPr lang="en-US" sz="6400" dirty="0">
                <a:latin typeface="Open Sans" panose="020B0606030504020204" pitchFamily="34" charset="0"/>
                <a:ea typeface="Open Sans" panose="020B0606030504020204" pitchFamily="34" charset="0"/>
                <a:cs typeface="Open Sans" panose="020B0606030504020204" pitchFamily="34" charset="0"/>
              </a:rPr>
              <a:t>It should return the result of the call to the functional method.</a:t>
            </a:r>
          </a:p>
        </p:txBody>
      </p:sp>
    </p:spTree>
    <p:extLst>
      <p:ext uri="{BB962C8B-B14F-4D97-AF65-F5344CB8AC3E}">
        <p14:creationId xmlns:p14="http://schemas.microsoft.com/office/powerpoint/2010/main" val="1444885976"/>
      </p:ext>
    </p:extLst>
  </p:cSld>
  <p:clrMapOvr>
    <a:masterClrMapping/>
  </p:clrMapOvr>
  <p:transition spd="slow"/>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 name="Shape 126"/>
          <p:cNvSpPr/>
          <p:nvPr/>
        </p:nvSpPr>
        <p:spPr>
          <a:xfrm>
            <a:off x="952498" y="459786"/>
            <a:ext cx="33821759" cy="1815882"/>
          </a:xfrm>
          <a:prstGeom prst="rect">
            <a:avLst/>
          </a:prstGeom>
          <a:ln w="12700">
            <a:miter lim="400000"/>
          </a:ln>
          <a:extLst>
            <a:ext uri="{C572A759-6A51-4108-AA02-DFA0A04FC94B}">
              <ma14:wrappingTextBoxFlag xmlns="" xmlns:ma14="http://schemas.microsoft.com/office/mac/drawingml/2011/main" val="1"/>
            </a:ext>
          </a:extLst>
        </p:spPr>
        <p:txBody>
          <a:bodyPr wrap="none" lIns="76200" tIns="76200" rIns="76200" bIns="76200">
            <a:spAutoFit/>
          </a:bodyPr>
          <a:lstStyle>
            <a:lvl1pPr algn="l">
              <a:defRPr sz="7000">
                <a:latin typeface="Alright Sans"/>
                <a:ea typeface="Alright Sans"/>
                <a:cs typeface="Alright Sans"/>
                <a:sym typeface="Alright Sans"/>
              </a:defRPr>
            </a:lvl1pPr>
          </a:lstStyle>
          <a:p>
            <a:pPr>
              <a:defRPr sz="3000">
                <a:latin typeface="Alright Sans"/>
                <a:ea typeface="Alright Sans"/>
                <a:cs typeface="Alright Sans"/>
                <a:sym typeface="Alright Sans"/>
              </a:defRPr>
            </a:pPr>
            <a:r>
              <a:rPr lang="en-US" sz="10800" dirty="0">
                <a:latin typeface="Open Sans" panose="020B0606030504020204" pitchFamily="34" charset="0"/>
                <a:ea typeface="Open Sans" panose="020B0606030504020204" pitchFamily="34" charset="0"/>
                <a:cs typeface="Open Sans" panose="020B0606030504020204" pitchFamily="34" charset="0"/>
              </a:rPr>
              <a:t>Lambda Expressions, What you need to understand</a:t>
            </a:r>
          </a:p>
        </p:txBody>
      </p:sp>
      <p:sp>
        <p:nvSpPr>
          <p:cNvPr id="128" name="Shape 128"/>
          <p:cNvSpPr/>
          <p:nvPr/>
        </p:nvSpPr>
        <p:spPr>
          <a:xfrm>
            <a:off x="952500" y="18210515"/>
            <a:ext cx="34782668" cy="2"/>
          </a:xfrm>
          <a:prstGeom prst="line">
            <a:avLst/>
          </a:prstGeom>
          <a:ln w="76200">
            <a:solidFill>
              <a:schemeClr val="accent1">
                <a:satOff val="-3355"/>
                <a:lumOff val="26614"/>
              </a:schemeClr>
            </a:solidFill>
            <a:miter lim="400000"/>
          </a:ln>
        </p:spPr>
        <p:txBody>
          <a:bodyPr lIns="76200" tIns="76200" rIns="76200" bIns="76200" anchor="ctr"/>
          <a:lstStyle/>
          <a:p>
            <a:pPr>
              <a:defRPr sz="3200"/>
            </a:pPr>
            <a:endParaRPr sz="4800"/>
          </a:p>
        </p:txBody>
      </p:sp>
      <p:pic>
        <p:nvPicPr>
          <p:cNvPr id="129" name="Logo.png"/>
          <p:cNvPicPr>
            <a:picLocks noChangeAspect="1"/>
          </p:cNvPicPr>
          <p:nvPr/>
        </p:nvPicPr>
        <p:blipFill>
          <a:blip r:embed="rId3"/>
          <a:stretch>
            <a:fillRect/>
          </a:stretch>
        </p:blipFill>
        <p:spPr>
          <a:xfrm>
            <a:off x="14650974" y="18489726"/>
            <a:ext cx="6321552" cy="1392336"/>
          </a:xfrm>
          <a:prstGeom prst="rect">
            <a:avLst/>
          </a:prstGeom>
          <a:ln w="12700">
            <a:miter lim="400000"/>
          </a:ln>
        </p:spPr>
      </p:pic>
      <p:sp>
        <p:nvSpPr>
          <p:cNvPr id="9" name="Shape 127"/>
          <p:cNvSpPr/>
          <p:nvPr/>
        </p:nvSpPr>
        <p:spPr>
          <a:xfrm flipV="1">
            <a:off x="952499" y="2203340"/>
            <a:ext cx="34782670" cy="38132"/>
          </a:xfrm>
          <a:prstGeom prst="line">
            <a:avLst/>
          </a:prstGeom>
          <a:ln w="152400">
            <a:solidFill>
              <a:schemeClr val="accent1">
                <a:satOff val="-3355"/>
                <a:lumOff val="26614"/>
              </a:schemeClr>
            </a:solidFill>
            <a:miter lim="400000"/>
          </a:ln>
        </p:spPr>
        <p:txBody>
          <a:bodyPr lIns="76200" tIns="76200" rIns="76200" bIns="76200" anchor="ctr"/>
          <a:lstStyle/>
          <a:p>
            <a:pPr>
              <a:defRPr sz="3200"/>
            </a:pPr>
            <a:endParaRPr sz="4800"/>
          </a:p>
        </p:txBody>
      </p:sp>
      <p:sp>
        <p:nvSpPr>
          <p:cNvPr id="10" name="Shape 131"/>
          <p:cNvSpPr/>
          <p:nvPr/>
        </p:nvSpPr>
        <p:spPr>
          <a:xfrm>
            <a:off x="952500" y="18489726"/>
            <a:ext cx="16008688" cy="1308050"/>
          </a:xfrm>
          <a:prstGeom prst="rect">
            <a:avLst/>
          </a:prstGeom>
          <a:ln w="12700">
            <a:miter lim="400000"/>
          </a:ln>
          <a:extLst>
            <a:ext uri="{C572A759-6A51-4108-AA02-DFA0A04FC94B}">
              <ma14:wrappingTextBoxFlag xmlns:ma14="http://schemas.microsoft.com/office/mac/drawingml/2011/main" xmlns="" val="1"/>
            </a:ext>
          </a:extLst>
        </p:spPr>
        <p:txBody>
          <a:bodyPr lIns="76200" tIns="76200" rIns="76200" bIns="76200">
            <a:spAutoFit/>
          </a:bodyPr>
          <a:lstStyle/>
          <a:p>
            <a:pPr algn="l">
              <a:defRPr sz="2000">
                <a:latin typeface="Alright Sans"/>
                <a:ea typeface="Alright Sans"/>
                <a:cs typeface="Alright Sans"/>
                <a:sym typeface="Alright Sans"/>
              </a:defRPr>
            </a:pPr>
            <a:r>
              <a:rPr lang="en-US" sz="3000" dirty="0">
                <a:latin typeface="Open Sans" panose="020B0606030504020204" pitchFamily="34" charset="0"/>
                <a:ea typeface="Open Sans" panose="020B0606030504020204" pitchFamily="34" charset="0"/>
                <a:cs typeface="Open Sans" panose="020B0606030504020204" pitchFamily="34" charset="0"/>
              </a:rPr>
              <a:t>COMPLETE JAVA MASTERCLASS</a:t>
            </a:r>
          </a:p>
          <a:p>
            <a:pPr algn="l">
              <a:defRPr sz="3000">
                <a:latin typeface="Alright Sans"/>
                <a:ea typeface="Alright Sans"/>
                <a:cs typeface="Alright Sans"/>
                <a:sym typeface="Alright Sans"/>
              </a:defRPr>
            </a:pPr>
            <a:r>
              <a:rPr lang="en-US" sz="4500" dirty="0">
                <a:latin typeface="Open Sans" panose="020B0606030504020204" pitchFamily="34" charset="0"/>
                <a:ea typeface="Open Sans" panose="020B0606030504020204" pitchFamily="34" charset="0"/>
                <a:cs typeface="Open Sans" panose="020B0606030504020204" pitchFamily="34" charset="0"/>
              </a:rPr>
              <a:t>Lambda Mini Challenges</a:t>
            </a:r>
          </a:p>
        </p:txBody>
      </p:sp>
      <p:sp>
        <p:nvSpPr>
          <p:cNvPr id="8" name="Rectangle 7">
            <a:extLst>
              <a:ext uri="{FF2B5EF4-FFF2-40B4-BE49-F238E27FC236}">
                <a16:creationId xmlns:a16="http://schemas.microsoft.com/office/drawing/2014/main" id="{89DBB243-EF27-4345-872D-E76597E95619}"/>
              </a:ext>
            </a:extLst>
          </p:cNvPr>
          <p:cNvSpPr/>
          <p:nvPr/>
        </p:nvSpPr>
        <p:spPr>
          <a:xfrm>
            <a:off x="952501" y="4285904"/>
            <a:ext cx="34782670" cy="11880176"/>
          </a:xfrm>
          <a:prstGeom prst="rect">
            <a:avLst/>
          </a:prstGeom>
        </p:spPr>
        <p:txBody>
          <a:bodyPr wrap="square">
            <a:normAutofit/>
          </a:bodyPr>
          <a:lstStyle/>
          <a:p>
            <a:pPr algn="l">
              <a:spcAft>
                <a:spcPts val="5022"/>
              </a:spcAft>
            </a:pPr>
            <a:r>
              <a:rPr lang="en-US" sz="6400" dirty="0">
                <a:latin typeface="Open Sans" panose="020B0606030504020204" pitchFamily="34" charset="0"/>
                <a:ea typeface="Open Sans" panose="020B0606030504020204" pitchFamily="34" charset="0"/>
                <a:cs typeface="Open Sans" panose="020B0606030504020204" pitchFamily="34" charset="0"/>
              </a:rPr>
              <a:t>1) Declare lambda variables, or pass lambdas directly to methods that are targets.</a:t>
            </a:r>
          </a:p>
          <a:p>
            <a:pPr algn="l">
              <a:spcAft>
                <a:spcPts val="5022"/>
              </a:spcAft>
            </a:pPr>
            <a:r>
              <a:rPr lang="en-US" sz="6400" dirty="0">
                <a:latin typeface="Open Sans" panose="020B0606030504020204" pitchFamily="34" charset="0"/>
                <a:ea typeface="Open Sans" panose="020B0606030504020204" pitchFamily="34" charset="0"/>
                <a:cs typeface="Open Sans" panose="020B0606030504020204" pitchFamily="34" charset="0"/>
              </a:rPr>
              <a:t>I show two examples here.</a:t>
            </a:r>
          </a:p>
          <a:p>
            <a:pPr algn="l">
              <a:spcAft>
                <a:spcPts val="5022"/>
              </a:spcAft>
            </a:pPr>
            <a:endParaRPr lang="en-US" sz="6400" dirty="0">
              <a:latin typeface="Open Sans" panose="020B0606030504020204" pitchFamily="34" charset="0"/>
              <a:ea typeface="Open Sans" panose="020B0606030504020204" pitchFamily="34" charset="0"/>
              <a:cs typeface="Open Sans" panose="020B0606030504020204" pitchFamily="34" charset="0"/>
            </a:endParaRPr>
          </a:p>
          <a:p>
            <a:pPr algn="l">
              <a:spcAft>
                <a:spcPts val="5022"/>
              </a:spcAft>
            </a:pPr>
            <a:endParaRPr lang="en-US" sz="6400" dirty="0">
              <a:latin typeface="Open Sans" panose="020B0606030504020204" pitchFamily="34" charset="0"/>
              <a:ea typeface="Open Sans" panose="020B0606030504020204" pitchFamily="34" charset="0"/>
              <a:cs typeface="Open Sans" panose="020B0606030504020204" pitchFamily="34" charset="0"/>
            </a:endParaRPr>
          </a:p>
          <a:p>
            <a:pPr algn="l">
              <a:spcAft>
                <a:spcPts val="5022"/>
              </a:spcAft>
            </a:pPr>
            <a:r>
              <a:rPr lang="en-US" sz="6400">
                <a:latin typeface="Open Sans" panose="020B0606030504020204" pitchFamily="34" charset="0"/>
                <a:ea typeface="Open Sans" panose="020B0606030504020204" pitchFamily="34" charset="0"/>
                <a:cs typeface="Open Sans" panose="020B0606030504020204" pitchFamily="34" charset="0"/>
              </a:rPr>
              <a:t>2</a:t>
            </a:r>
            <a:r>
              <a:rPr lang="en-US" sz="6400" dirty="0">
                <a:latin typeface="Open Sans" panose="020B0606030504020204" pitchFamily="34" charset="0"/>
                <a:ea typeface="Open Sans" panose="020B0606030504020204" pitchFamily="34" charset="0"/>
                <a:cs typeface="Open Sans" panose="020B0606030504020204" pitchFamily="34" charset="0"/>
              </a:rPr>
              <a:t>) Create methods that can be targets for lambda expressions.</a:t>
            </a:r>
          </a:p>
        </p:txBody>
      </p:sp>
      <p:graphicFrame>
        <p:nvGraphicFramePr>
          <p:cNvPr id="2" name="Table 1">
            <a:extLst>
              <a:ext uri="{FF2B5EF4-FFF2-40B4-BE49-F238E27FC236}">
                <a16:creationId xmlns:a16="http://schemas.microsoft.com/office/drawing/2014/main" id="{108AFCBF-933E-848D-052B-BCC4005F00C5}"/>
              </a:ext>
            </a:extLst>
          </p:cNvPr>
          <p:cNvGraphicFramePr>
            <a:graphicFrameLocks noGrp="1"/>
          </p:cNvGraphicFramePr>
          <p:nvPr/>
        </p:nvGraphicFramePr>
        <p:xfrm>
          <a:off x="952495" y="7619252"/>
          <a:ext cx="34782670" cy="2606740"/>
        </p:xfrm>
        <a:graphic>
          <a:graphicData uri="http://schemas.openxmlformats.org/drawingml/2006/table">
            <a:tbl>
              <a:tblPr firstRow="1" bandRow="1">
                <a:tableStyleId>{5C22544A-7EE6-4342-B048-85BDC9FD1C3A}</a:tableStyleId>
              </a:tblPr>
              <a:tblGrid>
                <a:gridCol w="21217040">
                  <a:extLst>
                    <a:ext uri="{9D8B030D-6E8A-4147-A177-3AD203B41FA5}">
                      <a16:colId xmlns:a16="http://schemas.microsoft.com/office/drawing/2014/main" val="2844207666"/>
                    </a:ext>
                  </a:extLst>
                </a:gridCol>
                <a:gridCol w="13565630">
                  <a:extLst>
                    <a:ext uri="{9D8B030D-6E8A-4147-A177-3AD203B41FA5}">
                      <a16:colId xmlns:a16="http://schemas.microsoft.com/office/drawing/2014/main" val="1891655341"/>
                    </a:ext>
                  </a:extLst>
                </a:gridCol>
              </a:tblGrid>
              <a:tr h="1188487">
                <a:tc>
                  <a:txBody>
                    <a:bodyPr/>
                    <a:lstStyle/>
                    <a:p>
                      <a:pPr marL="180000" algn="l"/>
                      <a:r>
                        <a:rPr lang="en-US" sz="5400" dirty="0">
                          <a:solidFill>
                            <a:schemeClr val="tx1"/>
                          </a:solidFill>
                          <a:latin typeface="Open Sans" panose="020B0606030504020204" pitchFamily="34" charset="0"/>
                          <a:ea typeface="Open Sans" panose="020B0606030504020204" pitchFamily="34" charset="0"/>
                          <a:cs typeface="Open Sans" panose="020B0606030504020204" pitchFamily="34" charset="0"/>
                        </a:rPr>
                        <a:t>Local Variable Declaration</a:t>
                      </a:r>
                      <a:endParaRPr lang="en-PH" sz="5400" dirty="0">
                        <a:solidFill>
                          <a:schemeClr val="tx1"/>
                        </a:solidFill>
                        <a:latin typeface="Open Sans" panose="020B0606030504020204" pitchFamily="34" charset="0"/>
                        <a:ea typeface="Open Sans" panose="020B0606030504020204" pitchFamily="34" charset="0"/>
                        <a:cs typeface="Open Sans" panose="020B0606030504020204" pitchFamily="34" charset="0"/>
                      </a:endParaRPr>
                    </a:p>
                  </a:txBody>
                  <a:tcPr marL="86794" marR="86794" marT="43397" marB="43397">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BE4D5"/>
                    </a:solidFill>
                  </a:tcPr>
                </a:tc>
                <a:tc>
                  <a:txBody>
                    <a:bodyPr/>
                    <a:lstStyle/>
                    <a:p>
                      <a:pPr marL="180000" algn="l"/>
                      <a:r>
                        <a:rPr lang="en-US" sz="5400" dirty="0">
                          <a:solidFill>
                            <a:schemeClr val="tx1"/>
                          </a:solidFill>
                          <a:latin typeface="Open Sans" panose="020B0606030504020204" pitchFamily="34" charset="0"/>
                          <a:ea typeface="Open Sans" panose="020B0606030504020204" pitchFamily="34" charset="0"/>
                          <a:cs typeface="Open Sans" panose="020B0606030504020204" pitchFamily="34" charset="0"/>
                        </a:rPr>
                        <a:t>Method argument</a:t>
                      </a:r>
                      <a:endParaRPr lang="en-PH" sz="5400" dirty="0">
                        <a:solidFill>
                          <a:schemeClr val="tx1"/>
                        </a:solidFill>
                        <a:latin typeface="Open Sans" panose="020B0606030504020204" pitchFamily="34" charset="0"/>
                        <a:ea typeface="Open Sans" panose="020B0606030504020204" pitchFamily="34" charset="0"/>
                        <a:cs typeface="Open Sans" panose="020B0606030504020204" pitchFamily="34" charset="0"/>
                      </a:endParaRPr>
                    </a:p>
                  </a:txBody>
                  <a:tcPr marL="86794" marR="86794" marT="43397" marB="43397">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BE4D5"/>
                    </a:solidFill>
                  </a:tcPr>
                </a:tc>
                <a:extLst>
                  <a:ext uri="{0D108BD9-81ED-4DB2-BD59-A6C34878D82A}">
                    <a16:rowId xmlns:a16="http://schemas.microsoft.com/office/drawing/2014/main" val="3978129174"/>
                  </a:ext>
                </a:extLst>
              </a:tr>
              <a:tr h="1418253">
                <a:tc>
                  <a:txBody>
                    <a:bodyPr/>
                    <a:lstStyle/>
                    <a:p>
                      <a:pPr marL="180000" marR="0" lvl="0" indent="0" algn="l" defTabSz="914400" rtl="0" eaLnBrk="1" fontAlgn="auto" latinLnBrk="0" hangingPunct="1">
                        <a:lnSpc>
                          <a:spcPct val="100000"/>
                        </a:lnSpc>
                        <a:spcBef>
                          <a:spcPts val="0"/>
                        </a:spcBef>
                        <a:spcAft>
                          <a:spcPts val="1000"/>
                        </a:spcAft>
                        <a:buClr>
                          <a:srgbClr val="000000"/>
                        </a:buClr>
                        <a:buSzTx/>
                        <a:buFont typeface="Arial" panose="020B0604020202020204" pitchFamily="34" charset="0"/>
                        <a:buNone/>
                        <a:tabLst/>
                        <a:defRPr/>
                      </a:pPr>
                      <a:endParaRPr lang="en-US" sz="5400" b="0" dirty="0">
                        <a:solidFill>
                          <a:schemeClr val="tx1"/>
                        </a:solidFill>
                        <a:latin typeface="Open Sans" panose="020B0606030504020204" pitchFamily="34" charset="0"/>
                        <a:ea typeface="Open Sans" panose="020B0606030504020204" pitchFamily="34" charset="0"/>
                        <a:cs typeface="Open Sans" panose="020B0606030504020204" pitchFamily="34" charset="0"/>
                      </a:endParaRPr>
                    </a:p>
                  </a:txBody>
                  <a:tcPr marL="86794" marR="86794" marT="43397" marB="43397">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180000" marR="0" lvl="0" indent="0" algn="l" defTabSz="914400" rtl="0" eaLnBrk="1" fontAlgn="auto" latinLnBrk="0" hangingPunct="1">
                        <a:lnSpc>
                          <a:spcPct val="100000"/>
                        </a:lnSpc>
                        <a:spcBef>
                          <a:spcPts val="0"/>
                        </a:spcBef>
                        <a:spcAft>
                          <a:spcPts val="1000"/>
                        </a:spcAft>
                        <a:buClr>
                          <a:srgbClr val="000000"/>
                        </a:buClr>
                        <a:buSzTx/>
                        <a:buFont typeface="Arial" panose="020B0604020202020204" pitchFamily="34" charset="0"/>
                        <a:buNone/>
                        <a:tabLst/>
                        <a:defRPr/>
                      </a:pPr>
                      <a:endParaRPr lang="en-US" sz="5400" b="0" dirty="0">
                        <a:solidFill>
                          <a:schemeClr val="tx1"/>
                        </a:solidFill>
                        <a:latin typeface="Open Sans" panose="020B0606030504020204" pitchFamily="34" charset="0"/>
                        <a:ea typeface="Open Sans" panose="020B0606030504020204" pitchFamily="34" charset="0"/>
                        <a:cs typeface="Open Sans" panose="020B0606030504020204" pitchFamily="34" charset="0"/>
                      </a:endParaRPr>
                    </a:p>
                  </a:txBody>
                  <a:tcPr marL="86794" marR="86794" marT="43397" marB="43397">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640325450"/>
                  </a:ext>
                </a:extLst>
              </a:tr>
            </a:tbl>
          </a:graphicData>
        </a:graphic>
      </p:graphicFrame>
      <p:pic>
        <p:nvPicPr>
          <p:cNvPr id="4" name="Picture 3">
            <a:extLst>
              <a:ext uri="{FF2B5EF4-FFF2-40B4-BE49-F238E27FC236}">
                <a16:creationId xmlns:a16="http://schemas.microsoft.com/office/drawing/2014/main" id="{7DCD688A-27C6-B967-78A0-D1CC4AF16220}"/>
              </a:ext>
            </a:extLst>
          </p:cNvPr>
          <p:cNvPicPr>
            <a:picLocks noChangeAspect="1"/>
          </p:cNvPicPr>
          <p:nvPr/>
        </p:nvPicPr>
        <p:blipFill>
          <a:blip r:embed="rId4"/>
          <a:stretch>
            <a:fillRect/>
          </a:stretch>
        </p:blipFill>
        <p:spPr>
          <a:xfrm>
            <a:off x="1113988" y="9064867"/>
            <a:ext cx="20862000" cy="646000"/>
          </a:xfrm>
          <a:prstGeom prst="rect">
            <a:avLst/>
          </a:prstGeom>
        </p:spPr>
      </p:pic>
      <p:pic>
        <p:nvPicPr>
          <p:cNvPr id="6" name="Picture 5">
            <a:extLst>
              <a:ext uri="{FF2B5EF4-FFF2-40B4-BE49-F238E27FC236}">
                <a16:creationId xmlns:a16="http://schemas.microsoft.com/office/drawing/2014/main" id="{4974906C-5234-725B-3875-AD82F5F946DB}"/>
              </a:ext>
            </a:extLst>
          </p:cNvPr>
          <p:cNvPicPr>
            <a:picLocks noChangeAspect="1"/>
          </p:cNvPicPr>
          <p:nvPr/>
        </p:nvPicPr>
        <p:blipFill>
          <a:blip r:embed="rId5"/>
          <a:stretch>
            <a:fillRect/>
          </a:stretch>
        </p:blipFill>
        <p:spPr>
          <a:xfrm>
            <a:off x="22382910" y="9045867"/>
            <a:ext cx="12945333" cy="684000"/>
          </a:xfrm>
          <a:prstGeom prst="rect">
            <a:avLst/>
          </a:prstGeom>
        </p:spPr>
      </p:pic>
    </p:spTree>
    <p:extLst>
      <p:ext uri="{BB962C8B-B14F-4D97-AF65-F5344CB8AC3E}">
        <p14:creationId xmlns:p14="http://schemas.microsoft.com/office/powerpoint/2010/main" val="736102347"/>
      </p:ext>
    </p:extLst>
  </p:cSld>
  <p:clrMapOvr>
    <a:masterClrMapping/>
  </p:clrMapOvr>
  <p:transition spd="slow"/>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 name="Shape 126"/>
          <p:cNvSpPr/>
          <p:nvPr/>
        </p:nvSpPr>
        <p:spPr>
          <a:xfrm>
            <a:off x="952498" y="459786"/>
            <a:ext cx="10825079" cy="1815882"/>
          </a:xfrm>
          <a:prstGeom prst="rect">
            <a:avLst/>
          </a:prstGeom>
          <a:ln w="12700">
            <a:miter lim="400000"/>
          </a:ln>
          <a:extLst>
            <a:ext uri="{C572A759-6A51-4108-AA02-DFA0A04FC94B}">
              <ma14:wrappingTextBoxFlag xmlns="" xmlns:ma14="http://schemas.microsoft.com/office/mac/drawingml/2011/main" val="1"/>
            </a:ext>
          </a:extLst>
        </p:spPr>
        <p:txBody>
          <a:bodyPr wrap="none" lIns="76200" tIns="76200" rIns="76200" bIns="76200">
            <a:spAutoFit/>
          </a:bodyPr>
          <a:lstStyle>
            <a:lvl1pPr algn="l">
              <a:defRPr sz="7000">
                <a:latin typeface="Alright Sans"/>
                <a:ea typeface="Alright Sans"/>
                <a:cs typeface="Alright Sans"/>
                <a:sym typeface="Alright Sans"/>
              </a:defRPr>
            </a:lvl1pPr>
          </a:lstStyle>
          <a:p>
            <a:pPr>
              <a:defRPr sz="3000">
                <a:latin typeface="Alright Sans"/>
                <a:ea typeface="Alright Sans"/>
                <a:cs typeface="Alright Sans"/>
                <a:sym typeface="Alright Sans"/>
              </a:defRPr>
            </a:pPr>
            <a:r>
              <a:rPr lang="en-US" sz="10800" dirty="0">
                <a:latin typeface="Open Sans" panose="020B0606030504020204" pitchFamily="34" charset="0"/>
                <a:ea typeface="Open Sans" panose="020B0606030504020204" pitchFamily="34" charset="0"/>
                <a:cs typeface="Open Sans" panose="020B0606030504020204" pitchFamily="34" charset="0"/>
              </a:rPr>
              <a:t>Mini Challenge 5</a:t>
            </a:r>
          </a:p>
        </p:txBody>
      </p:sp>
      <p:sp>
        <p:nvSpPr>
          <p:cNvPr id="128" name="Shape 128"/>
          <p:cNvSpPr/>
          <p:nvPr/>
        </p:nvSpPr>
        <p:spPr>
          <a:xfrm>
            <a:off x="952500" y="18210515"/>
            <a:ext cx="34782668" cy="2"/>
          </a:xfrm>
          <a:prstGeom prst="line">
            <a:avLst/>
          </a:prstGeom>
          <a:ln w="76200">
            <a:solidFill>
              <a:schemeClr val="accent1">
                <a:satOff val="-3355"/>
                <a:lumOff val="26614"/>
              </a:schemeClr>
            </a:solidFill>
            <a:miter lim="400000"/>
          </a:ln>
        </p:spPr>
        <p:txBody>
          <a:bodyPr lIns="76200" tIns="76200" rIns="76200" bIns="76200" anchor="ctr"/>
          <a:lstStyle/>
          <a:p>
            <a:pPr>
              <a:defRPr sz="3200"/>
            </a:pPr>
            <a:endParaRPr sz="4800"/>
          </a:p>
        </p:txBody>
      </p:sp>
      <p:pic>
        <p:nvPicPr>
          <p:cNvPr id="129" name="Logo.png"/>
          <p:cNvPicPr>
            <a:picLocks noChangeAspect="1"/>
          </p:cNvPicPr>
          <p:nvPr/>
        </p:nvPicPr>
        <p:blipFill>
          <a:blip r:embed="rId3"/>
          <a:stretch>
            <a:fillRect/>
          </a:stretch>
        </p:blipFill>
        <p:spPr>
          <a:xfrm>
            <a:off x="14650974" y="18489726"/>
            <a:ext cx="6321552" cy="1392336"/>
          </a:xfrm>
          <a:prstGeom prst="rect">
            <a:avLst/>
          </a:prstGeom>
          <a:ln w="12700">
            <a:miter lim="400000"/>
          </a:ln>
        </p:spPr>
      </p:pic>
      <p:sp>
        <p:nvSpPr>
          <p:cNvPr id="9" name="Shape 127"/>
          <p:cNvSpPr/>
          <p:nvPr/>
        </p:nvSpPr>
        <p:spPr>
          <a:xfrm flipV="1">
            <a:off x="952499" y="2203340"/>
            <a:ext cx="34782670" cy="38132"/>
          </a:xfrm>
          <a:prstGeom prst="line">
            <a:avLst/>
          </a:prstGeom>
          <a:ln w="152400">
            <a:solidFill>
              <a:schemeClr val="accent1">
                <a:satOff val="-3355"/>
                <a:lumOff val="26614"/>
              </a:schemeClr>
            </a:solidFill>
            <a:miter lim="400000"/>
          </a:ln>
        </p:spPr>
        <p:txBody>
          <a:bodyPr lIns="76200" tIns="76200" rIns="76200" bIns="76200" anchor="ctr"/>
          <a:lstStyle/>
          <a:p>
            <a:pPr>
              <a:defRPr sz="3200"/>
            </a:pPr>
            <a:endParaRPr sz="4800"/>
          </a:p>
        </p:txBody>
      </p:sp>
      <p:sp>
        <p:nvSpPr>
          <p:cNvPr id="10" name="Shape 131"/>
          <p:cNvSpPr/>
          <p:nvPr/>
        </p:nvSpPr>
        <p:spPr>
          <a:xfrm>
            <a:off x="952500" y="18489726"/>
            <a:ext cx="16008688" cy="1308050"/>
          </a:xfrm>
          <a:prstGeom prst="rect">
            <a:avLst/>
          </a:prstGeom>
          <a:ln w="12700">
            <a:miter lim="400000"/>
          </a:ln>
          <a:extLst>
            <a:ext uri="{C572A759-6A51-4108-AA02-DFA0A04FC94B}">
              <ma14:wrappingTextBoxFlag xmlns:ma14="http://schemas.microsoft.com/office/mac/drawingml/2011/main" xmlns="" val="1"/>
            </a:ext>
          </a:extLst>
        </p:spPr>
        <p:txBody>
          <a:bodyPr lIns="76200" tIns="76200" rIns="76200" bIns="76200">
            <a:spAutoFit/>
          </a:bodyPr>
          <a:lstStyle/>
          <a:p>
            <a:pPr algn="l">
              <a:defRPr sz="2000">
                <a:latin typeface="Alright Sans"/>
                <a:ea typeface="Alright Sans"/>
                <a:cs typeface="Alright Sans"/>
                <a:sym typeface="Alright Sans"/>
              </a:defRPr>
            </a:pPr>
            <a:r>
              <a:rPr lang="en-US" sz="3000" dirty="0">
                <a:latin typeface="Open Sans" panose="020B0606030504020204" pitchFamily="34" charset="0"/>
                <a:ea typeface="Open Sans" panose="020B0606030504020204" pitchFamily="34" charset="0"/>
                <a:cs typeface="Open Sans" panose="020B0606030504020204" pitchFamily="34" charset="0"/>
              </a:rPr>
              <a:t>COMPLETE JAVA MASTERCLASS</a:t>
            </a:r>
          </a:p>
          <a:p>
            <a:pPr algn="l">
              <a:defRPr sz="3000">
                <a:latin typeface="Alright Sans"/>
                <a:ea typeface="Alright Sans"/>
                <a:cs typeface="Alright Sans"/>
                <a:sym typeface="Alright Sans"/>
              </a:defRPr>
            </a:pPr>
            <a:r>
              <a:rPr lang="en-US" sz="4500" dirty="0">
                <a:latin typeface="Open Sans" panose="020B0606030504020204" pitchFamily="34" charset="0"/>
                <a:ea typeface="Open Sans" panose="020B0606030504020204" pitchFamily="34" charset="0"/>
                <a:cs typeface="Open Sans" panose="020B0606030504020204" pitchFamily="34" charset="0"/>
              </a:rPr>
              <a:t>Lambda Mini Challenges</a:t>
            </a:r>
          </a:p>
        </p:txBody>
      </p:sp>
      <p:sp>
        <p:nvSpPr>
          <p:cNvPr id="8" name="Rectangle 7">
            <a:extLst>
              <a:ext uri="{FF2B5EF4-FFF2-40B4-BE49-F238E27FC236}">
                <a16:creationId xmlns:a16="http://schemas.microsoft.com/office/drawing/2014/main" id="{89DBB243-EF27-4345-872D-E76597E95619}"/>
              </a:ext>
            </a:extLst>
          </p:cNvPr>
          <p:cNvSpPr/>
          <p:nvPr/>
        </p:nvSpPr>
        <p:spPr>
          <a:xfrm>
            <a:off x="952501" y="4285904"/>
            <a:ext cx="34782670" cy="11880176"/>
          </a:xfrm>
          <a:prstGeom prst="rect">
            <a:avLst/>
          </a:prstGeom>
        </p:spPr>
        <p:txBody>
          <a:bodyPr wrap="square">
            <a:normAutofit/>
          </a:bodyPr>
          <a:lstStyle/>
          <a:p>
            <a:pPr algn="l">
              <a:spcAft>
                <a:spcPts val="5022"/>
              </a:spcAft>
            </a:pPr>
            <a:r>
              <a:rPr lang="en-US" sz="6400" dirty="0">
                <a:latin typeface="Open Sans" panose="020B0606030504020204" pitchFamily="34" charset="0"/>
                <a:ea typeface="Open Sans" panose="020B0606030504020204" pitchFamily="34" charset="0"/>
                <a:cs typeface="Open Sans" panose="020B0606030504020204" pitchFamily="34" charset="0"/>
              </a:rPr>
              <a:t>Call the method you created from Challenge 4, passing the lambda variable we created earlier, and the string 1234567890, then print the result returned from the method.</a:t>
            </a:r>
          </a:p>
        </p:txBody>
      </p:sp>
    </p:spTree>
    <p:extLst>
      <p:ext uri="{BB962C8B-B14F-4D97-AF65-F5344CB8AC3E}">
        <p14:creationId xmlns:p14="http://schemas.microsoft.com/office/powerpoint/2010/main" val="4051645939"/>
      </p:ext>
    </p:extLst>
  </p:cSld>
  <p:clrMapOvr>
    <a:masterClrMapping/>
  </p:clrMapOvr>
  <p:transition spd="slow"/>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 name="Shape 126"/>
          <p:cNvSpPr/>
          <p:nvPr/>
        </p:nvSpPr>
        <p:spPr>
          <a:xfrm>
            <a:off x="952498" y="459786"/>
            <a:ext cx="10825079" cy="1815882"/>
          </a:xfrm>
          <a:prstGeom prst="rect">
            <a:avLst/>
          </a:prstGeom>
          <a:ln w="12700">
            <a:miter lim="400000"/>
          </a:ln>
          <a:extLst>
            <a:ext uri="{C572A759-6A51-4108-AA02-DFA0A04FC94B}">
              <ma14:wrappingTextBoxFlag xmlns:ma14="http://schemas.microsoft.com/office/mac/drawingml/2011/main" xmlns="" val="1"/>
            </a:ext>
          </a:extLst>
        </p:spPr>
        <p:txBody>
          <a:bodyPr wrap="none" lIns="76200" tIns="76200" rIns="76200" bIns="76200">
            <a:spAutoFit/>
          </a:bodyPr>
          <a:lstStyle>
            <a:lvl1pPr algn="l">
              <a:defRPr sz="7000">
                <a:latin typeface="Alright Sans"/>
                <a:ea typeface="Alright Sans"/>
                <a:cs typeface="Alright Sans"/>
                <a:sym typeface="Alright Sans"/>
              </a:defRPr>
            </a:lvl1pPr>
          </a:lstStyle>
          <a:p>
            <a:pPr>
              <a:defRPr sz="3000">
                <a:latin typeface="Alright Sans"/>
                <a:ea typeface="Alright Sans"/>
                <a:cs typeface="Alright Sans"/>
                <a:sym typeface="Alright Sans"/>
              </a:defRPr>
            </a:pPr>
            <a:r>
              <a:rPr lang="en-US" sz="10800" dirty="0">
                <a:latin typeface="Open Sans" panose="020B0606030504020204" pitchFamily="34" charset="0"/>
                <a:ea typeface="Open Sans" panose="020B0606030504020204" pitchFamily="34" charset="0"/>
                <a:cs typeface="Open Sans" panose="020B0606030504020204" pitchFamily="34" charset="0"/>
              </a:rPr>
              <a:t>Mini Challenge 6</a:t>
            </a:r>
          </a:p>
        </p:txBody>
      </p:sp>
      <p:sp>
        <p:nvSpPr>
          <p:cNvPr id="128" name="Shape 128"/>
          <p:cNvSpPr/>
          <p:nvPr/>
        </p:nvSpPr>
        <p:spPr>
          <a:xfrm>
            <a:off x="952500" y="18210515"/>
            <a:ext cx="34782668" cy="2"/>
          </a:xfrm>
          <a:prstGeom prst="line">
            <a:avLst/>
          </a:prstGeom>
          <a:ln w="76200">
            <a:solidFill>
              <a:schemeClr val="accent1">
                <a:satOff val="-3355"/>
                <a:lumOff val="26614"/>
              </a:schemeClr>
            </a:solidFill>
            <a:miter lim="400000"/>
          </a:ln>
        </p:spPr>
        <p:txBody>
          <a:bodyPr lIns="76200" tIns="76200" rIns="76200" bIns="76200" anchor="ctr"/>
          <a:lstStyle/>
          <a:p>
            <a:pPr>
              <a:defRPr sz="3200"/>
            </a:pPr>
            <a:endParaRPr sz="4800"/>
          </a:p>
        </p:txBody>
      </p:sp>
      <p:pic>
        <p:nvPicPr>
          <p:cNvPr id="129" name="Logo.png"/>
          <p:cNvPicPr>
            <a:picLocks noChangeAspect="1"/>
          </p:cNvPicPr>
          <p:nvPr/>
        </p:nvPicPr>
        <p:blipFill>
          <a:blip r:embed="rId3"/>
          <a:stretch>
            <a:fillRect/>
          </a:stretch>
        </p:blipFill>
        <p:spPr>
          <a:xfrm>
            <a:off x="14650974" y="18489726"/>
            <a:ext cx="6321552" cy="1392336"/>
          </a:xfrm>
          <a:prstGeom prst="rect">
            <a:avLst/>
          </a:prstGeom>
          <a:ln w="12700">
            <a:miter lim="400000"/>
          </a:ln>
        </p:spPr>
      </p:pic>
      <p:sp>
        <p:nvSpPr>
          <p:cNvPr id="9" name="Shape 127"/>
          <p:cNvSpPr/>
          <p:nvPr/>
        </p:nvSpPr>
        <p:spPr>
          <a:xfrm flipV="1">
            <a:off x="952499" y="2203340"/>
            <a:ext cx="34782670" cy="38132"/>
          </a:xfrm>
          <a:prstGeom prst="line">
            <a:avLst/>
          </a:prstGeom>
          <a:ln w="152400">
            <a:solidFill>
              <a:schemeClr val="accent1">
                <a:satOff val="-3355"/>
                <a:lumOff val="26614"/>
              </a:schemeClr>
            </a:solidFill>
            <a:miter lim="400000"/>
          </a:ln>
        </p:spPr>
        <p:txBody>
          <a:bodyPr lIns="76200" tIns="76200" rIns="76200" bIns="76200" anchor="ctr"/>
          <a:lstStyle/>
          <a:p>
            <a:pPr>
              <a:defRPr sz="3200"/>
            </a:pPr>
            <a:endParaRPr sz="4800"/>
          </a:p>
        </p:txBody>
      </p:sp>
      <p:sp>
        <p:nvSpPr>
          <p:cNvPr id="10" name="Shape 131"/>
          <p:cNvSpPr/>
          <p:nvPr/>
        </p:nvSpPr>
        <p:spPr>
          <a:xfrm>
            <a:off x="952500" y="18489726"/>
            <a:ext cx="16008688" cy="1308050"/>
          </a:xfrm>
          <a:prstGeom prst="rect">
            <a:avLst/>
          </a:prstGeom>
          <a:ln w="12700">
            <a:miter lim="400000"/>
          </a:ln>
          <a:extLst>
            <a:ext uri="{C572A759-6A51-4108-AA02-DFA0A04FC94B}">
              <ma14:wrappingTextBoxFlag xmlns="" xmlns:ma14="http://schemas.microsoft.com/office/mac/drawingml/2011/main" val="1"/>
            </a:ext>
          </a:extLst>
        </p:spPr>
        <p:txBody>
          <a:bodyPr lIns="76200" tIns="76200" rIns="76200" bIns="76200">
            <a:spAutoFit/>
          </a:bodyPr>
          <a:lstStyle/>
          <a:p>
            <a:pPr algn="l">
              <a:defRPr sz="2000">
                <a:latin typeface="Alright Sans"/>
                <a:ea typeface="Alright Sans"/>
                <a:cs typeface="Alright Sans"/>
                <a:sym typeface="Alright Sans"/>
              </a:defRPr>
            </a:pPr>
            <a:r>
              <a:rPr lang="en-US" sz="3000" dirty="0">
                <a:latin typeface="Open Sans" panose="020B0606030504020204" pitchFamily="34" charset="0"/>
                <a:ea typeface="Open Sans" panose="020B0606030504020204" pitchFamily="34" charset="0"/>
                <a:cs typeface="Open Sans" panose="020B0606030504020204" pitchFamily="34" charset="0"/>
              </a:rPr>
              <a:t>COMPLETE JAVA MASTERCLASS</a:t>
            </a:r>
          </a:p>
          <a:p>
            <a:pPr algn="l">
              <a:defRPr sz="3000">
                <a:latin typeface="Alright Sans"/>
                <a:ea typeface="Alright Sans"/>
                <a:cs typeface="Alright Sans"/>
                <a:sym typeface="Alright Sans"/>
              </a:defRPr>
            </a:pPr>
            <a:r>
              <a:rPr lang="en-US" sz="4500" dirty="0">
                <a:latin typeface="Open Sans" panose="020B0606030504020204" pitchFamily="34" charset="0"/>
                <a:ea typeface="Open Sans" panose="020B0606030504020204" pitchFamily="34" charset="0"/>
                <a:cs typeface="Open Sans" panose="020B0606030504020204" pitchFamily="34" charset="0"/>
              </a:rPr>
              <a:t>Lambda Mini Challenges</a:t>
            </a:r>
          </a:p>
        </p:txBody>
      </p:sp>
      <p:sp>
        <p:nvSpPr>
          <p:cNvPr id="8" name="Rectangle 7">
            <a:extLst>
              <a:ext uri="{FF2B5EF4-FFF2-40B4-BE49-F238E27FC236}">
                <a16:creationId xmlns:a16="http://schemas.microsoft.com/office/drawing/2014/main" id="{89DBB243-EF27-4345-872D-E76597E95619}"/>
              </a:ext>
            </a:extLst>
          </p:cNvPr>
          <p:cNvSpPr/>
          <p:nvPr/>
        </p:nvSpPr>
        <p:spPr>
          <a:xfrm>
            <a:off x="952501" y="4285904"/>
            <a:ext cx="34782670" cy="11880176"/>
          </a:xfrm>
          <a:prstGeom prst="rect">
            <a:avLst/>
          </a:prstGeom>
        </p:spPr>
        <p:txBody>
          <a:bodyPr wrap="square">
            <a:normAutofit/>
          </a:bodyPr>
          <a:lstStyle/>
          <a:p>
            <a:pPr algn="l">
              <a:spcAft>
                <a:spcPts val="5022"/>
              </a:spcAft>
            </a:pPr>
            <a:r>
              <a:rPr lang="en-US" sz="6400" dirty="0">
                <a:latin typeface="Open Sans" panose="020B0606030504020204" pitchFamily="34" charset="0"/>
                <a:ea typeface="Open Sans" panose="020B0606030504020204" pitchFamily="34" charset="0"/>
                <a:cs typeface="Open Sans" panose="020B0606030504020204" pitchFamily="34" charset="0"/>
              </a:rPr>
              <a:t>Write a lambda expression that is declared with the Supplier interface.</a:t>
            </a:r>
          </a:p>
          <a:p>
            <a:pPr algn="l">
              <a:spcAft>
                <a:spcPts val="5022"/>
              </a:spcAft>
            </a:pPr>
            <a:r>
              <a:rPr lang="en-US" sz="6400" dirty="0">
                <a:latin typeface="Open Sans" panose="020B0606030504020204" pitchFamily="34" charset="0"/>
                <a:ea typeface="Open Sans" panose="020B0606030504020204" pitchFamily="34" charset="0"/>
                <a:cs typeface="Open Sans" panose="020B0606030504020204" pitchFamily="34" charset="0"/>
              </a:rPr>
              <a:t>This lambda should return the String, "I love Java", and assign it to a variable called, </a:t>
            </a:r>
            <a:r>
              <a:rPr lang="en-US" sz="6400" dirty="0" err="1">
                <a:latin typeface="Roboto Mono" panose="00000009000000000000" pitchFamily="49" charset="0"/>
                <a:ea typeface="Roboto Mono" panose="00000009000000000000" pitchFamily="49" charset="0"/>
                <a:cs typeface="Open Sans" panose="020B0606030504020204" pitchFamily="34" charset="0"/>
              </a:rPr>
              <a:t>iLoveJava</a:t>
            </a:r>
            <a:r>
              <a:rPr lang="en-US" sz="6400" dirty="0">
                <a:latin typeface="Open Sans" panose="020B0606030504020204" pitchFamily="34" charset="0"/>
                <a:ea typeface="Open Sans" panose="020B0606030504020204" pitchFamily="34" charset="0"/>
                <a:cs typeface="Open Sans" panose="020B0606030504020204" pitchFamily="34" charset="0"/>
              </a:rPr>
              <a:t>.</a:t>
            </a:r>
          </a:p>
        </p:txBody>
      </p:sp>
    </p:spTree>
    <p:extLst>
      <p:ext uri="{BB962C8B-B14F-4D97-AF65-F5344CB8AC3E}">
        <p14:creationId xmlns:p14="http://schemas.microsoft.com/office/powerpoint/2010/main" val="716411337"/>
      </p:ext>
    </p:extLst>
  </p:cSld>
  <p:clrMapOvr>
    <a:masterClrMapping/>
  </p:clrMapOvr>
  <p:transition spd="slow"/>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 name="Shape 126"/>
          <p:cNvSpPr/>
          <p:nvPr/>
        </p:nvSpPr>
        <p:spPr>
          <a:xfrm>
            <a:off x="952498" y="459786"/>
            <a:ext cx="10825079" cy="1815882"/>
          </a:xfrm>
          <a:prstGeom prst="rect">
            <a:avLst/>
          </a:prstGeom>
          <a:ln w="12700">
            <a:miter lim="400000"/>
          </a:ln>
          <a:extLst>
            <a:ext uri="{C572A759-6A51-4108-AA02-DFA0A04FC94B}">
              <ma14:wrappingTextBoxFlag xmlns="" xmlns:ma14="http://schemas.microsoft.com/office/mac/drawingml/2011/main" val="1"/>
            </a:ext>
          </a:extLst>
        </p:spPr>
        <p:txBody>
          <a:bodyPr wrap="none" lIns="76200" tIns="76200" rIns="76200" bIns="76200">
            <a:spAutoFit/>
          </a:bodyPr>
          <a:lstStyle>
            <a:lvl1pPr algn="l">
              <a:defRPr sz="7000">
                <a:latin typeface="Alright Sans"/>
                <a:ea typeface="Alright Sans"/>
                <a:cs typeface="Alright Sans"/>
                <a:sym typeface="Alright Sans"/>
              </a:defRPr>
            </a:lvl1pPr>
          </a:lstStyle>
          <a:p>
            <a:pPr>
              <a:defRPr sz="3000">
                <a:latin typeface="Alright Sans"/>
                <a:ea typeface="Alright Sans"/>
                <a:cs typeface="Alright Sans"/>
                <a:sym typeface="Alright Sans"/>
              </a:defRPr>
            </a:pPr>
            <a:r>
              <a:rPr lang="en-US" sz="10800" dirty="0">
                <a:latin typeface="Open Sans" panose="020B0606030504020204" pitchFamily="34" charset="0"/>
                <a:ea typeface="Open Sans" panose="020B0606030504020204" pitchFamily="34" charset="0"/>
                <a:cs typeface="Open Sans" panose="020B0606030504020204" pitchFamily="34" charset="0"/>
              </a:rPr>
              <a:t>Mini Challenge 7</a:t>
            </a:r>
          </a:p>
        </p:txBody>
      </p:sp>
      <p:sp>
        <p:nvSpPr>
          <p:cNvPr id="128" name="Shape 128"/>
          <p:cNvSpPr/>
          <p:nvPr/>
        </p:nvSpPr>
        <p:spPr>
          <a:xfrm>
            <a:off x="952500" y="18210515"/>
            <a:ext cx="34782668" cy="2"/>
          </a:xfrm>
          <a:prstGeom prst="line">
            <a:avLst/>
          </a:prstGeom>
          <a:ln w="76200">
            <a:solidFill>
              <a:schemeClr val="accent1">
                <a:satOff val="-3355"/>
                <a:lumOff val="26614"/>
              </a:schemeClr>
            </a:solidFill>
            <a:miter lim="400000"/>
          </a:ln>
        </p:spPr>
        <p:txBody>
          <a:bodyPr lIns="76200" tIns="76200" rIns="76200" bIns="76200" anchor="ctr"/>
          <a:lstStyle/>
          <a:p>
            <a:pPr>
              <a:defRPr sz="3200"/>
            </a:pPr>
            <a:endParaRPr sz="4800"/>
          </a:p>
        </p:txBody>
      </p:sp>
      <p:pic>
        <p:nvPicPr>
          <p:cNvPr id="129" name="Logo.png"/>
          <p:cNvPicPr>
            <a:picLocks noChangeAspect="1"/>
          </p:cNvPicPr>
          <p:nvPr/>
        </p:nvPicPr>
        <p:blipFill>
          <a:blip r:embed="rId3"/>
          <a:stretch>
            <a:fillRect/>
          </a:stretch>
        </p:blipFill>
        <p:spPr>
          <a:xfrm>
            <a:off x="14650974" y="18489726"/>
            <a:ext cx="6321552" cy="1392336"/>
          </a:xfrm>
          <a:prstGeom prst="rect">
            <a:avLst/>
          </a:prstGeom>
          <a:ln w="12700">
            <a:miter lim="400000"/>
          </a:ln>
        </p:spPr>
      </p:pic>
      <p:sp>
        <p:nvSpPr>
          <p:cNvPr id="9" name="Shape 127"/>
          <p:cNvSpPr/>
          <p:nvPr/>
        </p:nvSpPr>
        <p:spPr>
          <a:xfrm flipV="1">
            <a:off x="952499" y="2203340"/>
            <a:ext cx="34782670" cy="38132"/>
          </a:xfrm>
          <a:prstGeom prst="line">
            <a:avLst/>
          </a:prstGeom>
          <a:ln w="152400">
            <a:solidFill>
              <a:schemeClr val="accent1">
                <a:satOff val="-3355"/>
                <a:lumOff val="26614"/>
              </a:schemeClr>
            </a:solidFill>
            <a:miter lim="400000"/>
          </a:ln>
        </p:spPr>
        <p:txBody>
          <a:bodyPr lIns="76200" tIns="76200" rIns="76200" bIns="76200" anchor="ctr"/>
          <a:lstStyle/>
          <a:p>
            <a:pPr>
              <a:defRPr sz="3200"/>
            </a:pPr>
            <a:endParaRPr sz="4800"/>
          </a:p>
        </p:txBody>
      </p:sp>
      <p:sp>
        <p:nvSpPr>
          <p:cNvPr id="10" name="Shape 131"/>
          <p:cNvSpPr/>
          <p:nvPr/>
        </p:nvSpPr>
        <p:spPr>
          <a:xfrm>
            <a:off x="952500" y="18489726"/>
            <a:ext cx="16008688" cy="1308050"/>
          </a:xfrm>
          <a:prstGeom prst="rect">
            <a:avLst/>
          </a:prstGeom>
          <a:ln w="12700">
            <a:miter lim="400000"/>
          </a:ln>
          <a:extLst>
            <a:ext uri="{C572A759-6A51-4108-AA02-DFA0A04FC94B}">
              <ma14:wrappingTextBoxFlag xmlns:ma14="http://schemas.microsoft.com/office/mac/drawingml/2011/main" xmlns="" val="1"/>
            </a:ext>
          </a:extLst>
        </p:spPr>
        <p:txBody>
          <a:bodyPr lIns="76200" tIns="76200" rIns="76200" bIns="76200">
            <a:spAutoFit/>
          </a:bodyPr>
          <a:lstStyle/>
          <a:p>
            <a:pPr algn="l">
              <a:defRPr sz="2000">
                <a:latin typeface="Alright Sans"/>
                <a:ea typeface="Alright Sans"/>
                <a:cs typeface="Alright Sans"/>
                <a:sym typeface="Alright Sans"/>
              </a:defRPr>
            </a:pPr>
            <a:r>
              <a:rPr lang="en-US" sz="3000" dirty="0">
                <a:latin typeface="Open Sans" panose="020B0606030504020204" pitchFamily="34" charset="0"/>
                <a:ea typeface="Open Sans" panose="020B0606030504020204" pitchFamily="34" charset="0"/>
                <a:cs typeface="Open Sans" panose="020B0606030504020204" pitchFamily="34" charset="0"/>
              </a:rPr>
              <a:t>COMPLETE JAVA MASTERCLASS</a:t>
            </a:r>
          </a:p>
          <a:p>
            <a:pPr algn="l">
              <a:defRPr sz="3000">
                <a:latin typeface="Alright Sans"/>
                <a:ea typeface="Alright Sans"/>
                <a:cs typeface="Alright Sans"/>
                <a:sym typeface="Alright Sans"/>
              </a:defRPr>
            </a:pPr>
            <a:r>
              <a:rPr lang="en-US" sz="4500" dirty="0">
                <a:latin typeface="Open Sans" panose="020B0606030504020204" pitchFamily="34" charset="0"/>
                <a:ea typeface="Open Sans" panose="020B0606030504020204" pitchFamily="34" charset="0"/>
                <a:cs typeface="Open Sans" panose="020B0606030504020204" pitchFamily="34" charset="0"/>
              </a:rPr>
              <a:t>Lambda Mini Challenges</a:t>
            </a:r>
          </a:p>
        </p:txBody>
      </p:sp>
      <p:sp>
        <p:nvSpPr>
          <p:cNvPr id="8" name="Rectangle 7">
            <a:extLst>
              <a:ext uri="{FF2B5EF4-FFF2-40B4-BE49-F238E27FC236}">
                <a16:creationId xmlns:a16="http://schemas.microsoft.com/office/drawing/2014/main" id="{89DBB243-EF27-4345-872D-E76597E95619}"/>
              </a:ext>
            </a:extLst>
          </p:cNvPr>
          <p:cNvSpPr/>
          <p:nvPr/>
        </p:nvSpPr>
        <p:spPr>
          <a:xfrm>
            <a:off x="952501" y="4285904"/>
            <a:ext cx="34782670" cy="11880176"/>
          </a:xfrm>
          <a:prstGeom prst="rect">
            <a:avLst/>
          </a:prstGeom>
        </p:spPr>
        <p:txBody>
          <a:bodyPr wrap="square">
            <a:normAutofit/>
          </a:bodyPr>
          <a:lstStyle/>
          <a:p>
            <a:pPr algn="l">
              <a:spcAft>
                <a:spcPts val="5022"/>
              </a:spcAft>
            </a:pPr>
            <a:r>
              <a:rPr lang="en-US" sz="6400" dirty="0">
                <a:latin typeface="Open Sans" panose="020B0606030504020204" pitchFamily="34" charset="0"/>
                <a:ea typeface="Open Sans" panose="020B0606030504020204" pitchFamily="34" charset="0"/>
                <a:cs typeface="Open Sans" panose="020B0606030504020204" pitchFamily="34" charset="0"/>
              </a:rPr>
              <a:t>As with the Function example, the Supplier lambda won't do anything until we use it.</a:t>
            </a:r>
          </a:p>
          <a:p>
            <a:pPr algn="l">
              <a:spcAft>
                <a:spcPts val="5022"/>
              </a:spcAft>
            </a:pPr>
            <a:r>
              <a:rPr lang="en-US" sz="6400" dirty="0">
                <a:latin typeface="Open Sans" panose="020B0606030504020204" pitchFamily="34" charset="0"/>
                <a:ea typeface="Open Sans" panose="020B0606030504020204" pitchFamily="34" charset="0"/>
                <a:cs typeface="Open Sans" panose="020B0606030504020204" pitchFamily="34" charset="0"/>
              </a:rPr>
              <a:t>Remember, lambdas represent deferred execution of snippets of code.</a:t>
            </a:r>
          </a:p>
          <a:p>
            <a:pPr algn="l">
              <a:spcAft>
                <a:spcPts val="5022"/>
              </a:spcAft>
            </a:pPr>
            <a:r>
              <a:rPr lang="en-US" sz="6400" dirty="0">
                <a:latin typeface="Open Sans" panose="020B0606030504020204" pitchFamily="34" charset="0"/>
                <a:ea typeface="Open Sans" panose="020B0606030504020204" pitchFamily="34" charset="0"/>
                <a:cs typeface="Open Sans" panose="020B0606030504020204" pitchFamily="34" charset="0"/>
              </a:rPr>
              <a:t>Use this Supplier to assign a String, "I love Java", to a variable called </a:t>
            </a:r>
            <a:r>
              <a:rPr lang="en-US" sz="6400" dirty="0" err="1">
                <a:latin typeface="Open Sans" panose="020B0606030504020204" pitchFamily="34" charset="0"/>
                <a:ea typeface="Open Sans" panose="020B0606030504020204" pitchFamily="34" charset="0"/>
                <a:cs typeface="Open Sans" panose="020B0606030504020204" pitchFamily="34" charset="0"/>
              </a:rPr>
              <a:t>supplierResult</a:t>
            </a:r>
            <a:r>
              <a:rPr lang="en-US" sz="6400" dirty="0">
                <a:latin typeface="Open Sans" panose="020B0606030504020204" pitchFamily="34" charset="0"/>
                <a:ea typeface="Open Sans" panose="020B0606030504020204" pitchFamily="34" charset="0"/>
                <a:cs typeface="Open Sans" panose="020B0606030504020204" pitchFamily="34" charset="0"/>
              </a:rPr>
              <a:t>.</a:t>
            </a:r>
          </a:p>
          <a:p>
            <a:pPr algn="l">
              <a:spcAft>
                <a:spcPts val="5022"/>
              </a:spcAft>
            </a:pPr>
            <a:r>
              <a:rPr lang="en-US" sz="6400" dirty="0">
                <a:latin typeface="Open Sans" panose="020B0606030504020204" pitchFamily="34" charset="0"/>
                <a:ea typeface="Open Sans" panose="020B0606030504020204" pitchFamily="34" charset="0"/>
                <a:cs typeface="Open Sans" panose="020B0606030504020204" pitchFamily="34" charset="0"/>
              </a:rPr>
              <a:t>Print that variable to the console.</a:t>
            </a:r>
          </a:p>
        </p:txBody>
      </p:sp>
    </p:spTree>
    <p:extLst>
      <p:ext uri="{BB962C8B-B14F-4D97-AF65-F5344CB8AC3E}">
        <p14:creationId xmlns:p14="http://schemas.microsoft.com/office/powerpoint/2010/main" val="268100433"/>
      </p:ext>
    </p:extLst>
  </p:cSld>
  <p:clrMapOvr>
    <a:masterClrMapping/>
  </p:clrMapOvr>
  <p:transition spd="slow"/>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 name="Shape 126"/>
          <p:cNvSpPr/>
          <p:nvPr/>
        </p:nvSpPr>
        <p:spPr>
          <a:xfrm>
            <a:off x="952498" y="459786"/>
            <a:ext cx="19859604" cy="1815882"/>
          </a:xfrm>
          <a:prstGeom prst="rect">
            <a:avLst/>
          </a:prstGeom>
          <a:ln w="12700">
            <a:miter lim="400000"/>
          </a:ln>
          <a:extLst>
            <a:ext uri="{C572A759-6A51-4108-AA02-DFA0A04FC94B}">
              <ma14:wrappingTextBoxFlag xmlns="" xmlns:ma14="http://schemas.microsoft.com/office/mac/drawingml/2011/main" val="1"/>
            </a:ext>
          </a:extLst>
        </p:spPr>
        <p:txBody>
          <a:bodyPr wrap="none" lIns="76200" tIns="76200" rIns="76200" bIns="76200">
            <a:spAutoFit/>
          </a:bodyPr>
          <a:lstStyle>
            <a:lvl1pPr algn="l">
              <a:defRPr sz="7000">
                <a:latin typeface="Alright Sans"/>
                <a:ea typeface="Alright Sans"/>
                <a:cs typeface="Alright Sans"/>
                <a:sym typeface="Alright Sans"/>
              </a:defRPr>
            </a:lvl1pPr>
          </a:lstStyle>
          <a:p>
            <a:pPr>
              <a:defRPr sz="3000">
                <a:latin typeface="Alright Sans"/>
                <a:ea typeface="Alright Sans"/>
                <a:cs typeface="Alright Sans"/>
                <a:sym typeface="Alright Sans"/>
              </a:defRPr>
            </a:pPr>
            <a:r>
              <a:rPr lang="en-US" sz="10800" dirty="0">
                <a:latin typeface="Open Sans" panose="020B0606030504020204" pitchFamily="34" charset="0"/>
                <a:ea typeface="Open Sans" panose="020B0606030504020204" pitchFamily="34" charset="0"/>
                <a:cs typeface="Open Sans" panose="020B0606030504020204" pitchFamily="34" charset="0"/>
              </a:rPr>
              <a:t>Lambda Expression Challenge</a:t>
            </a:r>
          </a:p>
        </p:txBody>
      </p:sp>
      <p:sp>
        <p:nvSpPr>
          <p:cNvPr id="128" name="Shape 128"/>
          <p:cNvSpPr/>
          <p:nvPr/>
        </p:nvSpPr>
        <p:spPr>
          <a:xfrm>
            <a:off x="952500" y="18210515"/>
            <a:ext cx="34782668" cy="2"/>
          </a:xfrm>
          <a:prstGeom prst="line">
            <a:avLst/>
          </a:prstGeom>
          <a:ln w="76200">
            <a:solidFill>
              <a:schemeClr val="accent1">
                <a:satOff val="-3355"/>
                <a:lumOff val="26614"/>
              </a:schemeClr>
            </a:solidFill>
            <a:miter lim="400000"/>
          </a:ln>
        </p:spPr>
        <p:txBody>
          <a:bodyPr lIns="76200" tIns="76200" rIns="76200" bIns="76200" anchor="ctr"/>
          <a:lstStyle/>
          <a:p>
            <a:pPr>
              <a:defRPr sz="3200"/>
            </a:pPr>
            <a:endParaRPr sz="4800"/>
          </a:p>
        </p:txBody>
      </p:sp>
      <p:pic>
        <p:nvPicPr>
          <p:cNvPr id="129" name="Logo.png"/>
          <p:cNvPicPr>
            <a:picLocks noChangeAspect="1"/>
          </p:cNvPicPr>
          <p:nvPr/>
        </p:nvPicPr>
        <p:blipFill>
          <a:blip r:embed="rId3"/>
          <a:stretch>
            <a:fillRect/>
          </a:stretch>
        </p:blipFill>
        <p:spPr>
          <a:xfrm>
            <a:off x="14650974" y="18489726"/>
            <a:ext cx="6321552" cy="1392336"/>
          </a:xfrm>
          <a:prstGeom prst="rect">
            <a:avLst/>
          </a:prstGeom>
          <a:ln w="12700">
            <a:miter lim="400000"/>
          </a:ln>
        </p:spPr>
      </p:pic>
      <p:sp>
        <p:nvSpPr>
          <p:cNvPr id="9" name="Shape 127"/>
          <p:cNvSpPr/>
          <p:nvPr/>
        </p:nvSpPr>
        <p:spPr>
          <a:xfrm flipV="1">
            <a:off x="952499" y="2203340"/>
            <a:ext cx="34782670" cy="38132"/>
          </a:xfrm>
          <a:prstGeom prst="line">
            <a:avLst/>
          </a:prstGeom>
          <a:ln w="152400">
            <a:solidFill>
              <a:schemeClr val="accent1">
                <a:satOff val="-3355"/>
                <a:lumOff val="26614"/>
              </a:schemeClr>
            </a:solidFill>
            <a:miter lim="400000"/>
          </a:ln>
        </p:spPr>
        <p:txBody>
          <a:bodyPr lIns="76200" tIns="76200" rIns="76200" bIns="76200" anchor="ctr"/>
          <a:lstStyle/>
          <a:p>
            <a:pPr>
              <a:defRPr sz="3200"/>
            </a:pPr>
            <a:endParaRPr sz="4800"/>
          </a:p>
        </p:txBody>
      </p:sp>
      <p:sp>
        <p:nvSpPr>
          <p:cNvPr id="10" name="Shape 131"/>
          <p:cNvSpPr/>
          <p:nvPr/>
        </p:nvSpPr>
        <p:spPr>
          <a:xfrm>
            <a:off x="952500" y="18489726"/>
            <a:ext cx="16008688" cy="1308050"/>
          </a:xfrm>
          <a:prstGeom prst="rect">
            <a:avLst/>
          </a:prstGeom>
          <a:ln w="12700">
            <a:miter lim="400000"/>
          </a:ln>
          <a:extLst>
            <a:ext uri="{C572A759-6A51-4108-AA02-DFA0A04FC94B}">
              <ma14:wrappingTextBoxFlag xmlns:ma14="http://schemas.microsoft.com/office/mac/drawingml/2011/main" xmlns="" val="1"/>
            </a:ext>
          </a:extLst>
        </p:spPr>
        <p:txBody>
          <a:bodyPr lIns="76200" tIns="76200" rIns="76200" bIns="76200">
            <a:spAutoFit/>
          </a:bodyPr>
          <a:lstStyle/>
          <a:p>
            <a:pPr algn="l">
              <a:defRPr sz="2000">
                <a:latin typeface="Alright Sans"/>
                <a:ea typeface="Alright Sans"/>
                <a:cs typeface="Alright Sans"/>
                <a:sym typeface="Alright Sans"/>
              </a:defRPr>
            </a:pPr>
            <a:r>
              <a:rPr lang="en-US" sz="3000" dirty="0">
                <a:latin typeface="Open Sans" panose="020B0606030504020204" pitchFamily="34" charset="0"/>
                <a:ea typeface="Open Sans" panose="020B0606030504020204" pitchFamily="34" charset="0"/>
                <a:cs typeface="Open Sans" panose="020B0606030504020204" pitchFamily="34" charset="0"/>
              </a:rPr>
              <a:t>COMPLETE JAVA MASTERCLASS</a:t>
            </a:r>
          </a:p>
          <a:p>
            <a:pPr algn="l">
              <a:defRPr sz="3000">
                <a:latin typeface="Alright Sans"/>
                <a:ea typeface="Alright Sans"/>
                <a:cs typeface="Alright Sans"/>
                <a:sym typeface="Alright Sans"/>
              </a:defRPr>
            </a:pPr>
            <a:r>
              <a:rPr lang="en-US" sz="4500" dirty="0">
                <a:latin typeface="Open Sans" panose="020B0606030504020204" pitchFamily="34" charset="0"/>
                <a:ea typeface="Open Sans" panose="020B0606030504020204" pitchFamily="34" charset="0"/>
                <a:cs typeface="Open Sans" panose="020B0606030504020204" pitchFamily="34" charset="0"/>
              </a:rPr>
              <a:t>Lambda Expression Challenge, Put it all together</a:t>
            </a:r>
          </a:p>
        </p:txBody>
      </p:sp>
      <p:sp>
        <p:nvSpPr>
          <p:cNvPr id="8" name="Rectangle 7">
            <a:extLst>
              <a:ext uri="{FF2B5EF4-FFF2-40B4-BE49-F238E27FC236}">
                <a16:creationId xmlns:a16="http://schemas.microsoft.com/office/drawing/2014/main" id="{89DBB243-EF27-4345-872D-E76597E95619}"/>
              </a:ext>
            </a:extLst>
          </p:cNvPr>
          <p:cNvSpPr/>
          <p:nvPr/>
        </p:nvSpPr>
        <p:spPr>
          <a:xfrm>
            <a:off x="952501" y="4285904"/>
            <a:ext cx="34782670" cy="11880176"/>
          </a:xfrm>
          <a:prstGeom prst="rect">
            <a:avLst/>
          </a:prstGeom>
        </p:spPr>
        <p:txBody>
          <a:bodyPr wrap="square">
            <a:normAutofit/>
          </a:bodyPr>
          <a:lstStyle/>
          <a:p>
            <a:pPr algn="l">
              <a:spcAft>
                <a:spcPts val="5022"/>
              </a:spcAft>
            </a:pPr>
            <a:r>
              <a:rPr lang="en-US" sz="6400" dirty="0">
                <a:latin typeface="Open Sans" panose="020B0606030504020204" pitchFamily="34" charset="0"/>
                <a:ea typeface="Open Sans" panose="020B0606030504020204" pitchFamily="34" charset="0"/>
                <a:cs typeface="Open Sans" panose="020B0606030504020204" pitchFamily="34" charset="0"/>
              </a:rPr>
              <a:t>This challenge is designed to exercise your skills with methods on Arrays and </a:t>
            </a:r>
            <a:r>
              <a:rPr lang="en-US" sz="6400" dirty="0" err="1">
                <a:latin typeface="Open Sans" panose="020B0606030504020204" pitchFamily="34" charset="0"/>
                <a:ea typeface="Open Sans" panose="020B0606030504020204" pitchFamily="34" charset="0"/>
                <a:cs typeface="Open Sans" panose="020B0606030504020204" pitchFamily="34" charset="0"/>
              </a:rPr>
              <a:t>ArrayLists</a:t>
            </a:r>
            <a:r>
              <a:rPr lang="en-US" sz="6400" dirty="0">
                <a:latin typeface="Open Sans" panose="020B0606030504020204" pitchFamily="34" charset="0"/>
                <a:ea typeface="Open Sans" panose="020B0606030504020204" pitchFamily="34" charset="0"/>
                <a:cs typeface="Open Sans" panose="020B0606030504020204" pitchFamily="34" charset="0"/>
              </a:rPr>
              <a:t>, that are targets for lambda expressions.</a:t>
            </a:r>
          </a:p>
          <a:p>
            <a:pPr algn="l">
              <a:spcAft>
                <a:spcPts val="5022"/>
              </a:spcAft>
            </a:pPr>
            <a:r>
              <a:rPr lang="en-US" sz="6400" dirty="0">
                <a:latin typeface="Open Sans" panose="020B0606030504020204" pitchFamily="34" charset="0"/>
                <a:ea typeface="Open Sans" panose="020B0606030504020204" pitchFamily="34" charset="0"/>
                <a:cs typeface="Open Sans" panose="020B0606030504020204" pitchFamily="34" charset="0"/>
              </a:rPr>
              <a:t>First, I want you to create an array of String, which is populated with first names, in mixed case.</a:t>
            </a:r>
          </a:p>
          <a:p>
            <a:pPr algn="l">
              <a:spcAft>
                <a:spcPts val="5022"/>
              </a:spcAft>
            </a:pPr>
            <a:r>
              <a:rPr lang="en-US" sz="6400" dirty="0">
                <a:latin typeface="Open Sans" panose="020B0606030504020204" pitchFamily="34" charset="0"/>
                <a:ea typeface="Open Sans" panose="020B0606030504020204" pitchFamily="34" charset="0"/>
                <a:cs typeface="Open Sans" panose="020B0606030504020204" pitchFamily="34" charset="0"/>
              </a:rPr>
              <a:t>Include at least one name, which is spelled the same backwards, and forwards, like Bob, or Anna.</a:t>
            </a:r>
          </a:p>
          <a:p>
            <a:pPr algn="l">
              <a:spcAft>
                <a:spcPts val="5022"/>
              </a:spcAft>
            </a:pPr>
            <a:r>
              <a:rPr lang="en-US" sz="6400" dirty="0">
                <a:latin typeface="Open Sans" panose="020B0606030504020204" pitchFamily="34" charset="0"/>
                <a:ea typeface="Open Sans" panose="020B0606030504020204" pitchFamily="34" charset="0"/>
                <a:cs typeface="Open Sans" panose="020B0606030504020204" pitchFamily="34" charset="0"/>
              </a:rPr>
              <a:t>Use </a:t>
            </a:r>
            <a:r>
              <a:rPr lang="en-US" sz="6400" b="1" dirty="0" err="1">
                <a:latin typeface="Open Sans" panose="020B0606030504020204" pitchFamily="34" charset="0"/>
                <a:ea typeface="Open Sans" panose="020B0606030504020204" pitchFamily="34" charset="0"/>
                <a:cs typeface="Open Sans" panose="020B0606030504020204" pitchFamily="34" charset="0"/>
              </a:rPr>
              <a:t>Arrays.setAll</a:t>
            </a:r>
            <a:r>
              <a:rPr lang="en-US" sz="6400" dirty="0">
                <a:latin typeface="Open Sans" panose="020B0606030504020204" pitchFamily="34" charset="0"/>
                <a:ea typeface="Open Sans" panose="020B0606030504020204" pitchFamily="34" charset="0"/>
                <a:cs typeface="Open Sans" panose="020B0606030504020204" pitchFamily="34" charset="0"/>
              </a:rPr>
              <a:t>, or </a:t>
            </a:r>
            <a:r>
              <a:rPr lang="en-US" sz="6400" b="1" dirty="0" err="1">
                <a:latin typeface="Open Sans" panose="020B0606030504020204" pitchFamily="34" charset="0"/>
                <a:ea typeface="Open Sans" panose="020B0606030504020204" pitchFamily="34" charset="0"/>
                <a:cs typeface="Open Sans" panose="020B0606030504020204" pitchFamily="34" charset="0"/>
              </a:rPr>
              <a:t>List.replaceAll</a:t>
            </a:r>
            <a:r>
              <a:rPr lang="en-US" sz="6400" dirty="0">
                <a:latin typeface="Open Sans" panose="020B0606030504020204" pitchFamily="34" charset="0"/>
                <a:ea typeface="Open Sans" panose="020B0606030504020204" pitchFamily="34" charset="0"/>
                <a:cs typeface="Open Sans" panose="020B0606030504020204" pitchFamily="34" charset="0"/>
              </a:rPr>
              <a:t>, to change the values in this array.</a:t>
            </a:r>
          </a:p>
          <a:p>
            <a:pPr algn="l">
              <a:spcAft>
                <a:spcPts val="5022"/>
              </a:spcAft>
            </a:pPr>
            <a:r>
              <a:rPr lang="en-US" sz="6400" dirty="0">
                <a:latin typeface="Open Sans" panose="020B0606030504020204" pitchFamily="34" charset="0"/>
                <a:ea typeface="Open Sans" panose="020B0606030504020204" pitchFamily="34" charset="0"/>
                <a:cs typeface="Open Sans" panose="020B0606030504020204" pitchFamily="34" charset="0"/>
              </a:rPr>
              <a:t>If you use List methods, you'll need </a:t>
            </a:r>
            <a:r>
              <a:rPr lang="en-US" sz="6400" b="1" dirty="0">
                <a:latin typeface="Open Sans" panose="020B0606030504020204" pitchFamily="34" charset="0"/>
                <a:ea typeface="Open Sans" panose="020B0606030504020204" pitchFamily="34" charset="0"/>
                <a:cs typeface="Open Sans" panose="020B0606030504020204" pitchFamily="34" charset="0"/>
              </a:rPr>
              <a:t>a list backed by the array</a:t>
            </a:r>
            <a:r>
              <a:rPr lang="en-US" sz="6400" dirty="0">
                <a:latin typeface="Open Sans" panose="020B0606030504020204" pitchFamily="34" charset="0"/>
                <a:ea typeface="Open Sans" panose="020B0606030504020204" pitchFamily="34" charset="0"/>
                <a:cs typeface="Open Sans" panose="020B0606030504020204" pitchFamily="34" charset="0"/>
              </a:rPr>
              <a:t>, so that changes get made to the initial array.</a:t>
            </a:r>
          </a:p>
        </p:txBody>
      </p:sp>
    </p:spTree>
    <p:extLst>
      <p:ext uri="{BB962C8B-B14F-4D97-AF65-F5344CB8AC3E}">
        <p14:creationId xmlns:p14="http://schemas.microsoft.com/office/powerpoint/2010/main" val="3845920239"/>
      </p:ext>
    </p:extLst>
  </p:cSld>
  <p:clrMapOvr>
    <a:masterClrMapping/>
  </p:clrMapOvr>
  <p:transition spd="slow"/>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 name="Shape 126"/>
          <p:cNvSpPr/>
          <p:nvPr/>
        </p:nvSpPr>
        <p:spPr>
          <a:xfrm>
            <a:off x="952498" y="459786"/>
            <a:ext cx="19859604" cy="1815882"/>
          </a:xfrm>
          <a:prstGeom prst="rect">
            <a:avLst/>
          </a:prstGeom>
          <a:ln w="12700">
            <a:miter lim="400000"/>
          </a:ln>
          <a:extLst>
            <a:ext uri="{C572A759-6A51-4108-AA02-DFA0A04FC94B}">
              <ma14:wrappingTextBoxFlag xmlns:ma14="http://schemas.microsoft.com/office/mac/drawingml/2011/main" xmlns="" val="1"/>
            </a:ext>
          </a:extLst>
        </p:spPr>
        <p:txBody>
          <a:bodyPr wrap="none" lIns="76200" tIns="76200" rIns="76200" bIns="76200">
            <a:spAutoFit/>
          </a:bodyPr>
          <a:lstStyle>
            <a:lvl1pPr algn="l">
              <a:defRPr sz="7000">
                <a:latin typeface="Alright Sans"/>
                <a:ea typeface="Alright Sans"/>
                <a:cs typeface="Alright Sans"/>
                <a:sym typeface="Alright Sans"/>
              </a:defRPr>
            </a:lvl1pPr>
          </a:lstStyle>
          <a:p>
            <a:pPr>
              <a:defRPr sz="3000">
                <a:latin typeface="Alright Sans"/>
                <a:ea typeface="Alright Sans"/>
                <a:cs typeface="Alright Sans"/>
                <a:sym typeface="Alright Sans"/>
              </a:defRPr>
            </a:pPr>
            <a:r>
              <a:rPr lang="en-US" sz="10800" dirty="0">
                <a:latin typeface="Open Sans" panose="020B0606030504020204" pitchFamily="34" charset="0"/>
                <a:ea typeface="Open Sans" panose="020B0606030504020204" pitchFamily="34" charset="0"/>
                <a:cs typeface="Open Sans" panose="020B0606030504020204" pitchFamily="34" charset="0"/>
              </a:rPr>
              <a:t>Lambda Expression Challenge</a:t>
            </a:r>
          </a:p>
        </p:txBody>
      </p:sp>
      <p:sp>
        <p:nvSpPr>
          <p:cNvPr id="128" name="Shape 128"/>
          <p:cNvSpPr/>
          <p:nvPr/>
        </p:nvSpPr>
        <p:spPr>
          <a:xfrm>
            <a:off x="952500" y="18210515"/>
            <a:ext cx="34782668" cy="2"/>
          </a:xfrm>
          <a:prstGeom prst="line">
            <a:avLst/>
          </a:prstGeom>
          <a:ln w="76200">
            <a:solidFill>
              <a:schemeClr val="accent1">
                <a:satOff val="-3355"/>
                <a:lumOff val="26614"/>
              </a:schemeClr>
            </a:solidFill>
            <a:miter lim="400000"/>
          </a:ln>
        </p:spPr>
        <p:txBody>
          <a:bodyPr lIns="76200" tIns="76200" rIns="76200" bIns="76200" anchor="ctr"/>
          <a:lstStyle/>
          <a:p>
            <a:pPr>
              <a:defRPr sz="3200"/>
            </a:pPr>
            <a:endParaRPr sz="4800"/>
          </a:p>
        </p:txBody>
      </p:sp>
      <p:pic>
        <p:nvPicPr>
          <p:cNvPr id="129" name="Logo.png"/>
          <p:cNvPicPr>
            <a:picLocks noChangeAspect="1"/>
          </p:cNvPicPr>
          <p:nvPr/>
        </p:nvPicPr>
        <p:blipFill>
          <a:blip r:embed="rId3"/>
          <a:stretch>
            <a:fillRect/>
          </a:stretch>
        </p:blipFill>
        <p:spPr>
          <a:xfrm>
            <a:off x="14650974" y="18489726"/>
            <a:ext cx="6321552" cy="1392336"/>
          </a:xfrm>
          <a:prstGeom prst="rect">
            <a:avLst/>
          </a:prstGeom>
          <a:ln w="12700">
            <a:miter lim="400000"/>
          </a:ln>
        </p:spPr>
      </p:pic>
      <p:sp>
        <p:nvSpPr>
          <p:cNvPr id="9" name="Shape 127"/>
          <p:cNvSpPr/>
          <p:nvPr/>
        </p:nvSpPr>
        <p:spPr>
          <a:xfrm flipV="1">
            <a:off x="952499" y="2203340"/>
            <a:ext cx="34782670" cy="38132"/>
          </a:xfrm>
          <a:prstGeom prst="line">
            <a:avLst/>
          </a:prstGeom>
          <a:ln w="152400">
            <a:solidFill>
              <a:schemeClr val="accent1">
                <a:satOff val="-3355"/>
                <a:lumOff val="26614"/>
              </a:schemeClr>
            </a:solidFill>
            <a:miter lim="400000"/>
          </a:ln>
        </p:spPr>
        <p:txBody>
          <a:bodyPr lIns="76200" tIns="76200" rIns="76200" bIns="76200" anchor="ctr"/>
          <a:lstStyle/>
          <a:p>
            <a:pPr>
              <a:defRPr sz="3200"/>
            </a:pPr>
            <a:endParaRPr sz="4800"/>
          </a:p>
        </p:txBody>
      </p:sp>
      <p:sp>
        <p:nvSpPr>
          <p:cNvPr id="10" name="Shape 131"/>
          <p:cNvSpPr/>
          <p:nvPr/>
        </p:nvSpPr>
        <p:spPr>
          <a:xfrm>
            <a:off x="952500" y="18489726"/>
            <a:ext cx="16008688" cy="1308050"/>
          </a:xfrm>
          <a:prstGeom prst="rect">
            <a:avLst/>
          </a:prstGeom>
          <a:ln w="12700">
            <a:miter lim="400000"/>
          </a:ln>
          <a:extLst>
            <a:ext uri="{C572A759-6A51-4108-AA02-DFA0A04FC94B}">
              <ma14:wrappingTextBoxFlag xmlns="" xmlns:ma14="http://schemas.microsoft.com/office/mac/drawingml/2011/main" val="1"/>
            </a:ext>
          </a:extLst>
        </p:spPr>
        <p:txBody>
          <a:bodyPr lIns="76200" tIns="76200" rIns="76200" bIns="76200">
            <a:spAutoFit/>
          </a:bodyPr>
          <a:lstStyle/>
          <a:p>
            <a:pPr algn="l">
              <a:defRPr sz="2000">
                <a:latin typeface="Alright Sans"/>
                <a:ea typeface="Alright Sans"/>
                <a:cs typeface="Alright Sans"/>
                <a:sym typeface="Alright Sans"/>
              </a:defRPr>
            </a:pPr>
            <a:r>
              <a:rPr lang="en-US" sz="3000" dirty="0">
                <a:latin typeface="Open Sans" panose="020B0606030504020204" pitchFamily="34" charset="0"/>
                <a:ea typeface="Open Sans" panose="020B0606030504020204" pitchFamily="34" charset="0"/>
                <a:cs typeface="Open Sans" panose="020B0606030504020204" pitchFamily="34" charset="0"/>
              </a:rPr>
              <a:t>COMPLETE JAVA MASTERCLASS</a:t>
            </a:r>
          </a:p>
          <a:p>
            <a:pPr algn="l">
              <a:defRPr sz="3000">
                <a:latin typeface="Alright Sans"/>
                <a:ea typeface="Alright Sans"/>
                <a:cs typeface="Alright Sans"/>
                <a:sym typeface="Alright Sans"/>
              </a:defRPr>
            </a:pPr>
            <a:r>
              <a:rPr lang="en-US" sz="4500" dirty="0">
                <a:latin typeface="Open Sans" panose="020B0606030504020204" pitchFamily="34" charset="0"/>
                <a:ea typeface="Open Sans" panose="020B0606030504020204" pitchFamily="34" charset="0"/>
                <a:cs typeface="Open Sans" panose="020B0606030504020204" pitchFamily="34" charset="0"/>
              </a:rPr>
              <a:t>Lambda Expression Challenge, Put it all together</a:t>
            </a:r>
          </a:p>
        </p:txBody>
      </p:sp>
      <p:sp>
        <p:nvSpPr>
          <p:cNvPr id="8" name="Rectangle 7">
            <a:extLst>
              <a:ext uri="{FF2B5EF4-FFF2-40B4-BE49-F238E27FC236}">
                <a16:creationId xmlns:a16="http://schemas.microsoft.com/office/drawing/2014/main" id="{89DBB243-EF27-4345-872D-E76597E95619}"/>
              </a:ext>
            </a:extLst>
          </p:cNvPr>
          <p:cNvSpPr/>
          <p:nvPr/>
        </p:nvSpPr>
        <p:spPr>
          <a:xfrm>
            <a:off x="952501" y="4285904"/>
            <a:ext cx="34782670" cy="13607268"/>
          </a:xfrm>
          <a:prstGeom prst="rect">
            <a:avLst/>
          </a:prstGeom>
        </p:spPr>
        <p:txBody>
          <a:bodyPr wrap="square">
            <a:normAutofit lnSpcReduction="10000"/>
          </a:bodyPr>
          <a:lstStyle/>
          <a:p>
            <a:pPr algn="l">
              <a:spcAft>
                <a:spcPts val="5022"/>
              </a:spcAft>
            </a:pPr>
            <a:r>
              <a:rPr lang="en-US" sz="6400" dirty="0">
                <a:latin typeface="Open Sans" panose="020B0606030504020204" pitchFamily="34" charset="0"/>
                <a:ea typeface="Open Sans" panose="020B0606030504020204" pitchFamily="34" charset="0"/>
                <a:cs typeface="Open Sans" panose="020B0606030504020204" pitchFamily="34" charset="0"/>
              </a:rPr>
              <a:t>Using one of those two methods, perform the following functions on the elements in the array, with appropriate lambda expressions.  </a:t>
            </a:r>
          </a:p>
          <a:p>
            <a:pPr marL="857250" indent="-857250" algn="l">
              <a:spcAft>
                <a:spcPts val="5022"/>
              </a:spcAft>
              <a:buFont typeface="Arial" panose="020B0604020202020204" pitchFamily="34" charset="0"/>
              <a:buChar char="•"/>
            </a:pPr>
            <a:r>
              <a:rPr lang="en-US" sz="6400" dirty="0">
                <a:latin typeface="Open Sans" panose="020B0606030504020204" pitchFamily="34" charset="0"/>
                <a:ea typeface="Open Sans" panose="020B0606030504020204" pitchFamily="34" charset="0"/>
                <a:cs typeface="Open Sans" panose="020B0606030504020204" pitchFamily="34" charset="0"/>
              </a:rPr>
              <a:t>Transform names to all uppercase.</a:t>
            </a:r>
          </a:p>
          <a:p>
            <a:pPr marL="857250" indent="-857250" algn="l">
              <a:spcAft>
                <a:spcPts val="5022"/>
              </a:spcAft>
              <a:buFont typeface="Arial" panose="020B0604020202020204" pitchFamily="34" charset="0"/>
              <a:buChar char="•"/>
            </a:pPr>
            <a:r>
              <a:rPr lang="en-US" sz="6400" dirty="0">
                <a:latin typeface="Open Sans" panose="020B0606030504020204" pitchFamily="34" charset="0"/>
                <a:ea typeface="Open Sans" panose="020B0606030504020204" pitchFamily="34" charset="0"/>
                <a:cs typeface="Open Sans" panose="020B0606030504020204" pitchFamily="34" charset="0"/>
              </a:rPr>
              <a:t>Add a randomly generated middle initial and include a period.</a:t>
            </a:r>
          </a:p>
          <a:p>
            <a:pPr marL="857250" indent="-857250" algn="l">
              <a:spcAft>
                <a:spcPts val="5022"/>
              </a:spcAft>
              <a:buFont typeface="Arial" panose="020B0604020202020204" pitchFamily="34" charset="0"/>
              <a:buChar char="•"/>
            </a:pPr>
            <a:r>
              <a:rPr lang="en-US" sz="6400" dirty="0">
                <a:latin typeface="Open Sans" panose="020B0606030504020204" pitchFamily="34" charset="0"/>
                <a:ea typeface="Open Sans" panose="020B0606030504020204" pitchFamily="34" charset="0"/>
                <a:cs typeface="Open Sans" panose="020B0606030504020204" pitchFamily="34" charset="0"/>
              </a:rPr>
              <a:t>Add a last name that is the reverse of the first name.</a:t>
            </a:r>
          </a:p>
          <a:p>
            <a:pPr algn="l">
              <a:spcAft>
                <a:spcPts val="5022"/>
              </a:spcAft>
            </a:pPr>
            <a:r>
              <a:rPr lang="en-US" sz="6400" dirty="0">
                <a:latin typeface="Open Sans" panose="020B0606030504020204" pitchFamily="34" charset="0"/>
                <a:ea typeface="Open Sans" panose="020B0606030504020204" pitchFamily="34" charset="0"/>
                <a:cs typeface="Open Sans" panose="020B0606030504020204" pitchFamily="34" charset="0"/>
              </a:rPr>
              <a:t>Print your array or the array elements, after each change, </a:t>
            </a:r>
            <a:r>
              <a:rPr lang="en-US" sz="6400" b="1" dirty="0">
                <a:latin typeface="Open Sans" panose="020B0606030504020204" pitchFamily="34" charset="0"/>
                <a:ea typeface="Open Sans" panose="020B0606030504020204" pitchFamily="34" charset="0"/>
                <a:cs typeface="Open Sans" panose="020B0606030504020204" pitchFamily="34" charset="0"/>
              </a:rPr>
              <a:t>using the </a:t>
            </a:r>
            <a:r>
              <a:rPr lang="en-US" sz="6400" b="1" dirty="0" err="1">
                <a:latin typeface="Open Sans" panose="020B0606030504020204" pitchFamily="34" charset="0"/>
                <a:ea typeface="Open Sans" panose="020B0606030504020204" pitchFamily="34" charset="0"/>
                <a:cs typeface="Open Sans" panose="020B0606030504020204" pitchFamily="34" charset="0"/>
              </a:rPr>
              <a:t>forEach</a:t>
            </a:r>
            <a:r>
              <a:rPr lang="en-US" sz="6400" b="1" dirty="0">
                <a:latin typeface="Open Sans" panose="020B0606030504020204" pitchFamily="34" charset="0"/>
                <a:ea typeface="Open Sans" panose="020B0606030504020204" pitchFamily="34" charset="0"/>
                <a:cs typeface="Open Sans" panose="020B0606030504020204" pitchFamily="34" charset="0"/>
              </a:rPr>
              <a:t> method, at least once</a:t>
            </a:r>
            <a:r>
              <a:rPr lang="en-US" sz="6400" dirty="0">
                <a:latin typeface="Open Sans" panose="020B0606030504020204" pitchFamily="34" charset="0"/>
                <a:ea typeface="Open Sans" panose="020B0606030504020204" pitchFamily="34" charset="0"/>
                <a:cs typeface="Open Sans" panose="020B0606030504020204" pitchFamily="34" charset="0"/>
              </a:rPr>
              <a:t>.</a:t>
            </a:r>
          </a:p>
          <a:p>
            <a:pPr algn="l">
              <a:spcAft>
                <a:spcPts val="5022"/>
              </a:spcAft>
            </a:pPr>
            <a:r>
              <a:rPr lang="en-US" sz="6400" dirty="0">
                <a:latin typeface="Open Sans" panose="020B0606030504020204" pitchFamily="34" charset="0"/>
                <a:ea typeface="Open Sans" panose="020B0606030504020204" pitchFamily="34" charset="0"/>
                <a:cs typeface="Open Sans" panose="020B0606030504020204" pitchFamily="34" charset="0"/>
              </a:rPr>
              <a:t>Finally, create a new modifiable </a:t>
            </a:r>
            <a:r>
              <a:rPr lang="en-US" sz="6400" dirty="0" err="1">
                <a:latin typeface="Open Sans" panose="020B0606030504020204" pitchFamily="34" charset="0"/>
                <a:ea typeface="Open Sans" panose="020B0606030504020204" pitchFamily="34" charset="0"/>
                <a:cs typeface="Open Sans" panose="020B0606030504020204" pitchFamily="34" charset="0"/>
              </a:rPr>
              <a:t>ArrayList</a:t>
            </a:r>
            <a:r>
              <a:rPr lang="en-US" sz="6400" dirty="0">
                <a:latin typeface="Open Sans" panose="020B0606030504020204" pitchFamily="34" charset="0"/>
                <a:ea typeface="Open Sans" panose="020B0606030504020204" pitchFamily="34" charset="0"/>
                <a:cs typeface="Open Sans" panose="020B0606030504020204" pitchFamily="34" charset="0"/>
              </a:rPr>
              <a:t> from your names array, removing any names where the last name equals the first name.</a:t>
            </a:r>
          </a:p>
          <a:p>
            <a:pPr algn="l">
              <a:spcAft>
                <a:spcPts val="5022"/>
              </a:spcAft>
            </a:pPr>
            <a:r>
              <a:rPr lang="en-US" sz="6400" dirty="0">
                <a:latin typeface="Open Sans" panose="020B0606030504020204" pitchFamily="34" charset="0"/>
                <a:ea typeface="Open Sans" panose="020B0606030504020204" pitchFamily="34" charset="0"/>
                <a:cs typeface="Open Sans" panose="020B0606030504020204" pitchFamily="34" charset="0"/>
              </a:rPr>
              <a:t>Use </a:t>
            </a:r>
            <a:r>
              <a:rPr lang="en-US" sz="6400" dirty="0" err="1">
                <a:latin typeface="Open Sans" panose="020B0606030504020204" pitchFamily="34" charset="0"/>
                <a:ea typeface="Open Sans" panose="020B0606030504020204" pitchFamily="34" charset="0"/>
                <a:cs typeface="Open Sans" panose="020B0606030504020204" pitchFamily="34" charset="0"/>
              </a:rPr>
              <a:t>removeIf</a:t>
            </a:r>
            <a:r>
              <a:rPr lang="en-US" sz="6400" dirty="0">
                <a:latin typeface="Open Sans" panose="020B0606030504020204" pitchFamily="34" charset="0"/>
                <a:ea typeface="Open Sans" panose="020B0606030504020204" pitchFamily="34" charset="0"/>
                <a:cs typeface="Open Sans" panose="020B0606030504020204" pitchFamily="34" charset="0"/>
              </a:rPr>
              <a:t> with a lambda expression to perform this last operation.</a:t>
            </a:r>
          </a:p>
        </p:txBody>
      </p:sp>
    </p:spTree>
    <p:extLst>
      <p:ext uri="{BB962C8B-B14F-4D97-AF65-F5344CB8AC3E}">
        <p14:creationId xmlns:p14="http://schemas.microsoft.com/office/powerpoint/2010/main" val="338837619"/>
      </p:ext>
    </p:extLst>
  </p:cSld>
  <p:clrMapOvr>
    <a:masterClrMapping/>
  </p:clrMapOvr>
  <p:transition spd="slow"/>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 name="Shape 126"/>
          <p:cNvSpPr/>
          <p:nvPr/>
        </p:nvSpPr>
        <p:spPr>
          <a:xfrm>
            <a:off x="952498" y="459786"/>
            <a:ext cx="18516287" cy="1815882"/>
          </a:xfrm>
          <a:prstGeom prst="rect">
            <a:avLst/>
          </a:prstGeom>
          <a:ln w="12700">
            <a:miter lim="400000"/>
          </a:ln>
          <a:extLst>
            <a:ext uri="{C572A759-6A51-4108-AA02-DFA0A04FC94B}">
              <ma14:wrappingTextBoxFlag xmlns="" xmlns:ma14="http://schemas.microsoft.com/office/mac/drawingml/2011/main" val="1"/>
            </a:ext>
          </a:extLst>
        </p:spPr>
        <p:txBody>
          <a:bodyPr wrap="none" lIns="76200" tIns="76200" rIns="76200" bIns="76200">
            <a:spAutoFit/>
          </a:bodyPr>
          <a:lstStyle>
            <a:lvl1pPr algn="l">
              <a:defRPr sz="7000">
                <a:latin typeface="Alright Sans"/>
                <a:ea typeface="Alright Sans"/>
                <a:cs typeface="Alright Sans"/>
                <a:sym typeface="Alright Sans"/>
              </a:defRPr>
            </a:lvl1pPr>
          </a:lstStyle>
          <a:p>
            <a:pPr>
              <a:defRPr sz="3000">
                <a:latin typeface="Alright Sans"/>
                <a:ea typeface="Alright Sans"/>
                <a:cs typeface="Alright Sans"/>
                <a:sym typeface="Alright Sans"/>
              </a:defRPr>
            </a:pPr>
            <a:r>
              <a:rPr lang="en-US" sz="10800" dirty="0">
                <a:latin typeface="Open Sans" panose="020B0606030504020204" pitchFamily="34" charset="0"/>
                <a:ea typeface="Open Sans" panose="020B0606030504020204" pitchFamily="34" charset="0"/>
                <a:cs typeface="Open Sans" panose="020B0606030504020204" pitchFamily="34" charset="0"/>
              </a:rPr>
              <a:t>What's a Method Reference?</a:t>
            </a:r>
          </a:p>
        </p:txBody>
      </p:sp>
      <p:sp>
        <p:nvSpPr>
          <p:cNvPr id="128" name="Shape 128"/>
          <p:cNvSpPr/>
          <p:nvPr/>
        </p:nvSpPr>
        <p:spPr>
          <a:xfrm>
            <a:off x="952500" y="18210515"/>
            <a:ext cx="34782668" cy="2"/>
          </a:xfrm>
          <a:prstGeom prst="line">
            <a:avLst/>
          </a:prstGeom>
          <a:ln w="76200">
            <a:solidFill>
              <a:schemeClr val="accent1">
                <a:satOff val="-3355"/>
                <a:lumOff val="26614"/>
              </a:schemeClr>
            </a:solidFill>
            <a:miter lim="400000"/>
          </a:ln>
        </p:spPr>
        <p:txBody>
          <a:bodyPr lIns="76200" tIns="76200" rIns="76200" bIns="76200" anchor="ctr"/>
          <a:lstStyle/>
          <a:p>
            <a:pPr>
              <a:defRPr sz="3200"/>
            </a:pPr>
            <a:endParaRPr sz="4800"/>
          </a:p>
        </p:txBody>
      </p:sp>
      <p:pic>
        <p:nvPicPr>
          <p:cNvPr id="129" name="Logo.png"/>
          <p:cNvPicPr>
            <a:picLocks noChangeAspect="1"/>
          </p:cNvPicPr>
          <p:nvPr/>
        </p:nvPicPr>
        <p:blipFill>
          <a:blip r:embed="rId3"/>
          <a:stretch>
            <a:fillRect/>
          </a:stretch>
        </p:blipFill>
        <p:spPr>
          <a:xfrm>
            <a:off x="14650974" y="18489726"/>
            <a:ext cx="6321552" cy="1392336"/>
          </a:xfrm>
          <a:prstGeom prst="rect">
            <a:avLst/>
          </a:prstGeom>
          <a:ln w="12700">
            <a:miter lim="400000"/>
          </a:ln>
        </p:spPr>
      </p:pic>
      <p:sp>
        <p:nvSpPr>
          <p:cNvPr id="9" name="Shape 127"/>
          <p:cNvSpPr/>
          <p:nvPr/>
        </p:nvSpPr>
        <p:spPr>
          <a:xfrm flipV="1">
            <a:off x="952499" y="2203340"/>
            <a:ext cx="34782670" cy="38132"/>
          </a:xfrm>
          <a:prstGeom prst="line">
            <a:avLst/>
          </a:prstGeom>
          <a:ln w="152400">
            <a:solidFill>
              <a:schemeClr val="accent1">
                <a:satOff val="-3355"/>
                <a:lumOff val="26614"/>
              </a:schemeClr>
            </a:solidFill>
            <a:miter lim="400000"/>
          </a:ln>
        </p:spPr>
        <p:txBody>
          <a:bodyPr lIns="76200" tIns="76200" rIns="76200" bIns="76200" anchor="ctr"/>
          <a:lstStyle/>
          <a:p>
            <a:pPr>
              <a:defRPr sz="3200"/>
            </a:pPr>
            <a:endParaRPr sz="4800"/>
          </a:p>
        </p:txBody>
      </p:sp>
      <p:sp>
        <p:nvSpPr>
          <p:cNvPr id="10" name="Shape 131"/>
          <p:cNvSpPr/>
          <p:nvPr/>
        </p:nvSpPr>
        <p:spPr>
          <a:xfrm>
            <a:off x="952500" y="18489726"/>
            <a:ext cx="16008688" cy="1308050"/>
          </a:xfrm>
          <a:prstGeom prst="rect">
            <a:avLst/>
          </a:prstGeom>
          <a:ln w="12700">
            <a:miter lim="400000"/>
          </a:ln>
          <a:extLst>
            <a:ext uri="{C572A759-6A51-4108-AA02-DFA0A04FC94B}">
              <ma14:wrappingTextBoxFlag xmlns:ma14="http://schemas.microsoft.com/office/mac/drawingml/2011/main" xmlns="" val="1"/>
            </a:ext>
          </a:extLst>
        </p:spPr>
        <p:txBody>
          <a:bodyPr lIns="76200" tIns="76200" rIns="76200" bIns="76200">
            <a:spAutoFit/>
          </a:bodyPr>
          <a:lstStyle/>
          <a:p>
            <a:pPr algn="l">
              <a:defRPr sz="2000">
                <a:latin typeface="Alright Sans"/>
                <a:ea typeface="Alright Sans"/>
                <a:cs typeface="Alright Sans"/>
                <a:sym typeface="Alright Sans"/>
              </a:defRPr>
            </a:pPr>
            <a:r>
              <a:rPr lang="en-US" sz="3000" dirty="0">
                <a:latin typeface="Open Sans" panose="020B0606030504020204" pitchFamily="34" charset="0"/>
                <a:ea typeface="Open Sans" panose="020B0606030504020204" pitchFamily="34" charset="0"/>
                <a:cs typeface="Open Sans" panose="020B0606030504020204" pitchFamily="34" charset="0"/>
              </a:rPr>
              <a:t>COMPLETE JAVA MASTERCLASS</a:t>
            </a:r>
          </a:p>
          <a:p>
            <a:pPr algn="l">
              <a:defRPr sz="3000">
                <a:latin typeface="Alright Sans"/>
                <a:ea typeface="Alright Sans"/>
                <a:cs typeface="Alright Sans"/>
                <a:sym typeface="Alright Sans"/>
              </a:defRPr>
            </a:pPr>
            <a:r>
              <a:rPr lang="en-US" sz="4500" dirty="0">
                <a:latin typeface="Open Sans" panose="020B0606030504020204" pitchFamily="34" charset="0"/>
                <a:ea typeface="Open Sans" panose="020B0606030504020204" pitchFamily="34" charset="0"/>
                <a:cs typeface="Open Sans" panose="020B0606030504020204" pitchFamily="34" charset="0"/>
              </a:rPr>
              <a:t>What's a Method Reference?</a:t>
            </a:r>
          </a:p>
        </p:txBody>
      </p:sp>
      <p:sp>
        <p:nvSpPr>
          <p:cNvPr id="8" name="Rectangle 7">
            <a:extLst>
              <a:ext uri="{FF2B5EF4-FFF2-40B4-BE49-F238E27FC236}">
                <a16:creationId xmlns:a16="http://schemas.microsoft.com/office/drawing/2014/main" id="{89DBB243-EF27-4345-872D-E76597E95619}"/>
              </a:ext>
            </a:extLst>
          </p:cNvPr>
          <p:cNvSpPr/>
          <p:nvPr/>
        </p:nvSpPr>
        <p:spPr>
          <a:xfrm>
            <a:off x="952501" y="4285904"/>
            <a:ext cx="34782670" cy="11880176"/>
          </a:xfrm>
          <a:prstGeom prst="rect">
            <a:avLst/>
          </a:prstGeom>
        </p:spPr>
        <p:txBody>
          <a:bodyPr wrap="square">
            <a:normAutofit/>
          </a:bodyPr>
          <a:lstStyle/>
          <a:p>
            <a:pPr algn="l">
              <a:spcAft>
                <a:spcPts val="5022"/>
              </a:spcAft>
            </a:pPr>
            <a:r>
              <a:rPr lang="en-US" sz="6400" dirty="0">
                <a:latin typeface="Open Sans" panose="020B0606030504020204" pitchFamily="34" charset="0"/>
                <a:ea typeface="Open Sans" panose="020B0606030504020204" pitchFamily="34" charset="0"/>
                <a:cs typeface="Open Sans" panose="020B0606030504020204" pitchFamily="34" charset="0"/>
              </a:rPr>
              <a:t>Java gives us an alternative syntax to use for this second kind of lambda that uses named methods.</a:t>
            </a:r>
          </a:p>
          <a:p>
            <a:pPr algn="l">
              <a:spcAft>
                <a:spcPts val="5022"/>
              </a:spcAft>
            </a:pPr>
            <a:r>
              <a:rPr lang="en-US" sz="6400" dirty="0">
                <a:latin typeface="Open Sans" panose="020B0606030504020204" pitchFamily="34" charset="0"/>
                <a:ea typeface="Open Sans" panose="020B0606030504020204" pitchFamily="34" charset="0"/>
                <a:cs typeface="Open Sans" panose="020B0606030504020204" pitchFamily="34" charset="0"/>
              </a:rPr>
              <a:t>These are called method references.</a:t>
            </a:r>
          </a:p>
          <a:p>
            <a:pPr algn="l">
              <a:spcAft>
                <a:spcPts val="5022"/>
              </a:spcAft>
            </a:pPr>
            <a:r>
              <a:rPr lang="en-US" sz="6400" dirty="0">
                <a:latin typeface="Open Sans" panose="020B0606030504020204" pitchFamily="34" charset="0"/>
                <a:ea typeface="Open Sans" panose="020B0606030504020204" pitchFamily="34" charset="0"/>
                <a:cs typeface="Open Sans" panose="020B0606030504020204" pitchFamily="34" charset="0"/>
              </a:rPr>
              <a:t>These provide a more compact, easier-to-read lambda expression, for methods that are already defined on a class.</a:t>
            </a:r>
          </a:p>
          <a:p>
            <a:pPr algn="l">
              <a:spcAft>
                <a:spcPts val="5022"/>
              </a:spcAft>
            </a:pPr>
            <a:r>
              <a:rPr lang="en-US" sz="6400" dirty="0">
                <a:latin typeface="Open Sans" panose="020B0606030504020204" pitchFamily="34" charset="0"/>
                <a:ea typeface="Open Sans" panose="020B0606030504020204" pitchFamily="34" charset="0"/>
                <a:cs typeface="Open Sans" panose="020B0606030504020204" pitchFamily="34" charset="0"/>
              </a:rPr>
              <a:t>For the last couple of videos, I've been ignoring IntelliJ's warnings and hints, whenever I've used </a:t>
            </a:r>
            <a:r>
              <a:rPr lang="en-US" sz="6400" dirty="0" err="1">
                <a:latin typeface="Open Sans" panose="020B0606030504020204" pitchFamily="34" charset="0"/>
                <a:ea typeface="Open Sans" panose="020B0606030504020204" pitchFamily="34" charset="0"/>
                <a:cs typeface="Open Sans" panose="020B0606030504020204" pitchFamily="34" charset="0"/>
              </a:rPr>
              <a:t>System.out.println</a:t>
            </a:r>
            <a:r>
              <a:rPr lang="en-US" sz="6400" dirty="0">
                <a:latin typeface="Open Sans" panose="020B0606030504020204" pitchFamily="34" charset="0"/>
                <a:ea typeface="Open Sans" panose="020B0606030504020204" pitchFamily="34" charset="0"/>
                <a:cs typeface="Open Sans" panose="020B0606030504020204" pitchFamily="34" charset="0"/>
              </a:rPr>
              <a:t> in a lambda expression.</a:t>
            </a:r>
          </a:p>
          <a:p>
            <a:pPr algn="l">
              <a:spcAft>
                <a:spcPts val="5022"/>
              </a:spcAft>
            </a:pPr>
            <a:r>
              <a:rPr lang="en-US" sz="6400" dirty="0">
                <a:latin typeface="Open Sans" panose="020B0606030504020204" pitchFamily="34" charset="0"/>
                <a:ea typeface="Open Sans" panose="020B0606030504020204" pitchFamily="34" charset="0"/>
                <a:cs typeface="Open Sans" panose="020B0606030504020204" pitchFamily="34" charset="0"/>
              </a:rPr>
              <a:t>IntelliJ is issuing the warnings because they can be replaced with a method reference.</a:t>
            </a:r>
          </a:p>
        </p:txBody>
      </p:sp>
    </p:spTree>
    <p:extLst>
      <p:ext uri="{BB962C8B-B14F-4D97-AF65-F5344CB8AC3E}">
        <p14:creationId xmlns:p14="http://schemas.microsoft.com/office/powerpoint/2010/main" val="4117550197"/>
      </p:ext>
    </p:extLst>
  </p:cSld>
  <p:clrMapOvr>
    <a:masterClrMapping/>
  </p:clrMapOvr>
  <p:transition spd="slow"/>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 name="Shape 126"/>
          <p:cNvSpPr/>
          <p:nvPr/>
        </p:nvSpPr>
        <p:spPr>
          <a:xfrm>
            <a:off x="952498" y="459786"/>
            <a:ext cx="21531535" cy="1815882"/>
          </a:xfrm>
          <a:prstGeom prst="rect">
            <a:avLst/>
          </a:prstGeom>
          <a:ln w="12700">
            <a:miter lim="400000"/>
          </a:ln>
          <a:extLst>
            <a:ext uri="{C572A759-6A51-4108-AA02-DFA0A04FC94B}">
              <ma14:wrappingTextBoxFlag xmlns:ma14="http://schemas.microsoft.com/office/mac/drawingml/2011/main" xmlns="" val="1"/>
            </a:ext>
          </a:extLst>
        </p:spPr>
        <p:txBody>
          <a:bodyPr wrap="none" lIns="76200" tIns="76200" rIns="76200" bIns="76200">
            <a:spAutoFit/>
          </a:bodyPr>
          <a:lstStyle>
            <a:lvl1pPr algn="l">
              <a:defRPr sz="7000">
                <a:latin typeface="Alright Sans"/>
                <a:ea typeface="Alright Sans"/>
                <a:cs typeface="Alright Sans"/>
                <a:sym typeface="Alright Sans"/>
              </a:defRPr>
            </a:lvl1pPr>
          </a:lstStyle>
          <a:p>
            <a:pPr>
              <a:defRPr sz="3000">
                <a:latin typeface="Alright Sans"/>
                <a:ea typeface="Alright Sans"/>
                <a:cs typeface="Alright Sans"/>
                <a:sym typeface="Alright Sans"/>
              </a:defRPr>
            </a:pPr>
            <a:r>
              <a:rPr lang="en-US" sz="10800" dirty="0">
                <a:latin typeface="Open Sans" panose="020B0606030504020204" pitchFamily="34" charset="0"/>
                <a:ea typeface="Open Sans" panose="020B0606030504020204" pitchFamily="34" charset="0"/>
                <a:cs typeface="Open Sans" panose="020B0606030504020204" pitchFamily="34" charset="0"/>
              </a:rPr>
              <a:t>Why are these statements equal?</a:t>
            </a:r>
          </a:p>
        </p:txBody>
      </p:sp>
      <p:sp>
        <p:nvSpPr>
          <p:cNvPr id="128" name="Shape 128"/>
          <p:cNvSpPr/>
          <p:nvPr/>
        </p:nvSpPr>
        <p:spPr>
          <a:xfrm>
            <a:off x="952500" y="18210515"/>
            <a:ext cx="34782668" cy="2"/>
          </a:xfrm>
          <a:prstGeom prst="line">
            <a:avLst/>
          </a:prstGeom>
          <a:ln w="76200">
            <a:solidFill>
              <a:schemeClr val="accent1">
                <a:satOff val="-3355"/>
                <a:lumOff val="26614"/>
              </a:schemeClr>
            </a:solidFill>
            <a:miter lim="400000"/>
          </a:ln>
        </p:spPr>
        <p:txBody>
          <a:bodyPr lIns="76200" tIns="76200" rIns="76200" bIns="76200" anchor="ctr"/>
          <a:lstStyle/>
          <a:p>
            <a:pPr>
              <a:defRPr sz="3200"/>
            </a:pPr>
            <a:endParaRPr sz="4800"/>
          </a:p>
        </p:txBody>
      </p:sp>
      <p:pic>
        <p:nvPicPr>
          <p:cNvPr id="129" name="Logo.png"/>
          <p:cNvPicPr>
            <a:picLocks noChangeAspect="1"/>
          </p:cNvPicPr>
          <p:nvPr/>
        </p:nvPicPr>
        <p:blipFill>
          <a:blip r:embed="rId3"/>
          <a:stretch>
            <a:fillRect/>
          </a:stretch>
        </p:blipFill>
        <p:spPr>
          <a:xfrm>
            <a:off x="14650974" y="18489726"/>
            <a:ext cx="6321552" cy="1392336"/>
          </a:xfrm>
          <a:prstGeom prst="rect">
            <a:avLst/>
          </a:prstGeom>
          <a:ln w="12700">
            <a:miter lim="400000"/>
          </a:ln>
        </p:spPr>
      </p:pic>
      <p:sp>
        <p:nvSpPr>
          <p:cNvPr id="9" name="Shape 127"/>
          <p:cNvSpPr/>
          <p:nvPr/>
        </p:nvSpPr>
        <p:spPr>
          <a:xfrm flipV="1">
            <a:off x="952499" y="2203340"/>
            <a:ext cx="34782670" cy="38132"/>
          </a:xfrm>
          <a:prstGeom prst="line">
            <a:avLst/>
          </a:prstGeom>
          <a:ln w="152400">
            <a:solidFill>
              <a:schemeClr val="accent1">
                <a:satOff val="-3355"/>
                <a:lumOff val="26614"/>
              </a:schemeClr>
            </a:solidFill>
            <a:miter lim="400000"/>
          </a:ln>
        </p:spPr>
        <p:txBody>
          <a:bodyPr lIns="76200" tIns="76200" rIns="76200" bIns="76200" anchor="ctr"/>
          <a:lstStyle/>
          <a:p>
            <a:pPr>
              <a:defRPr sz="3200"/>
            </a:pPr>
            <a:endParaRPr sz="4800"/>
          </a:p>
        </p:txBody>
      </p:sp>
      <p:sp>
        <p:nvSpPr>
          <p:cNvPr id="10" name="Shape 131"/>
          <p:cNvSpPr/>
          <p:nvPr/>
        </p:nvSpPr>
        <p:spPr>
          <a:xfrm>
            <a:off x="952500" y="18489726"/>
            <a:ext cx="16008688" cy="1308050"/>
          </a:xfrm>
          <a:prstGeom prst="rect">
            <a:avLst/>
          </a:prstGeom>
          <a:ln w="12700">
            <a:miter lim="400000"/>
          </a:ln>
          <a:extLst>
            <a:ext uri="{C572A759-6A51-4108-AA02-DFA0A04FC94B}">
              <ma14:wrappingTextBoxFlag xmlns="" xmlns:ma14="http://schemas.microsoft.com/office/mac/drawingml/2011/main" val="1"/>
            </a:ext>
          </a:extLst>
        </p:spPr>
        <p:txBody>
          <a:bodyPr lIns="76200" tIns="76200" rIns="76200" bIns="76200">
            <a:spAutoFit/>
          </a:bodyPr>
          <a:lstStyle/>
          <a:p>
            <a:pPr algn="l">
              <a:defRPr sz="2000">
                <a:latin typeface="Alright Sans"/>
                <a:ea typeface="Alright Sans"/>
                <a:cs typeface="Alright Sans"/>
                <a:sym typeface="Alright Sans"/>
              </a:defRPr>
            </a:pPr>
            <a:r>
              <a:rPr lang="en-US" sz="3000" dirty="0">
                <a:latin typeface="Open Sans" panose="020B0606030504020204" pitchFamily="34" charset="0"/>
                <a:ea typeface="Open Sans" panose="020B0606030504020204" pitchFamily="34" charset="0"/>
                <a:cs typeface="Open Sans" panose="020B0606030504020204" pitchFamily="34" charset="0"/>
              </a:rPr>
              <a:t>COMPLETE JAVA MASTERCLASS</a:t>
            </a:r>
          </a:p>
          <a:p>
            <a:pPr algn="l">
              <a:defRPr sz="3000">
                <a:latin typeface="Alright Sans"/>
                <a:ea typeface="Alright Sans"/>
                <a:cs typeface="Alright Sans"/>
                <a:sym typeface="Alright Sans"/>
              </a:defRPr>
            </a:pPr>
            <a:r>
              <a:rPr lang="en-US" sz="4500" dirty="0">
                <a:latin typeface="Open Sans" panose="020B0606030504020204" pitchFamily="34" charset="0"/>
                <a:ea typeface="Open Sans" panose="020B0606030504020204" pitchFamily="34" charset="0"/>
                <a:cs typeface="Open Sans" panose="020B0606030504020204" pitchFamily="34" charset="0"/>
              </a:rPr>
              <a:t>What's a Method Reference?</a:t>
            </a:r>
          </a:p>
        </p:txBody>
      </p:sp>
      <p:sp>
        <p:nvSpPr>
          <p:cNvPr id="8" name="Rectangle 7">
            <a:extLst>
              <a:ext uri="{FF2B5EF4-FFF2-40B4-BE49-F238E27FC236}">
                <a16:creationId xmlns:a16="http://schemas.microsoft.com/office/drawing/2014/main" id="{89DBB243-EF27-4345-872D-E76597E95619}"/>
              </a:ext>
            </a:extLst>
          </p:cNvPr>
          <p:cNvSpPr/>
          <p:nvPr/>
        </p:nvSpPr>
        <p:spPr>
          <a:xfrm>
            <a:off x="952501" y="4285904"/>
            <a:ext cx="34782670" cy="13498240"/>
          </a:xfrm>
          <a:prstGeom prst="rect">
            <a:avLst/>
          </a:prstGeom>
        </p:spPr>
        <p:txBody>
          <a:bodyPr wrap="square">
            <a:normAutofit lnSpcReduction="10000"/>
          </a:bodyPr>
          <a:lstStyle/>
          <a:p>
            <a:pPr algn="l">
              <a:spcAft>
                <a:spcPts val="5022"/>
              </a:spcAft>
            </a:pPr>
            <a:r>
              <a:rPr lang="en-US" sz="6400" dirty="0">
                <a:latin typeface="Open Sans" panose="020B0606030504020204" pitchFamily="34" charset="0"/>
                <a:ea typeface="Open Sans" panose="020B0606030504020204" pitchFamily="34" charset="0"/>
                <a:cs typeface="Open Sans" panose="020B0606030504020204" pitchFamily="34" charset="0"/>
              </a:rPr>
              <a:t>At first glance, it's not really obvious why a method reference has this syntax.</a:t>
            </a:r>
          </a:p>
          <a:p>
            <a:pPr algn="l">
              <a:spcAft>
                <a:spcPts val="5022"/>
              </a:spcAft>
            </a:pPr>
            <a:endParaRPr lang="en-US" sz="6400" dirty="0">
              <a:latin typeface="Open Sans" panose="020B0606030504020204" pitchFamily="34" charset="0"/>
              <a:ea typeface="Open Sans" panose="020B0606030504020204" pitchFamily="34" charset="0"/>
              <a:cs typeface="Open Sans" panose="020B0606030504020204" pitchFamily="34" charset="0"/>
            </a:endParaRPr>
          </a:p>
          <a:p>
            <a:pPr algn="l">
              <a:spcAft>
                <a:spcPts val="5022"/>
              </a:spcAft>
            </a:pPr>
            <a:endParaRPr lang="en-US" sz="6400" dirty="0">
              <a:latin typeface="Open Sans" panose="020B0606030504020204" pitchFamily="34" charset="0"/>
              <a:ea typeface="Open Sans" panose="020B0606030504020204" pitchFamily="34" charset="0"/>
              <a:cs typeface="Open Sans" panose="020B0606030504020204" pitchFamily="34" charset="0"/>
            </a:endParaRPr>
          </a:p>
          <a:p>
            <a:pPr algn="l">
              <a:spcAft>
                <a:spcPts val="5022"/>
              </a:spcAft>
            </a:pPr>
            <a:r>
              <a:rPr lang="en-US" sz="6400" dirty="0">
                <a:latin typeface="Open Sans" panose="020B0606030504020204" pitchFamily="34" charset="0"/>
                <a:ea typeface="Open Sans" panose="020B0606030504020204" pitchFamily="34" charset="0"/>
                <a:cs typeface="Open Sans" panose="020B0606030504020204" pitchFamily="34" charset="0"/>
              </a:rPr>
              <a:t>A method reference abstracts the lambda expression even further, eliminating the need to declare formal parameters.</a:t>
            </a:r>
          </a:p>
          <a:p>
            <a:pPr algn="l">
              <a:spcAft>
                <a:spcPts val="5022"/>
              </a:spcAft>
            </a:pPr>
            <a:r>
              <a:rPr lang="en-US" sz="6400" dirty="0">
                <a:latin typeface="Open Sans" panose="020B0606030504020204" pitchFamily="34" charset="0"/>
                <a:ea typeface="Open Sans" panose="020B0606030504020204" pitchFamily="34" charset="0"/>
                <a:cs typeface="Open Sans" panose="020B0606030504020204" pitchFamily="34" charset="0"/>
              </a:rPr>
              <a:t>We also don't have to pass arguments to the method in question, in this case </a:t>
            </a:r>
            <a:r>
              <a:rPr lang="en-US" sz="6400" dirty="0" err="1">
                <a:latin typeface="Open Sans" panose="020B0606030504020204" pitchFamily="34" charset="0"/>
                <a:ea typeface="Open Sans" panose="020B0606030504020204" pitchFamily="34" charset="0"/>
                <a:cs typeface="Open Sans" panose="020B0606030504020204" pitchFamily="34" charset="0"/>
              </a:rPr>
              <a:t>println</a:t>
            </a:r>
            <a:r>
              <a:rPr lang="en-US" sz="6400" dirty="0">
                <a:latin typeface="Open Sans" panose="020B0606030504020204" pitchFamily="34" charset="0"/>
                <a:ea typeface="Open Sans" panose="020B0606030504020204" pitchFamily="34" charset="0"/>
                <a:cs typeface="Open Sans" panose="020B0606030504020204" pitchFamily="34" charset="0"/>
              </a:rPr>
              <a:t>.</a:t>
            </a:r>
          </a:p>
          <a:p>
            <a:pPr algn="l">
              <a:spcAft>
                <a:spcPts val="5022"/>
              </a:spcAft>
            </a:pPr>
            <a:r>
              <a:rPr lang="en-US" sz="6400" dirty="0">
                <a:latin typeface="Open Sans" panose="020B0606030504020204" pitchFamily="34" charset="0"/>
                <a:ea typeface="Open Sans" panose="020B0606030504020204" pitchFamily="34" charset="0"/>
                <a:cs typeface="Open Sans" panose="020B0606030504020204" pitchFamily="34" charset="0"/>
              </a:rPr>
              <a:t>A method reference has double colons, between the qualifying type, and the method name.</a:t>
            </a:r>
          </a:p>
          <a:p>
            <a:pPr algn="l">
              <a:spcAft>
                <a:spcPts val="5022"/>
              </a:spcAft>
            </a:pPr>
            <a:r>
              <a:rPr lang="en-US" sz="6400" dirty="0">
                <a:latin typeface="Open Sans" panose="020B0606030504020204" pitchFamily="34" charset="0"/>
                <a:ea typeface="Open Sans" panose="020B0606030504020204" pitchFamily="34" charset="0"/>
                <a:cs typeface="Open Sans" panose="020B0606030504020204" pitchFamily="34" charset="0"/>
              </a:rPr>
              <a:t>In this example of a Consumer interface, not only is the method inferred, but the parameters are as well.</a:t>
            </a:r>
          </a:p>
        </p:txBody>
      </p:sp>
      <p:graphicFrame>
        <p:nvGraphicFramePr>
          <p:cNvPr id="2" name="Table 1">
            <a:extLst>
              <a:ext uri="{FF2B5EF4-FFF2-40B4-BE49-F238E27FC236}">
                <a16:creationId xmlns:a16="http://schemas.microsoft.com/office/drawing/2014/main" id="{EBF7BA81-29EB-E478-9F0A-F01C31FB3043}"/>
              </a:ext>
            </a:extLst>
          </p:cNvPr>
          <p:cNvGraphicFramePr>
            <a:graphicFrameLocks noGrp="1"/>
          </p:cNvGraphicFramePr>
          <p:nvPr/>
        </p:nvGraphicFramePr>
        <p:xfrm>
          <a:off x="952497" y="5793801"/>
          <a:ext cx="22896548" cy="2606740"/>
        </p:xfrm>
        <a:graphic>
          <a:graphicData uri="http://schemas.openxmlformats.org/drawingml/2006/table">
            <a:tbl>
              <a:tblPr firstRow="1" bandRow="1">
                <a:tableStyleId>{5C22544A-7EE6-4342-B048-85BDC9FD1C3A}</a:tableStyleId>
              </a:tblPr>
              <a:tblGrid>
                <a:gridCol w="13200474">
                  <a:extLst>
                    <a:ext uri="{9D8B030D-6E8A-4147-A177-3AD203B41FA5}">
                      <a16:colId xmlns:a16="http://schemas.microsoft.com/office/drawing/2014/main" val="2844207666"/>
                    </a:ext>
                  </a:extLst>
                </a:gridCol>
                <a:gridCol w="9696074">
                  <a:extLst>
                    <a:ext uri="{9D8B030D-6E8A-4147-A177-3AD203B41FA5}">
                      <a16:colId xmlns:a16="http://schemas.microsoft.com/office/drawing/2014/main" val="1891655341"/>
                    </a:ext>
                  </a:extLst>
                </a:gridCol>
              </a:tblGrid>
              <a:tr h="1188487">
                <a:tc>
                  <a:txBody>
                    <a:bodyPr/>
                    <a:lstStyle/>
                    <a:p>
                      <a:pPr marL="180000" algn="l"/>
                      <a:r>
                        <a:rPr lang="en-US" sz="5400" dirty="0">
                          <a:solidFill>
                            <a:schemeClr val="tx1"/>
                          </a:solidFill>
                          <a:latin typeface="Open Sans" panose="020B0606030504020204" pitchFamily="34" charset="0"/>
                          <a:ea typeface="Open Sans" panose="020B0606030504020204" pitchFamily="34" charset="0"/>
                          <a:cs typeface="Open Sans" panose="020B0606030504020204" pitchFamily="34" charset="0"/>
                        </a:rPr>
                        <a:t>Lambda Expression</a:t>
                      </a:r>
                      <a:endParaRPr lang="en-PH" sz="5400" dirty="0">
                        <a:solidFill>
                          <a:schemeClr val="tx1"/>
                        </a:solidFill>
                        <a:latin typeface="Open Sans" panose="020B0606030504020204" pitchFamily="34" charset="0"/>
                        <a:ea typeface="Open Sans" panose="020B0606030504020204" pitchFamily="34" charset="0"/>
                        <a:cs typeface="Open Sans" panose="020B0606030504020204" pitchFamily="34" charset="0"/>
                      </a:endParaRPr>
                    </a:p>
                  </a:txBody>
                  <a:tcPr marL="86794" marR="86794" marT="43397" marB="43397">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BE4D5"/>
                    </a:solidFill>
                  </a:tcPr>
                </a:tc>
                <a:tc>
                  <a:txBody>
                    <a:bodyPr/>
                    <a:lstStyle/>
                    <a:p>
                      <a:pPr marL="180000" algn="l"/>
                      <a:r>
                        <a:rPr lang="en-US" sz="5400" dirty="0">
                          <a:solidFill>
                            <a:schemeClr val="tx1"/>
                          </a:solidFill>
                          <a:latin typeface="Open Sans" panose="020B0606030504020204" pitchFamily="34" charset="0"/>
                          <a:ea typeface="Open Sans" panose="020B0606030504020204" pitchFamily="34" charset="0"/>
                          <a:cs typeface="Open Sans" panose="020B0606030504020204" pitchFamily="34" charset="0"/>
                        </a:rPr>
                        <a:t>Method Reference</a:t>
                      </a:r>
                      <a:endParaRPr lang="en-PH" sz="5400" dirty="0">
                        <a:solidFill>
                          <a:schemeClr val="tx1"/>
                        </a:solidFill>
                        <a:latin typeface="Open Sans" panose="020B0606030504020204" pitchFamily="34" charset="0"/>
                        <a:ea typeface="Open Sans" panose="020B0606030504020204" pitchFamily="34" charset="0"/>
                        <a:cs typeface="Open Sans" panose="020B0606030504020204" pitchFamily="34" charset="0"/>
                      </a:endParaRPr>
                    </a:p>
                  </a:txBody>
                  <a:tcPr marL="86794" marR="86794" marT="43397" marB="43397">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BE4D5"/>
                    </a:solidFill>
                  </a:tcPr>
                </a:tc>
                <a:extLst>
                  <a:ext uri="{0D108BD9-81ED-4DB2-BD59-A6C34878D82A}">
                    <a16:rowId xmlns:a16="http://schemas.microsoft.com/office/drawing/2014/main" val="3978129174"/>
                  </a:ext>
                </a:extLst>
              </a:tr>
              <a:tr h="1418253">
                <a:tc>
                  <a:txBody>
                    <a:bodyPr/>
                    <a:lstStyle/>
                    <a:p>
                      <a:pPr marL="180000" marR="0" lvl="0" indent="0" algn="l" defTabSz="914400" rtl="0" eaLnBrk="1" fontAlgn="auto" latinLnBrk="0" hangingPunct="1">
                        <a:lnSpc>
                          <a:spcPct val="100000"/>
                        </a:lnSpc>
                        <a:spcBef>
                          <a:spcPts val="0"/>
                        </a:spcBef>
                        <a:spcAft>
                          <a:spcPts val="1000"/>
                        </a:spcAft>
                        <a:buClr>
                          <a:srgbClr val="000000"/>
                        </a:buClr>
                        <a:buSzTx/>
                        <a:buFont typeface="Arial" panose="020B0604020202020204" pitchFamily="34" charset="0"/>
                        <a:buNone/>
                        <a:tabLst/>
                        <a:defRPr/>
                      </a:pPr>
                      <a:endParaRPr lang="en-US" sz="5400" b="0" dirty="0">
                        <a:solidFill>
                          <a:schemeClr val="tx1"/>
                        </a:solidFill>
                        <a:latin typeface="Open Sans" panose="020B0606030504020204" pitchFamily="34" charset="0"/>
                        <a:ea typeface="Open Sans" panose="020B0606030504020204" pitchFamily="34" charset="0"/>
                        <a:cs typeface="Open Sans" panose="020B0606030504020204" pitchFamily="34" charset="0"/>
                      </a:endParaRPr>
                    </a:p>
                  </a:txBody>
                  <a:tcPr marL="86794" marR="86794" marT="43397" marB="43397">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180000" marR="0" lvl="0" indent="0" algn="l" defTabSz="914400" rtl="0" eaLnBrk="1" fontAlgn="auto" latinLnBrk="0" hangingPunct="1">
                        <a:lnSpc>
                          <a:spcPct val="100000"/>
                        </a:lnSpc>
                        <a:spcBef>
                          <a:spcPts val="0"/>
                        </a:spcBef>
                        <a:spcAft>
                          <a:spcPts val="1000"/>
                        </a:spcAft>
                        <a:buClr>
                          <a:srgbClr val="000000"/>
                        </a:buClr>
                        <a:buSzTx/>
                        <a:buFont typeface="Arial" panose="020B0604020202020204" pitchFamily="34" charset="0"/>
                        <a:buNone/>
                        <a:tabLst/>
                        <a:defRPr/>
                      </a:pPr>
                      <a:endParaRPr lang="en-US" sz="5400" b="0" dirty="0">
                        <a:solidFill>
                          <a:schemeClr val="tx1"/>
                        </a:solidFill>
                        <a:latin typeface="Open Sans" panose="020B0606030504020204" pitchFamily="34" charset="0"/>
                        <a:ea typeface="Open Sans" panose="020B0606030504020204" pitchFamily="34" charset="0"/>
                        <a:cs typeface="Open Sans" panose="020B0606030504020204" pitchFamily="34" charset="0"/>
                      </a:endParaRPr>
                    </a:p>
                  </a:txBody>
                  <a:tcPr marL="86794" marR="86794" marT="43397" marB="43397">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640325450"/>
                  </a:ext>
                </a:extLst>
              </a:tr>
            </a:tbl>
          </a:graphicData>
        </a:graphic>
      </p:graphicFrame>
      <p:pic>
        <p:nvPicPr>
          <p:cNvPr id="5" name="Picture 4">
            <a:extLst>
              <a:ext uri="{FF2B5EF4-FFF2-40B4-BE49-F238E27FC236}">
                <a16:creationId xmlns:a16="http://schemas.microsoft.com/office/drawing/2014/main" id="{A7715E98-D0FF-95FE-B9DA-B33748995C0D}"/>
              </a:ext>
            </a:extLst>
          </p:cNvPr>
          <p:cNvPicPr>
            <a:picLocks noChangeAspect="1"/>
          </p:cNvPicPr>
          <p:nvPr/>
        </p:nvPicPr>
        <p:blipFill>
          <a:blip r:embed="rId4"/>
          <a:stretch>
            <a:fillRect/>
          </a:stretch>
        </p:blipFill>
        <p:spPr>
          <a:xfrm>
            <a:off x="1164285" y="7171815"/>
            <a:ext cx="12361904" cy="952380"/>
          </a:xfrm>
          <a:prstGeom prst="rect">
            <a:avLst/>
          </a:prstGeom>
        </p:spPr>
      </p:pic>
      <p:pic>
        <p:nvPicPr>
          <p:cNvPr id="7" name="Picture 6">
            <a:extLst>
              <a:ext uri="{FF2B5EF4-FFF2-40B4-BE49-F238E27FC236}">
                <a16:creationId xmlns:a16="http://schemas.microsoft.com/office/drawing/2014/main" id="{2036AC96-0347-ED88-DE04-510598F50053}"/>
              </a:ext>
            </a:extLst>
          </p:cNvPr>
          <p:cNvPicPr>
            <a:picLocks noChangeAspect="1"/>
          </p:cNvPicPr>
          <p:nvPr/>
        </p:nvPicPr>
        <p:blipFill>
          <a:blip r:embed="rId5"/>
          <a:stretch>
            <a:fillRect/>
          </a:stretch>
        </p:blipFill>
        <p:spPr>
          <a:xfrm>
            <a:off x="14397805" y="7209137"/>
            <a:ext cx="9066666" cy="914286"/>
          </a:xfrm>
          <a:prstGeom prst="rect">
            <a:avLst/>
          </a:prstGeom>
        </p:spPr>
      </p:pic>
    </p:spTree>
    <p:extLst>
      <p:ext uri="{BB962C8B-B14F-4D97-AF65-F5344CB8AC3E}">
        <p14:creationId xmlns:p14="http://schemas.microsoft.com/office/powerpoint/2010/main" val="581264600"/>
      </p:ext>
    </p:extLst>
  </p:cSld>
  <p:clrMapOvr>
    <a:masterClrMapping/>
  </p:clrMapOvr>
  <p:transition spd="slow"/>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 name="Shape 126"/>
          <p:cNvSpPr/>
          <p:nvPr/>
        </p:nvSpPr>
        <p:spPr>
          <a:xfrm>
            <a:off x="952498" y="459786"/>
            <a:ext cx="32973770" cy="1815882"/>
          </a:xfrm>
          <a:prstGeom prst="rect">
            <a:avLst/>
          </a:prstGeom>
          <a:ln w="12700">
            <a:miter lim="400000"/>
          </a:ln>
          <a:extLst>
            <a:ext uri="{C572A759-6A51-4108-AA02-DFA0A04FC94B}">
              <ma14:wrappingTextBoxFlag xmlns:ma14="http://schemas.microsoft.com/office/mac/drawingml/2011/main" xmlns="" val="1"/>
            </a:ext>
          </a:extLst>
        </p:spPr>
        <p:txBody>
          <a:bodyPr wrap="none" lIns="76200" tIns="76200" rIns="76200" bIns="76200">
            <a:spAutoFit/>
          </a:bodyPr>
          <a:lstStyle>
            <a:lvl1pPr algn="l">
              <a:defRPr sz="7000">
                <a:latin typeface="Alright Sans"/>
                <a:ea typeface="Alright Sans"/>
                <a:cs typeface="Alright Sans"/>
                <a:sym typeface="Alright Sans"/>
              </a:defRPr>
            </a:lvl1pPr>
          </a:lstStyle>
          <a:p>
            <a:pPr>
              <a:defRPr sz="3000">
                <a:latin typeface="Alright Sans"/>
                <a:ea typeface="Alright Sans"/>
                <a:cs typeface="Alright Sans"/>
                <a:sym typeface="Alright Sans"/>
              </a:defRPr>
            </a:pPr>
            <a:r>
              <a:rPr lang="en-US" sz="10800" dirty="0">
                <a:latin typeface="Open Sans" panose="020B0606030504020204" pitchFamily="34" charset="0"/>
                <a:ea typeface="Open Sans" panose="020B0606030504020204" pitchFamily="34" charset="0"/>
                <a:cs typeface="Open Sans" panose="020B0606030504020204" pitchFamily="34" charset="0"/>
              </a:rPr>
              <a:t>What methods can be used in  method references?</a:t>
            </a:r>
          </a:p>
        </p:txBody>
      </p:sp>
      <p:sp>
        <p:nvSpPr>
          <p:cNvPr id="128" name="Shape 128"/>
          <p:cNvSpPr/>
          <p:nvPr/>
        </p:nvSpPr>
        <p:spPr>
          <a:xfrm>
            <a:off x="952500" y="18210515"/>
            <a:ext cx="34782668" cy="2"/>
          </a:xfrm>
          <a:prstGeom prst="line">
            <a:avLst/>
          </a:prstGeom>
          <a:ln w="76200">
            <a:solidFill>
              <a:schemeClr val="accent1">
                <a:satOff val="-3355"/>
                <a:lumOff val="26614"/>
              </a:schemeClr>
            </a:solidFill>
            <a:miter lim="400000"/>
          </a:ln>
        </p:spPr>
        <p:txBody>
          <a:bodyPr lIns="76200" tIns="76200" rIns="76200" bIns="76200" anchor="ctr"/>
          <a:lstStyle/>
          <a:p>
            <a:pPr>
              <a:defRPr sz="3200"/>
            </a:pPr>
            <a:endParaRPr sz="4800"/>
          </a:p>
        </p:txBody>
      </p:sp>
      <p:pic>
        <p:nvPicPr>
          <p:cNvPr id="129" name="Logo.png"/>
          <p:cNvPicPr>
            <a:picLocks noChangeAspect="1"/>
          </p:cNvPicPr>
          <p:nvPr/>
        </p:nvPicPr>
        <p:blipFill>
          <a:blip r:embed="rId3"/>
          <a:stretch>
            <a:fillRect/>
          </a:stretch>
        </p:blipFill>
        <p:spPr>
          <a:xfrm>
            <a:off x="14650974" y="18489726"/>
            <a:ext cx="6321552" cy="1392336"/>
          </a:xfrm>
          <a:prstGeom prst="rect">
            <a:avLst/>
          </a:prstGeom>
          <a:ln w="12700">
            <a:miter lim="400000"/>
          </a:ln>
        </p:spPr>
      </p:pic>
      <p:sp>
        <p:nvSpPr>
          <p:cNvPr id="9" name="Shape 127"/>
          <p:cNvSpPr/>
          <p:nvPr/>
        </p:nvSpPr>
        <p:spPr>
          <a:xfrm flipV="1">
            <a:off x="952499" y="2203340"/>
            <a:ext cx="34782670" cy="38132"/>
          </a:xfrm>
          <a:prstGeom prst="line">
            <a:avLst/>
          </a:prstGeom>
          <a:ln w="152400">
            <a:solidFill>
              <a:schemeClr val="accent1">
                <a:satOff val="-3355"/>
                <a:lumOff val="26614"/>
              </a:schemeClr>
            </a:solidFill>
            <a:miter lim="400000"/>
          </a:ln>
        </p:spPr>
        <p:txBody>
          <a:bodyPr lIns="76200" tIns="76200" rIns="76200" bIns="76200" anchor="ctr"/>
          <a:lstStyle/>
          <a:p>
            <a:pPr>
              <a:defRPr sz="3200"/>
            </a:pPr>
            <a:endParaRPr sz="4800"/>
          </a:p>
        </p:txBody>
      </p:sp>
      <p:sp>
        <p:nvSpPr>
          <p:cNvPr id="10" name="Shape 131"/>
          <p:cNvSpPr/>
          <p:nvPr/>
        </p:nvSpPr>
        <p:spPr>
          <a:xfrm>
            <a:off x="952500" y="18489726"/>
            <a:ext cx="16008688" cy="1308050"/>
          </a:xfrm>
          <a:prstGeom prst="rect">
            <a:avLst/>
          </a:prstGeom>
          <a:ln w="12700">
            <a:miter lim="400000"/>
          </a:ln>
          <a:extLst>
            <a:ext uri="{C572A759-6A51-4108-AA02-DFA0A04FC94B}">
              <ma14:wrappingTextBoxFlag xmlns="" xmlns:ma14="http://schemas.microsoft.com/office/mac/drawingml/2011/main" val="1"/>
            </a:ext>
          </a:extLst>
        </p:spPr>
        <p:txBody>
          <a:bodyPr lIns="76200" tIns="76200" rIns="76200" bIns="76200">
            <a:spAutoFit/>
          </a:bodyPr>
          <a:lstStyle/>
          <a:p>
            <a:pPr algn="l">
              <a:defRPr sz="2000">
                <a:latin typeface="Alright Sans"/>
                <a:ea typeface="Alright Sans"/>
                <a:cs typeface="Alright Sans"/>
                <a:sym typeface="Alright Sans"/>
              </a:defRPr>
            </a:pPr>
            <a:r>
              <a:rPr lang="en-US" sz="3000" dirty="0">
                <a:latin typeface="Open Sans" panose="020B0606030504020204" pitchFamily="34" charset="0"/>
                <a:ea typeface="Open Sans" panose="020B0606030504020204" pitchFamily="34" charset="0"/>
                <a:cs typeface="Open Sans" panose="020B0606030504020204" pitchFamily="34" charset="0"/>
              </a:rPr>
              <a:t>COMPLETE JAVA MASTERCLASS</a:t>
            </a:r>
          </a:p>
          <a:p>
            <a:pPr algn="l">
              <a:defRPr sz="3000">
                <a:latin typeface="Alright Sans"/>
                <a:ea typeface="Alright Sans"/>
                <a:cs typeface="Alright Sans"/>
                <a:sym typeface="Alright Sans"/>
              </a:defRPr>
            </a:pPr>
            <a:r>
              <a:rPr lang="en-US" sz="4500" dirty="0">
                <a:latin typeface="Open Sans" panose="020B0606030504020204" pitchFamily="34" charset="0"/>
                <a:ea typeface="Open Sans" panose="020B0606030504020204" pitchFamily="34" charset="0"/>
                <a:cs typeface="Open Sans" panose="020B0606030504020204" pitchFamily="34" charset="0"/>
              </a:rPr>
              <a:t>What's a Method Reference?</a:t>
            </a:r>
          </a:p>
        </p:txBody>
      </p:sp>
      <p:sp>
        <p:nvSpPr>
          <p:cNvPr id="8" name="Rectangle 7">
            <a:extLst>
              <a:ext uri="{FF2B5EF4-FFF2-40B4-BE49-F238E27FC236}">
                <a16:creationId xmlns:a16="http://schemas.microsoft.com/office/drawing/2014/main" id="{89DBB243-EF27-4345-872D-E76597E95619}"/>
              </a:ext>
            </a:extLst>
          </p:cNvPr>
          <p:cNvSpPr/>
          <p:nvPr/>
        </p:nvSpPr>
        <p:spPr>
          <a:xfrm>
            <a:off x="952501" y="4285904"/>
            <a:ext cx="34782670" cy="11880176"/>
          </a:xfrm>
          <a:prstGeom prst="rect">
            <a:avLst/>
          </a:prstGeom>
        </p:spPr>
        <p:txBody>
          <a:bodyPr wrap="square">
            <a:normAutofit/>
          </a:bodyPr>
          <a:lstStyle/>
          <a:p>
            <a:pPr algn="l">
              <a:spcAft>
                <a:spcPts val="5022"/>
              </a:spcAft>
            </a:pPr>
            <a:r>
              <a:rPr lang="en-US" sz="6400" dirty="0">
                <a:latin typeface="Open Sans" panose="020B0606030504020204" pitchFamily="34" charset="0"/>
                <a:ea typeface="Open Sans" panose="020B0606030504020204" pitchFamily="34" charset="0"/>
                <a:cs typeface="Open Sans" panose="020B0606030504020204" pitchFamily="34" charset="0"/>
              </a:rPr>
              <a:t>Methods which can be used as method references are based on the context of the lambda expression.</a:t>
            </a:r>
          </a:p>
          <a:p>
            <a:pPr algn="l">
              <a:spcAft>
                <a:spcPts val="5022"/>
              </a:spcAft>
            </a:pPr>
            <a:r>
              <a:rPr lang="en-US" sz="6400" dirty="0">
                <a:latin typeface="Open Sans" panose="020B0606030504020204" pitchFamily="34" charset="0"/>
                <a:ea typeface="Open Sans" panose="020B0606030504020204" pitchFamily="34" charset="0"/>
                <a:cs typeface="Open Sans" panose="020B0606030504020204" pitchFamily="34" charset="0"/>
              </a:rPr>
              <a:t>This means the method reference, is again dependent on the targeted interface's method.</a:t>
            </a:r>
          </a:p>
          <a:p>
            <a:pPr algn="l">
              <a:spcAft>
                <a:spcPts val="5022"/>
              </a:spcAft>
            </a:pPr>
            <a:r>
              <a:rPr lang="en-US" sz="6400" dirty="0">
                <a:latin typeface="Open Sans" panose="020B0606030504020204" pitchFamily="34" charset="0"/>
                <a:ea typeface="Open Sans" panose="020B0606030504020204" pitchFamily="34" charset="0"/>
                <a:cs typeface="Open Sans" panose="020B0606030504020204" pitchFamily="34" charset="0"/>
              </a:rPr>
              <a:t>You can reference a static method on a class.</a:t>
            </a:r>
          </a:p>
          <a:p>
            <a:pPr algn="l">
              <a:spcAft>
                <a:spcPts val="5022"/>
              </a:spcAft>
            </a:pPr>
            <a:r>
              <a:rPr lang="en-US" sz="6400" dirty="0">
                <a:latin typeface="Open Sans" panose="020B0606030504020204" pitchFamily="34" charset="0"/>
                <a:ea typeface="Open Sans" panose="020B0606030504020204" pitchFamily="34" charset="0"/>
                <a:cs typeface="Open Sans" panose="020B0606030504020204" pitchFamily="34" charset="0"/>
              </a:rPr>
              <a:t>You can reference an instance method from either an instance external to the expression, or an instance passed as one of the arguments.</a:t>
            </a:r>
          </a:p>
          <a:p>
            <a:pPr algn="l">
              <a:spcAft>
                <a:spcPts val="5022"/>
              </a:spcAft>
            </a:pPr>
            <a:r>
              <a:rPr lang="en-US" sz="6400" dirty="0">
                <a:latin typeface="Open Sans" panose="020B0606030504020204" pitchFamily="34" charset="0"/>
                <a:ea typeface="Open Sans" panose="020B0606030504020204" pitchFamily="34" charset="0"/>
                <a:cs typeface="Open Sans" panose="020B0606030504020204" pitchFamily="34" charset="0"/>
              </a:rPr>
              <a:t>Or you can reference a constructor, by using new as the method.</a:t>
            </a:r>
          </a:p>
          <a:p>
            <a:pPr algn="l">
              <a:spcAft>
                <a:spcPts val="5022"/>
              </a:spcAft>
            </a:pPr>
            <a:r>
              <a:rPr lang="en-US" sz="6400" dirty="0">
                <a:latin typeface="Open Sans" panose="020B0606030504020204" pitchFamily="34" charset="0"/>
                <a:ea typeface="Open Sans" panose="020B0606030504020204" pitchFamily="34" charset="0"/>
                <a:cs typeface="Open Sans" panose="020B0606030504020204" pitchFamily="34" charset="0"/>
              </a:rPr>
              <a:t>Method references can be used to increase the readability of your code.</a:t>
            </a:r>
          </a:p>
        </p:txBody>
      </p:sp>
    </p:spTree>
    <p:extLst>
      <p:ext uri="{BB962C8B-B14F-4D97-AF65-F5344CB8AC3E}">
        <p14:creationId xmlns:p14="http://schemas.microsoft.com/office/powerpoint/2010/main" val="4151577234"/>
      </p:ext>
    </p:extLst>
  </p:cSld>
  <p:clrMapOvr>
    <a:masterClrMapping/>
  </p:clrMapOvr>
  <p:transition spd="slow"/>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 name="Shape 126"/>
          <p:cNvSpPr/>
          <p:nvPr/>
        </p:nvSpPr>
        <p:spPr>
          <a:xfrm>
            <a:off x="952498" y="459786"/>
            <a:ext cx="18437740" cy="1815882"/>
          </a:xfrm>
          <a:prstGeom prst="rect">
            <a:avLst/>
          </a:prstGeom>
          <a:ln w="12700">
            <a:miter lim="400000"/>
          </a:ln>
          <a:extLst>
            <a:ext uri="{C572A759-6A51-4108-AA02-DFA0A04FC94B}">
              <ma14:wrappingTextBoxFlag xmlns="" xmlns:ma14="http://schemas.microsoft.com/office/mac/drawingml/2011/main" val="1"/>
            </a:ext>
          </a:extLst>
        </p:spPr>
        <p:txBody>
          <a:bodyPr wrap="none" lIns="76200" tIns="76200" rIns="76200" bIns="76200">
            <a:spAutoFit/>
          </a:bodyPr>
          <a:lstStyle>
            <a:lvl1pPr algn="l">
              <a:defRPr sz="7000">
                <a:latin typeface="Alright Sans"/>
                <a:ea typeface="Alright Sans"/>
                <a:cs typeface="Alright Sans"/>
                <a:sym typeface="Alright Sans"/>
              </a:defRPr>
            </a:lvl1pPr>
          </a:lstStyle>
          <a:p>
            <a:pPr>
              <a:defRPr sz="3000">
                <a:latin typeface="Alright Sans"/>
                <a:ea typeface="Alright Sans"/>
                <a:cs typeface="Alright Sans"/>
                <a:sym typeface="Alright Sans"/>
              </a:defRPr>
            </a:pPr>
            <a:r>
              <a:rPr lang="en-US" sz="10800" dirty="0">
                <a:latin typeface="Open Sans" panose="020B0606030504020204" pitchFamily="34" charset="0"/>
                <a:ea typeface="Open Sans" panose="020B0606030504020204" pitchFamily="34" charset="0"/>
                <a:cs typeface="Open Sans" panose="020B0606030504020204" pitchFamily="34" charset="0"/>
              </a:rPr>
              <a:t>Deferred Method Invocation</a:t>
            </a:r>
          </a:p>
        </p:txBody>
      </p:sp>
      <p:sp>
        <p:nvSpPr>
          <p:cNvPr id="128" name="Shape 128"/>
          <p:cNvSpPr/>
          <p:nvPr/>
        </p:nvSpPr>
        <p:spPr>
          <a:xfrm>
            <a:off x="952500" y="18210515"/>
            <a:ext cx="34782668" cy="2"/>
          </a:xfrm>
          <a:prstGeom prst="line">
            <a:avLst/>
          </a:prstGeom>
          <a:ln w="76200">
            <a:solidFill>
              <a:schemeClr val="accent1">
                <a:satOff val="-3355"/>
                <a:lumOff val="26614"/>
              </a:schemeClr>
            </a:solidFill>
            <a:miter lim="400000"/>
          </a:ln>
        </p:spPr>
        <p:txBody>
          <a:bodyPr lIns="76200" tIns="76200" rIns="76200" bIns="76200" anchor="ctr"/>
          <a:lstStyle/>
          <a:p>
            <a:pPr>
              <a:defRPr sz="3200"/>
            </a:pPr>
            <a:endParaRPr sz="4800"/>
          </a:p>
        </p:txBody>
      </p:sp>
      <p:pic>
        <p:nvPicPr>
          <p:cNvPr id="129" name="Logo.png"/>
          <p:cNvPicPr>
            <a:picLocks noChangeAspect="1"/>
          </p:cNvPicPr>
          <p:nvPr/>
        </p:nvPicPr>
        <p:blipFill>
          <a:blip r:embed="rId3"/>
          <a:stretch>
            <a:fillRect/>
          </a:stretch>
        </p:blipFill>
        <p:spPr>
          <a:xfrm>
            <a:off x="14650974" y="18489726"/>
            <a:ext cx="6321552" cy="1392336"/>
          </a:xfrm>
          <a:prstGeom prst="rect">
            <a:avLst/>
          </a:prstGeom>
          <a:ln w="12700">
            <a:miter lim="400000"/>
          </a:ln>
        </p:spPr>
      </p:pic>
      <p:sp>
        <p:nvSpPr>
          <p:cNvPr id="9" name="Shape 127"/>
          <p:cNvSpPr/>
          <p:nvPr/>
        </p:nvSpPr>
        <p:spPr>
          <a:xfrm flipV="1">
            <a:off x="952499" y="2203340"/>
            <a:ext cx="34782670" cy="38132"/>
          </a:xfrm>
          <a:prstGeom prst="line">
            <a:avLst/>
          </a:prstGeom>
          <a:ln w="152400">
            <a:solidFill>
              <a:schemeClr val="accent1">
                <a:satOff val="-3355"/>
                <a:lumOff val="26614"/>
              </a:schemeClr>
            </a:solidFill>
            <a:miter lim="400000"/>
          </a:ln>
        </p:spPr>
        <p:txBody>
          <a:bodyPr lIns="76200" tIns="76200" rIns="76200" bIns="76200" anchor="ctr"/>
          <a:lstStyle/>
          <a:p>
            <a:pPr>
              <a:defRPr sz="3200"/>
            </a:pPr>
            <a:endParaRPr sz="4800"/>
          </a:p>
        </p:txBody>
      </p:sp>
      <p:sp>
        <p:nvSpPr>
          <p:cNvPr id="10" name="Shape 131"/>
          <p:cNvSpPr/>
          <p:nvPr/>
        </p:nvSpPr>
        <p:spPr>
          <a:xfrm>
            <a:off x="952500" y="18489726"/>
            <a:ext cx="16008688" cy="1308050"/>
          </a:xfrm>
          <a:prstGeom prst="rect">
            <a:avLst/>
          </a:prstGeom>
          <a:ln w="12700">
            <a:miter lim="400000"/>
          </a:ln>
          <a:extLst>
            <a:ext uri="{C572A759-6A51-4108-AA02-DFA0A04FC94B}">
              <ma14:wrappingTextBoxFlag xmlns:ma14="http://schemas.microsoft.com/office/mac/drawingml/2011/main" xmlns="" val="1"/>
            </a:ext>
          </a:extLst>
        </p:spPr>
        <p:txBody>
          <a:bodyPr lIns="76200" tIns="76200" rIns="76200" bIns="76200">
            <a:spAutoFit/>
          </a:bodyPr>
          <a:lstStyle/>
          <a:p>
            <a:pPr algn="l">
              <a:defRPr sz="2000">
                <a:latin typeface="Alright Sans"/>
                <a:ea typeface="Alright Sans"/>
                <a:cs typeface="Alright Sans"/>
                <a:sym typeface="Alright Sans"/>
              </a:defRPr>
            </a:pPr>
            <a:r>
              <a:rPr lang="en-US" sz="3000" dirty="0">
                <a:latin typeface="Open Sans" panose="020B0606030504020204" pitchFamily="34" charset="0"/>
                <a:ea typeface="Open Sans" panose="020B0606030504020204" pitchFamily="34" charset="0"/>
                <a:cs typeface="Open Sans" panose="020B0606030504020204" pitchFamily="34" charset="0"/>
              </a:rPr>
              <a:t>COMPLETE JAVA MASTERCLASS</a:t>
            </a:r>
          </a:p>
          <a:p>
            <a:pPr algn="l">
              <a:defRPr sz="3000">
                <a:latin typeface="Alright Sans"/>
                <a:ea typeface="Alright Sans"/>
                <a:cs typeface="Alright Sans"/>
                <a:sym typeface="Alright Sans"/>
              </a:defRPr>
            </a:pPr>
            <a:r>
              <a:rPr lang="en-US" sz="4500" dirty="0">
                <a:latin typeface="Open Sans" panose="020B0606030504020204" pitchFamily="34" charset="0"/>
                <a:ea typeface="Open Sans" panose="020B0606030504020204" pitchFamily="34" charset="0"/>
                <a:cs typeface="Open Sans" panose="020B0606030504020204" pitchFamily="34" charset="0"/>
              </a:rPr>
              <a:t>What's a Method Reference?</a:t>
            </a:r>
          </a:p>
        </p:txBody>
      </p:sp>
      <p:sp>
        <p:nvSpPr>
          <p:cNvPr id="8" name="Rectangle 7">
            <a:extLst>
              <a:ext uri="{FF2B5EF4-FFF2-40B4-BE49-F238E27FC236}">
                <a16:creationId xmlns:a16="http://schemas.microsoft.com/office/drawing/2014/main" id="{89DBB243-EF27-4345-872D-E76597E95619}"/>
              </a:ext>
            </a:extLst>
          </p:cNvPr>
          <p:cNvSpPr/>
          <p:nvPr/>
        </p:nvSpPr>
        <p:spPr>
          <a:xfrm>
            <a:off x="952501" y="4285904"/>
            <a:ext cx="34782670" cy="11880176"/>
          </a:xfrm>
          <a:prstGeom prst="rect">
            <a:avLst/>
          </a:prstGeom>
        </p:spPr>
        <p:txBody>
          <a:bodyPr wrap="square">
            <a:normAutofit/>
          </a:bodyPr>
          <a:lstStyle/>
          <a:p>
            <a:pPr algn="l">
              <a:spcAft>
                <a:spcPts val="5022"/>
              </a:spcAft>
            </a:pPr>
            <a:r>
              <a:rPr lang="en-US" sz="6400" dirty="0">
                <a:latin typeface="Open Sans" panose="020B0606030504020204" pitchFamily="34" charset="0"/>
                <a:ea typeface="Open Sans" panose="020B0606030504020204" pitchFamily="34" charset="0"/>
                <a:cs typeface="Open Sans" panose="020B0606030504020204" pitchFamily="34" charset="0"/>
              </a:rPr>
              <a:t>When you create variables that are lambda expressions or method references, it's important to remember that the code isn't invoked at that point.</a:t>
            </a:r>
          </a:p>
          <a:p>
            <a:pPr algn="l">
              <a:spcAft>
                <a:spcPts val="5022"/>
              </a:spcAft>
            </a:pPr>
            <a:r>
              <a:rPr lang="en-US" sz="6400" dirty="0">
                <a:latin typeface="Open Sans" panose="020B0606030504020204" pitchFamily="34" charset="0"/>
                <a:ea typeface="Open Sans" panose="020B0606030504020204" pitchFamily="34" charset="0"/>
                <a:cs typeface="Open Sans" panose="020B0606030504020204" pitchFamily="34" charset="0"/>
              </a:rPr>
              <a:t>The statement or code block gets invoked at the point in the code that the targeted functional method is called.</a:t>
            </a:r>
          </a:p>
        </p:txBody>
      </p:sp>
    </p:spTree>
    <p:extLst>
      <p:ext uri="{BB962C8B-B14F-4D97-AF65-F5344CB8AC3E}">
        <p14:creationId xmlns:p14="http://schemas.microsoft.com/office/powerpoint/2010/main" val="3563023810"/>
      </p:ext>
    </p:extLst>
  </p:cSld>
  <p:clrMapOvr>
    <a:masterClrMapping/>
  </p:clrMapOvr>
  <p:transition spd="slow"/>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 name="Shape 126"/>
          <p:cNvSpPr/>
          <p:nvPr/>
        </p:nvSpPr>
        <p:spPr>
          <a:xfrm>
            <a:off x="952498" y="459786"/>
            <a:ext cx="30615753" cy="1815882"/>
          </a:xfrm>
          <a:prstGeom prst="rect">
            <a:avLst/>
          </a:prstGeom>
          <a:ln w="12700">
            <a:miter lim="400000"/>
          </a:ln>
          <a:extLst>
            <a:ext uri="{C572A759-6A51-4108-AA02-DFA0A04FC94B}">
              <ma14:wrappingTextBoxFlag xmlns:ma14="http://schemas.microsoft.com/office/mac/drawingml/2011/main" xmlns="" val="1"/>
            </a:ext>
          </a:extLst>
        </p:spPr>
        <p:txBody>
          <a:bodyPr wrap="none" lIns="76200" tIns="76200" rIns="76200" bIns="76200">
            <a:spAutoFit/>
          </a:bodyPr>
          <a:lstStyle>
            <a:lvl1pPr algn="l">
              <a:defRPr sz="7000">
                <a:latin typeface="Alright Sans"/>
                <a:ea typeface="Alright Sans"/>
                <a:cs typeface="Alright Sans"/>
                <a:sym typeface="Alright Sans"/>
              </a:defRPr>
            </a:lvl1pPr>
          </a:lstStyle>
          <a:p>
            <a:pPr>
              <a:defRPr sz="3000">
                <a:latin typeface="Alright Sans"/>
                <a:ea typeface="Alright Sans"/>
                <a:cs typeface="Alright Sans"/>
                <a:sym typeface="Alright Sans"/>
              </a:defRPr>
            </a:pPr>
            <a:r>
              <a:rPr lang="en-US" sz="10800" dirty="0">
                <a:latin typeface="Open Sans" panose="020B0606030504020204" pitchFamily="34" charset="0"/>
                <a:ea typeface="Open Sans" panose="020B0606030504020204" pitchFamily="34" charset="0"/>
                <a:cs typeface="Open Sans" panose="020B0606030504020204" pitchFamily="34" charset="0"/>
              </a:rPr>
              <a:t>Some Terminology for the next couple of Slides</a:t>
            </a:r>
          </a:p>
        </p:txBody>
      </p:sp>
      <p:sp>
        <p:nvSpPr>
          <p:cNvPr id="128" name="Shape 128"/>
          <p:cNvSpPr/>
          <p:nvPr/>
        </p:nvSpPr>
        <p:spPr>
          <a:xfrm>
            <a:off x="952500" y="18210515"/>
            <a:ext cx="34782668" cy="2"/>
          </a:xfrm>
          <a:prstGeom prst="line">
            <a:avLst/>
          </a:prstGeom>
          <a:ln w="76200">
            <a:solidFill>
              <a:schemeClr val="accent1">
                <a:satOff val="-3355"/>
                <a:lumOff val="26614"/>
              </a:schemeClr>
            </a:solidFill>
            <a:miter lim="400000"/>
          </a:ln>
        </p:spPr>
        <p:txBody>
          <a:bodyPr lIns="76200" tIns="76200" rIns="76200" bIns="76200" anchor="ctr"/>
          <a:lstStyle/>
          <a:p>
            <a:pPr>
              <a:defRPr sz="3200"/>
            </a:pPr>
            <a:endParaRPr sz="4800"/>
          </a:p>
        </p:txBody>
      </p:sp>
      <p:pic>
        <p:nvPicPr>
          <p:cNvPr id="129" name="Logo.png"/>
          <p:cNvPicPr>
            <a:picLocks noChangeAspect="1"/>
          </p:cNvPicPr>
          <p:nvPr/>
        </p:nvPicPr>
        <p:blipFill>
          <a:blip r:embed="rId3"/>
          <a:stretch>
            <a:fillRect/>
          </a:stretch>
        </p:blipFill>
        <p:spPr>
          <a:xfrm>
            <a:off x="14650974" y="18489726"/>
            <a:ext cx="6321552" cy="1392336"/>
          </a:xfrm>
          <a:prstGeom prst="rect">
            <a:avLst/>
          </a:prstGeom>
          <a:ln w="12700">
            <a:miter lim="400000"/>
          </a:ln>
        </p:spPr>
      </p:pic>
      <p:sp>
        <p:nvSpPr>
          <p:cNvPr id="9" name="Shape 127"/>
          <p:cNvSpPr/>
          <p:nvPr/>
        </p:nvSpPr>
        <p:spPr>
          <a:xfrm flipV="1">
            <a:off x="952499" y="2203340"/>
            <a:ext cx="34782670" cy="38132"/>
          </a:xfrm>
          <a:prstGeom prst="line">
            <a:avLst/>
          </a:prstGeom>
          <a:ln w="152400">
            <a:solidFill>
              <a:schemeClr val="accent1">
                <a:satOff val="-3355"/>
                <a:lumOff val="26614"/>
              </a:schemeClr>
            </a:solidFill>
            <a:miter lim="400000"/>
          </a:ln>
        </p:spPr>
        <p:txBody>
          <a:bodyPr lIns="76200" tIns="76200" rIns="76200" bIns="76200" anchor="ctr"/>
          <a:lstStyle/>
          <a:p>
            <a:pPr>
              <a:defRPr sz="3200"/>
            </a:pPr>
            <a:endParaRPr sz="4800"/>
          </a:p>
        </p:txBody>
      </p:sp>
      <p:sp>
        <p:nvSpPr>
          <p:cNvPr id="10" name="Shape 131"/>
          <p:cNvSpPr/>
          <p:nvPr/>
        </p:nvSpPr>
        <p:spPr>
          <a:xfrm>
            <a:off x="952500" y="18489726"/>
            <a:ext cx="16008688" cy="1308050"/>
          </a:xfrm>
          <a:prstGeom prst="rect">
            <a:avLst/>
          </a:prstGeom>
          <a:ln w="12700">
            <a:miter lim="400000"/>
          </a:ln>
          <a:extLst>
            <a:ext uri="{C572A759-6A51-4108-AA02-DFA0A04FC94B}">
              <ma14:wrappingTextBoxFlag xmlns="" xmlns:ma14="http://schemas.microsoft.com/office/mac/drawingml/2011/main" val="1"/>
            </a:ext>
          </a:extLst>
        </p:spPr>
        <p:txBody>
          <a:bodyPr lIns="76200" tIns="76200" rIns="76200" bIns="76200">
            <a:spAutoFit/>
          </a:bodyPr>
          <a:lstStyle/>
          <a:p>
            <a:pPr algn="l">
              <a:defRPr sz="2000">
                <a:latin typeface="Alright Sans"/>
                <a:ea typeface="Alright Sans"/>
                <a:cs typeface="Alright Sans"/>
                <a:sym typeface="Alright Sans"/>
              </a:defRPr>
            </a:pPr>
            <a:r>
              <a:rPr lang="en-US" sz="3000" dirty="0">
                <a:latin typeface="Open Sans" panose="020B0606030504020204" pitchFamily="34" charset="0"/>
                <a:ea typeface="Open Sans" panose="020B0606030504020204" pitchFamily="34" charset="0"/>
                <a:cs typeface="Open Sans" panose="020B0606030504020204" pitchFamily="34" charset="0"/>
              </a:rPr>
              <a:t>COMPLETE JAVA MASTERCLASS</a:t>
            </a:r>
          </a:p>
          <a:p>
            <a:pPr algn="l">
              <a:defRPr sz="3000">
                <a:latin typeface="Alright Sans"/>
                <a:ea typeface="Alright Sans"/>
                <a:cs typeface="Alright Sans"/>
                <a:sym typeface="Alright Sans"/>
              </a:defRPr>
            </a:pPr>
            <a:r>
              <a:rPr lang="en-US" sz="4500" dirty="0">
                <a:latin typeface="Open Sans" panose="020B0606030504020204" pitchFamily="34" charset="0"/>
                <a:ea typeface="Open Sans" panose="020B0606030504020204" pitchFamily="34" charset="0"/>
                <a:cs typeface="Open Sans" panose="020B0606030504020204" pitchFamily="34" charset="0"/>
              </a:rPr>
              <a:t>The Most Confusing of the Method References</a:t>
            </a:r>
          </a:p>
        </p:txBody>
      </p:sp>
      <p:sp>
        <p:nvSpPr>
          <p:cNvPr id="8" name="Rectangle 7">
            <a:extLst>
              <a:ext uri="{FF2B5EF4-FFF2-40B4-BE49-F238E27FC236}">
                <a16:creationId xmlns:a16="http://schemas.microsoft.com/office/drawing/2014/main" id="{89DBB243-EF27-4345-872D-E76597E95619}"/>
              </a:ext>
            </a:extLst>
          </p:cNvPr>
          <p:cNvSpPr/>
          <p:nvPr/>
        </p:nvSpPr>
        <p:spPr>
          <a:xfrm>
            <a:off x="952501" y="4285904"/>
            <a:ext cx="34782670" cy="11880176"/>
          </a:xfrm>
          <a:prstGeom prst="rect">
            <a:avLst/>
          </a:prstGeom>
        </p:spPr>
        <p:txBody>
          <a:bodyPr wrap="square">
            <a:normAutofit/>
          </a:bodyPr>
          <a:lstStyle/>
          <a:p>
            <a:pPr algn="l">
              <a:spcAft>
                <a:spcPts val="5022"/>
              </a:spcAft>
            </a:pPr>
            <a:r>
              <a:rPr lang="en-US" sz="6400" dirty="0">
                <a:latin typeface="Open Sans" panose="020B0606030504020204" pitchFamily="34" charset="0"/>
                <a:ea typeface="Open Sans" panose="020B0606030504020204" pitchFamily="34" charset="0"/>
                <a:cs typeface="Open Sans" panose="020B0606030504020204" pitchFamily="34" charset="0"/>
              </a:rPr>
              <a:t>A Type Reference refers to a class name, an interface name, an </a:t>
            </a:r>
            <a:r>
              <a:rPr lang="en-US" sz="6400" dirty="0" err="1">
                <a:latin typeface="Open Sans" panose="020B0606030504020204" pitchFamily="34" charset="0"/>
                <a:ea typeface="Open Sans" panose="020B0606030504020204" pitchFamily="34" charset="0"/>
                <a:cs typeface="Open Sans" panose="020B0606030504020204" pitchFamily="34" charset="0"/>
              </a:rPr>
              <a:t>enum</a:t>
            </a:r>
            <a:r>
              <a:rPr lang="en-US" sz="6400" dirty="0">
                <a:latin typeface="Open Sans" panose="020B0606030504020204" pitchFamily="34" charset="0"/>
                <a:ea typeface="Open Sans" panose="020B0606030504020204" pitchFamily="34" charset="0"/>
                <a:cs typeface="Open Sans" panose="020B0606030504020204" pitchFamily="34" charset="0"/>
              </a:rPr>
              <a:t> name, or a record name.</a:t>
            </a:r>
          </a:p>
          <a:p>
            <a:pPr algn="l">
              <a:spcAft>
                <a:spcPts val="5022"/>
              </a:spcAft>
            </a:pPr>
            <a:r>
              <a:rPr lang="en-US" sz="6400" dirty="0">
                <a:latin typeface="Open Sans" panose="020B0606030504020204" pitchFamily="34" charset="0"/>
                <a:ea typeface="Open Sans" panose="020B0606030504020204" pitchFamily="34" charset="0"/>
                <a:cs typeface="Open Sans" panose="020B0606030504020204" pitchFamily="34" charset="0"/>
              </a:rPr>
              <a:t>Static methods are usually called using Type References but can also be called by instances in our code.</a:t>
            </a:r>
          </a:p>
          <a:p>
            <a:pPr algn="l">
              <a:spcAft>
                <a:spcPts val="5022"/>
              </a:spcAft>
            </a:pPr>
            <a:r>
              <a:rPr lang="en-US" sz="6400" dirty="0">
                <a:latin typeface="Open Sans" panose="020B0606030504020204" pitchFamily="34" charset="0"/>
                <a:ea typeface="Open Sans" panose="020B0606030504020204" pitchFamily="34" charset="0"/>
                <a:cs typeface="Open Sans" panose="020B0606030504020204" pitchFamily="34" charset="0"/>
              </a:rPr>
              <a:t>This is NOT true for method references.   </a:t>
            </a:r>
          </a:p>
          <a:p>
            <a:pPr algn="l">
              <a:spcAft>
                <a:spcPts val="5022"/>
              </a:spcAft>
            </a:pPr>
            <a:r>
              <a:rPr lang="en-US" sz="6400" dirty="0">
                <a:latin typeface="Open Sans" panose="020B0606030504020204" pitchFamily="34" charset="0"/>
                <a:ea typeface="Open Sans" panose="020B0606030504020204" pitchFamily="34" charset="0"/>
                <a:cs typeface="Open Sans" panose="020B0606030504020204" pitchFamily="34" charset="0"/>
              </a:rPr>
              <a:t>Static methods, in method references and lambda expressions, must be invoked using a reference type only.</a:t>
            </a:r>
          </a:p>
        </p:txBody>
      </p:sp>
    </p:spTree>
    <p:extLst>
      <p:ext uri="{BB962C8B-B14F-4D97-AF65-F5344CB8AC3E}">
        <p14:creationId xmlns:p14="http://schemas.microsoft.com/office/powerpoint/2010/main" val="4108245195"/>
      </p:ext>
    </p:extLst>
  </p:cSld>
  <p:clrMapOvr>
    <a:masterClrMapping/>
  </p:clrMapOvr>
  <p:transition spd="slow"/>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 name="Shape 126"/>
          <p:cNvSpPr/>
          <p:nvPr/>
        </p:nvSpPr>
        <p:spPr>
          <a:xfrm>
            <a:off x="952498" y="459786"/>
            <a:ext cx="30615753" cy="1815882"/>
          </a:xfrm>
          <a:prstGeom prst="rect">
            <a:avLst/>
          </a:prstGeom>
          <a:ln w="12700">
            <a:miter lim="400000"/>
          </a:ln>
          <a:extLst>
            <a:ext uri="{C572A759-6A51-4108-AA02-DFA0A04FC94B}">
              <ma14:wrappingTextBoxFlag xmlns="" xmlns:ma14="http://schemas.microsoft.com/office/mac/drawingml/2011/main" val="1"/>
            </a:ext>
          </a:extLst>
        </p:spPr>
        <p:txBody>
          <a:bodyPr wrap="none" lIns="76200" tIns="76200" rIns="76200" bIns="76200">
            <a:spAutoFit/>
          </a:bodyPr>
          <a:lstStyle>
            <a:lvl1pPr algn="l">
              <a:defRPr sz="7000">
                <a:latin typeface="Alright Sans"/>
                <a:ea typeface="Alright Sans"/>
                <a:cs typeface="Alright Sans"/>
                <a:sym typeface="Alright Sans"/>
              </a:defRPr>
            </a:lvl1pPr>
          </a:lstStyle>
          <a:p>
            <a:pPr>
              <a:defRPr sz="3000">
                <a:latin typeface="Alright Sans"/>
                <a:ea typeface="Alright Sans"/>
                <a:cs typeface="Alright Sans"/>
                <a:sym typeface="Alright Sans"/>
              </a:defRPr>
            </a:pPr>
            <a:r>
              <a:rPr lang="en-US" sz="10800" dirty="0">
                <a:latin typeface="Open Sans" panose="020B0606030504020204" pitchFamily="34" charset="0"/>
                <a:ea typeface="Open Sans" panose="020B0606030504020204" pitchFamily="34" charset="0"/>
                <a:cs typeface="Open Sans" panose="020B0606030504020204" pitchFamily="34" charset="0"/>
              </a:rPr>
              <a:t>Some Terminology for the next couple of Slides</a:t>
            </a:r>
          </a:p>
        </p:txBody>
      </p:sp>
      <p:sp>
        <p:nvSpPr>
          <p:cNvPr id="128" name="Shape 128"/>
          <p:cNvSpPr/>
          <p:nvPr/>
        </p:nvSpPr>
        <p:spPr>
          <a:xfrm>
            <a:off x="952500" y="18210515"/>
            <a:ext cx="34782668" cy="2"/>
          </a:xfrm>
          <a:prstGeom prst="line">
            <a:avLst/>
          </a:prstGeom>
          <a:ln w="76200">
            <a:solidFill>
              <a:schemeClr val="accent1">
                <a:satOff val="-3355"/>
                <a:lumOff val="26614"/>
              </a:schemeClr>
            </a:solidFill>
            <a:miter lim="400000"/>
          </a:ln>
        </p:spPr>
        <p:txBody>
          <a:bodyPr lIns="76200" tIns="76200" rIns="76200" bIns="76200" anchor="ctr"/>
          <a:lstStyle/>
          <a:p>
            <a:pPr>
              <a:defRPr sz="3200"/>
            </a:pPr>
            <a:endParaRPr sz="4800"/>
          </a:p>
        </p:txBody>
      </p:sp>
      <p:pic>
        <p:nvPicPr>
          <p:cNvPr id="129" name="Logo.png"/>
          <p:cNvPicPr>
            <a:picLocks noChangeAspect="1"/>
          </p:cNvPicPr>
          <p:nvPr/>
        </p:nvPicPr>
        <p:blipFill>
          <a:blip r:embed="rId3"/>
          <a:stretch>
            <a:fillRect/>
          </a:stretch>
        </p:blipFill>
        <p:spPr>
          <a:xfrm>
            <a:off x="14650974" y="18489726"/>
            <a:ext cx="6321552" cy="1392336"/>
          </a:xfrm>
          <a:prstGeom prst="rect">
            <a:avLst/>
          </a:prstGeom>
          <a:ln w="12700">
            <a:miter lim="400000"/>
          </a:ln>
        </p:spPr>
      </p:pic>
      <p:sp>
        <p:nvSpPr>
          <p:cNvPr id="9" name="Shape 127"/>
          <p:cNvSpPr/>
          <p:nvPr/>
        </p:nvSpPr>
        <p:spPr>
          <a:xfrm flipV="1">
            <a:off x="952499" y="2203340"/>
            <a:ext cx="34782670" cy="38132"/>
          </a:xfrm>
          <a:prstGeom prst="line">
            <a:avLst/>
          </a:prstGeom>
          <a:ln w="152400">
            <a:solidFill>
              <a:schemeClr val="accent1">
                <a:satOff val="-3355"/>
                <a:lumOff val="26614"/>
              </a:schemeClr>
            </a:solidFill>
            <a:miter lim="400000"/>
          </a:ln>
        </p:spPr>
        <p:txBody>
          <a:bodyPr lIns="76200" tIns="76200" rIns="76200" bIns="76200" anchor="ctr"/>
          <a:lstStyle/>
          <a:p>
            <a:pPr>
              <a:defRPr sz="3200"/>
            </a:pPr>
            <a:endParaRPr sz="4800"/>
          </a:p>
        </p:txBody>
      </p:sp>
      <p:sp>
        <p:nvSpPr>
          <p:cNvPr id="10" name="Shape 131"/>
          <p:cNvSpPr/>
          <p:nvPr/>
        </p:nvSpPr>
        <p:spPr>
          <a:xfrm>
            <a:off x="952500" y="18489726"/>
            <a:ext cx="16008688" cy="1308050"/>
          </a:xfrm>
          <a:prstGeom prst="rect">
            <a:avLst/>
          </a:prstGeom>
          <a:ln w="12700">
            <a:miter lim="400000"/>
          </a:ln>
          <a:extLst>
            <a:ext uri="{C572A759-6A51-4108-AA02-DFA0A04FC94B}">
              <ma14:wrappingTextBoxFlag xmlns:ma14="http://schemas.microsoft.com/office/mac/drawingml/2011/main" xmlns="" val="1"/>
            </a:ext>
          </a:extLst>
        </p:spPr>
        <p:txBody>
          <a:bodyPr lIns="76200" tIns="76200" rIns="76200" bIns="76200">
            <a:spAutoFit/>
          </a:bodyPr>
          <a:lstStyle/>
          <a:p>
            <a:pPr algn="l">
              <a:defRPr sz="2000">
                <a:latin typeface="Alright Sans"/>
                <a:ea typeface="Alright Sans"/>
                <a:cs typeface="Alright Sans"/>
                <a:sym typeface="Alright Sans"/>
              </a:defRPr>
            </a:pPr>
            <a:r>
              <a:rPr lang="en-US" sz="3000" dirty="0">
                <a:latin typeface="Open Sans" panose="020B0606030504020204" pitchFamily="34" charset="0"/>
                <a:ea typeface="Open Sans" panose="020B0606030504020204" pitchFamily="34" charset="0"/>
                <a:cs typeface="Open Sans" panose="020B0606030504020204" pitchFamily="34" charset="0"/>
              </a:rPr>
              <a:t>COMPLETE JAVA MASTERCLASS</a:t>
            </a:r>
          </a:p>
          <a:p>
            <a:pPr algn="l">
              <a:defRPr sz="3000">
                <a:latin typeface="Alright Sans"/>
                <a:ea typeface="Alright Sans"/>
                <a:cs typeface="Alright Sans"/>
                <a:sym typeface="Alright Sans"/>
              </a:defRPr>
            </a:pPr>
            <a:r>
              <a:rPr lang="en-US" sz="4500" dirty="0">
                <a:latin typeface="Open Sans" panose="020B0606030504020204" pitchFamily="34" charset="0"/>
                <a:ea typeface="Open Sans" panose="020B0606030504020204" pitchFamily="34" charset="0"/>
                <a:cs typeface="Open Sans" panose="020B0606030504020204" pitchFamily="34" charset="0"/>
              </a:rPr>
              <a:t>The Most Confusing of the Method References</a:t>
            </a:r>
          </a:p>
        </p:txBody>
      </p:sp>
      <p:sp>
        <p:nvSpPr>
          <p:cNvPr id="8" name="Rectangle 7">
            <a:extLst>
              <a:ext uri="{FF2B5EF4-FFF2-40B4-BE49-F238E27FC236}">
                <a16:creationId xmlns:a16="http://schemas.microsoft.com/office/drawing/2014/main" id="{89DBB243-EF27-4345-872D-E76597E95619}"/>
              </a:ext>
            </a:extLst>
          </p:cNvPr>
          <p:cNvSpPr/>
          <p:nvPr/>
        </p:nvSpPr>
        <p:spPr>
          <a:xfrm>
            <a:off x="952501" y="4285904"/>
            <a:ext cx="34782670" cy="11880176"/>
          </a:xfrm>
          <a:prstGeom prst="rect">
            <a:avLst/>
          </a:prstGeom>
        </p:spPr>
        <p:txBody>
          <a:bodyPr wrap="square">
            <a:normAutofit/>
          </a:bodyPr>
          <a:lstStyle/>
          <a:p>
            <a:pPr algn="l">
              <a:spcAft>
                <a:spcPts val="5022"/>
              </a:spcAft>
            </a:pPr>
            <a:r>
              <a:rPr lang="en-US" sz="6400" dirty="0">
                <a:latin typeface="Open Sans" panose="020B0606030504020204" pitchFamily="34" charset="0"/>
                <a:ea typeface="Open Sans" panose="020B0606030504020204" pitchFamily="34" charset="0"/>
                <a:cs typeface="Open Sans" panose="020B0606030504020204" pitchFamily="34" charset="0"/>
              </a:rPr>
              <a:t>There are two ways to call an instance method.</a:t>
            </a:r>
          </a:p>
          <a:p>
            <a:pPr algn="l">
              <a:spcAft>
                <a:spcPts val="5022"/>
              </a:spcAft>
            </a:pPr>
            <a:r>
              <a:rPr lang="en-US" sz="6400" dirty="0">
                <a:latin typeface="Open Sans" panose="020B0606030504020204" pitchFamily="34" charset="0"/>
                <a:ea typeface="Open Sans" panose="020B0606030504020204" pitchFamily="34" charset="0"/>
                <a:cs typeface="Open Sans" panose="020B0606030504020204" pitchFamily="34" charset="0"/>
              </a:rPr>
              <a:t>The first is when you refer to the method with an instance derived from the enclosing code.</a:t>
            </a:r>
          </a:p>
          <a:p>
            <a:pPr algn="l">
              <a:spcAft>
                <a:spcPts val="5022"/>
              </a:spcAft>
            </a:pPr>
            <a:r>
              <a:rPr lang="en-US" sz="6400" dirty="0">
                <a:latin typeface="Open Sans" panose="020B0606030504020204" pitchFamily="34" charset="0"/>
                <a:ea typeface="Open Sans" panose="020B0606030504020204" pitchFamily="34" charset="0"/>
                <a:cs typeface="Open Sans" panose="020B0606030504020204" pitchFamily="34" charset="0"/>
              </a:rPr>
              <a:t>This instance is declared outside of the method reference.</a:t>
            </a:r>
          </a:p>
          <a:p>
            <a:pPr algn="l">
              <a:spcAft>
                <a:spcPts val="5022"/>
              </a:spcAft>
            </a:pPr>
            <a:r>
              <a:rPr lang="en-US" sz="6400">
                <a:latin typeface="Open Sans" panose="020B0606030504020204" pitchFamily="34" charset="0"/>
                <a:ea typeface="Open Sans" panose="020B0606030504020204" pitchFamily="34" charset="0"/>
                <a:cs typeface="Open Sans" panose="020B0606030504020204" pitchFamily="34" charset="0"/>
              </a:rPr>
              <a:t>The System</a:t>
            </a:r>
            <a:r>
              <a:rPr lang="en-US" sz="6400" dirty="0" err="1">
                <a:latin typeface="Open Sans" panose="020B0606030504020204" pitchFamily="34" charset="0"/>
                <a:ea typeface="Open Sans" panose="020B0606030504020204" pitchFamily="34" charset="0"/>
                <a:cs typeface="Open Sans" panose="020B0606030504020204" pitchFamily="34" charset="0"/>
              </a:rPr>
              <a:t>.out</a:t>
            </a:r>
            <a:r>
              <a:rPr lang="en-US" sz="6400" dirty="0">
                <a:latin typeface="Open Sans" panose="020B0606030504020204" pitchFamily="34" charset="0"/>
                <a:ea typeface="Open Sans" panose="020B0606030504020204" pitchFamily="34" charset="0"/>
                <a:cs typeface="Open Sans" panose="020B0606030504020204" pitchFamily="34" charset="0"/>
              </a:rPr>
              <a:t>::</a:t>
            </a:r>
            <a:r>
              <a:rPr lang="en-US" sz="6400" dirty="0" err="1">
                <a:latin typeface="Open Sans" panose="020B0606030504020204" pitchFamily="34" charset="0"/>
                <a:ea typeface="Open Sans" panose="020B0606030504020204" pitchFamily="34" charset="0"/>
                <a:cs typeface="Open Sans" panose="020B0606030504020204" pitchFamily="34" charset="0"/>
              </a:rPr>
              <a:t>println</a:t>
            </a:r>
            <a:r>
              <a:rPr lang="en-US" sz="6400" dirty="0">
                <a:latin typeface="Open Sans" panose="020B0606030504020204" pitchFamily="34" charset="0"/>
                <a:ea typeface="Open Sans" panose="020B0606030504020204" pitchFamily="34" charset="0"/>
                <a:cs typeface="Open Sans" panose="020B0606030504020204" pitchFamily="34" charset="0"/>
              </a:rPr>
              <a:t> method reference is an example of this.</a:t>
            </a:r>
          </a:p>
          <a:p>
            <a:pPr algn="l">
              <a:spcAft>
                <a:spcPts val="5022"/>
              </a:spcAft>
            </a:pPr>
            <a:r>
              <a:rPr lang="en-US" sz="6400" dirty="0">
                <a:latin typeface="Open Sans" panose="020B0606030504020204" pitchFamily="34" charset="0"/>
                <a:ea typeface="Open Sans" panose="020B0606030504020204" pitchFamily="34" charset="0"/>
                <a:cs typeface="Open Sans" panose="020B0606030504020204" pitchFamily="34" charset="0"/>
              </a:rPr>
              <a:t>You'll find that some web sites call this instance a Bounded Receiver, and I actually like that terminology as a differentiator.</a:t>
            </a:r>
          </a:p>
          <a:p>
            <a:pPr algn="l">
              <a:spcAft>
                <a:spcPts val="5022"/>
              </a:spcAft>
            </a:pPr>
            <a:r>
              <a:rPr lang="en-US" sz="6400" dirty="0">
                <a:latin typeface="Open Sans" panose="020B0606030504020204" pitchFamily="34" charset="0"/>
                <a:ea typeface="Open Sans" panose="020B0606030504020204" pitchFamily="34" charset="0"/>
                <a:cs typeface="Open Sans" panose="020B0606030504020204" pitchFamily="34" charset="0"/>
              </a:rPr>
              <a:t>A Bounded Receiver is an instance derived from the enclosing code, used in the lambda expression on which the method will be invoked.</a:t>
            </a:r>
          </a:p>
        </p:txBody>
      </p:sp>
    </p:spTree>
    <p:extLst>
      <p:ext uri="{BB962C8B-B14F-4D97-AF65-F5344CB8AC3E}">
        <p14:creationId xmlns:p14="http://schemas.microsoft.com/office/powerpoint/2010/main" val="539472319"/>
      </p:ext>
    </p:extLst>
  </p:cSld>
  <p:clrMapOvr>
    <a:masterClrMapping/>
  </p:clrMapOvr>
  <p:transition spd="slow"/>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 name="Shape 126"/>
          <p:cNvSpPr/>
          <p:nvPr/>
        </p:nvSpPr>
        <p:spPr>
          <a:xfrm>
            <a:off x="952498" y="459786"/>
            <a:ext cx="30615753" cy="1815882"/>
          </a:xfrm>
          <a:prstGeom prst="rect">
            <a:avLst/>
          </a:prstGeom>
          <a:ln w="12700">
            <a:miter lim="400000"/>
          </a:ln>
          <a:extLst>
            <a:ext uri="{C572A759-6A51-4108-AA02-DFA0A04FC94B}">
              <ma14:wrappingTextBoxFlag xmlns:ma14="http://schemas.microsoft.com/office/mac/drawingml/2011/main" xmlns="" val="1"/>
            </a:ext>
          </a:extLst>
        </p:spPr>
        <p:txBody>
          <a:bodyPr wrap="none" lIns="76200" tIns="76200" rIns="76200" bIns="76200">
            <a:spAutoFit/>
          </a:bodyPr>
          <a:lstStyle>
            <a:lvl1pPr algn="l">
              <a:defRPr sz="7000">
                <a:latin typeface="Alright Sans"/>
                <a:ea typeface="Alright Sans"/>
                <a:cs typeface="Alright Sans"/>
                <a:sym typeface="Alright Sans"/>
              </a:defRPr>
            </a:lvl1pPr>
          </a:lstStyle>
          <a:p>
            <a:pPr>
              <a:defRPr sz="3000">
                <a:latin typeface="Alright Sans"/>
                <a:ea typeface="Alright Sans"/>
                <a:cs typeface="Alright Sans"/>
                <a:sym typeface="Alright Sans"/>
              </a:defRPr>
            </a:pPr>
            <a:r>
              <a:rPr lang="en-US" sz="10800" dirty="0">
                <a:latin typeface="Open Sans" panose="020B0606030504020204" pitchFamily="34" charset="0"/>
                <a:ea typeface="Open Sans" panose="020B0606030504020204" pitchFamily="34" charset="0"/>
                <a:cs typeface="Open Sans" panose="020B0606030504020204" pitchFamily="34" charset="0"/>
              </a:rPr>
              <a:t>Some Terminology for the next couple of Slides</a:t>
            </a:r>
          </a:p>
        </p:txBody>
      </p:sp>
      <p:sp>
        <p:nvSpPr>
          <p:cNvPr id="128" name="Shape 128"/>
          <p:cNvSpPr/>
          <p:nvPr/>
        </p:nvSpPr>
        <p:spPr>
          <a:xfrm>
            <a:off x="952500" y="18210515"/>
            <a:ext cx="34782668" cy="2"/>
          </a:xfrm>
          <a:prstGeom prst="line">
            <a:avLst/>
          </a:prstGeom>
          <a:ln w="76200">
            <a:solidFill>
              <a:schemeClr val="accent1">
                <a:satOff val="-3355"/>
                <a:lumOff val="26614"/>
              </a:schemeClr>
            </a:solidFill>
            <a:miter lim="400000"/>
          </a:ln>
        </p:spPr>
        <p:txBody>
          <a:bodyPr lIns="76200" tIns="76200" rIns="76200" bIns="76200" anchor="ctr"/>
          <a:lstStyle/>
          <a:p>
            <a:pPr>
              <a:defRPr sz="3200"/>
            </a:pPr>
            <a:endParaRPr sz="4800"/>
          </a:p>
        </p:txBody>
      </p:sp>
      <p:pic>
        <p:nvPicPr>
          <p:cNvPr id="129" name="Logo.png"/>
          <p:cNvPicPr>
            <a:picLocks noChangeAspect="1"/>
          </p:cNvPicPr>
          <p:nvPr/>
        </p:nvPicPr>
        <p:blipFill>
          <a:blip r:embed="rId3"/>
          <a:stretch>
            <a:fillRect/>
          </a:stretch>
        </p:blipFill>
        <p:spPr>
          <a:xfrm>
            <a:off x="14650974" y="18489726"/>
            <a:ext cx="6321552" cy="1392336"/>
          </a:xfrm>
          <a:prstGeom prst="rect">
            <a:avLst/>
          </a:prstGeom>
          <a:ln w="12700">
            <a:miter lim="400000"/>
          </a:ln>
        </p:spPr>
      </p:pic>
      <p:sp>
        <p:nvSpPr>
          <p:cNvPr id="9" name="Shape 127"/>
          <p:cNvSpPr/>
          <p:nvPr/>
        </p:nvSpPr>
        <p:spPr>
          <a:xfrm flipV="1">
            <a:off x="952499" y="2203340"/>
            <a:ext cx="34782670" cy="38132"/>
          </a:xfrm>
          <a:prstGeom prst="line">
            <a:avLst/>
          </a:prstGeom>
          <a:ln w="152400">
            <a:solidFill>
              <a:schemeClr val="accent1">
                <a:satOff val="-3355"/>
                <a:lumOff val="26614"/>
              </a:schemeClr>
            </a:solidFill>
            <a:miter lim="400000"/>
          </a:ln>
        </p:spPr>
        <p:txBody>
          <a:bodyPr lIns="76200" tIns="76200" rIns="76200" bIns="76200" anchor="ctr"/>
          <a:lstStyle/>
          <a:p>
            <a:pPr>
              <a:defRPr sz="3200"/>
            </a:pPr>
            <a:endParaRPr sz="4800"/>
          </a:p>
        </p:txBody>
      </p:sp>
      <p:sp>
        <p:nvSpPr>
          <p:cNvPr id="10" name="Shape 131"/>
          <p:cNvSpPr/>
          <p:nvPr/>
        </p:nvSpPr>
        <p:spPr>
          <a:xfrm>
            <a:off x="952500" y="18489726"/>
            <a:ext cx="16008688" cy="1308050"/>
          </a:xfrm>
          <a:prstGeom prst="rect">
            <a:avLst/>
          </a:prstGeom>
          <a:ln w="12700">
            <a:miter lim="400000"/>
          </a:ln>
          <a:extLst>
            <a:ext uri="{C572A759-6A51-4108-AA02-DFA0A04FC94B}">
              <ma14:wrappingTextBoxFlag xmlns="" xmlns:ma14="http://schemas.microsoft.com/office/mac/drawingml/2011/main" val="1"/>
            </a:ext>
          </a:extLst>
        </p:spPr>
        <p:txBody>
          <a:bodyPr lIns="76200" tIns="76200" rIns="76200" bIns="76200">
            <a:spAutoFit/>
          </a:bodyPr>
          <a:lstStyle/>
          <a:p>
            <a:pPr algn="l">
              <a:defRPr sz="2000">
                <a:latin typeface="Alright Sans"/>
                <a:ea typeface="Alright Sans"/>
                <a:cs typeface="Alright Sans"/>
                <a:sym typeface="Alright Sans"/>
              </a:defRPr>
            </a:pPr>
            <a:r>
              <a:rPr lang="en-US" sz="3000" dirty="0">
                <a:latin typeface="Open Sans" panose="020B0606030504020204" pitchFamily="34" charset="0"/>
                <a:ea typeface="Open Sans" panose="020B0606030504020204" pitchFamily="34" charset="0"/>
                <a:cs typeface="Open Sans" panose="020B0606030504020204" pitchFamily="34" charset="0"/>
              </a:rPr>
              <a:t>COMPLETE JAVA MASTERCLASS</a:t>
            </a:r>
          </a:p>
          <a:p>
            <a:pPr algn="l">
              <a:defRPr sz="3000">
                <a:latin typeface="Alright Sans"/>
                <a:ea typeface="Alright Sans"/>
                <a:cs typeface="Alright Sans"/>
                <a:sym typeface="Alright Sans"/>
              </a:defRPr>
            </a:pPr>
            <a:r>
              <a:rPr lang="en-US" sz="4500" dirty="0">
                <a:latin typeface="Open Sans" panose="020B0606030504020204" pitchFamily="34" charset="0"/>
                <a:ea typeface="Open Sans" panose="020B0606030504020204" pitchFamily="34" charset="0"/>
                <a:cs typeface="Open Sans" panose="020B0606030504020204" pitchFamily="34" charset="0"/>
              </a:rPr>
              <a:t>The Most Confusing of the Method References</a:t>
            </a:r>
          </a:p>
        </p:txBody>
      </p:sp>
      <p:sp>
        <p:nvSpPr>
          <p:cNvPr id="8" name="Rectangle 7">
            <a:extLst>
              <a:ext uri="{FF2B5EF4-FFF2-40B4-BE49-F238E27FC236}">
                <a16:creationId xmlns:a16="http://schemas.microsoft.com/office/drawing/2014/main" id="{89DBB243-EF27-4345-872D-E76597E95619}"/>
              </a:ext>
            </a:extLst>
          </p:cNvPr>
          <p:cNvSpPr/>
          <p:nvPr/>
        </p:nvSpPr>
        <p:spPr>
          <a:xfrm>
            <a:off x="952501" y="4285904"/>
            <a:ext cx="34782670" cy="11880176"/>
          </a:xfrm>
          <a:prstGeom prst="rect">
            <a:avLst/>
          </a:prstGeom>
        </p:spPr>
        <p:txBody>
          <a:bodyPr wrap="square">
            <a:normAutofit/>
          </a:bodyPr>
          <a:lstStyle/>
          <a:p>
            <a:pPr algn="l">
              <a:spcAft>
                <a:spcPts val="5022"/>
              </a:spcAft>
            </a:pPr>
            <a:r>
              <a:rPr lang="en-US" sz="6400" dirty="0">
                <a:latin typeface="Open Sans" panose="020B0606030504020204" pitchFamily="34" charset="0"/>
                <a:ea typeface="Open Sans" panose="020B0606030504020204" pitchFamily="34" charset="0"/>
                <a:cs typeface="Open Sans" panose="020B0606030504020204" pitchFamily="34" charset="0"/>
              </a:rPr>
              <a:t>The second way to call an instance method is where the confusion starts.</a:t>
            </a:r>
          </a:p>
          <a:p>
            <a:pPr algn="l">
              <a:spcAft>
                <a:spcPts val="5022"/>
              </a:spcAft>
            </a:pPr>
            <a:r>
              <a:rPr lang="en-US" sz="6400" dirty="0">
                <a:latin typeface="Open Sans" panose="020B0606030504020204" pitchFamily="34" charset="0"/>
                <a:ea typeface="Open Sans" panose="020B0606030504020204" pitchFamily="34" charset="0"/>
                <a:cs typeface="Open Sans" panose="020B0606030504020204" pitchFamily="34" charset="0"/>
              </a:rPr>
              <a:t>The instance used to invoke the method will be the first argument passed to the lambda expression or method reference when executed.</a:t>
            </a:r>
          </a:p>
          <a:p>
            <a:pPr algn="l">
              <a:spcAft>
                <a:spcPts val="5022"/>
              </a:spcAft>
            </a:pPr>
            <a:r>
              <a:rPr lang="en-US" sz="6400" dirty="0">
                <a:latin typeface="Open Sans" panose="020B0606030504020204" pitchFamily="34" charset="0"/>
                <a:ea typeface="Open Sans" panose="020B0606030504020204" pitchFamily="34" charset="0"/>
                <a:cs typeface="Open Sans" panose="020B0606030504020204" pitchFamily="34" charset="0"/>
              </a:rPr>
              <a:t>This is known in some places as the Unbounded Receiver.</a:t>
            </a:r>
          </a:p>
          <a:p>
            <a:pPr algn="l">
              <a:spcAft>
                <a:spcPts val="5022"/>
              </a:spcAft>
            </a:pPr>
            <a:r>
              <a:rPr lang="en-US" sz="6400" dirty="0">
                <a:latin typeface="Open Sans" panose="020B0606030504020204" pitchFamily="34" charset="0"/>
                <a:ea typeface="Open Sans" panose="020B0606030504020204" pitchFamily="34" charset="0"/>
                <a:cs typeface="Open Sans" panose="020B0606030504020204" pitchFamily="34" charset="0"/>
              </a:rPr>
              <a:t>It gets dynamically bound to the first argument, which is passed to the lambda expression when the method is executed.</a:t>
            </a:r>
          </a:p>
          <a:p>
            <a:pPr algn="l">
              <a:spcAft>
                <a:spcPts val="5022"/>
              </a:spcAft>
            </a:pPr>
            <a:r>
              <a:rPr lang="en-US" sz="6400" dirty="0">
                <a:latin typeface="Open Sans" panose="020B0606030504020204" pitchFamily="34" charset="0"/>
                <a:ea typeface="Open Sans" panose="020B0606030504020204" pitchFamily="34" charset="0"/>
                <a:cs typeface="Open Sans" panose="020B0606030504020204" pitchFamily="34" charset="0"/>
              </a:rPr>
              <a:t>Unfortunately, this looks an awful lot like a static method reference using a reference type.</a:t>
            </a:r>
          </a:p>
        </p:txBody>
      </p:sp>
    </p:spTree>
    <p:extLst>
      <p:ext uri="{BB962C8B-B14F-4D97-AF65-F5344CB8AC3E}">
        <p14:creationId xmlns:p14="http://schemas.microsoft.com/office/powerpoint/2010/main" val="3719057409"/>
      </p:ext>
    </p:extLst>
  </p:cSld>
  <p:clrMapOvr>
    <a:masterClrMapping/>
  </p:clrMapOvr>
  <p:transition spd="slow"/>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8" name="Shape 128"/>
          <p:cNvSpPr/>
          <p:nvPr/>
        </p:nvSpPr>
        <p:spPr>
          <a:xfrm>
            <a:off x="952500" y="18210515"/>
            <a:ext cx="34782668" cy="2"/>
          </a:xfrm>
          <a:prstGeom prst="line">
            <a:avLst/>
          </a:prstGeom>
          <a:ln w="76200">
            <a:solidFill>
              <a:schemeClr val="accent1">
                <a:satOff val="-3355"/>
                <a:lumOff val="26614"/>
              </a:schemeClr>
            </a:solidFill>
            <a:miter lim="400000"/>
          </a:ln>
        </p:spPr>
        <p:txBody>
          <a:bodyPr lIns="76200" tIns="76200" rIns="76200" bIns="76200" anchor="ctr"/>
          <a:lstStyle/>
          <a:p>
            <a:pPr>
              <a:defRPr sz="3200"/>
            </a:pPr>
            <a:endParaRPr sz="4800"/>
          </a:p>
        </p:txBody>
      </p:sp>
      <p:pic>
        <p:nvPicPr>
          <p:cNvPr id="129" name="Logo.png"/>
          <p:cNvPicPr>
            <a:picLocks noChangeAspect="1"/>
          </p:cNvPicPr>
          <p:nvPr/>
        </p:nvPicPr>
        <p:blipFill>
          <a:blip r:embed="rId3"/>
          <a:stretch>
            <a:fillRect/>
          </a:stretch>
        </p:blipFill>
        <p:spPr>
          <a:xfrm>
            <a:off x="14650974" y="18489726"/>
            <a:ext cx="6321552" cy="1392336"/>
          </a:xfrm>
          <a:prstGeom prst="rect">
            <a:avLst/>
          </a:prstGeom>
          <a:ln w="12700">
            <a:miter lim="400000"/>
          </a:ln>
        </p:spPr>
      </p:pic>
      <p:sp>
        <p:nvSpPr>
          <p:cNvPr id="9" name="Shape 127"/>
          <p:cNvSpPr/>
          <p:nvPr/>
        </p:nvSpPr>
        <p:spPr>
          <a:xfrm flipV="1">
            <a:off x="952499" y="2203340"/>
            <a:ext cx="34782670" cy="38132"/>
          </a:xfrm>
          <a:prstGeom prst="line">
            <a:avLst/>
          </a:prstGeom>
          <a:ln w="152400">
            <a:solidFill>
              <a:schemeClr val="accent1">
                <a:satOff val="-3355"/>
                <a:lumOff val="26614"/>
              </a:schemeClr>
            </a:solidFill>
            <a:miter lim="400000"/>
          </a:ln>
        </p:spPr>
        <p:txBody>
          <a:bodyPr lIns="76200" tIns="76200" rIns="76200" bIns="76200" anchor="ctr"/>
          <a:lstStyle/>
          <a:p>
            <a:pPr>
              <a:defRPr sz="3200"/>
            </a:pPr>
            <a:endParaRPr sz="4800"/>
          </a:p>
        </p:txBody>
      </p:sp>
      <p:sp>
        <p:nvSpPr>
          <p:cNvPr id="10" name="Shape 131"/>
          <p:cNvSpPr/>
          <p:nvPr/>
        </p:nvSpPr>
        <p:spPr>
          <a:xfrm>
            <a:off x="952500" y="18489726"/>
            <a:ext cx="16008688" cy="1308050"/>
          </a:xfrm>
          <a:prstGeom prst="rect">
            <a:avLst/>
          </a:prstGeom>
          <a:ln w="12700">
            <a:miter lim="400000"/>
          </a:ln>
          <a:extLst>
            <a:ext uri="{C572A759-6A51-4108-AA02-DFA0A04FC94B}">
              <ma14:wrappingTextBoxFlag xmlns:ma14="http://schemas.microsoft.com/office/mac/drawingml/2011/main" xmlns="" val="1"/>
            </a:ext>
          </a:extLst>
        </p:spPr>
        <p:txBody>
          <a:bodyPr lIns="76200" tIns="76200" rIns="76200" bIns="76200">
            <a:spAutoFit/>
          </a:bodyPr>
          <a:lstStyle/>
          <a:p>
            <a:pPr algn="l">
              <a:defRPr sz="2000">
                <a:latin typeface="Alright Sans"/>
                <a:ea typeface="Alright Sans"/>
                <a:cs typeface="Alright Sans"/>
                <a:sym typeface="Alright Sans"/>
              </a:defRPr>
            </a:pPr>
            <a:r>
              <a:rPr lang="en-US" sz="3000" dirty="0">
                <a:latin typeface="Open Sans" panose="020B0606030504020204" pitchFamily="34" charset="0"/>
                <a:ea typeface="Open Sans" panose="020B0606030504020204" pitchFamily="34" charset="0"/>
                <a:cs typeface="Open Sans" panose="020B0606030504020204" pitchFamily="34" charset="0"/>
              </a:rPr>
              <a:t>COMPLETE JAVA MASTERCLASS</a:t>
            </a:r>
          </a:p>
          <a:p>
            <a:pPr algn="l">
              <a:defRPr sz="3000">
                <a:latin typeface="Alright Sans"/>
                <a:ea typeface="Alright Sans"/>
                <a:cs typeface="Alright Sans"/>
                <a:sym typeface="Alright Sans"/>
              </a:defRPr>
            </a:pPr>
            <a:r>
              <a:rPr lang="en-US" sz="4500" dirty="0">
                <a:latin typeface="Open Sans" panose="020B0606030504020204" pitchFamily="34" charset="0"/>
                <a:ea typeface="Open Sans" panose="020B0606030504020204" pitchFamily="34" charset="0"/>
                <a:cs typeface="Open Sans" panose="020B0606030504020204" pitchFamily="34" charset="0"/>
              </a:rPr>
              <a:t>The Most Confusing of the Method References</a:t>
            </a:r>
          </a:p>
        </p:txBody>
      </p:sp>
      <p:sp>
        <p:nvSpPr>
          <p:cNvPr id="8" name="Rectangle 7">
            <a:extLst>
              <a:ext uri="{FF2B5EF4-FFF2-40B4-BE49-F238E27FC236}">
                <a16:creationId xmlns:a16="http://schemas.microsoft.com/office/drawing/2014/main" id="{89DBB243-EF27-4345-872D-E76597E95619}"/>
              </a:ext>
            </a:extLst>
          </p:cNvPr>
          <p:cNvSpPr/>
          <p:nvPr/>
        </p:nvSpPr>
        <p:spPr>
          <a:xfrm>
            <a:off x="952501" y="4285904"/>
            <a:ext cx="34782670" cy="11880176"/>
          </a:xfrm>
          <a:prstGeom prst="rect">
            <a:avLst/>
          </a:prstGeom>
        </p:spPr>
        <p:txBody>
          <a:bodyPr wrap="square">
            <a:normAutofit/>
          </a:bodyPr>
          <a:lstStyle/>
          <a:p>
            <a:pPr algn="l">
              <a:spcAft>
                <a:spcPts val="5022"/>
              </a:spcAft>
            </a:pPr>
            <a:r>
              <a:rPr lang="en-US" sz="6400" dirty="0">
                <a:latin typeface="Open Sans" panose="020B0606030504020204" pitchFamily="34" charset="0"/>
                <a:ea typeface="Open Sans" panose="020B0606030504020204" pitchFamily="34" charset="0"/>
                <a:cs typeface="Open Sans" panose="020B0606030504020204" pitchFamily="34" charset="0"/>
              </a:rPr>
              <a:t>This means there are two method references that resemble each other but have </a:t>
            </a:r>
            <a:r>
              <a:rPr lang="en-US" sz="6400" b="1" dirty="0">
                <a:latin typeface="Open Sans" panose="020B0606030504020204" pitchFamily="34" charset="0"/>
                <a:ea typeface="Open Sans" panose="020B0606030504020204" pitchFamily="34" charset="0"/>
                <a:cs typeface="Open Sans" panose="020B0606030504020204" pitchFamily="34" charset="0"/>
              </a:rPr>
              <a:t>two very different meanings</a:t>
            </a:r>
            <a:r>
              <a:rPr lang="en-US" sz="6400" dirty="0">
                <a:latin typeface="Open Sans" panose="020B0606030504020204" pitchFamily="34" charset="0"/>
                <a:ea typeface="Open Sans" panose="020B0606030504020204" pitchFamily="34" charset="0"/>
                <a:cs typeface="Open Sans" panose="020B0606030504020204" pitchFamily="34" charset="0"/>
              </a:rPr>
              <a:t>.</a:t>
            </a:r>
          </a:p>
          <a:p>
            <a:pPr algn="l">
              <a:spcAft>
                <a:spcPts val="5022"/>
              </a:spcAft>
            </a:pPr>
            <a:r>
              <a:rPr lang="en-US" sz="6400" dirty="0">
                <a:latin typeface="Open Sans" panose="020B0606030504020204" pitchFamily="34" charset="0"/>
                <a:ea typeface="Open Sans" panose="020B0606030504020204" pitchFamily="34" charset="0"/>
                <a:cs typeface="Open Sans" panose="020B0606030504020204" pitchFamily="34" charset="0"/>
              </a:rPr>
              <a:t>The first actually does call a static method and uses a reference type to do it.</a:t>
            </a:r>
          </a:p>
          <a:p>
            <a:pPr algn="l">
              <a:spcAft>
                <a:spcPts val="5022"/>
              </a:spcAft>
            </a:pPr>
            <a:r>
              <a:rPr lang="en-US" sz="6400" dirty="0">
                <a:latin typeface="Open Sans" panose="020B0606030504020204" pitchFamily="34" charset="0"/>
                <a:ea typeface="Open Sans" panose="020B0606030504020204" pitchFamily="34" charset="0"/>
                <a:cs typeface="Open Sans" panose="020B0606030504020204" pitchFamily="34" charset="0"/>
              </a:rPr>
              <a:t>You saw this earlier, when I used the sum method on the Integer wrapper class.</a:t>
            </a:r>
          </a:p>
          <a:p>
            <a:pPr algn="l">
              <a:spcAft>
                <a:spcPts val="5022"/>
              </a:spcAft>
            </a:pPr>
            <a:endParaRPr lang="en-US" sz="6400" dirty="0">
              <a:latin typeface="Open Sans" panose="020B0606030504020204" pitchFamily="34" charset="0"/>
              <a:ea typeface="Open Sans" panose="020B0606030504020204" pitchFamily="34" charset="0"/>
              <a:cs typeface="Open Sans" panose="020B0606030504020204" pitchFamily="34" charset="0"/>
            </a:endParaRPr>
          </a:p>
          <a:p>
            <a:pPr algn="l">
              <a:spcAft>
                <a:spcPts val="5022"/>
              </a:spcAft>
            </a:pPr>
            <a:endParaRPr lang="en-US" sz="6400" dirty="0">
              <a:latin typeface="Open Sans" panose="020B0606030504020204" pitchFamily="34" charset="0"/>
              <a:ea typeface="Open Sans" panose="020B0606030504020204" pitchFamily="34" charset="0"/>
              <a:cs typeface="Open Sans" panose="020B0606030504020204" pitchFamily="34" charset="0"/>
            </a:endParaRPr>
          </a:p>
          <a:p>
            <a:pPr algn="l">
              <a:spcAft>
                <a:spcPts val="5022"/>
              </a:spcAft>
            </a:pPr>
            <a:r>
              <a:rPr lang="en-US" sz="6400" dirty="0">
                <a:latin typeface="Open Sans" panose="020B0606030504020204" pitchFamily="34" charset="0"/>
                <a:ea typeface="Open Sans" panose="020B0606030504020204" pitchFamily="34" charset="0"/>
                <a:cs typeface="Open Sans" panose="020B0606030504020204" pitchFamily="34" charset="0"/>
              </a:rPr>
              <a:t>This is a Type Reference (Integer is the type), which will invoke a static method.  </a:t>
            </a:r>
          </a:p>
          <a:p>
            <a:pPr algn="l">
              <a:spcAft>
                <a:spcPts val="5022"/>
              </a:spcAft>
            </a:pPr>
            <a:r>
              <a:rPr lang="en-US" sz="6400" dirty="0">
                <a:latin typeface="Open Sans" panose="020B0606030504020204" pitchFamily="34" charset="0"/>
                <a:ea typeface="Open Sans" panose="020B0606030504020204" pitchFamily="34" charset="0"/>
                <a:cs typeface="Open Sans" panose="020B0606030504020204" pitchFamily="34" charset="0"/>
              </a:rPr>
              <a:t>This is easy to understand.</a:t>
            </a:r>
          </a:p>
        </p:txBody>
      </p:sp>
      <p:pic>
        <p:nvPicPr>
          <p:cNvPr id="3" name="Picture 2">
            <a:extLst>
              <a:ext uri="{FF2B5EF4-FFF2-40B4-BE49-F238E27FC236}">
                <a16:creationId xmlns:a16="http://schemas.microsoft.com/office/drawing/2014/main" id="{FF7C8267-F0E4-1AB2-E3B4-C76E4051303F}"/>
              </a:ext>
            </a:extLst>
          </p:cNvPr>
          <p:cNvPicPr>
            <a:picLocks noChangeAspect="1"/>
          </p:cNvPicPr>
          <p:nvPr/>
        </p:nvPicPr>
        <p:blipFill>
          <a:blip r:embed="rId4"/>
          <a:stretch>
            <a:fillRect/>
          </a:stretch>
        </p:blipFill>
        <p:spPr>
          <a:xfrm>
            <a:off x="4068923" y="10804874"/>
            <a:ext cx="6448572" cy="1014857"/>
          </a:xfrm>
          <a:prstGeom prst="rect">
            <a:avLst/>
          </a:prstGeom>
        </p:spPr>
      </p:pic>
      <p:sp>
        <p:nvSpPr>
          <p:cNvPr id="2" name="Shape 126">
            <a:extLst>
              <a:ext uri="{FF2B5EF4-FFF2-40B4-BE49-F238E27FC236}">
                <a16:creationId xmlns:a16="http://schemas.microsoft.com/office/drawing/2014/main" id="{50DD9C64-32E8-E87F-36C9-9A84B1D70D7E}"/>
              </a:ext>
            </a:extLst>
          </p:cNvPr>
          <p:cNvSpPr/>
          <p:nvPr/>
        </p:nvSpPr>
        <p:spPr>
          <a:xfrm>
            <a:off x="952498" y="459786"/>
            <a:ext cx="30615753" cy="1815882"/>
          </a:xfrm>
          <a:prstGeom prst="rect">
            <a:avLst/>
          </a:prstGeom>
          <a:ln w="12700">
            <a:miter lim="400000"/>
          </a:ln>
          <a:extLst>
            <a:ext uri="{C572A759-6A51-4108-AA02-DFA0A04FC94B}">
              <ma14:wrappingTextBoxFlag xmlns:ma14="http://schemas.microsoft.com/office/mac/drawingml/2011/main" xmlns="" val="1"/>
            </a:ext>
          </a:extLst>
        </p:spPr>
        <p:txBody>
          <a:bodyPr wrap="none" lIns="76200" tIns="76200" rIns="76200" bIns="76200">
            <a:spAutoFit/>
          </a:bodyPr>
          <a:lstStyle>
            <a:lvl1pPr algn="l">
              <a:defRPr sz="7000">
                <a:latin typeface="Alright Sans"/>
                <a:ea typeface="Alright Sans"/>
                <a:cs typeface="Alright Sans"/>
                <a:sym typeface="Alright Sans"/>
              </a:defRPr>
            </a:lvl1pPr>
          </a:lstStyle>
          <a:p>
            <a:pPr>
              <a:defRPr sz="3000">
                <a:latin typeface="Alright Sans"/>
                <a:ea typeface="Alright Sans"/>
                <a:cs typeface="Alright Sans"/>
                <a:sym typeface="Alright Sans"/>
              </a:defRPr>
            </a:pPr>
            <a:r>
              <a:rPr lang="en-US" sz="10800" dirty="0">
                <a:latin typeface="Open Sans" panose="020B0606030504020204" pitchFamily="34" charset="0"/>
                <a:ea typeface="Open Sans" panose="020B0606030504020204" pitchFamily="34" charset="0"/>
                <a:cs typeface="Open Sans" panose="020B0606030504020204" pitchFamily="34" charset="0"/>
              </a:rPr>
              <a:t>Some Terminology for the next couple of Slides</a:t>
            </a:r>
          </a:p>
        </p:txBody>
      </p:sp>
    </p:spTree>
    <p:extLst>
      <p:ext uri="{BB962C8B-B14F-4D97-AF65-F5344CB8AC3E}">
        <p14:creationId xmlns:p14="http://schemas.microsoft.com/office/powerpoint/2010/main" val="931003414"/>
      </p:ext>
    </p:extLst>
  </p:cSld>
  <p:clrMapOvr>
    <a:masterClrMapping/>
  </p:clrMapOvr>
  <p:transition spd="slow"/>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8" name="Shape 128"/>
          <p:cNvSpPr/>
          <p:nvPr/>
        </p:nvSpPr>
        <p:spPr>
          <a:xfrm>
            <a:off x="952500" y="18210515"/>
            <a:ext cx="34782668" cy="2"/>
          </a:xfrm>
          <a:prstGeom prst="line">
            <a:avLst/>
          </a:prstGeom>
          <a:ln w="76200">
            <a:solidFill>
              <a:schemeClr val="accent1">
                <a:satOff val="-3355"/>
                <a:lumOff val="26614"/>
              </a:schemeClr>
            </a:solidFill>
            <a:miter lim="400000"/>
          </a:ln>
        </p:spPr>
        <p:txBody>
          <a:bodyPr lIns="76200" tIns="76200" rIns="76200" bIns="76200" anchor="ctr"/>
          <a:lstStyle/>
          <a:p>
            <a:pPr>
              <a:defRPr sz="3200"/>
            </a:pPr>
            <a:endParaRPr sz="4800"/>
          </a:p>
        </p:txBody>
      </p:sp>
      <p:pic>
        <p:nvPicPr>
          <p:cNvPr id="129" name="Logo.png"/>
          <p:cNvPicPr>
            <a:picLocks noChangeAspect="1"/>
          </p:cNvPicPr>
          <p:nvPr/>
        </p:nvPicPr>
        <p:blipFill>
          <a:blip r:embed="rId3"/>
          <a:stretch>
            <a:fillRect/>
          </a:stretch>
        </p:blipFill>
        <p:spPr>
          <a:xfrm>
            <a:off x="14650974" y="18489726"/>
            <a:ext cx="6321552" cy="1392336"/>
          </a:xfrm>
          <a:prstGeom prst="rect">
            <a:avLst/>
          </a:prstGeom>
          <a:ln w="12700">
            <a:miter lim="400000"/>
          </a:ln>
        </p:spPr>
      </p:pic>
      <p:sp>
        <p:nvSpPr>
          <p:cNvPr id="9" name="Shape 127"/>
          <p:cNvSpPr/>
          <p:nvPr/>
        </p:nvSpPr>
        <p:spPr>
          <a:xfrm flipV="1">
            <a:off x="952499" y="2203340"/>
            <a:ext cx="34782670" cy="38132"/>
          </a:xfrm>
          <a:prstGeom prst="line">
            <a:avLst/>
          </a:prstGeom>
          <a:ln w="152400">
            <a:solidFill>
              <a:schemeClr val="accent1">
                <a:satOff val="-3355"/>
                <a:lumOff val="26614"/>
              </a:schemeClr>
            </a:solidFill>
            <a:miter lim="400000"/>
          </a:ln>
        </p:spPr>
        <p:txBody>
          <a:bodyPr lIns="76200" tIns="76200" rIns="76200" bIns="76200" anchor="ctr"/>
          <a:lstStyle/>
          <a:p>
            <a:pPr>
              <a:defRPr sz="3200"/>
            </a:pPr>
            <a:endParaRPr sz="4800"/>
          </a:p>
        </p:txBody>
      </p:sp>
      <p:sp>
        <p:nvSpPr>
          <p:cNvPr id="10" name="Shape 131"/>
          <p:cNvSpPr/>
          <p:nvPr/>
        </p:nvSpPr>
        <p:spPr>
          <a:xfrm>
            <a:off x="952500" y="18489726"/>
            <a:ext cx="16008688" cy="1308050"/>
          </a:xfrm>
          <a:prstGeom prst="rect">
            <a:avLst/>
          </a:prstGeom>
          <a:ln w="12700">
            <a:miter lim="400000"/>
          </a:ln>
          <a:extLst>
            <a:ext uri="{C572A759-6A51-4108-AA02-DFA0A04FC94B}">
              <ma14:wrappingTextBoxFlag xmlns="" xmlns:ma14="http://schemas.microsoft.com/office/mac/drawingml/2011/main" val="1"/>
            </a:ext>
          </a:extLst>
        </p:spPr>
        <p:txBody>
          <a:bodyPr lIns="76200" tIns="76200" rIns="76200" bIns="76200">
            <a:spAutoFit/>
          </a:bodyPr>
          <a:lstStyle/>
          <a:p>
            <a:pPr algn="l">
              <a:defRPr sz="2000">
                <a:latin typeface="Alright Sans"/>
                <a:ea typeface="Alright Sans"/>
                <a:cs typeface="Alright Sans"/>
                <a:sym typeface="Alright Sans"/>
              </a:defRPr>
            </a:pPr>
            <a:r>
              <a:rPr lang="en-US" sz="3000" dirty="0">
                <a:latin typeface="Open Sans" panose="020B0606030504020204" pitchFamily="34" charset="0"/>
                <a:ea typeface="Open Sans" panose="020B0606030504020204" pitchFamily="34" charset="0"/>
                <a:cs typeface="Open Sans" panose="020B0606030504020204" pitchFamily="34" charset="0"/>
              </a:rPr>
              <a:t>COMPLETE JAVA MASTERCLASS</a:t>
            </a:r>
          </a:p>
          <a:p>
            <a:pPr algn="l">
              <a:defRPr sz="3000">
                <a:latin typeface="Alright Sans"/>
                <a:ea typeface="Alright Sans"/>
                <a:cs typeface="Alright Sans"/>
                <a:sym typeface="Alright Sans"/>
              </a:defRPr>
            </a:pPr>
            <a:r>
              <a:rPr lang="en-US" sz="4500" dirty="0">
                <a:latin typeface="Open Sans" panose="020B0606030504020204" pitchFamily="34" charset="0"/>
                <a:ea typeface="Open Sans" panose="020B0606030504020204" pitchFamily="34" charset="0"/>
                <a:cs typeface="Open Sans" panose="020B0606030504020204" pitchFamily="34" charset="0"/>
              </a:rPr>
              <a:t>The Most Confusing of the Method References</a:t>
            </a:r>
          </a:p>
        </p:txBody>
      </p:sp>
      <p:sp>
        <p:nvSpPr>
          <p:cNvPr id="8" name="Rectangle 7">
            <a:extLst>
              <a:ext uri="{FF2B5EF4-FFF2-40B4-BE49-F238E27FC236}">
                <a16:creationId xmlns:a16="http://schemas.microsoft.com/office/drawing/2014/main" id="{89DBB243-EF27-4345-872D-E76597E95619}"/>
              </a:ext>
            </a:extLst>
          </p:cNvPr>
          <p:cNvSpPr/>
          <p:nvPr/>
        </p:nvSpPr>
        <p:spPr>
          <a:xfrm>
            <a:off x="952501" y="4285904"/>
            <a:ext cx="34782670" cy="14203822"/>
          </a:xfrm>
          <a:prstGeom prst="rect">
            <a:avLst/>
          </a:prstGeom>
        </p:spPr>
        <p:txBody>
          <a:bodyPr wrap="square">
            <a:normAutofit/>
          </a:bodyPr>
          <a:lstStyle/>
          <a:p>
            <a:pPr algn="l">
              <a:spcAft>
                <a:spcPts val="5022"/>
              </a:spcAft>
            </a:pPr>
            <a:r>
              <a:rPr lang="en-US" sz="6400" dirty="0">
                <a:latin typeface="Open Sans" panose="020B0606030504020204" pitchFamily="34" charset="0"/>
                <a:ea typeface="Open Sans" panose="020B0606030504020204" pitchFamily="34" charset="0"/>
                <a:cs typeface="Open Sans" panose="020B0606030504020204" pitchFamily="34" charset="0"/>
              </a:rPr>
              <a:t>But there is another, which you'll see when I start working with String method references in particular.</a:t>
            </a:r>
          </a:p>
          <a:p>
            <a:pPr algn="l">
              <a:spcAft>
                <a:spcPts val="5022"/>
              </a:spcAft>
            </a:pPr>
            <a:r>
              <a:rPr lang="en-US" sz="6400" dirty="0">
                <a:latin typeface="Open Sans" panose="020B0606030504020204" pitchFamily="34" charset="0"/>
                <a:ea typeface="Open Sans" panose="020B0606030504020204" pitchFamily="34" charset="0"/>
                <a:cs typeface="Open Sans" panose="020B0606030504020204" pitchFamily="34" charset="0"/>
              </a:rPr>
              <a:t>Here, I show a method reference for the </a:t>
            </a:r>
            <a:r>
              <a:rPr lang="en-US" sz="6400" dirty="0" err="1">
                <a:latin typeface="Open Sans" panose="020B0606030504020204" pitchFamily="34" charset="0"/>
                <a:ea typeface="Open Sans" panose="020B0606030504020204" pitchFamily="34" charset="0"/>
                <a:cs typeface="Open Sans" panose="020B0606030504020204" pitchFamily="34" charset="0"/>
              </a:rPr>
              <a:t>concat</a:t>
            </a:r>
            <a:r>
              <a:rPr lang="en-US" sz="6400" dirty="0">
                <a:latin typeface="Open Sans" panose="020B0606030504020204" pitchFamily="34" charset="0"/>
                <a:ea typeface="Open Sans" panose="020B0606030504020204" pitchFamily="34" charset="0"/>
                <a:cs typeface="Open Sans" panose="020B0606030504020204" pitchFamily="34" charset="0"/>
              </a:rPr>
              <a:t> method on String.</a:t>
            </a:r>
          </a:p>
          <a:p>
            <a:pPr algn="l">
              <a:spcAft>
                <a:spcPts val="5022"/>
              </a:spcAft>
            </a:pPr>
            <a:endParaRPr lang="en-US" sz="6400" dirty="0">
              <a:latin typeface="Open Sans" panose="020B0606030504020204" pitchFamily="34" charset="0"/>
              <a:ea typeface="Open Sans" panose="020B0606030504020204" pitchFamily="34" charset="0"/>
              <a:cs typeface="Open Sans" panose="020B0606030504020204" pitchFamily="34" charset="0"/>
            </a:endParaRPr>
          </a:p>
          <a:p>
            <a:pPr algn="l">
              <a:spcAft>
                <a:spcPts val="5022"/>
              </a:spcAft>
            </a:pPr>
            <a:endParaRPr lang="en-US" sz="6400" dirty="0">
              <a:latin typeface="Open Sans" panose="020B0606030504020204" pitchFamily="34" charset="0"/>
              <a:ea typeface="Open Sans" panose="020B0606030504020204" pitchFamily="34" charset="0"/>
              <a:cs typeface="Open Sans" panose="020B0606030504020204" pitchFamily="34" charset="0"/>
            </a:endParaRPr>
          </a:p>
          <a:p>
            <a:pPr algn="l">
              <a:spcAft>
                <a:spcPts val="5022"/>
              </a:spcAft>
            </a:pPr>
            <a:r>
              <a:rPr lang="en-US" sz="6400" dirty="0">
                <a:latin typeface="Open Sans" panose="020B0606030504020204" pitchFamily="34" charset="0"/>
                <a:ea typeface="Open Sans" panose="020B0606030504020204" pitchFamily="34" charset="0"/>
                <a:cs typeface="Open Sans" panose="020B0606030504020204" pitchFamily="34" charset="0"/>
              </a:rPr>
              <a:t>Now, you know by now I hope that the </a:t>
            </a:r>
            <a:r>
              <a:rPr lang="en-US" sz="6400" dirty="0" err="1">
                <a:latin typeface="Open Sans" panose="020B0606030504020204" pitchFamily="34" charset="0"/>
                <a:ea typeface="Open Sans" panose="020B0606030504020204" pitchFamily="34" charset="0"/>
                <a:cs typeface="Open Sans" panose="020B0606030504020204" pitchFamily="34" charset="0"/>
              </a:rPr>
              <a:t>concat</a:t>
            </a:r>
            <a:r>
              <a:rPr lang="en-US" sz="6400" dirty="0">
                <a:latin typeface="Open Sans" panose="020B0606030504020204" pitchFamily="34" charset="0"/>
                <a:ea typeface="Open Sans" panose="020B0606030504020204" pitchFamily="34" charset="0"/>
                <a:cs typeface="Open Sans" panose="020B0606030504020204" pitchFamily="34" charset="0"/>
              </a:rPr>
              <a:t> method, isn't a static method on String. It's an instance method that is called on a specific String object.</a:t>
            </a:r>
          </a:p>
          <a:p>
            <a:pPr algn="l">
              <a:spcAft>
                <a:spcPts val="5022"/>
              </a:spcAft>
            </a:pPr>
            <a:r>
              <a:rPr lang="en-US" sz="6400" dirty="0">
                <a:latin typeface="Open Sans" panose="020B0606030504020204" pitchFamily="34" charset="0"/>
                <a:ea typeface="Open Sans" panose="020B0606030504020204" pitchFamily="34" charset="0"/>
                <a:cs typeface="Open Sans" panose="020B0606030504020204" pitchFamily="34" charset="0"/>
              </a:rPr>
              <a:t>So why is this method reference even valid?   </a:t>
            </a:r>
          </a:p>
          <a:p>
            <a:pPr algn="l">
              <a:spcAft>
                <a:spcPts val="5022"/>
              </a:spcAft>
            </a:pPr>
            <a:r>
              <a:rPr lang="en-US" sz="6400" dirty="0">
                <a:latin typeface="Open Sans" panose="020B0606030504020204" pitchFamily="34" charset="0"/>
                <a:ea typeface="Open Sans" panose="020B0606030504020204" pitchFamily="34" charset="0"/>
                <a:cs typeface="Open Sans" panose="020B0606030504020204" pitchFamily="34" charset="0"/>
              </a:rPr>
              <a:t>You could never call </a:t>
            </a:r>
            <a:r>
              <a:rPr lang="en-US" sz="6400" dirty="0" err="1">
                <a:latin typeface="Open Sans" panose="020B0606030504020204" pitchFamily="34" charset="0"/>
                <a:ea typeface="Open Sans" panose="020B0606030504020204" pitchFamily="34" charset="0"/>
                <a:cs typeface="Open Sans" panose="020B0606030504020204" pitchFamily="34" charset="0"/>
              </a:rPr>
              <a:t>concat</a:t>
            </a:r>
            <a:r>
              <a:rPr lang="en-US" sz="6400" dirty="0">
                <a:latin typeface="Open Sans" panose="020B0606030504020204" pitchFamily="34" charset="0"/>
                <a:ea typeface="Open Sans" panose="020B0606030504020204" pitchFamily="34" charset="0"/>
                <a:cs typeface="Open Sans" panose="020B0606030504020204" pitchFamily="34" charset="0"/>
              </a:rPr>
              <a:t> from the String class directly, because it needs to be called on a specific instance.</a:t>
            </a:r>
          </a:p>
        </p:txBody>
      </p:sp>
      <p:pic>
        <p:nvPicPr>
          <p:cNvPr id="4" name="Picture 3">
            <a:extLst>
              <a:ext uri="{FF2B5EF4-FFF2-40B4-BE49-F238E27FC236}">
                <a16:creationId xmlns:a16="http://schemas.microsoft.com/office/drawing/2014/main" id="{99542ACE-A2B3-6891-6EBB-9603E7AE8702}"/>
              </a:ext>
            </a:extLst>
          </p:cNvPr>
          <p:cNvPicPr>
            <a:picLocks noChangeAspect="1"/>
          </p:cNvPicPr>
          <p:nvPr/>
        </p:nvPicPr>
        <p:blipFill>
          <a:blip r:embed="rId4"/>
          <a:stretch>
            <a:fillRect/>
          </a:stretch>
        </p:blipFill>
        <p:spPr>
          <a:xfrm>
            <a:off x="3789004" y="9250999"/>
            <a:ext cx="7463429" cy="1036001"/>
          </a:xfrm>
          <a:prstGeom prst="rect">
            <a:avLst/>
          </a:prstGeom>
        </p:spPr>
      </p:pic>
      <p:sp>
        <p:nvSpPr>
          <p:cNvPr id="2" name="Shape 126">
            <a:extLst>
              <a:ext uri="{FF2B5EF4-FFF2-40B4-BE49-F238E27FC236}">
                <a16:creationId xmlns:a16="http://schemas.microsoft.com/office/drawing/2014/main" id="{5A06C8F3-2B42-BDAA-62CE-8A802B77F3CB}"/>
              </a:ext>
            </a:extLst>
          </p:cNvPr>
          <p:cNvSpPr/>
          <p:nvPr/>
        </p:nvSpPr>
        <p:spPr>
          <a:xfrm>
            <a:off x="952498" y="459786"/>
            <a:ext cx="30615753" cy="1815882"/>
          </a:xfrm>
          <a:prstGeom prst="rect">
            <a:avLst/>
          </a:prstGeom>
          <a:ln w="12700">
            <a:miter lim="400000"/>
          </a:ln>
          <a:extLst>
            <a:ext uri="{C572A759-6A51-4108-AA02-DFA0A04FC94B}">
              <ma14:wrappingTextBoxFlag xmlns:ma14="http://schemas.microsoft.com/office/mac/drawingml/2011/main" xmlns="" val="1"/>
            </a:ext>
          </a:extLst>
        </p:spPr>
        <p:txBody>
          <a:bodyPr wrap="none" lIns="76200" tIns="76200" rIns="76200" bIns="76200">
            <a:spAutoFit/>
          </a:bodyPr>
          <a:lstStyle>
            <a:lvl1pPr algn="l">
              <a:defRPr sz="7000">
                <a:latin typeface="Alright Sans"/>
                <a:ea typeface="Alright Sans"/>
                <a:cs typeface="Alright Sans"/>
                <a:sym typeface="Alright Sans"/>
              </a:defRPr>
            </a:lvl1pPr>
          </a:lstStyle>
          <a:p>
            <a:pPr>
              <a:defRPr sz="3000">
                <a:latin typeface="Alright Sans"/>
                <a:ea typeface="Alright Sans"/>
                <a:cs typeface="Alright Sans"/>
                <a:sym typeface="Alright Sans"/>
              </a:defRPr>
            </a:pPr>
            <a:r>
              <a:rPr lang="en-US" sz="10800" dirty="0">
                <a:latin typeface="Open Sans" panose="020B0606030504020204" pitchFamily="34" charset="0"/>
                <a:ea typeface="Open Sans" panose="020B0606030504020204" pitchFamily="34" charset="0"/>
                <a:cs typeface="Open Sans" panose="020B0606030504020204" pitchFamily="34" charset="0"/>
              </a:rPr>
              <a:t>Some Terminology for the next couple of Slides</a:t>
            </a:r>
          </a:p>
        </p:txBody>
      </p:sp>
    </p:spTree>
    <p:extLst>
      <p:ext uri="{BB962C8B-B14F-4D97-AF65-F5344CB8AC3E}">
        <p14:creationId xmlns:p14="http://schemas.microsoft.com/office/powerpoint/2010/main" val="4129012197"/>
      </p:ext>
    </p:extLst>
  </p:cSld>
  <p:clrMapOvr>
    <a:masterClrMapping/>
  </p:clrMapOvr>
  <p:transition spd="slow"/>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8" name="Shape 128"/>
          <p:cNvSpPr/>
          <p:nvPr/>
        </p:nvSpPr>
        <p:spPr>
          <a:xfrm>
            <a:off x="952500" y="18210515"/>
            <a:ext cx="34782668" cy="2"/>
          </a:xfrm>
          <a:prstGeom prst="line">
            <a:avLst/>
          </a:prstGeom>
          <a:ln w="76200">
            <a:solidFill>
              <a:schemeClr val="accent1">
                <a:satOff val="-3355"/>
                <a:lumOff val="26614"/>
              </a:schemeClr>
            </a:solidFill>
            <a:miter lim="400000"/>
          </a:ln>
        </p:spPr>
        <p:txBody>
          <a:bodyPr lIns="76200" tIns="76200" rIns="76200" bIns="76200" anchor="ctr"/>
          <a:lstStyle/>
          <a:p>
            <a:pPr>
              <a:defRPr sz="3200"/>
            </a:pPr>
            <a:endParaRPr sz="4800"/>
          </a:p>
        </p:txBody>
      </p:sp>
      <p:pic>
        <p:nvPicPr>
          <p:cNvPr id="129" name="Logo.png"/>
          <p:cNvPicPr>
            <a:picLocks noChangeAspect="1"/>
          </p:cNvPicPr>
          <p:nvPr/>
        </p:nvPicPr>
        <p:blipFill>
          <a:blip r:embed="rId3"/>
          <a:stretch>
            <a:fillRect/>
          </a:stretch>
        </p:blipFill>
        <p:spPr>
          <a:xfrm>
            <a:off x="14650974" y="18489726"/>
            <a:ext cx="6321552" cy="1392336"/>
          </a:xfrm>
          <a:prstGeom prst="rect">
            <a:avLst/>
          </a:prstGeom>
          <a:ln w="12700">
            <a:miter lim="400000"/>
          </a:ln>
        </p:spPr>
      </p:pic>
      <p:sp>
        <p:nvSpPr>
          <p:cNvPr id="9" name="Shape 127"/>
          <p:cNvSpPr/>
          <p:nvPr/>
        </p:nvSpPr>
        <p:spPr>
          <a:xfrm flipV="1">
            <a:off x="952499" y="2203340"/>
            <a:ext cx="34782670" cy="38132"/>
          </a:xfrm>
          <a:prstGeom prst="line">
            <a:avLst/>
          </a:prstGeom>
          <a:ln w="152400">
            <a:solidFill>
              <a:schemeClr val="accent1">
                <a:satOff val="-3355"/>
                <a:lumOff val="26614"/>
              </a:schemeClr>
            </a:solidFill>
            <a:miter lim="400000"/>
          </a:ln>
        </p:spPr>
        <p:txBody>
          <a:bodyPr lIns="76200" tIns="76200" rIns="76200" bIns="76200" anchor="ctr"/>
          <a:lstStyle/>
          <a:p>
            <a:pPr>
              <a:defRPr sz="3200"/>
            </a:pPr>
            <a:endParaRPr sz="4800"/>
          </a:p>
        </p:txBody>
      </p:sp>
      <p:sp>
        <p:nvSpPr>
          <p:cNvPr id="10" name="Shape 131"/>
          <p:cNvSpPr/>
          <p:nvPr/>
        </p:nvSpPr>
        <p:spPr>
          <a:xfrm>
            <a:off x="952500" y="18489726"/>
            <a:ext cx="16008688" cy="1308050"/>
          </a:xfrm>
          <a:prstGeom prst="rect">
            <a:avLst/>
          </a:prstGeom>
          <a:ln w="12700">
            <a:miter lim="400000"/>
          </a:ln>
          <a:extLst>
            <a:ext uri="{C572A759-6A51-4108-AA02-DFA0A04FC94B}">
              <ma14:wrappingTextBoxFlag xmlns:ma14="http://schemas.microsoft.com/office/mac/drawingml/2011/main" xmlns="" val="1"/>
            </a:ext>
          </a:extLst>
        </p:spPr>
        <p:txBody>
          <a:bodyPr lIns="76200" tIns="76200" rIns="76200" bIns="76200">
            <a:spAutoFit/>
          </a:bodyPr>
          <a:lstStyle/>
          <a:p>
            <a:pPr algn="l">
              <a:defRPr sz="2000">
                <a:latin typeface="Alright Sans"/>
                <a:ea typeface="Alright Sans"/>
                <a:cs typeface="Alright Sans"/>
                <a:sym typeface="Alright Sans"/>
              </a:defRPr>
            </a:pPr>
            <a:r>
              <a:rPr lang="en-US" sz="3000" dirty="0">
                <a:latin typeface="Open Sans" panose="020B0606030504020204" pitchFamily="34" charset="0"/>
                <a:ea typeface="Open Sans" panose="020B0606030504020204" pitchFamily="34" charset="0"/>
                <a:cs typeface="Open Sans" panose="020B0606030504020204" pitchFamily="34" charset="0"/>
              </a:rPr>
              <a:t>COMPLETE JAVA MASTERCLASS</a:t>
            </a:r>
          </a:p>
          <a:p>
            <a:pPr algn="l">
              <a:defRPr sz="3000">
                <a:latin typeface="Alright Sans"/>
                <a:ea typeface="Alright Sans"/>
                <a:cs typeface="Alright Sans"/>
                <a:sym typeface="Alright Sans"/>
              </a:defRPr>
            </a:pPr>
            <a:r>
              <a:rPr lang="en-US" sz="4500" dirty="0">
                <a:latin typeface="Open Sans" panose="020B0606030504020204" pitchFamily="34" charset="0"/>
                <a:ea typeface="Open Sans" panose="020B0606030504020204" pitchFamily="34" charset="0"/>
                <a:cs typeface="Open Sans" panose="020B0606030504020204" pitchFamily="34" charset="0"/>
              </a:rPr>
              <a:t>The Most Confusing of the Method References</a:t>
            </a:r>
          </a:p>
        </p:txBody>
      </p:sp>
      <p:sp>
        <p:nvSpPr>
          <p:cNvPr id="8" name="Rectangle 7">
            <a:extLst>
              <a:ext uri="{FF2B5EF4-FFF2-40B4-BE49-F238E27FC236}">
                <a16:creationId xmlns:a16="http://schemas.microsoft.com/office/drawing/2014/main" id="{89DBB243-EF27-4345-872D-E76597E95619}"/>
              </a:ext>
            </a:extLst>
          </p:cNvPr>
          <p:cNvSpPr/>
          <p:nvPr/>
        </p:nvSpPr>
        <p:spPr>
          <a:xfrm>
            <a:off x="952501" y="4285904"/>
            <a:ext cx="34782670" cy="11880176"/>
          </a:xfrm>
          <a:prstGeom prst="rect">
            <a:avLst/>
          </a:prstGeom>
        </p:spPr>
        <p:txBody>
          <a:bodyPr wrap="square">
            <a:normAutofit/>
          </a:bodyPr>
          <a:lstStyle/>
          <a:p>
            <a:pPr algn="l">
              <a:spcAft>
                <a:spcPts val="5022"/>
              </a:spcAft>
            </a:pPr>
            <a:r>
              <a:rPr lang="en-US" sz="6400" dirty="0">
                <a:latin typeface="Open Sans" panose="020B0606030504020204" pitchFamily="34" charset="0"/>
                <a:ea typeface="Open Sans" panose="020B0606030504020204" pitchFamily="34" charset="0"/>
                <a:cs typeface="Open Sans" panose="020B0606030504020204" pitchFamily="34" charset="0"/>
              </a:rPr>
              <a:t>I just said, not two slides ago, that instance methods can't be called using Reference Types.</a:t>
            </a:r>
          </a:p>
          <a:p>
            <a:pPr algn="l">
              <a:spcAft>
                <a:spcPts val="5022"/>
              </a:spcAft>
            </a:pPr>
            <a:r>
              <a:rPr lang="en-US" sz="6400" dirty="0">
                <a:latin typeface="Open Sans" panose="020B0606030504020204" pitchFamily="34" charset="0"/>
                <a:ea typeface="Open Sans" panose="020B0606030504020204" pitchFamily="34" charset="0"/>
                <a:cs typeface="Open Sans" panose="020B0606030504020204" pitchFamily="34" charset="0"/>
              </a:rPr>
              <a:t>But the example shown here, is a special syntax, when it's declared in the right context, meaning when it's associated to the right type of interface.</a:t>
            </a:r>
          </a:p>
          <a:p>
            <a:pPr algn="l">
              <a:spcAft>
                <a:spcPts val="5022"/>
              </a:spcAft>
            </a:pPr>
            <a:endParaRPr lang="en-US" sz="6400" dirty="0">
              <a:latin typeface="Open Sans" panose="020B0606030504020204" pitchFamily="34" charset="0"/>
              <a:ea typeface="Open Sans" panose="020B0606030504020204" pitchFamily="34" charset="0"/>
              <a:cs typeface="Open Sans" panose="020B0606030504020204" pitchFamily="34" charset="0"/>
            </a:endParaRPr>
          </a:p>
          <a:p>
            <a:pPr algn="l">
              <a:spcAft>
                <a:spcPts val="5022"/>
              </a:spcAft>
            </a:pPr>
            <a:endParaRPr lang="en-US" sz="6400" dirty="0">
              <a:latin typeface="Open Sans" panose="020B0606030504020204" pitchFamily="34" charset="0"/>
              <a:ea typeface="Open Sans" panose="020B0606030504020204" pitchFamily="34" charset="0"/>
              <a:cs typeface="Open Sans" panose="020B0606030504020204" pitchFamily="34" charset="0"/>
            </a:endParaRPr>
          </a:p>
          <a:p>
            <a:pPr algn="l">
              <a:spcAft>
                <a:spcPts val="5022"/>
              </a:spcAft>
            </a:pPr>
            <a:r>
              <a:rPr lang="en-US" sz="6400" dirty="0">
                <a:latin typeface="Open Sans" panose="020B0606030504020204" pitchFamily="34" charset="0"/>
                <a:ea typeface="Open Sans" panose="020B0606030504020204" pitchFamily="34" charset="0"/>
                <a:cs typeface="Open Sans" panose="020B0606030504020204" pitchFamily="34" charset="0"/>
              </a:rPr>
              <a:t>This is valid when you use a method reference in the context of an </a:t>
            </a:r>
            <a:r>
              <a:rPr lang="en-US" sz="6400" b="1" dirty="0">
                <a:latin typeface="Open Sans" panose="020B0606030504020204" pitchFamily="34" charset="0"/>
                <a:ea typeface="Open Sans" panose="020B0606030504020204" pitchFamily="34" charset="0"/>
                <a:cs typeface="Open Sans" panose="020B0606030504020204" pitchFamily="34" charset="0"/>
              </a:rPr>
              <a:t>unbounded receiver</a:t>
            </a:r>
            <a:r>
              <a:rPr lang="en-US" sz="6400" dirty="0">
                <a:latin typeface="Open Sans" panose="020B0606030504020204" pitchFamily="34" charset="0"/>
                <a:ea typeface="Open Sans" panose="020B0606030504020204" pitchFamily="34" charset="0"/>
                <a:cs typeface="Open Sans" panose="020B0606030504020204" pitchFamily="34" charset="0"/>
              </a:rPr>
              <a:t>.</a:t>
            </a:r>
          </a:p>
        </p:txBody>
      </p:sp>
      <p:sp>
        <p:nvSpPr>
          <p:cNvPr id="3" name="Shape 126">
            <a:extLst>
              <a:ext uri="{FF2B5EF4-FFF2-40B4-BE49-F238E27FC236}">
                <a16:creationId xmlns:a16="http://schemas.microsoft.com/office/drawing/2014/main" id="{EB2CEFF9-4106-8717-35CF-011FACE1260A}"/>
              </a:ext>
            </a:extLst>
          </p:cNvPr>
          <p:cNvSpPr/>
          <p:nvPr/>
        </p:nvSpPr>
        <p:spPr>
          <a:xfrm>
            <a:off x="952498" y="459786"/>
            <a:ext cx="30615753" cy="1815882"/>
          </a:xfrm>
          <a:prstGeom prst="rect">
            <a:avLst/>
          </a:prstGeom>
          <a:ln w="12700">
            <a:miter lim="400000"/>
          </a:ln>
          <a:extLst>
            <a:ext uri="{C572A759-6A51-4108-AA02-DFA0A04FC94B}">
              <ma14:wrappingTextBoxFlag xmlns:ma14="http://schemas.microsoft.com/office/mac/drawingml/2011/main" xmlns="" val="1"/>
            </a:ext>
          </a:extLst>
        </p:spPr>
        <p:txBody>
          <a:bodyPr wrap="none" lIns="76200" tIns="76200" rIns="76200" bIns="76200">
            <a:spAutoFit/>
          </a:bodyPr>
          <a:lstStyle>
            <a:lvl1pPr algn="l">
              <a:defRPr sz="7000">
                <a:latin typeface="Alright Sans"/>
                <a:ea typeface="Alright Sans"/>
                <a:cs typeface="Alright Sans"/>
                <a:sym typeface="Alright Sans"/>
              </a:defRPr>
            </a:lvl1pPr>
          </a:lstStyle>
          <a:p>
            <a:pPr>
              <a:defRPr sz="3000">
                <a:latin typeface="Alright Sans"/>
                <a:ea typeface="Alright Sans"/>
                <a:cs typeface="Alright Sans"/>
                <a:sym typeface="Alright Sans"/>
              </a:defRPr>
            </a:pPr>
            <a:r>
              <a:rPr lang="en-US" sz="10800" dirty="0">
                <a:latin typeface="Open Sans" panose="020B0606030504020204" pitchFamily="34" charset="0"/>
                <a:ea typeface="Open Sans" panose="020B0606030504020204" pitchFamily="34" charset="0"/>
                <a:cs typeface="Open Sans" panose="020B0606030504020204" pitchFamily="34" charset="0"/>
              </a:rPr>
              <a:t>Some Terminology for the next couple of Slides</a:t>
            </a:r>
          </a:p>
        </p:txBody>
      </p:sp>
      <p:pic>
        <p:nvPicPr>
          <p:cNvPr id="5" name="Picture 4">
            <a:extLst>
              <a:ext uri="{FF2B5EF4-FFF2-40B4-BE49-F238E27FC236}">
                <a16:creationId xmlns:a16="http://schemas.microsoft.com/office/drawing/2014/main" id="{29792B8E-C44F-10F4-B060-85EFABA7E994}"/>
              </a:ext>
            </a:extLst>
          </p:cNvPr>
          <p:cNvPicPr>
            <a:picLocks noChangeAspect="1"/>
          </p:cNvPicPr>
          <p:nvPr/>
        </p:nvPicPr>
        <p:blipFill>
          <a:blip r:embed="rId4"/>
          <a:stretch>
            <a:fillRect/>
          </a:stretch>
        </p:blipFill>
        <p:spPr>
          <a:xfrm>
            <a:off x="3789004" y="9250999"/>
            <a:ext cx="7463429" cy="1036001"/>
          </a:xfrm>
          <a:prstGeom prst="rect">
            <a:avLst/>
          </a:prstGeom>
        </p:spPr>
      </p:pic>
    </p:spTree>
    <p:extLst>
      <p:ext uri="{BB962C8B-B14F-4D97-AF65-F5344CB8AC3E}">
        <p14:creationId xmlns:p14="http://schemas.microsoft.com/office/powerpoint/2010/main" val="3504180823"/>
      </p:ext>
    </p:extLst>
  </p:cSld>
  <p:clrMapOvr>
    <a:masterClrMapping/>
  </p:clrMapOvr>
  <p:transition spd="slow"/>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8" name="Shape 128"/>
          <p:cNvSpPr/>
          <p:nvPr/>
        </p:nvSpPr>
        <p:spPr>
          <a:xfrm>
            <a:off x="952500" y="18210515"/>
            <a:ext cx="34782668" cy="2"/>
          </a:xfrm>
          <a:prstGeom prst="line">
            <a:avLst/>
          </a:prstGeom>
          <a:ln w="76200">
            <a:solidFill>
              <a:schemeClr val="accent1">
                <a:satOff val="-3355"/>
                <a:lumOff val="26614"/>
              </a:schemeClr>
            </a:solidFill>
            <a:miter lim="400000"/>
          </a:ln>
        </p:spPr>
        <p:txBody>
          <a:bodyPr lIns="76200" tIns="76200" rIns="76200" bIns="76200" anchor="ctr"/>
          <a:lstStyle/>
          <a:p>
            <a:pPr>
              <a:defRPr sz="3200"/>
            </a:pPr>
            <a:endParaRPr sz="4800"/>
          </a:p>
        </p:txBody>
      </p:sp>
      <p:pic>
        <p:nvPicPr>
          <p:cNvPr id="129" name="Logo.png"/>
          <p:cNvPicPr>
            <a:picLocks noChangeAspect="1"/>
          </p:cNvPicPr>
          <p:nvPr/>
        </p:nvPicPr>
        <p:blipFill>
          <a:blip r:embed="rId3"/>
          <a:stretch>
            <a:fillRect/>
          </a:stretch>
        </p:blipFill>
        <p:spPr>
          <a:xfrm>
            <a:off x="14650974" y="18489726"/>
            <a:ext cx="6321552" cy="1392336"/>
          </a:xfrm>
          <a:prstGeom prst="rect">
            <a:avLst/>
          </a:prstGeom>
          <a:ln w="12700">
            <a:miter lim="400000"/>
          </a:ln>
        </p:spPr>
      </p:pic>
      <p:sp>
        <p:nvSpPr>
          <p:cNvPr id="9" name="Shape 127"/>
          <p:cNvSpPr/>
          <p:nvPr/>
        </p:nvSpPr>
        <p:spPr>
          <a:xfrm flipV="1">
            <a:off x="952499" y="2203340"/>
            <a:ext cx="34782670" cy="38132"/>
          </a:xfrm>
          <a:prstGeom prst="line">
            <a:avLst/>
          </a:prstGeom>
          <a:ln w="152400">
            <a:solidFill>
              <a:schemeClr val="accent1">
                <a:satOff val="-3355"/>
                <a:lumOff val="26614"/>
              </a:schemeClr>
            </a:solidFill>
            <a:miter lim="400000"/>
          </a:ln>
        </p:spPr>
        <p:txBody>
          <a:bodyPr lIns="76200" tIns="76200" rIns="76200" bIns="76200" anchor="ctr"/>
          <a:lstStyle/>
          <a:p>
            <a:pPr>
              <a:defRPr sz="3200"/>
            </a:pPr>
            <a:endParaRPr sz="4800"/>
          </a:p>
        </p:txBody>
      </p:sp>
      <p:sp>
        <p:nvSpPr>
          <p:cNvPr id="10" name="Shape 131"/>
          <p:cNvSpPr/>
          <p:nvPr/>
        </p:nvSpPr>
        <p:spPr>
          <a:xfrm>
            <a:off x="952500" y="18489726"/>
            <a:ext cx="16008688" cy="1308050"/>
          </a:xfrm>
          <a:prstGeom prst="rect">
            <a:avLst/>
          </a:prstGeom>
          <a:ln w="12700">
            <a:miter lim="400000"/>
          </a:ln>
          <a:extLst>
            <a:ext uri="{C572A759-6A51-4108-AA02-DFA0A04FC94B}">
              <ma14:wrappingTextBoxFlag xmlns="" xmlns:ma14="http://schemas.microsoft.com/office/mac/drawingml/2011/main" val="1"/>
            </a:ext>
          </a:extLst>
        </p:spPr>
        <p:txBody>
          <a:bodyPr lIns="76200" tIns="76200" rIns="76200" bIns="76200">
            <a:spAutoFit/>
          </a:bodyPr>
          <a:lstStyle/>
          <a:p>
            <a:pPr algn="l">
              <a:defRPr sz="2000">
                <a:latin typeface="Alright Sans"/>
                <a:ea typeface="Alright Sans"/>
                <a:cs typeface="Alright Sans"/>
                <a:sym typeface="Alright Sans"/>
              </a:defRPr>
            </a:pPr>
            <a:r>
              <a:rPr lang="en-US" sz="3000" dirty="0">
                <a:latin typeface="Open Sans" panose="020B0606030504020204" pitchFamily="34" charset="0"/>
                <a:ea typeface="Open Sans" panose="020B0606030504020204" pitchFamily="34" charset="0"/>
                <a:cs typeface="Open Sans" panose="020B0606030504020204" pitchFamily="34" charset="0"/>
              </a:rPr>
              <a:t>COMPLETE JAVA MASTERCLASS</a:t>
            </a:r>
          </a:p>
          <a:p>
            <a:pPr algn="l">
              <a:defRPr sz="3000">
                <a:latin typeface="Alright Sans"/>
                <a:ea typeface="Alright Sans"/>
                <a:cs typeface="Alright Sans"/>
                <a:sym typeface="Alright Sans"/>
              </a:defRPr>
            </a:pPr>
            <a:r>
              <a:rPr lang="en-US" sz="4500" dirty="0">
                <a:latin typeface="Open Sans" panose="020B0606030504020204" pitchFamily="34" charset="0"/>
                <a:ea typeface="Open Sans" panose="020B0606030504020204" pitchFamily="34" charset="0"/>
                <a:cs typeface="Open Sans" panose="020B0606030504020204" pitchFamily="34" charset="0"/>
              </a:rPr>
              <a:t>The Most Confusing of the Method References</a:t>
            </a:r>
          </a:p>
        </p:txBody>
      </p:sp>
      <p:sp>
        <p:nvSpPr>
          <p:cNvPr id="8" name="Rectangle 7">
            <a:extLst>
              <a:ext uri="{FF2B5EF4-FFF2-40B4-BE49-F238E27FC236}">
                <a16:creationId xmlns:a16="http://schemas.microsoft.com/office/drawing/2014/main" id="{89DBB243-EF27-4345-872D-E76597E95619}"/>
              </a:ext>
            </a:extLst>
          </p:cNvPr>
          <p:cNvSpPr/>
          <p:nvPr/>
        </p:nvSpPr>
        <p:spPr>
          <a:xfrm>
            <a:off x="952501" y="4285904"/>
            <a:ext cx="34782670" cy="11880176"/>
          </a:xfrm>
          <a:prstGeom prst="rect">
            <a:avLst/>
          </a:prstGeom>
        </p:spPr>
        <p:txBody>
          <a:bodyPr wrap="square">
            <a:normAutofit/>
          </a:bodyPr>
          <a:lstStyle/>
          <a:p>
            <a:pPr algn="l">
              <a:spcAft>
                <a:spcPts val="5022"/>
              </a:spcAft>
            </a:pPr>
            <a:r>
              <a:rPr lang="en-US" sz="6400" b="1" dirty="0">
                <a:latin typeface="Open Sans" panose="020B0606030504020204" pitchFamily="34" charset="0"/>
                <a:ea typeface="Open Sans" panose="020B0606030504020204" pitchFamily="34" charset="0"/>
                <a:cs typeface="Open Sans" panose="020B0606030504020204" pitchFamily="34" charset="0"/>
              </a:rPr>
              <a:t>Remember, the unbounded receiver means that the first argument becomes the instance used on which the method gets invoked.</a:t>
            </a:r>
          </a:p>
          <a:p>
            <a:pPr algn="l">
              <a:spcAft>
                <a:spcPts val="5022"/>
              </a:spcAft>
            </a:pPr>
            <a:endParaRPr lang="en-US" sz="6400" dirty="0">
              <a:latin typeface="Open Sans" panose="020B0606030504020204" pitchFamily="34" charset="0"/>
              <a:ea typeface="Open Sans" panose="020B0606030504020204" pitchFamily="34" charset="0"/>
              <a:cs typeface="Open Sans" panose="020B0606030504020204" pitchFamily="34" charset="0"/>
            </a:endParaRPr>
          </a:p>
          <a:p>
            <a:pPr algn="l">
              <a:spcAft>
                <a:spcPts val="5022"/>
              </a:spcAft>
            </a:pPr>
            <a:endParaRPr lang="en-US" sz="6400" dirty="0">
              <a:latin typeface="Open Sans" panose="020B0606030504020204" pitchFamily="34" charset="0"/>
              <a:ea typeface="Open Sans" panose="020B0606030504020204" pitchFamily="34" charset="0"/>
              <a:cs typeface="Open Sans" panose="020B0606030504020204" pitchFamily="34" charset="0"/>
            </a:endParaRPr>
          </a:p>
          <a:p>
            <a:pPr algn="l">
              <a:spcAft>
                <a:spcPts val="5022"/>
              </a:spcAft>
            </a:pPr>
            <a:r>
              <a:rPr lang="en-US" sz="6400" dirty="0">
                <a:latin typeface="Open Sans" panose="020B0606030504020204" pitchFamily="34" charset="0"/>
                <a:ea typeface="Open Sans" panose="020B0606030504020204" pitchFamily="34" charset="0"/>
                <a:cs typeface="Open Sans" panose="020B0606030504020204" pitchFamily="34" charset="0"/>
              </a:rPr>
              <a:t>Any method reference that uses String::</a:t>
            </a:r>
            <a:r>
              <a:rPr lang="en-US" sz="6400" dirty="0" err="1">
                <a:latin typeface="Open Sans" panose="020B0606030504020204" pitchFamily="34" charset="0"/>
                <a:ea typeface="Open Sans" panose="020B0606030504020204" pitchFamily="34" charset="0"/>
                <a:cs typeface="Open Sans" panose="020B0606030504020204" pitchFamily="34" charset="0"/>
              </a:rPr>
              <a:t>concat</a:t>
            </a:r>
            <a:r>
              <a:rPr lang="en-US" sz="6400" dirty="0">
                <a:latin typeface="Open Sans" panose="020B0606030504020204" pitchFamily="34" charset="0"/>
                <a:ea typeface="Open Sans" panose="020B0606030504020204" pitchFamily="34" charset="0"/>
                <a:cs typeface="Open Sans" panose="020B0606030504020204" pitchFamily="34" charset="0"/>
              </a:rPr>
              <a:t>, must be in the context of a two-parameter functional method.</a:t>
            </a:r>
          </a:p>
          <a:p>
            <a:pPr algn="l">
              <a:spcAft>
                <a:spcPts val="5022"/>
              </a:spcAft>
            </a:pPr>
            <a:r>
              <a:rPr lang="en-US" sz="6400" dirty="0">
                <a:latin typeface="Open Sans" panose="020B0606030504020204" pitchFamily="34" charset="0"/>
                <a:ea typeface="Open Sans" panose="020B0606030504020204" pitchFamily="34" charset="0"/>
                <a:cs typeface="Open Sans" panose="020B0606030504020204" pitchFamily="34" charset="0"/>
              </a:rPr>
              <a:t>The first parameter is the String instance on which the </a:t>
            </a:r>
            <a:r>
              <a:rPr lang="en-US" sz="6400" dirty="0" err="1">
                <a:latin typeface="Open Sans" panose="020B0606030504020204" pitchFamily="34" charset="0"/>
                <a:ea typeface="Open Sans" panose="020B0606030504020204" pitchFamily="34" charset="0"/>
                <a:cs typeface="Open Sans" panose="020B0606030504020204" pitchFamily="34" charset="0"/>
              </a:rPr>
              <a:t>concat</a:t>
            </a:r>
            <a:r>
              <a:rPr lang="en-US" sz="6400" dirty="0">
                <a:latin typeface="Open Sans" panose="020B0606030504020204" pitchFamily="34" charset="0"/>
                <a:ea typeface="Open Sans" panose="020B0606030504020204" pitchFamily="34" charset="0"/>
                <a:cs typeface="Open Sans" panose="020B0606030504020204" pitchFamily="34" charset="0"/>
              </a:rPr>
              <a:t> method gets invoked, and the second argument is the String argument passed to the </a:t>
            </a:r>
            <a:r>
              <a:rPr lang="en-US" sz="6400" dirty="0" err="1">
                <a:latin typeface="Open Sans" panose="020B0606030504020204" pitchFamily="34" charset="0"/>
                <a:ea typeface="Open Sans" panose="020B0606030504020204" pitchFamily="34" charset="0"/>
                <a:cs typeface="Open Sans" panose="020B0606030504020204" pitchFamily="34" charset="0"/>
              </a:rPr>
              <a:t>concat</a:t>
            </a:r>
            <a:r>
              <a:rPr lang="en-US" sz="6400" dirty="0">
                <a:latin typeface="Open Sans" panose="020B0606030504020204" pitchFamily="34" charset="0"/>
                <a:ea typeface="Open Sans" panose="020B0606030504020204" pitchFamily="34" charset="0"/>
                <a:cs typeface="Open Sans" panose="020B0606030504020204" pitchFamily="34" charset="0"/>
              </a:rPr>
              <a:t> method.</a:t>
            </a:r>
          </a:p>
        </p:txBody>
      </p:sp>
      <p:pic>
        <p:nvPicPr>
          <p:cNvPr id="2" name="Picture 1">
            <a:extLst>
              <a:ext uri="{FF2B5EF4-FFF2-40B4-BE49-F238E27FC236}">
                <a16:creationId xmlns:a16="http://schemas.microsoft.com/office/drawing/2014/main" id="{5689BCA6-8781-E759-922E-4AA354B53719}"/>
              </a:ext>
            </a:extLst>
          </p:cNvPr>
          <p:cNvPicPr>
            <a:picLocks noChangeAspect="1"/>
          </p:cNvPicPr>
          <p:nvPr/>
        </p:nvPicPr>
        <p:blipFill>
          <a:blip r:embed="rId4"/>
          <a:stretch>
            <a:fillRect/>
          </a:stretch>
        </p:blipFill>
        <p:spPr>
          <a:xfrm>
            <a:off x="3807665" y="7486784"/>
            <a:ext cx="7463429" cy="1036001"/>
          </a:xfrm>
          <a:prstGeom prst="rect">
            <a:avLst/>
          </a:prstGeom>
        </p:spPr>
      </p:pic>
      <p:sp>
        <p:nvSpPr>
          <p:cNvPr id="3" name="Shape 126">
            <a:extLst>
              <a:ext uri="{FF2B5EF4-FFF2-40B4-BE49-F238E27FC236}">
                <a16:creationId xmlns:a16="http://schemas.microsoft.com/office/drawing/2014/main" id="{7C9FA1BF-C9D3-FD87-4E0C-E750A5F96A06}"/>
              </a:ext>
            </a:extLst>
          </p:cNvPr>
          <p:cNvSpPr/>
          <p:nvPr/>
        </p:nvSpPr>
        <p:spPr>
          <a:xfrm>
            <a:off x="952498" y="459786"/>
            <a:ext cx="30615753" cy="1815882"/>
          </a:xfrm>
          <a:prstGeom prst="rect">
            <a:avLst/>
          </a:prstGeom>
          <a:ln w="12700">
            <a:miter lim="400000"/>
          </a:ln>
          <a:extLst>
            <a:ext uri="{C572A759-6A51-4108-AA02-DFA0A04FC94B}">
              <ma14:wrappingTextBoxFlag xmlns:ma14="http://schemas.microsoft.com/office/mac/drawingml/2011/main" xmlns="" val="1"/>
            </a:ext>
          </a:extLst>
        </p:spPr>
        <p:txBody>
          <a:bodyPr wrap="none" lIns="76200" tIns="76200" rIns="76200" bIns="76200">
            <a:spAutoFit/>
          </a:bodyPr>
          <a:lstStyle>
            <a:lvl1pPr algn="l">
              <a:defRPr sz="7000">
                <a:latin typeface="Alright Sans"/>
                <a:ea typeface="Alright Sans"/>
                <a:cs typeface="Alright Sans"/>
                <a:sym typeface="Alright Sans"/>
              </a:defRPr>
            </a:lvl1pPr>
          </a:lstStyle>
          <a:p>
            <a:pPr>
              <a:defRPr sz="3000">
                <a:latin typeface="Alright Sans"/>
                <a:ea typeface="Alright Sans"/>
                <a:cs typeface="Alright Sans"/>
                <a:sym typeface="Alright Sans"/>
              </a:defRPr>
            </a:pPr>
            <a:r>
              <a:rPr lang="en-US" sz="10800" dirty="0">
                <a:latin typeface="Open Sans" panose="020B0606030504020204" pitchFamily="34" charset="0"/>
                <a:ea typeface="Open Sans" panose="020B0606030504020204" pitchFamily="34" charset="0"/>
                <a:cs typeface="Open Sans" panose="020B0606030504020204" pitchFamily="34" charset="0"/>
              </a:rPr>
              <a:t>Some Terminology for the next couple of Slides</a:t>
            </a:r>
          </a:p>
        </p:txBody>
      </p:sp>
    </p:spTree>
    <p:extLst>
      <p:ext uri="{BB962C8B-B14F-4D97-AF65-F5344CB8AC3E}">
        <p14:creationId xmlns:p14="http://schemas.microsoft.com/office/powerpoint/2010/main" val="3894967369"/>
      </p:ext>
    </p:extLst>
  </p:cSld>
  <p:clrMapOvr>
    <a:masterClrMapping/>
  </p:clrMapOvr>
  <p:transition spd="slow"/>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 name="Shape 126"/>
          <p:cNvSpPr/>
          <p:nvPr/>
        </p:nvSpPr>
        <p:spPr>
          <a:xfrm>
            <a:off x="952498" y="459786"/>
            <a:ext cx="21834503" cy="1815882"/>
          </a:xfrm>
          <a:prstGeom prst="rect">
            <a:avLst/>
          </a:prstGeom>
          <a:ln w="12700">
            <a:miter lim="400000"/>
          </a:ln>
          <a:extLst>
            <a:ext uri="{C572A759-6A51-4108-AA02-DFA0A04FC94B}">
              <ma14:wrappingTextBoxFlag xmlns="" xmlns:ma14="http://schemas.microsoft.com/office/mac/drawingml/2011/main" val="1"/>
            </a:ext>
          </a:extLst>
        </p:spPr>
        <p:txBody>
          <a:bodyPr wrap="none" lIns="76200" tIns="76200" rIns="76200" bIns="76200">
            <a:spAutoFit/>
          </a:bodyPr>
          <a:lstStyle>
            <a:lvl1pPr algn="l">
              <a:defRPr sz="7000">
                <a:latin typeface="Alright Sans"/>
                <a:ea typeface="Alright Sans"/>
                <a:cs typeface="Alright Sans"/>
                <a:sym typeface="Alright Sans"/>
              </a:defRPr>
            </a:lvl1pPr>
          </a:lstStyle>
          <a:p>
            <a:pPr>
              <a:defRPr sz="3000">
                <a:latin typeface="Alright Sans"/>
                <a:ea typeface="Alright Sans"/>
                <a:cs typeface="Alright Sans"/>
                <a:sym typeface="Alright Sans"/>
              </a:defRPr>
            </a:pPr>
            <a:r>
              <a:rPr lang="en-US" sz="10800" dirty="0">
                <a:latin typeface="Open Sans" panose="020B0606030504020204" pitchFamily="34" charset="0"/>
                <a:ea typeface="Open Sans" panose="020B0606030504020204" pitchFamily="34" charset="0"/>
                <a:cs typeface="Open Sans" panose="020B0606030504020204" pitchFamily="34" charset="0"/>
              </a:rPr>
              <a:t>Four Types of Method References</a:t>
            </a:r>
          </a:p>
        </p:txBody>
      </p:sp>
      <p:sp>
        <p:nvSpPr>
          <p:cNvPr id="128" name="Shape 128"/>
          <p:cNvSpPr/>
          <p:nvPr/>
        </p:nvSpPr>
        <p:spPr>
          <a:xfrm>
            <a:off x="952500" y="18210515"/>
            <a:ext cx="34782668" cy="2"/>
          </a:xfrm>
          <a:prstGeom prst="line">
            <a:avLst/>
          </a:prstGeom>
          <a:ln w="76200">
            <a:solidFill>
              <a:schemeClr val="accent1">
                <a:satOff val="-3355"/>
                <a:lumOff val="26614"/>
              </a:schemeClr>
            </a:solidFill>
            <a:miter lim="400000"/>
          </a:ln>
        </p:spPr>
        <p:txBody>
          <a:bodyPr lIns="76200" tIns="76200" rIns="76200" bIns="76200" anchor="ctr"/>
          <a:lstStyle/>
          <a:p>
            <a:pPr>
              <a:defRPr sz="3200"/>
            </a:pPr>
            <a:endParaRPr sz="4800"/>
          </a:p>
        </p:txBody>
      </p:sp>
      <p:pic>
        <p:nvPicPr>
          <p:cNvPr id="129" name="Logo.png"/>
          <p:cNvPicPr>
            <a:picLocks noChangeAspect="1"/>
          </p:cNvPicPr>
          <p:nvPr/>
        </p:nvPicPr>
        <p:blipFill>
          <a:blip r:embed="rId3"/>
          <a:stretch>
            <a:fillRect/>
          </a:stretch>
        </p:blipFill>
        <p:spPr>
          <a:xfrm>
            <a:off x="14650974" y="18489726"/>
            <a:ext cx="6321552" cy="1392336"/>
          </a:xfrm>
          <a:prstGeom prst="rect">
            <a:avLst/>
          </a:prstGeom>
          <a:ln w="12700">
            <a:miter lim="400000"/>
          </a:ln>
        </p:spPr>
      </p:pic>
      <p:sp>
        <p:nvSpPr>
          <p:cNvPr id="9" name="Shape 127"/>
          <p:cNvSpPr/>
          <p:nvPr/>
        </p:nvSpPr>
        <p:spPr>
          <a:xfrm flipV="1">
            <a:off x="952499" y="2203340"/>
            <a:ext cx="34782670" cy="38132"/>
          </a:xfrm>
          <a:prstGeom prst="line">
            <a:avLst/>
          </a:prstGeom>
          <a:ln w="152400">
            <a:solidFill>
              <a:schemeClr val="accent1">
                <a:satOff val="-3355"/>
                <a:lumOff val="26614"/>
              </a:schemeClr>
            </a:solidFill>
            <a:miter lim="400000"/>
          </a:ln>
        </p:spPr>
        <p:txBody>
          <a:bodyPr lIns="76200" tIns="76200" rIns="76200" bIns="76200" anchor="ctr"/>
          <a:lstStyle/>
          <a:p>
            <a:pPr>
              <a:defRPr sz="3200"/>
            </a:pPr>
            <a:endParaRPr sz="4800"/>
          </a:p>
        </p:txBody>
      </p:sp>
      <p:sp>
        <p:nvSpPr>
          <p:cNvPr id="10" name="Shape 131"/>
          <p:cNvSpPr/>
          <p:nvPr/>
        </p:nvSpPr>
        <p:spPr>
          <a:xfrm>
            <a:off x="952500" y="18489726"/>
            <a:ext cx="16008688" cy="1308050"/>
          </a:xfrm>
          <a:prstGeom prst="rect">
            <a:avLst/>
          </a:prstGeom>
          <a:ln w="12700">
            <a:miter lim="400000"/>
          </a:ln>
          <a:extLst>
            <a:ext uri="{C572A759-6A51-4108-AA02-DFA0A04FC94B}">
              <ma14:wrappingTextBoxFlag xmlns:ma14="http://schemas.microsoft.com/office/mac/drawingml/2011/main" xmlns="" val="1"/>
            </a:ext>
          </a:extLst>
        </p:spPr>
        <p:txBody>
          <a:bodyPr lIns="76200" tIns="76200" rIns="76200" bIns="76200">
            <a:spAutoFit/>
          </a:bodyPr>
          <a:lstStyle/>
          <a:p>
            <a:pPr algn="l">
              <a:defRPr sz="2000">
                <a:latin typeface="Alright Sans"/>
                <a:ea typeface="Alright Sans"/>
                <a:cs typeface="Alright Sans"/>
                <a:sym typeface="Alright Sans"/>
              </a:defRPr>
            </a:pPr>
            <a:r>
              <a:rPr lang="en-US" sz="3000" dirty="0">
                <a:latin typeface="Open Sans" panose="020B0606030504020204" pitchFamily="34" charset="0"/>
                <a:ea typeface="Open Sans" panose="020B0606030504020204" pitchFamily="34" charset="0"/>
                <a:cs typeface="Open Sans" panose="020B0606030504020204" pitchFamily="34" charset="0"/>
              </a:rPr>
              <a:t>COMPLETE JAVA MASTERCLASS</a:t>
            </a:r>
          </a:p>
          <a:p>
            <a:pPr algn="l">
              <a:defRPr sz="3000">
                <a:latin typeface="Alright Sans"/>
                <a:ea typeface="Alright Sans"/>
                <a:cs typeface="Alright Sans"/>
                <a:sym typeface="Alright Sans"/>
              </a:defRPr>
            </a:pPr>
            <a:r>
              <a:rPr lang="en-US" sz="4500" dirty="0">
                <a:latin typeface="Open Sans" panose="020B0606030504020204" pitchFamily="34" charset="0"/>
                <a:ea typeface="Open Sans" panose="020B0606030504020204" pitchFamily="34" charset="0"/>
                <a:cs typeface="Open Sans" panose="020B0606030504020204" pitchFamily="34" charset="0"/>
              </a:rPr>
              <a:t>The Most Confusing of the Method References</a:t>
            </a:r>
          </a:p>
        </p:txBody>
      </p:sp>
      <p:sp>
        <p:nvSpPr>
          <p:cNvPr id="8" name="Rectangle 7">
            <a:extLst>
              <a:ext uri="{FF2B5EF4-FFF2-40B4-BE49-F238E27FC236}">
                <a16:creationId xmlns:a16="http://schemas.microsoft.com/office/drawing/2014/main" id="{89DBB243-EF27-4345-872D-E76597E95619}"/>
              </a:ext>
            </a:extLst>
          </p:cNvPr>
          <p:cNvSpPr/>
          <p:nvPr/>
        </p:nvSpPr>
        <p:spPr>
          <a:xfrm>
            <a:off x="952501" y="4285904"/>
            <a:ext cx="34782670" cy="11880176"/>
          </a:xfrm>
          <a:prstGeom prst="rect">
            <a:avLst/>
          </a:prstGeom>
        </p:spPr>
        <p:txBody>
          <a:bodyPr wrap="square">
            <a:normAutofit/>
          </a:bodyPr>
          <a:lstStyle/>
          <a:p>
            <a:pPr algn="l">
              <a:spcAft>
                <a:spcPts val="5022"/>
              </a:spcAft>
            </a:pPr>
            <a:r>
              <a:rPr lang="en-US" sz="6400" dirty="0">
                <a:latin typeface="Open Sans" panose="020B0606030504020204" pitchFamily="34" charset="0"/>
                <a:ea typeface="Open Sans" panose="020B0606030504020204" pitchFamily="34" charset="0"/>
                <a:cs typeface="Open Sans" panose="020B0606030504020204" pitchFamily="34" charset="0"/>
              </a:rPr>
              <a:t>This chart shows the four different types of method references, with method reference examples, and a corresponding lambda expression.</a:t>
            </a:r>
          </a:p>
        </p:txBody>
      </p:sp>
      <p:graphicFrame>
        <p:nvGraphicFramePr>
          <p:cNvPr id="2" name="Table 1">
            <a:extLst>
              <a:ext uri="{FF2B5EF4-FFF2-40B4-BE49-F238E27FC236}">
                <a16:creationId xmlns:a16="http://schemas.microsoft.com/office/drawing/2014/main" id="{9EB9BD54-4E66-F3FA-E594-AF025B46A4B5}"/>
              </a:ext>
            </a:extLst>
          </p:cNvPr>
          <p:cNvGraphicFramePr>
            <a:graphicFrameLocks noGrp="1"/>
          </p:cNvGraphicFramePr>
          <p:nvPr/>
        </p:nvGraphicFramePr>
        <p:xfrm>
          <a:off x="952500" y="7087764"/>
          <a:ext cx="34782668" cy="6886713"/>
        </p:xfrm>
        <a:graphic>
          <a:graphicData uri="http://schemas.openxmlformats.org/drawingml/2006/table">
            <a:tbl>
              <a:tblPr firstRow="1" bandRow="1">
                <a:tableStyleId>{5C22544A-7EE6-4342-B048-85BDC9FD1C3A}</a:tableStyleId>
              </a:tblPr>
              <a:tblGrid>
                <a:gridCol w="6549312">
                  <a:extLst>
                    <a:ext uri="{9D8B030D-6E8A-4147-A177-3AD203B41FA5}">
                      <a16:colId xmlns:a16="http://schemas.microsoft.com/office/drawing/2014/main" val="2844207666"/>
                    </a:ext>
                  </a:extLst>
                </a:gridCol>
                <a:gridCol w="13977257">
                  <a:extLst>
                    <a:ext uri="{9D8B030D-6E8A-4147-A177-3AD203B41FA5}">
                      <a16:colId xmlns:a16="http://schemas.microsoft.com/office/drawing/2014/main" val="1891655341"/>
                    </a:ext>
                  </a:extLst>
                </a:gridCol>
                <a:gridCol w="6027576">
                  <a:extLst>
                    <a:ext uri="{9D8B030D-6E8A-4147-A177-3AD203B41FA5}">
                      <a16:colId xmlns:a16="http://schemas.microsoft.com/office/drawing/2014/main" val="2017387083"/>
                    </a:ext>
                  </a:extLst>
                </a:gridCol>
                <a:gridCol w="8228523">
                  <a:extLst>
                    <a:ext uri="{9D8B030D-6E8A-4147-A177-3AD203B41FA5}">
                      <a16:colId xmlns:a16="http://schemas.microsoft.com/office/drawing/2014/main" val="1020653276"/>
                    </a:ext>
                  </a:extLst>
                </a:gridCol>
              </a:tblGrid>
              <a:tr h="1188487">
                <a:tc>
                  <a:txBody>
                    <a:bodyPr/>
                    <a:lstStyle/>
                    <a:p>
                      <a:pPr marL="180000" algn="l"/>
                      <a:r>
                        <a:rPr lang="en-US" sz="4800" dirty="0">
                          <a:solidFill>
                            <a:schemeClr val="tx1"/>
                          </a:solidFill>
                          <a:latin typeface="Open Sans" panose="020B0606030504020204" pitchFamily="34" charset="0"/>
                          <a:ea typeface="Open Sans" panose="020B0606030504020204" pitchFamily="34" charset="0"/>
                          <a:cs typeface="Open Sans" panose="020B0606030504020204" pitchFamily="34" charset="0"/>
                        </a:rPr>
                        <a:t>Type</a:t>
                      </a:r>
                      <a:endParaRPr lang="en-PH" sz="4800" dirty="0">
                        <a:solidFill>
                          <a:schemeClr val="tx1"/>
                        </a:solidFill>
                        <a:latin typeface="Open Sans" panose="020B0606030504020204" pitchFamily="34" charset="0"/>
                        <a:ea typeface="Open Sans" panose="020B0606030504020204" pitchFamily="34" charset="0"/>
                        <a:cs typeface="Open Sans" panose="020B0606030504020204" pitchFamily="34" charset="0"/>
                      </a:endParaRPr>
                    </a:p>
                  </a:txBody>
                  <a:tcPr marL="86794" marR="86794" marT="43397" marB="43397">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BE4D5"/>
                    </a:solidFill>
                  </a:tcPr>
                </a:tc>
                <a:tc>
                  <a:txBody>
                    <a:bodyPr/>
                    <a:lstStyle/>
                    <a:p>
                      <a:pPr marL="180000" algn="l"/>
                      <a:r>
                        <a:rPr lang="en-US" sz="4800" dirty="0">
                          <a:solidFill>
                            <a:schemeClr val="tx1"/>
                          </a:solidFill>
                          <a:latin typeface="Open Sans" panose="020B0606030504020204" pitchFamily="34" charset="0"/>
                          <a:ea typeface="Open Sans" panose="020B0606030504020204" pitchFamily="34" charset="0"/>
                          <a:cs typeface="Open Sans" panose="020B0606030504020204" pitchFamily="34" charset="0"/>
                        </a:rPr>
                        <a:t>Syntax</a:t>
                      </a:r>
                      <a:endParaRPr lang="en-PH" sz="4800" dirty="0">
                        <a:solidFill>
                          <a:schemeClr val="tx1"/>
                        </a:solidFill>
                        <a:latin typeface="Open Sans" panose="020B0606030504020204" pitchFamily="34" charset="0"/>
                        <a:ea typeface="Open Sans" panose="020B0606030504020204" pitchFamily="34" charset="0"/>
                        <a:cs typeface="Open Sans" panose="020B0606030504020204" pitchFamily="34" charset="0"/>
                      </a:endParaRPr>
                    </a:p>
                  </a:txBody>
                  <a:tcPr marL="86794" marR="86794" marT="43397" marB="43397">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BE4D5"/>
                    </a:solidFill>
                  </a:tcPr>
                </a:tc>
                <a:tc>
                  <a:txBody>
                    <a:bodyPr/>
                    <a:lstStyle/>
                    <a:p>
                      <a:pPr marL="180000" algn="l"/>
                      <a:r>
                        <a:rPr lang="en-US" sz="4800" dirty="0">
                          <a:solidFill>
                            <a:schemeClr val="tx1"/>
                          </a:solidFill>
                          <a:latin typeface="Open Sans" panose="020B0606030504020204" pitchFamily="34" charset="0"/>
                          <a:ea typeface="Open Sans" panose="020B0606030504020204" pitchFamily="34" charset="0"/>
                          <a:cs typeface="Open Sans" panose="020B0606030504020204" pitchFamily="34" charset="0"/>
                        </a:rPr>
                        <a:t>Method Reference Example</a:t>
                      </a:r>
                      <a:endParaRPr lang="en-PH" sz="4800" dirty="0">
                        <a:solidFill>
                          <a:schemeClr val="tx1"/>
                        </a:solidFill>
                        <a:latin typeface="Open Sans" panose="020B0606030504020204" pitchFamily="34" charset="0"/>
                        <a:ea typeface="Open Sans" panose="020B0606030504020204" pitchFamily="34" charset="0"/>
                        <a:cs typeface="Open Sans" panose="020B0606030504020204" pitchFamily="34" charset="0"/>
                      </a:endParaRPr>
                    </a:p>
                  </a:txBody>
                  <a:tcPr marL="86794" marR="86794" marT="43397" marB="43397">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BE4D5"/>
                    </a:solidFill>
                  </a:tcPr>
                </a:tc>
                <a:tc>
                  <a:txBody>
                    <a:bodyPr/>
                    <a:lstStyle/>
                    <a:p>
                      <a:pPr marL="180000" algn="l"/>
                      <a:r>
                        <a:rPr lang="en-US" sz="4800" dirty="0">
                          <a:solidFill>
                            <a:schemeClr val="tx1"/>
                          </a:solidFill>
                          <a:latin typeface="Open Sans" panose="020B0606030504020204" pitchFamily="34" charset="0"/>
                          <a:ea typeface="Open Sans" panose="020B0606030504020204" pitchFamily="34" charset="0"/>
                          <a:cs typeface="Open Sans" panose="020B0606030504020204" pitchFamily="34" charset="0"/>
                        </a:rPr>
                        <a:t>Corresponding Lambda Expression</a:t>
                      </a:r>
                      <a:endParaRPr lang="en-PH" sz="4800" dirty="0">
                        <a:solidFill>
                          <a:schemeClr val="tx1"/>
                        </a:solidFill>
                        <a:latin typeface="Open Sans" panose="020B0606030504020204" pitchFamily="34" charset="0"/>
                        <a:ea typeface="Open Sans" panose="020B0606030504020204" pitchFamily="34" charset="0"/>
                        <a:cs typeface="Open Sans" panose="020B0606030504020204" pitchFamily="34" charset="0"/>
                      </a:endParaRPr>
                    </a:p>
                  </a:txBody>
                  <a:tcPr marL="86794" marR="86794" marT="43397" marB="43397">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BE4D5"/>
                    </a:solidFill>
                  </a:tcPr>
                </a:tc>
                <a:extLst>
                  <a:ext uri="{0D108BD9-81ED-4DB2-BD59-A6C34878D82A}">
                    <a16:rowId xmlns:a16="http://schemas.microsoft.com/office/drawing/2014/main" val="3978129174"/>
                  </a:ext>
                </a:extLst>
              </a:tr>
              <a:tr h="1418253">
                <a:tc>
                  <a:txBody>
                    <a:bodyPr/>
                    <a:lstStyle/>
                    <a:p>
                      <a:pPr marL="180000" marR="0" lvl="0" indent="0" algn="l" defTabSz="914400" rtl="0" eaLnBrk="1" fontAlgn="auto" latinLnBrk="0" hangingPunct="1">
                        <a:lnSpc>
                          <a:spcPct val="100000"/>
                        </a:lnSpc>
                        <a:spcBef>
                          <a:spcPts val="0"/>
                        </a:spcBef>
                        <a:spcAft>
                          <a:spcPts val="1000"/>
                        </a:spcAft>
                        <a:buClr>
                          <a:srgbClr val="000000"/>
                        </a:buClr>
                        <a:buSzTx/>
                        <a:buFont typeface="Arial" panose="020B0604020202020204" pitchFamily="34" charset="0"/>
                        <a:buNone/>
                        <a:tabLst/>
                        <a:defRPr/>
                      </a:pPr>
                      <a:r>
                        <a:rPr lang="en-US" sz="3200" b="0" dirty="0">
                          <a:solidFill>
                            <a:schemeClr val="tx1"/>
                          </a:solidFill>
                          <a:latin typeface="Open Sans" panose="020B0606030504020204" pitchFamily="34" charset="0"/>
                          <a:ea typeface="Open Sans" panose="020B0606030504020204" pitchFamily="34" charset="0"/>
                          <a:cs typeface="Open Sans" panose="020B0606030504020204" pitchFamily="34" charset="0"/>
                        </a:rPr>
                        <a:t>static method</a:t>
                      </a:r>
                    </a:p>
                  </a:txBody>
                  <a:tcPr marL="86794" marR="86794" marT="43397" marB="43397">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180000" marR="0" lvl="0" indent="0" algn="l" defTabSz="914400" rtl="0" eaLnBrk="1" fontAlgn="auto" latinLnBrk="0" hangingPunct="1">
                        <a:lnSpc>
                          <a:spcPct val="100000"/>
                        </a:lnSpc>
                        <a:spcBef>
                          <a:spcPts val="0"/>
                        </a:spcBef>
                        <a:spcAft>
                          <a:spcPts val="1000"/>
                        </a:spcAft>
                        <a:buClr>
                          <a:srgbClr val="000000"/>
                        </a:buClr>
                        <a:buSzTx/>
                        <a:buFont typeface="Arial" panose="020B0604020202020204" pitchFamily="34" charset="0"/>
                        <a:buNone/>
                        <a:tabLst/>
                        <a:defRPr/>
                      </a:pPr>
                      <a:endParaRPr lang="en-US" sz="3200" b="0" dirty="0">
                        <a:solidFill>
                          <a:schemeClr val="tx1"/>
                        </a:solidFill>
                        <a:latin typeface="Open Sans" panose="020B0606030504020204" pitchFamily="34" charset="0"/>
                        <a:ea typeface="Open Sans" panose="020B0606030504020204" pitchFamily="34" charset="0"/>
                        <a:cs typeface="Open Sans" panose="020B0606030504020204" pitchFamily="34" charset="0"/>
                      </a:endParaRPr>
                    </a:p>
                  </a:txBody>
                  <a:tcPr marL="86794" marR="86794" marT="43397" marB="43397">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180000" marR="0" lvl="0" indent="0" algn="l" defTabSz="914400" rtl="0" eaLnBrk="1" fontAlgn="auto" latinLnBrk="0" hangingPunct="1">
                        <a:lnSpc>
                          <a:spcPct val="100000"/>
                        </a:lnSpc>
                        <a:spcBef>
                          <a:spcPts val="0"/>
                        </a:spcBef>
                        <a:spcAft>
                          <a:spcPts val="1000"/>
                        </a:spcAft>
                        <a:buClr>
                          <a:srgbClr val="000000"/>
                        </a:buClr>
                        <a:buSzTx/>
                        <a:buFont typeface="Arial" panose="020B0604020202020204" pitchFamily="34" charset="0"/>
                        <a:buNone/>
                        <a:tabLst/>
                        <a:defRPr/>
                      </a:pPr>
                      <a:endParaRPr lang="en-US" sz="3200" b="0" dirty="0">
                        <a:solidFill>
                          <a:schemeClr val="tx1"/>
                        </a:solidFill>
                        <a:latin typeface="Open Sans" panose="020B0606030504020204" pitchFamily="34" charset="0"/>
                        <a:ea typeface="Open Sans" panose="020B0606030504020204" pitchFamily="34" charset="0"/>
                        <a:cs typeface="Open Sans" panose="020B0606030504020204" pitchFamily="34" charset="0"/>
                      </a:endParaRPr>
                    </a:p>
                  </a:txBody>
                  <a:tcPr marL="86794" marR="86794" marT="43397" marB="43397">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180000" marR="0" lvl="0" indent="0" algn="l" defTabSz="914400" rtl="0" eaLnBrk="1" fontAlgn="auto" latinLnBrk="0" hangingPunct="1">
                        <a:lnSpc>
                          <a:spcPct val="100000"/>
                        </a:lnSpc>
                        <a:spcBef>
                          <a:spcPts val="0"/>
                        </a:spcBef>
                        <a:spcAft>
                          <a:spcPts val="1000"/>
                        </a:spcAft>
                        <a:buClr>
                          <a:srgbClr val="000000"/>
                        </a:buClr>
                        <a:buSzTx/>
                        <a:buFont typeface="Arial" panose="020B0604020202020204" pitchFamily="34" charset="0"/>
                        <a:buNone/>
                        <a:tabLst/>
                        <a:defRPr/>
                      </a:pPr>
                      <a:endParaRPr lang="en-US" sz="3200" b="0" dirty="0">
                        <a:solidFill>
                          <a:schemeClr val="tx1"/>
                        </a:solidFill>
                        <a:latin typeface="Open Sans" panose="020B0606030504020204" pitchFamily="34" charset="0"/>
                        <a:ea typeface="Open Sans" panose="020B0606030504020204" pitchFamily="34" charset="0"/>
                        <a:cs typeface="Open Sans" panose="020B0606030504020204" pitchFamily="34" charset="0"/>
                      </a:endParaRPr>
                    </a:p>
                  </a:txBody>
                  <a:tcPr marL="86794" marR="86794" marT="43397" marB="43397">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640325450"/>
                  </a:ext>
                </a:extLst>
              </a:tr>
              <a:tr h="1418253">
                <a:tc>
                  <a:txBody>
                    <a:bodyPr/>
                    <a:lstStyle/>
                    <a:p>
                      <a:pPr marL="180000" marR="0" lvl="0" indent="0" algn="l" defTabSz="914400" rtl="0" eaLnBrk="1" fontAlgn="auto" latinLnBrk="0" hangingPunct="1">
                        <a:lnSpc>
                          <a:spcPct val="100000"/>
                        </a:lnSpc>
                        <a:spcBef>
                          <a:spcPts val="0"/>
                        </a:spcBef>
                        <a:spcAft>
                          <a:spcPts val="1000"/>
                        </a:spcAft>
                        <a:buClr>
                          <a:srgbClr val="000000"/>
                        </a:buClr>
                        <a:buSzTx/>
                        <a:buFont typeface="Arial" panose="020B0604020202020204" pitchFamily="34" charset="0"/>
                        <a:buNone/>
                        <a:tabLst/>
                        <a:defRPr/>
                      </a:pPr>
                      <a:r>
                        <a:rPr lang="en-US" sz="3200" b="0" dirty="0">
                          <a:solidFill>
                            <a:schemeClr val="tx1"/>
                          </a:solidFill>
                          <a:latin typeface="Open Sans" panose="020B0606030504020204" pitchFamily="34" charset="0"/>
                          <a:ea typeface="Open Sans" panose="020B0606030504020204" pitchFamily="34" charset="0"/>
                          <a:cs typeface="Open Sans" panose="020B0606030504020204" pitchFamily="34" charset="0"/>
                        </a:rPr>
                        <a:t>instance method of a particular (Bounded) object</a:t>
                      </a:r>
                    </a:p>
                  </a:txBody>
                  <a:tcPr marL="86794" marR="86794" marT="43397" marB="43397">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180000" marR="0" lvl="0" indent="0" algn="l" defTabSz="914400" rtl="0" eaLnBrk="1" fontAlgn="auto" latinLnBrk="0" hangingPunct="1">
                        <a:lnSpc>
                          <a:spcPct val="100000"/>
                        </a:lnSpc>
                        <a:spcBef>
                          <a:spcPts val="0"/>
                        </a:spcBef>
                        <a:spcAft>
                          <a:spcPts val="1000"/>
                        </a:spcAft>
                        <a:buClr>
                          <a:srgbClr val="000000"/>
                        </a:buClr>
                        <a:buSzTx/>
                        <a:buFont typeface="Arial" panose="020B0604020202020204" pitchFamily="34" charset="0"/>
                        <a:buNone/>
                        <a:tabLst/>
                        <a:defRPr/>
                      </a:pPr>
                      <a:endParaRPr lang="en-US" sz="3200" b="0" dirty="0">
                        <a:solidFill>
                          <a:schemeClr val="tx1"/>
                        </a:solidFill>
                        <a:latin typeface="Open Sans" panose="020B0606030504020204" pitchFamily="34" charset="0"/>
                        <a:ea typeface="Open Sans" panose="020B0606030504020204" pitchFamily="34" charset="0"/>
                        <a:cs typeface="Open Sans" panose="020B0606030504020204" pitchFamily="34" charset="0"/>
                      </a:endParaRPr>
                    </a:p>
                  </a:txBody>
                  <a:tcPr marL="86794" marR="86794" marT="43397" marB="43397">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180000" marR="0" lvl="0" indent="0" algn="l" defTabSz="914400" rtl="0" eaLnBrk="1" fontAlgn="auto" latinLnBrk="0" hangingPunct="1">
                        <a:lnSpc>
                          <a:spcPct val="100000"/>
                        </a:lnSpc>
                        <a:spcBef>
                          <a:spcPts val="0"/>
                        </a:spcBef>
                        <a:spcAft>
                          <a:spcPts val="1000"/>
                        </a:spcAft>
                        <a:buClr>
                          <a:srgbClr val="000000"/>
                        </a:buClr>
                        <a:buSzTx/>
                        <a:buFont typeface="Arial" panose="020B0604020202020204" pitchFamily="34" charset="0"/>
                        <a:buNone/>
                        <a:tabLst/>
                        <a:defRPr/>
                      </a:pPr>
                      <a:endParaRPr lang="en-US" sz="3200" b="0" dirty="0">
                        <a:solidFill>
                          <a:schemeClr val="tx1"/>
                        </a:solidFill>
                        <a:latin typeface="Open Sans" panose="020B0606030504020204" pitchFamily="34" charset="0"/>
                        <a:ea typeface="Open Sans" panose="020B0606030504020204" pitchFamily="34" charset="0"/>
                        <a:cs typeface="Open Sans" panose="020B0606030504020204" pitchFamily="34" charset="0"/>
                      </a:endParaRPr>
                    </a:p>
                  </a:txBody>
                  <a:tcPr marL="86794" marR="86794" marT="43397" marB="43397">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180000" marR="0" lvl="0" indent="0" algn="l" defTabSz="914400" rtl="0" eaLnBrk="1" fontAlgn="auto" latinLnBrk="0" hangingPunct="1">
                        <a:lnSpc>
                          <a:spcPct val="100000"/>
                        </a:lnSpc>
                        <a:spcBef>
                          <a:spcPts val="0"/>
                        </a:spcBef>
                        <a:spcAft>
                          <a:spcPts val="1000"/>
                        </a:spcAft>
                        <a:buClr>
                          <a:srgbClr val="000000"/>
                        </a:buClr>
                        <a:buSzTx/>
                        <a:buFont typeface="Arial" panose="020B0604020202020204" pitchFamily="34" charset="0"/>
                        <a:buNone/>
                        <a:tabLst/>
                        <a:defRPr/>
                      </a:pPr>
                      <a:endParaRPr lang="en-US" sz="3200" b="0" dirty="0">
                        <a:solidFill>
                          <a:schemeClr val="tx1"/>
                        </a:solidFill>
                        <a:latin typeface="Open Sans" panose="020B0606030504020204" pitchFamily="34" charset="0"/>
                        <a:ea typeface="Open Sans" panose="020B0606030504020204" pitchFamily="34" charset="0"/>
                        <a:cs typeface="Open Sans" panose="020B0606030504020204" pitchFamily="34" charset="0"/>
                      </a:endParaRPr>
                    </a:p>
                  </a:txBody>
                  <a:tcPr marL="86794" marR="86794" marT="43397" marB="43397">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521613951"/>
                  </a:ext>
                </a:extLst>
              </a:tr>
              <a:tr h="1418253">
                <a:tc>
                  <a:txBody>
                    <a:bodyPr/>
                    <a:lstStyle/>
                    <a:p>
                      <a:pPr marL="180000" marR="0" lvl="0" indent="0" algn="l" defTabSz="914400" rtl="0" eaLnBrk="1" fontAlgn="auto" latinLnBrk="0" hangingPunct="1">
                        <a:lnSpc>
                          <a:spcPct val="100000"/>
                        </a:lnSpc>
                        <a:spcBef>
                          <a:spcPts val="0"/>
                        </a:spcBef>
                        <a:spcAft>
                          <a:spcPts val="1000"/>
                        </a:spcAft>
                        <a:buClr>
                          <a:srgbClr val="000000"/>
                        </a:buClr>
                        <a:buSzTx/>
                        <a:buFont typeface="Arial" panose="020B0604020202020204" pitchFamily="34" charset="0"/>
                        <a:buNone/>
                        <a:tabLst/>
                        <a:defRPr/>
                      </a:pPr>
                      <a:r>
                        <a:rPr lang="en-US" sz="3200" b="0" dirty="0">
                          <a:solidFill>
                            <a:schemeClr val="tx1"/>
                          </a:solidFill>
                          <a:latin typeface="Open Sans" panose="020B0606030504020204" pitchFamily="34" charset="0"/>
                          <a:ea typeface="Open Sans" panose="020B0606030504020204" pitchFamily="34" charset="0"/>
                          <a:cs typeface="Open Sans" panose="020B0606030504020204" pitchFamily="34" charset="0"/>
                        </a:rPr>
                        <a:t>instance method of an arbitrary (Unbounded) object (as determined by p1)</a:t>
                      </a:r>
                    </a:p>
                  </a:txBody>
                  <a:tcPr marL="86794" marR="86794" marT="43397" marB="43397">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180000" marR="0" lvl="0" indent="0" algn="l" defTabSz="914400" rtl="0" eaLnBrk="1" fontAlgn="auto" latinLnBrk="0" hangingPunct="1">
                        <a:lnSpc>
                          <a:spcPct val="100000"/>
                        </a:lnSpc>
                        <a:spcBef>
                          <a:spcPts val="0"/>
                        </a:spcBef>
                        <a:spcAft>
                          <a:spcPts val="1000"/>
                        </a:spcAft>
                        <a:buClr>
                          <a:srgbClr val="000000"/>
                        </a:buClr>
                        <a:buSzTx/>
                        <a:buFont typeface="Arial" panose="020B0604020202020204" pitchFamily="34" charset="0"/>
                        <a:buNone/>
                        <a:tabLst/>
                        <a:defRPr/>
                      </a:pPr>
                      <a:endParaRPr lang="en-US" sz="3200" b="0" dirty="0">
                        <a:solidFill>
                          <a:schemeClr val="tx1"/>
                        </a:solidFill>
                        <a:latin typeface="Open Sans" panose="020B0606030504020204" pitchFamily="34" charset="0"/>
                        <a:ea typeface="Open Sans" panose="020B0606030504020204" pitchFamily="34" charset="0"/>
                        <a:cs typeface="Open Sans" panose="020B0606030504020204" pitchFamily="34" charset="0"/>
                      </a:endParaRPr>
                    </a:p>
                  </a:txBody>
                  <a:tcPr marL="86794" marR="86794" marT="43397" marB="43397">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180000" marR="0" lvl="0" indent="0" algn="l" defTabSz="914400" rtl="0" eaLnBrk="1" fontAlgn="auto" latinLnBrk="0" hangingPunct="1">
                        <a:lnSpc>
                          <a:spcPct val="100000"/>
                        </a:lnSpc>
                        <a:spcBef>
                          <a:spcPts val="0"/>
                        </a:spcBef>
                        <a:spcAft>
                          <a:spcPts val="1000"/>
                        </a:spcAft>
                        <a:buClr>
                          <a:srgbClr val="000000"/>
                        </a:buClr>
                        <a:buSzTx/>
                        <a:buFont typeface="Arial" panose="020B0604020202020204" pitchFamily="34" charset="0"/>
                        <a:buNone/>
                        <a:tabLst/>
                        <a:defRPr/>
                      </a:pPr>
                      <a:endParaRPr lang="en-US" sz="3200" b="0" dirty="0">
                        <a:solidFill>
                          <a:schemeClr val="tx1"/>
                        </a:solidFill>
                        <a:latin typeface="Open Sans" panose="020B0606030504020204" pitchFamily="34" charset="0"/>
                        <a:ea typeface="Open Sans" panose="020B0606030504020204" pitchFamily="34" charset="0"/>
                        <a:cs typeface="Open Sans" panose="020B0606030504020204" pitchFamily="34" charset="0"/>
                      </a:endParaRPr>
                    </a:p>
                  </a:txBody>
                  <a:tcPr marL="86794" marR="86794" marT="43397" marB="43397">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180000" marR="0" lvl="0" indent="0" algn="l" defTabSz="914400" rtl="0" eaLnBrk="1" fontAlgn="auto" latinLnBrk="0" hangingPunct="1">
                        <a:lnSpc>
                          <a:spcPct val="100000"/>
                        </a:lnSpc>
                        <a:spcBef>
                          <a:spcPts val="0"/>
                        </a:spcBef>
                        <a:spcAft>
                          <a:spcPts val="1000"/>
                        </a:spcAft>
                        <a:buClr>
                          <a:srgbClr val="000000"/>
                        </a:buClr>
                        <a:buSzTx/>
                        <a:buFont typeface="Arial" panose="020B0604020202020204" pitchFamily="34" charset="0"/>
                        <a:buNone/>
                        <a:tabLst/>
                        <a:defRPr/>
                      </a:pPr>
                      <a:endParaRPr lang="en-US" sz="3200" b="0" dirty="0">
                        <a:solidFill>
                          <a:schemeClr val="tx1"/>
                        </a:solidFill>
                        <a:latin typeface="Open Sans" panose="020B0606030504020204" pitchFamily="34" charset="0"/>
                        <a:ea typeface="Open Sans" panose="020B0606030504020204" pitchFamily="34" charset="0"/>
                        <a:cs typeface="Open Sans" panose="020B0606030504020204" pitchFamily="34" charset="0"/>
                      </a:endParaRPr>
                    </a:p>
                  </a:txBody>
                  <a:tcPr marL="86794" marR="86794" marT="43397" marB="43397">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74654465"/>
                  </a:ext>
                </a:extLst>
              </a:tr>
              <a:tr h="950539">
                <a:tc>
                  <a:txBody>
                    <a:bodyPr/>
                    <a:lstStyle/>
                    <a:p>
                      <a:pPr marL="180000" marR="0" lvl="0" indent="0" algn="l" defTabSz="914400" rtl="0" eaLnBrk="1" fontAlgn="auto" latinLnBrk="0" hangingPunct="1">
                        <a:lnSpc>
                          <a:spcPct val="100000"/>
                        </a:lnSpc>
                        <a:spcBef>
                          <a:spcPts val="0"/>
                        </a:spcBef>
                        <a:spcAft>
                          <a:spcPts val="1000"/>
                        </a:spcAft>
                        <a:buClr>
                          <a:srgbClr val="000000"/>
                        </a:buClr>
                        <a:buSzTx/>
                        <a:buFont typeface="Arial" panose="020B0604020202020204" pitchFamily="34" charset="0"/>
                        <a:buNone/>
                        <a:tabLst/>
                        <a:defRPr/>
                      </a:pPr>
                      <a:r>
                        <a:rPr lang="en-US" sz="3200" b="0" dirty="0">
                          <a:solidFill>
                            <a:schemeClr val="tx1"/>
                          </a:solidFill>
                          <a:latin typeface="Open Sans" panose="020B0606030504020204" pitchFamily="34" charset="0"/>
                          <a:ea typeface="Open Sans" panose="020B0606030504020204" pitchFamily="34" charset="0"/>
                          <a:cs typeface="Open Sans" panose="020B0606030504020204" pitchFamily="34" charset="0"/>
                        </a:rPr>
                        <a:t>constructor</a:t>
                      </a:r>
                    </a:p>
                  </a:txBody>
                  <a:tcPr marL="86794" marR="86794" marT="43397" marB="43397">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180000" marR="0" lvl="0" indent="0" algn="l" defTabSz="914400" rtl="0" eaLnBrk="1" fontAlgn="auto" latinLnBrk="0" hangingPunct="1">
                        <a:lnSpc>
                          <a:spcPct val="100000"/>
                        </a:lnSpc>
                        <a:spcBef>
                          <a:spcPts val="0"/>
                        </a:spcBef>
                        <a:spcAft>
                          <a:spcPts val="1000"/>
                        </a:spcAft>
                        <a:buClr>
                          <a:srgbClr val="000000"/>
                        </a:buClr>
                        <a:buSzTx/>
                        <a:buFont typeface="Arial" panose="020B0604020202020204" pitchFamily="34" charset="0"/>
                        <a:buNone/>
                        <a:tabLst/>
                        <a:defRPr/>
                      </a:pPr>
                      <a:endParaRPr lang="en-US" sz="3200" b="0" dirty="0">
                        <a:solidFill>
                          <a:schemeClr val="tx1"/>
                        </a:solidFill>
                        <a:latin typeface="Open Sans" panose="020B0606030504020204" pitchFamily="34" charset="0"/>
                        <a:ea typeface="Open Sans" panose="020B0606030504020204" pitchFamily="34" charset="0"/>
                        <a:cs typeface="Open Sans" panose="020B0606030504020204" pitchFamily="34" charset="0"/>
                      </a:endParaRPr>
                    </a:p>
                  </a:txBody>
                  <a:tcPr marL="86794" marR="86794" marT="43397" marB="43397">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180000" marR="0" lvl="0" indent="0" algn="l" defTabSz="914400" rtl="0" eaLnBrk="1" fontAlgn="auto" latinLnBrk="0" hangingPunct="1">
                        <a:lnSpc>
                          <a:spcPct val="100000"/>
                        </a:lnSpc>
                        <a:spcBef>
                          <a:spcPts val="0"/>
                        </a:spcBef>
                        <a:spcAft>
                          <a:spcPts val="1000"/>
                        </a:spcAft>
                        <a:buClr>
                          <a:srgbClr val="000000"/>
                        </a:buClr>
                        <a:buSzTx/>
                        <a:buFont typeface="Arial" panose="020B0604020202020204" pitchFamily="34" charset="0"/>
                        <a:buNone/>
                        <a:tabLst/>
                        <a:defRPr/>
                      </a:pPr>
                      <a:endParaRPr lang="en-US" sz="3200" b="0" dirty="0">
                        <a:solidFill>
                          <a:schemeClr val="tx1"/>
                        </a:solidFill>
                        <a:latin typeface="Open Sans" panose="020B0606030504020204" pitchFamily="34" charset="0"/>
                        <a:ea typeface="Open Sans" panose="020B0606030504020204" pitchFamily="34" charset="0"/>
                        <a:cs typeface="Open Sans" panose="020B0606030504020204" pitchFamily="34" charset="0"/>
                      </a:endParaRPr>
                    </a:p>
                  </a:txBody>
                  <a:tcPr marL="86794" marR="86794" marT="43397" marB="43397">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180000" marR="0" lvl="0" indent="0" algn="l" defTabSz="914400" rtl="0" eaLnBrk="1" fontAlgn="auto" latinLnBrk="0" hangingPunct="1">
                        <a:lnSpc>
                          <a:spcPct val="100000"/>
                        </a:lnSpc>
                        <a:spcBef>
                          <a:spcPts val="0"/>
                        </a:spcBef>
                        <a:spcAft>
                          <a:spcPts val="1000"/>
                        </a:spcAft>
                        <a:buClr>
                          <a:srgbClr val="000000"/>
                        </a:buClr>
                        <a:buSzTx/>
                        <a:buFont typeface="Arial" panose="020B0604020202020204" pitchFamily="34" charset="0"/>
                        <a:buNone/>
                        <a:tabLst/>
                        <a:defRPr/>
                      </a:pPr>
                      <a:endParaRPr lang="en-US" sz="3200" b="0" dirty="0">
                        <a:solidFill>
                          <a:schemeClr val="tx1"/>
                        </a:solidFill>
                        <a:latin typeface="Open Sans" panose="020B0606030504020204" pitchFamily="34" charset="0"/>
                        <a:ea typeface="Open Sans" panose="020B0606030504020204" pitchFamily="34" charset="0"/>
                        <a:cs typeface="Open Sans" panose="020B0606030504020204" pitchFamily="34" charset="0"/>
                      </a:endParaRPr>
                    </a:p>
                  </a:txBody>
                  <a:tcPr marL="86794" marR="86794" marT="43397" marB="43397">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267098654"/>
                  </a:ext>
                </a:extLst>
              </a:tr>
            </a:tbl>
          </a:graphicData>
        </a:graphic>
      </p:graphicFrame>
      <p:pic>
        <p:nvPicPr>
          <p:cNvPr id="4" name="Picture 3">
            <a:extLst>
              <a:ext uri="{FF2B5EF4-FFF2-40B4-BE49-F238E27FC236}">
                <a16:creationId xmlns:a16="http://schemas.microsoft.com/office/drawing/2014/main" id="{BBBA9B74-7740-5D65-F1B5-BF754B4428A7}"/>
              </a:ext>
            </a:extLst>
          </p:cNvPr>
          <p:cNvPicPr>
            <a:picLocks noChangeAspect="1"/>
          </p:cNvPicPr>
          <p:nvPr/>
        </p:nvPicPr>
        <p:blipFill>
          <a:blip r:embed="rId4"/>
          <a:stretch>
            <a:fillRect/>
          </a:stretch>
        </p:blipFill>
        <p:spPr>
          <a:xfrm>
            <a:off x="21672828" y="8768260"/>
            <a:ext cx="3153334" cy="502857"/>
          </a:xfrm>
          <a:prstGeom prst="rect">
            <a:avLst/>
          </a:prstGeom>
        </p:spPr>
      </p:pic>
      <p:pic>
        <p:nvPicPr>
          <p:cNvPr id="6" name="Picture 5">
            <a:extLst>
              <a:ext uri="{FF2B5EF4-FFF2-40B4-BE49-F238E27FC236}">
                <a16:creationId xmlns:a16="http://schemas.microsoft.com/office/drawing/2014/main" id="{9132B6D8-094F-1E5B-163E-9F373CF170B8}"/>
              </a:ext>
            </a:extLst>
          </p:cNvPr>
          <p:cNvPicPr>
            <a:picLocks noChangeAspect="1"/>
          </p:cNvPicPr>
          <p:nvPr/>
        </p:nvPicPr>
        <p:blipFill>
          <a:blip r:embed="rId5"/>
          <a:stretch>
            <a:fillRect/>
          </a:stretch>
        </p:blipFill>
        <p:spPr>
          <a:xfrm>
            <a:off x="21637830" y="10156769"/>
            <a:ext cx="4997143" cy="534285"/>
          </a:xfrm>
          <a:prstGeom prst="rect">
            <a:avLst/>
          </a:prstGeom>
        </p:spPr>
      </p:pic>
      <p:pic>
        <p:nvPicPr>
          <p:cNvPr id="11" name="Picture 10">
            <a:extLst>
              <a:ext uri="{FF2B5EF4-FFF2-40B4-BE49-F238E27FC236}">
                <a16:creationId xmlns:a16="http://schemas.microsoft.com/office/drawing/2014/main" id="{B0D73A4B-C0EB-2C41-C476-05948B665FDE}"/>
              </a:ext>
            </a:extLst>
          </p:cNvPr>
          <p:cNvPicPr>
            <a:picLocks noChangeAspect="1"/>
          </p:cNvPicPr>
          <p:nvPr/>
        </p:nvPicPr>
        <p:blipFill>
          <a:blip r:embed="rId6"/>
          <a:stretch>
            <a:fillRect/>
          </a:stretch>
        </p:blipFill>
        <p:spPr>
          <a:xfrm>
            <a:off x="21678751" y="11632066"/>
            <a:ext cx="3666666" cy="450476"/>
          </a:xfrm>
          <a:prstGeom prst="rect">
            <a:avLst/>
          </a:prstGeom>
        </p:spPr>
      </p:pic>
      <p:pic>
        <p:nvPicPr>
          <p:cNvPr id="13" name="Picture 12">
            <a:extLst>
              <a:ext uri="{FF2B5EF4-FFF2-40B4-BE49-F238E27FC236}">
                <a16:creationId xmlns:a16="http://schemas.microsoft.com/office/drawing/2014/main" id="{385EF0BB-88A3-6DAF-F8C3-1927513FD262}"/>
              </a:ext>
            </a:extLst>
          </p:cNvPr>
          <p:cNvPicPr>
            <a:picLocks noChangeAspect="1"/>
          </p:cNvPicPr>
          <p:nvPr/>
        </p:nvPicPr>
        <p:blipFill>
          <a:blip r:embed="rId7"/>
          <a:stretch>
            <a:fillRect/>
          </a:stretch>
        </p:blipFill>
        <p:spPr>
          <a:xfrm>
            <a:off x="21672828" y="13134687"/>
            <a:ext cx="3980953" cy="419047"/>
          </a:xfrm>
          <a:prstGeom prst="rect">
            <a:avLst/>
          </a:prstGeom>
        </p:spPr>
      </p:pic>
      <p:pic>
        <p:nvPicPr>
          <p:cNvPr id="15" name="Picture 14">
            <a:extLst>
              <a:ext uri="{FF2B5EF4-FFF2-40B4-BE49-F238E27FC236}">
                <a16:creationId xmlns:a16="http://schemas.microsoft.com/office/drawing/2014/main" id="{83E35156-6E80-8C90-DF28-537D5C97C8B2}"/>
              </a:ext>
            </a:extLst>
          </p:cNvPr>
          <p:cNvPicPr>
            <a:picLocks noChangeAspect="1"/>
          </p:cNvPicPr>
          <p:nvPr/>
        </p:nvPicPr>
        <p:blipFill>
          <a:blip r:embed="rId8"/>
          <a:stretch>
            <a:fillRect/>
          </a:stretch>
        </p:blipFill>
        <p:spPr>
          <a:xfrm>
            <a:off x="27661617" y="8774577"/>
            <a:ext cx="5238096" cy="513334"/>
          </a:xfrm>
          <a:prstGeom prst="rect">
            <a:avLst/>
          </a:prstGeom>
        </p:spPr>
      </p:pic>
      <p:pic>
        <p:nvPicPr>
          <p:cNvPr id="17" name="Picture 16">
            <a:extLst>
              <a:ext uri="{FF2B5EF4-FFF2-40B4-BE49-F238E27FC236}">
                <a16:creationId xmlns:a16="http://schemas.microsoft.com/office/drawing/2014/main" id="{79749664-4E8A-7A61-CA53-0E73A23EF7F9}"/>
              </a:ext>
            </a:extLst>
          </p:cNvPr>
          <p:cNvPicPr>
            <a:picLocks noChangeAspect="1"/>
          </p:cNvPicPr>
          <p:nvPr/>
        </p:nvPicPr>
        <p:blipFill>
          <a:blip r:embed="rId9"/>
          <a:stretch>
            <a:fillRect/>
          </a:stretch>
        </p:blipFill>
        <p:spPr>
          <a:xfrm>
            <a:off x="27691714" y="10140249"/>
            <a:ext cx="7301905" cy="534285"/>
          </a:xfrm>
          <a:prstGeom prst="rect">
            <a:avLst/>
          </a:prstGeom>
        </p:spPr>
      </p:pic>
      <p:pic>
        <p:nvPicPr>
          <p:cNvPr id="19" name="Picture 18">
            <a:extLst>
              <a:ext uri="{FF2B5EF4-FFF2-40B4-BE49-F238E27FC236}">
                <a16:creationId xmlns:a16="http://schemas.microsoft.com/office/drawing/2014/main" id="{951F8518-647E-0AE6-97AB-D76CD48BF93E}"/>
              </a:ext>
            </a:extLst>
          </p:cNvPr>
          <p:cNvPicPr>
            <a:picLocks noChangeAspect="1"/>
          </p:cNvPicPr>
          <p:nvPr/>
        </p:nvPicPr>
        <p:blipFill>
          <a:blip r:embed="rId10"/>
          <a:stretch>
            <a:fillRect/>
          </a:stretch>
        </p:blipFill>
        <p:spPr>
          <a:xfrm>
            <a:off x="27691714" y="11551639"/>
            <a:ext cx="6746666" cy="544762"/>
          </a:xfrm>
          <a:prstGeom prst="rect">
            <a:avLst/>
          </a:prstGeom>
        </p:spPr>
      </p:pic>
      <p:pic>
        <p:nvPicPr>
          <p:cNvPr id="21" name="Picture 20">
            <a:extLst>
              <a:ext uri="{FF2B5EF4-FFF2-40B4-BE49-F238E27FC236}">
                <a16:creationId xmlns:a16="http://schemas.microsoft.com/office/drawing/2014/main" id="{17082459-E7E9-357E-DCCB-6E250AF4B249}"/>
              </a:ext>
            </a:extLst>
          </p:cNvPr>
          <p:cNvPicPr>
            <a:picLocks noChangeAspect="1"/>
          </p:cNvPicPr>
          <p:nvPr/>
        </p:nvPicPr>
        <p:blipFill>
          <a:blip r:embed="rId11"/>
          <a:stretch>
            <a:fillRect/>
          </a:stretch>
        </p:blipFill>
        <p:spPr>
          <a:xfrm>
            <a:off x="27691714" y="13118618"/>
            <a:ext cx="5730476" cy="523809"/>
          </a:xfrm>
          <a:prstGeom prst="rect">
            <a:avLst/>
          </a:prstGeom>
        </p:spPr>
      </p:pic>
      <p:pic>
        <p:nvPicPr>
          <p:cNvPr id="23" name="Picture 22">
            <a:extLst>
              <a:ext uri="{FF2B5EF4-FFF2-40B4-BE49-F238E27FC236}">
                <a16:creationId xmlns:a16="http://schemas.microsoft.com/office/drawing/2014/main" id="{845F70A0-0E94-93BB-1ADD-43A4F3EBF105}"/>
              </a:ext>
            </a:extLst>
          </p:cNvPr>
          <p:cNvPicPr>
            <a:picLocks noChangeAspect="1"/>
          </p:cNvPicPr>
          <p:nvPr/>
        </p:nvPicPr>
        <p:blipFill>
          <a:blip r:embed="rId12"/>
          <a:stretch>
            <a:fillRect/>
          </a:stretch>
        </p:blipFill>
        <p:spPr>
          <a:xfrm>
            <a:off x="7641919" y="8774432"/>
            <a:ext cx="11272381" cy="502857"/>
          </a:xfrm>
          <a:prstGeom prst="rect">
            <a:avLst/>
          </a:prstGeom>
        </p:spPr>
      </p:pic>
      <p:pic>
        <p:nvPicPr>
          <p:cNvPr id="25" name="Picture 24">
            <a:extLst>
              <a:ext uri="{FF2B5EF4-FFF2-40B4-BE49-F238E27FC236}">
                <a16:creationId xmlns:a16="http://schemas.microsoft.com/office/drawing/2014/main" id="{B88E7D8D-78EF-62BA-DF2F-5698388091D4}"/>
              </a:ext>
            </a:extLst>
          </p:cNvPr>
          <p:cNvPicPr>
            <a:picLocks noChangeAspect="1"/>
          </p:cNvPicPr>
          <p:nvPr/>
        </p:nvPicPr>
        <p:blipFill>
          <a:blip r:embed="rId13"/>
          <a:stretch>
            <a:fillRect/>
          </a:stretch>
        </p:blipFill>
        <p:spPr>
          <a:xfrm>
            <a:off x="7641919" y="10180267"/>
            <a:ext cx="13095238" cy="534285"/>
          </a:xfrm>
          <a:prstGeom prst="rect">
            <a:avLst/>
          </a:prstGeom>
        </p:spPr>
      </p:pic>
      <p:pic>
        <p:nvPicPr>
          <p:cNvPr id="27" name="Picture 26">
            <a:extLst>
              <a:ext uri="{FF2B5EF4-FFF2-40B4-BE49-F238E27FC236}">
                <a16:creationId xmlns:a16="http://schemas.microsoft.com/office/drawing/2014/main" id="{B4E00571-3A8D-2067-229A-2407BA6CABE6}"/>
              </a:ext>
            </a:extLst>
          </p:cNvPr>
          <p:cNvPicPr>
            <a:picLocks noChangeAspect="1"/>
          </p:cNvPicPr>
          <p:nvPr/>
        </p:nvPicPr>
        <p:blipFill>
          <a:blip r:embed="rId14"/>
          <a:stretch>
            <a:fillRect/>
          </a:stretch>
        </p:blipFill>
        <p:spPr>
          <a:xfrm>
            <a:off x="7641919" y="11569209"/>
            <a:ext cx="13619047" cy="576191"/>
          </a:xfrm>
          <a:prstGeom prst="rect">
            <a:avLst/>
          </a:prstGeom>
        </p:spPr>
      </p:pic>
      <p:pic>
        <p:nvPicPr>
          <p:cNvPr id="29" name="Picture 28">
            <a:extLst>
              <a:ext uri="{FF2B5EF4-FFF2-40B4-BE49-F238E27FC236}">
                <a16:creationId xmlns:a16="http://schemas.microsoft.com/office/drawing/2014/main" id="{050E0602-9BC4-0B70-8503-9C8CB1D2B4A1}"/>
              </a:ext>
            </a:extLst>
          </p:cNvPr>
          <p:cNvPicPr>
            <a:picLocks noChangeAspect="1"/>
          </p:cNvPicPr>
          <p:nvPr/>
        </p:nvPicPr>
        <p:blipFill>
          <a:blip r:embed="rId15"/>
          <a:stretch>
            <a:fillRect/>
          </a:stretch>
        </p:blipFill>
        <p:spPr>
          <a:xfrm>
            <a:off x="7641919" y="13092781"/>
            <a:ext cx="3729524" cy="460953"/>
          </a:xfrm>
          <a:prstGeom prst="rect">
            <a:avLst/>
          </a:prstGeom>
        </p:spPr>
      </p:pic>
    </p:spTree>
    <p:extLst>
      <p:ext uri="{BB962C8B-B14F-4D97-AF65-F5344CB8AC3E}">
        <p14:creationId xmlns:p14="http://schemas.microsoft.com/office/powerpoint/2010/main" val="1822976738"/>
      </p:ext>
    </p:extLst>
  </p:cSld>
  <p:clrMapOvr>
    <a:masterClrMapping/>
  </p:clrMapOvr>
  <p:transition spd="slow"/>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 name="Shape 126"/>
          <p:cNvSpPr/>
          <p:nvPr/>
        </p:nvSpPr>
        <p:spPr>
          <a:xfrm>
            <a:off x="952498" y="646396"/>
            <a:ext cx="34533493" cy="1538883"/>
          </a:xfrm>
          <a:prstGeom prst="rect">
            <a:avLst/>
          </a:prstGeom>
          <a:ln w="12700">
            <a:miter lim="400000"/>
          </a:ln>
          <a:extLst>
            <a:ext uri="{C572A759-6A51-4108-AA02-DFA0A04FC94B}">
              <ma14:wrappingTextBoxFlag xmlns:ma14="http://schemas.microsoft.com/office/mac/drawingml/2011/main" xmlns="" val="1"/>
            </a:ext>
          </a:extLst>
        </p:spPr>
        <p:txBody>
          <a:bodyPr wrap="none" lIns="76200" tIns="76200" rIns="76200" bIns="76200">
            <a:spAutoFit/>
          </a:bodyPr>
          <a:lstStyle>
            <a:lvl1pPr algn="l">
              <a:defRPr sz="7000">
                <a:latin typeface="Alright Sans"/>
                <a:ea typeface="Alright Sans"/>
                <a:cs typeface="Alright Sans"/>
                <a:sym typeface="Alright Sans"/>
              </a:defRPr>
            </a:lvl1pPr>
          </a:lstStyle>
          <a:p>
            <a:pPr>
              <a:defRPr sz="3000">
                <a:latin typeface="Alright Sans"/>
                <a:ea typeface="Alright Sans"/>
                <a:cs typeface="Alright Sans"/>
                <a:sym typeface="Alright Sans"/>
              </a:defRPr>
            </a:pPr>
            <a:r>
              <a:rPr lang="en-US" sz="9000" dirty="0">
                <a:latin typeface="Open Sans" panose="020B0606030504020204" pitchFamily="34" charset="0"/>
                <a:ea typeface="Open Sans" panose="020B0606030504020204" pitchFamily="34" charset="0"/>
                <a:cs typeface="Open Sans" panose="020B0606030504020204" pitchFamily="34" charset="0"/>
              </a:rPr>
              <a:t>Method Reference Examples (No arguments and one argument)</a:t>
            </a:r>
          </a:p>
        </p:txBody>
      </p:sp>
      <p:sp>
        <p:nvSpPr>
          <p:cNvPr id="128" name="Shape 128"/>
          <p:cNvSpPr/>
          <p:nvPr/>
        </p:nvSpPr>
        <p:spPr>
          <a:xfrm>
            <a:off x="952500" y="18210515"/>
            <a:ext cx="34782668" cy="2"/>
          </a:xfrm>
          <a:prstGeom prst="line">
            <a:avLst/>
          </a:prstGeom>
          <a:ln w="76200">
            <a:solidFill>
              <a:schemeClr val="accent1">
                <a:satOff val="-3355"/>
                <a:lumOff val="26614"/>
              </a:schemeClr>
            </a:solidFill>
            <a:miter lim="400000"/>
          </a:ln>
        </p:spPr>
        <p:txBody>
          <a:bodyPr lIns="76200" tIns="76200" rIns="76200" bIns="76200" anchor="ctr"/>
          <a:lstStyle/>
          <a:p>
            <a:pPr>
              <a:defRPr sz="3200"/>
            </a:pPr>
            <a:endParaRPr sz="4800"/>
          </a:p>
        </p:txBody>
      </p:sp>
      <p:pic>
        <p:nvPicPr>
          <p:cNvPr id="129" name="Logo.png"/>
          <p:cNvPicPr>
            <a:picLocks noChangeAspect="1"/>
          </p:cNvPicPr>
          <p:nvPr/>
        </p:nvPicPr>
        <p:blipFill>
          <a:blip r:embed="rId3"/>
          <a:stretch>
            <a:fillRect/>
          </a:stretch>
        </p:blipFill>
        <p:spPr>
          <a:xfrm>
            <a:off x="14650974" y="18489726"/>
            <a:ext cx="6321552" cy="1392336"/>
          </a:xfrm>
          <a:prstGeom prst="rect">
            <a:avLst/>
          </a:prstGeom>
          <a:ln w="12700">
            <a:miter lim="400000"/>
          </a:ln>
        </p:spPr>
      </p:pic>
      <p:sp>
        <p:nvSpPr>
          <p:cNvPr id="9" name="Shape 127"/>
          <p:cNvSpPr/>
          <p:nvPr/>
        </p:nvSpPr>
        <p:spPr>
          <a:xfrm flipV="1">
            <a:off x="952499" y="2203340"/>
            <a:ext cx="34782670" cy="38132"/>
          </a:xfrm>
          <a:prstGeom prst="line">
            <a:avLst/>
          </a:prstGeom>
          <a:ln w="152400">
            <a:solidFill>
              <a:schemeClr val="accent1">
                <a:satOff val="-3355"/>
                <a:lumOff val="26614"/>
              </a:schemeClr>
            </a:solidFill>
            <a:miter lim="400000"/>
          </a:ln>
        </p:spPr>
        <p:txBody>
          <a:bodyPr lIns="76200" tIns="76200" rIns="76200" bIns="76200" anchor="ctr"/>
          <a:lstStyle/>
          <a:p>
            <a:pPr>
              <a:defRPr sz="3200"/>
            </a:pPr>
            <a:endParaRPr sz="4800"/>
          </a:p>
        </p:txBody>
      </p:sp>
      <p:sp>
        <p:nvSpPr>
          <p:cNvPr id="10" name="Shape 131"/>
          <p:cNvSpPr/>
          <p:nvPr/>
        </p:nvSpPr>
        <p:spPr>
          <a:xfrm>
            <a:off x="952500" y="18489726"/>
            <a:ext cx="16008688" cy="1308050"/>
          </a:xfrm>
          <a:prstGeom prst="rect">
            <a:avLst/>
          </a:prstGeom>
          <a:ln w="12700">
            <a:miter lim="400000"/>
          </a:ln>
          <a:extLst>
            <a:ext uri="{C572A759-6A51-4108-AA02-DFA0A04FC94B}">
              <ma14:wrappingTextBoxFlag xmlns="" xmlns:ma14="http://schemas.microsoft.com/office/mac/drawingml/2011/main" val="1"/>
            </a:ext>
          </a:extLst>
        </p:spPr>
        <p:txBody>
          <a:bodyPr lIns="76200" tIns="76200" rIns="76200" bIns="76200">
            <a:spAutoFit/>
          </a:bodyPr>
          <a:lstStyle/>
          <a:p>
            <a:pPr algn="l">
              <a:defRPr sz="2000">
                <a:latin typeface="Alright Sans"/>
                <a:ea typeface="Alright Sans"/>
                <a:cs typeface="Alright Sans"/>
                <a:sym typeface="Alright Sans"/>
              </a:defRPr>
            </a:pPr>
            <a:r>
              <a:rPr lang="en-US" sz="3000" dirty="0">
                <a:latin typeface="Open Sans" panose="020B0606030504020204" pitchFamily="34" charset="0"/>
                <a:ea typeface="Open Sans" panose="020B0606030504020204" pitchFamily="34" charset="0"/>
                <a:cs typeface="Open Sans" panose="020B0606030504020204" pitchFamily="34" charset="0"/>
              </a:rPr>
              <a:t>COMPLETE JAVA MASTERCLASS</a:t>
            </a:r>
          </a:p>
          <a:p>
            <a:pPr algn="l">
              <a:defRPr sz="3000">
                <a:latin typeface="Alright Sans"/>
                <a:ea typeface="Alright Sans"/>
                <a:cs typeface="Alright Sans"/>
                <a:sym typeface="Alright Sans"/>
              </a:defRPr>
            </a:pPr>
            <a:r>
              <a:rPr lang="en-US" sz="4500" dirty="0">
                <a:latin typeface="Open Sans" panose="020B0606030504020204" pitchFamily="34" charset="0"/>
                <a:ea typeface="Open Sans" panose="020B0606030504020204" pitchFamily="34" charset="0"/>
                <a:cs typeface="Open Sans" panose="020B0606030504020204" pitchFamily="34" charset="0"/>
              </a:rPr>
              <a:t>The Most Confusing of the Method References</a:t>
            </a:r>
          </a:p>
        </p:txBody>
      </p:sp>
      <p:sp>
        <p:nvSpPr>
          <p:cNvPr id="8" name="Rectangle 7">
            <a:extLst>
              <a:ext uri="{FF2B5EF4-FFF2-40B4-BE49-F238E27FC236}">
                <a16:creationId xmlns:a16="http://schemas.microsoft.com/office/drawing/2014/main" id="{89DBB243-EF27-4345-872D-E76597E95619}"/>
              </a:ext>
            </a:extLst>
          </p:cNvPr>
          <p:cNvSpPr/>
          <p:nvPr/>
        </p:nvSpPr>
        <p:spPr>
          <a:xfrm>
            <a:off x="952501" y="2464488"/>
            <a:ext cx="34782670" cy="13701592"/>
          </a:xfrm>
          <a:prstGeom prst="rect">
            <a:avLst/>
          </a:prstGeom>
        </p:spPr>
        <p:txBody>
          <a:bodyPr wrap="square">
            <a:normAutofit/>
          </a:bodyPr>
          <a:lstStyle/>
          <a:p>
            <a:pPr algn="l">
              <a:spcAft>
                <a:spcPts val="5022"/>
              </a:spcAft>
            </a:pPr>
            <a:r>
              <a:rPr lang="en-US" sz="6400" dirty="0">
                <a:latin typeface="Open Sans" panose="020B0606030504020204" pitchFamily="34" charset="0"/>
                <a:ea typeface="Open Sans" panose="020B0606030504020204" pitchFamily="34" charset="0"/>
                <a:cs typeface="Open Sans" panose="020B0606030504020204" pitchFamily="34" charset="0"/>
              </a:rPr>
              <a:t>This chart shows some of the valid ways to use method references when assigned to different interface types.</a:t>
            </a:r>
          </a:p>
          <a:p>
            <a:pPr algn="l">
              <a:spcAft>
                <a:spcPts val="5022"/>
              </a:spcAft>
            </a:pPr>
            <a:r>
              <a:rPr lang="en-US" sz="6400" dirty="0">
                <a:latin typeface="Open Sans" panose="020B0606030504020204" pitchFamily="34" charset="0"/>
                <a:ea typeface="Open Sans" panose="020B0606030504020204" pitchFamily="34" charset="0"/>
                <a:cs typeface="Open Sans" panose="020B0606030504020204" pitchFamily="34" charset="0"/>
              </a:rPr>
              <a:t>These interface types have no arguments in the case of a Supplier, and one argument for the other interfaces.</a:t>
            </a:r>
          </a:p>
        </p:txBody>
      </p:sp>
      <p:graphicFrame>
        <p:nvGraphicFramePr>
          <p:cNvPr id="2" name="Table 1">
            <a:extLst>
              <a:ext uri="{FF2B5EF4-FFF2-40B4-BE49-F238E27FC236}">
                <a16:creationId xmlns:a16="http://schemas.microsoft.com/office/drawing/2014/main" id="{9EB9BD54-4E66-F3FA-E594-AF025B46A4B5}"/>
              </a:ext>
            </a:extLst>
          </p:cNvPr>
          <p:cNvGraphicFramePr>
            <a:graphicFrameLocks noGrp="1"/>
          </p:cNvGraphicFramePr>
          <p:nvPr/>
        </p:nvGraphicFramePr>
        <p:xfrm>
          <a:off x="952500" y="7367679"/>
          <a:ext cx="34782667" cy="10677722"/>
        </p:xfrm>
        <a:graphic>
          <a:graphicData uri="http://schemas.openxmlformats.org/drawingml/2006/table">
            <a:tbl>
              <a:tblPr firstRow="1" bandRow="1">
                <a:tableStyleId>{5C22544A-7EE6-4342-B048-85BDC9FD1C3A}</a:tableStyleId>
              </a:tblPr>
              <a:tblGrid>
                <a:gridCol w="9031255">
                  <a:extLst>
                    <a:ext uri="{9D8B030D-6E8A-4147-A177-3AD203B41FA5}">
                      <a16:colId xmlns:a16="http://schemas.microsoft.com/office/drawing/2014/main" val="2844207666"/>
                    </a:ext>
                  </a:extLst>
                </a:gridCol>
                <a:gridCol w="5840963">
                  <a:extLst>
                    <a:ext uri="{9D8B030D-6E8A-4147-A177-3AD203B41FA5}">
                      <a16:colId xmlns:a16="http://schemas.microsoft.com/office/drawing/2014/main" val="1891655341"/>
                    </a:ext>
                  </a:extLst>
                </a:gridCol>
                <a:gridCol w="5635690">
                  <a:extLst>
                    <a:ext uri="{9D8B030D-6E8A-4147-A177-3AD203B41FA5}">
                      <a16:colId xmlns:a16="http://schemas.microsoft.com/office/drawing/2014/main" val="2017387083"/>
                    </a:ext>
                  </a:extLst>
                </a:gridCol>
                <a:gridCol w="7389845">
                  <a:extLst>
                    <a:ext uri="{9D8B030D-6E8A-4147-A177-3AD203B41FA5}">
                      <a16:colId xmlns:a16="http://schemas.microsoft.com/office/drawing/2014/main" val="1020653276"/>
                    </a:ext>
                  </a:extLst>
                </a:gridCol>
                <a:gridCol w="6884914">
                  <a:extLst>
                    <a:ext uri="{9D8B030D-6E8A-4147-A177-3AD203B41FA5}">
                      <a16:colId xmlns:a16="http://schemas.microsoft.com/office/drawing/2014/main" val="28904781"/>
                    </a:ext>
                  </a:extLst>
                </a:gridCol>
              </a:tblGrid>
              <a:tr h="1188487">
                <a:tc>
                  <a:txBody>
                    <a:bodyPr/>
                    <a:lstStyle/>
                    <a:p>
                      <a:pPr marL="180000" algn="l"/>
                      <a:endParaRPr lang="en-PH" sz="4800" dirty="0">
                        <a:solidFill>
                          <a:schemeClr val="tx1"/>
                        </a:solidFill>
                        <a:latin typeface="Open Sans" panose="020B0606030504020204" pitchFamily="34" charset="0"/>
                        <a:ea typeface="Open Sans" panose="020B0606030504020204" pitchFamily="34" charset="0"/>
                        <a:cs typeface="Open Sans" panose="020B0606030504020204" pitchFamily="34" charset="0"/>
                      </a:endParaRPr>
                    </a:p>
                  </a:txBody>
                  <a:tcPr marL="86794" marR="86794" marT="43397" marB="43397">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BE4D5"/>
                    </a:solidFill>
                  </a:tcPr>
                </a:tc>
                <a:tc>
                  <a:txBody>
                    <a:bodyPr/>
                    <a:lstStyle/>
                    <a:p>
                      <a:pPr marL="180000" algn="ctr"/>
                      <a:r>
                        <a:rPr lang="en-US" sz="4800" dirty="0">
                          <a:solidFill>
                            <a:schemeClr val="tx1"/>
                          </a:solidFill>
                          <a:latin typeface="Open Sans" panose="020B0606030504020204" pitchFamily="34" charset="0"/>
                          <a:ea typeface="Open Sans" panose="020B0606030504020204" pitchFamily="34" charset="0"/>
                          <a:cs typeface="Open Sans" panose="020B0606030504020204" pitchFamily="34" charset="0"/>
                        </a:rPr>
                        <a:t>No </a:t>
                      </a:r>
                      <a:r>
                        <a:rPr lang="en-US" sz="4800" dirty="0" err="1">
                          <a:solidFill>
                            <a:schemeClr val="tx1"/>
                          </a:solidFill>
                          <a:latin typeface="Open Sans" panose="020B0606030504020204" pitchFamily="34" charset="0"/>
                          <a:ea typeface="Open Sans" panose="020B0606030504020204" pitchFamily="34" charset="0"/>
                          <a:cs typeface="Open Sans" panose="020B0606030504020204" pitchFamily="34" charset="0"/>
                        </a:rPr>
                        <a:t>Args</a:t>
                      </a:r>
                      <a:endParaRPr lang="en-PH" sz="4800" dirty="0">
                        <a:solidFill>
                          <a:schemeClr val="tx1"/>
                        </a:solidFill>
                        <a:latin typeface="Open Sans" panose="020B0606030504020204" pitchFamily="34" charset="0"/>
                        <a:ea typeface="Open Sans" panose="020B0606030504020204" pitchFamily="34" charset="0"/>
                        <a:cs typeface="Open Sans" panose="020B0606030504020204" pitchFamily="34" charset="0"/>
                      </a:endParaRPr>
                    </a:p>
                  </a:txBody>
                  <a:tcPr marL="86794" marR="86794" marT="43397" marB="43397">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BE4D5"/>
                    </a:solidFill>
                  </a:tcPr>
                </a:tc>
                <a:tc gridSpan="3">
                  <a:txBody>
                    <a:bodyPr/>
                    <a:lstStyle/>
                    <a:p>
                      <a:pPr marL="180000" algn="ctr"/>
                      <a:r>
                        <a:rPr lang="en-US" sz="4800" dirty="0">
                          <a:solidFill>
                            <a:schemeClr val="tx1"/>
                          </a:solidFill>
                          <a:latin typeface="Open Sans" panose="020B0606030504020204" pitchFamily="34" charset="0"/>
                          <a:ea typeface="Open Sans" panose="020B0606030504020204" pitchFamily="34" charset="0"/>
                          <a:cs typeface="Open Sans" panose="020B0606030504020204" pitchFamily="34" charset="0"/>
                        </a:rPr>
                        <a:t>One Argument</a:t>
                      </a:r>
                      <a:endParaRPr lang="en-PH" sz="4800" dirty="0">
                        <a:solidFill>
                          <a:schemeClr val="tx1"/>
                        </a:solidFill>
                        <a:latin typeface="Open Sans" panose="020B0606030504020204" pitchFamily="34" charset="0"/>
                        <a:ea typeface="Open Sans" panose="020B0606030504020204" pitchFamily="34" charset="0"/>
                        <a:cs typeface="Open Sans" panose="020B0606030504020204" pitchFamily="34" charset="0"/>
                      </a:endParaRPr>
                    </a:p>
                  </a:txBody>
                  <a:tcPr marL="86794" marR="86794" marT="43397" marB="43397">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BE4D5"/>
                    </a:solidFill>
                  </a:tcPr>
                </a:tc>
                <a:tc hMerge="1">
                  <a:txBody>
                    <a:bodyPr/>
                    <a:lstStyle/>
                    <a:p>
                      <a:pPr marL="180000" algn="ctr"/>
                      <a:r>
                        <a:rPr lang="en-US" sz="4800" dirty="0">
                          <a:solidFill>
                            <a:schemeClr val="tx1"/>
                          </a:solidFill>
                          <a:latin typeface="Open Sans" panose="020B0606030504020204" pitchFamily="34" charset="0"/>
                          <a:ea typeface="Open Sans" panose="020B0606030504020204" pitchFamily="34" charset="0"/>
                          <a:cs typeface="Open Sans" panose="020B0606030504020204" pitchFamily="34" charset="0"/>
                        </a:rPr>
                        <a:t>One Argument</a:t>
                      </a:r>
                      <a:endParaRPr lang="en-PH" sz="4800" dirty="0">
                        <a:solidFill>
                          <a:schemeClr val="tx1"/>
                        </a:solidFill>
                        <a:latin typeface="Open Sans" panose="020B0606030504020204" pitchFamily="34" charset="0"/>
                        <a:ea typeface="Open Sans" panose="020B0606030504020204" pitchFamily="34" charset="0"/>
                        <a:cs typeface="Open Sans" panose="020B0606030504020204" pitchFamily="34" charset="0"/>
                      </a:endParaRPr>
                    </a:p>
                  </a:txBody>
                  <a:tcPr marL="86794" marR="86794" marT="43397" marB="43397">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BE4D5"/>
                    </a:solidFill>
                  </a:tcPr>
                </a:tc>
                <a:tc hMerge="1">
                  <a:txBody>
                    <a:bodyPr/>
                    <a:lstStyle/>
                    <a:p>
                      <a:pPr marL="180000" algn="l"/>
                      <a:endParaRPr lang="en-PH" sz="4800" dirty="0">
                        <a:solidFill>
                          <a:schemeClr val="tx1"/>
                        </a:solidFill>
                        <a:latin typeface="Open Sans" panose="020B0606030504020204" pitchFamily="34" charset="0"/>
                        <a:ea typeface="Open Sans" panose="020B0606030504020204" pitchFamily="34" charset="0"/>
                        <a:cs typeface="Open Sans" panose="020B0606030504020204" pitchFamily="34" charset="0"/>
                      </a:endParaRPr>
                    </a:p>
                  </a:txBody>
                  <a:tcPr marL="86794" marR="86794" marT="43397" marB="43397">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BE4D5"/>
                    </a:solidFill>
                  </a:tcPr>
                </a:tc>
                <a:extLst>
                  <a:ext uri="{0D108BD9-81ED-4DB2-BD59-A6C34878D82A}">
                    <a16:rowId xmlns:a16="http://schemas.microsoft.com/office/drawing/2014/main" val="3978129174"/>
                  </a:ext>
                </a:extLst>
              </a:tr>
              <a:tr h="1418253">
                <a:tc>
                  <a:txBody>
                    <a:bodyPr/>
                    <a:lstStyle/>
                    <a:p>
                      <a:pPr marL="180000" marR="0" lvl="0" indent="0" algn="l" defTabSz="914400" rtl="0" eaLnBrk="1" fontAlgn="auto" latinLnBrk="0" hangingPunct="1">
                        <a:lnSpc>
                          <a:spcPct val="100000"/>
                        </a:lnSpc>
                        <a:spcBef>
                          <a:spcPts val="0"/>
                        </a:spcBef>
                        <a:spcAft>
                          <a:spcPts val="1000"/>
                        </a:spcAft>
                        <a:buClr>
                          <a:srgbClr val="000000"/>
                        </a:buClr>
                        <a:buSzTx/>
                        <a:buFont typeface="Arial" panose="020B0604020202020204" pitchFamily="34" charset="0"/>
                        <a:buNone/>
                        <a:tabLst/>
                        <a:defRPr/>
                      </a:pPr>
                      <a:r>
                        <a:rPr lang="en-US" sz="4400" b="1" dirty="0">
                          <a:solidFill>
                            <a:schemeClr val="tx1"/>
                          </a:solidFill>
                          <a:latin typeface="Open Sans" panose="020B0606030504020204" pitchFamily="34" charset="0"/>
                          <a:ea typeface="Open Sans" panose="020B0606030504020204" pitchFamily="34" charset="0"/>
                          <a:cs typeface="Open Sans" panose="020B0606030504020204" pitchFamily="34" charset="0"/>
                        </a:rPr>
                        <a:t>Types of Method References</a:t>
                      </a:r>
                    </a:p>
                  </a:txBody>
                  <a:tcPr marL="86794" marR="86794" marT="43397" marB="43397">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lumMod val="20000"/>
                        <a:lumOff val="80000"/>
                      </a:schemeClr>
                    </a:solidFill>
                  </a:tcPr>
                </a:tc>
                <a:tc>
                  <a:txBody>
                    <a:bodyPr/>
                    <a:lstStyle/>
                    <a:p>
                      <a:pPr marL="180000" marR="0" lvl="0" indent="0" algn="l" defTabSz="914400" rtl="0" eaLnBrk="1" fontAlgn="auto" latinLnBrk="0" hangingPunct="1">
                        <a:lnSpc>
                          <a:spcPct val="100000"/>
                        </a:lnSpc>
                        <a:spcBef>
                          <a:spcPts val="0"/>
                        </a:spcBef>
                        <a:spcAft>
                          <a:spcPts val="1000"/>
                        </a:spcAft>
                        <a:buClr>
                          <a:srgbClr val="000000"/>
                        </a:buClr>
                        <a:buSzTx/>
                        <a:buFont typeface="Arial" panose="020B0604020202020204" pitchFamily="34" charset="0"/>
                        <a:buNone/>
                        <a:tabLst/>
                        <a:defRPr/>
                      </a:pPr>
                      <a:r>
                        <a:rPr lang="en-US" sz="4400" b="1" dirty="0">
                          <a:solidFill>
                            <a:schemeClr val="tx1"/>
                          </a:solidFill>
                          <a:latin typeface="Open Sans" panose="020B0606030504020204" pitchFamily="34" charset="0"/>
                          <a:ea typeface="Open Sans" panose="020B0606030504020204" pitchFamily="34" charset="0"/>
                          <a:cs typeface="Open Sans" panose="020B0606030504020204" pitchFamily="34" charset="0"/>
                        </a:rPr>
                        <a:t>Supplier</a:t>
                      </a:r>
                    </a:p>
                  </a:txBody>
                  <a:tcPr marL="86794" marR="86794" marT="43397" marB="43397">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lumMod val="20000"/>
                        <a:lumOff val="80000"/>
                      </a:schemeClr>
                    </a:solidFill>
                  </a:tcPr>
                </a:tc>
                <a:tc>
                  <a:txBody>
                    <a:bodyPr/>
                    <a:lstStyle/>
                    <a:p>
                      <a:pPr marL="180000" marR="0" lvl="0" indent="0" algn="l" defTabSz="914400" rtl="0" eaLnBrk="1" fontAlgn="auto" latinLnBrk="0" hangingPunct="1">
                        <a:lnSpc>
                          <a:spcPct val="100000"/>
                        </a:lnSpc>
                        <a:spcBef>
                          <a:spcPts val="0"/>
                        </a:spcBef>
                        <a:spcAft>
                          <a:spcPts val="1000"/>
                        </a:spcAft>
                        <a:buClr>
                          <a:srgbClr val="000000"/>
                        </a:buClr>
                        <a:buSzTx/>
                        <a:buFont typeface="Arial" panose="020B0604020202020204" pitchFamily="34" charset="0"/>
                        <a:buNone/>
                        <a:tabLst/>
                        <a:defRPr/>
                      </a:pPr>
                      <a:r>
                        <a:rPr lang="en-US" sz="4400" b="1" dirty="0">
                          <a:solidFill>
                            <a:schemeClr val="tx1"/>
                          </a:solidFill>
                          <a:latin typeface="Open Sans" panose="020B0606030504020204" pitchFamily="34" charset="0"/>
                          <a:ea typeface="Open Sans" panose="020B0606030504020204" pitchFamily="34" charset="0"/>
                          <a:cs typeface="Open Sans" panose="020B0606030504020204" pitchFamily="34" charset="0"/>
                        </a:rPr>
                        <a:t>Predicate</a:t>
                      </a:r>
                    </a:p>
                  </a:txBody>
                  <a:tcPr marL="86794" marR="86794" marT="43397" marB="43397">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lumMod val="20000"/>
                        <a:lumOff val="80000"/>
                      </a:schemeClr>
                    </a:solidFill>
                  </a:tcPr>
                </a:tc>
                <a:tc>
                  <a:txBody>
                    <a:bodyPr/>
                    <a:lstStyle/>
                    <a:p>
                      <a:pPr marL="180000" marR="0" lvl="0" indent="0" algn="l" defTabSz="914400" rtl="0" eaLnBrk="1" fontAlgn="auto" latinLnBrk="0" hangingPunct="1">
                        <a:lnSpc>
                          <a:spcPct val="100000"/>
                        </a:lnSpc>
                        <a:spcBef>
                          <a:spcPts val="0"/>
                        </a:spcBef>
                        <a:spcAft>
                          <a:spcPts val="1000"/>
                        </a:spcAft>
                        <a:buClr>
                          <a:srgbClr val="000000"/>
                        </a:buClr>
                        <a:buSzTx/>
                        <a:buFont typeface="Arial" panose="020B0604020202020204" pitchFamily="34" charset="0"/>
                        <a:buNone/>
                        <a:tabLst/>
                        <a:defRPr/>
                      </a:pPr>
                      <a:r>
                        <a:rPr lang="en-US" sz="4400" b="1" dirty="0">
                          <a:solidFill>
                            <a:schemeClr val="tx1"/>
                          </a:solidFill>
                          <a:latin typeface="Open Sans" panose="020B0606030504020204" pitchFamily="34" charset="0"/>
                          <a:ea typeface="Open Sans" panose="020B0606030504020204" pitchFamily="34" charset="0"/>
                          <a:cs typeface="Open Sans" panose="020B0606030504020204" pitchFamily="34" charset="0"/>
                        </a:rPr>
                        <a:t>Consumer</a:t>
                      </a:r>
                    </a:p>
                  </a:txBody>
                  <a:tcPr marL="86794" marR="86794" marT="43397" marB="43397">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lumMod val="20000"/>
                        <a:lumOff val="80000"/>
                      </a:schemeClr>
                    </a:solidFill>
                  </a:tcPr>
                </a:tc>
                <a:tc>
                  <a:txBody>
                    <a:bodyPr/>
                    <a:lstStyle/>
                    <a:p>
                      <a:pPr marL="180000" marR="0" lvl="0" indent="0" algn="l" defTabSz="914400" rtl="0" eaLnBrk="1" fontAlgn="auto" latinLnBrk="0" hangingPunct="1">
                        <a:lnSpc>
                          <a:spcPct val="100000"/>
                        </a:lnSpc>
                        <a:spcBef>
                          <a:spcPts val="0"/>
                        </a:spcBef>
                        <a:spcAft>
                          <a:spcPts val="1000"/>
                        </a:spcAft>
                        <a:buClr>
                          <a:srgbClr val="000000"/>
                        </a:buClr>
                        <a:buSzTx/>
                        <a:buFont typeface="Arial" panose="020B0604020202020204" pitchFamily="34" charset="0"/>
                        <a:buNone/>
                        <a:tabLst/>
                        <a:defRPr/>
                      </a:pPr>
                      <a:r>
                        <a:rPr lang="en-US" sz="4400" b="1" dirty="0">
                          <a:solidFill>
                            <a:schemeClr val="tx1"/>
                          </a:solidFill>
                          <a:latin typeface="Open Sans" panose="020B0606030504020204" pitchFamily="34" charset="0"/>
                          <a:ea typeface="Open Sans" panose="020B0606030504020204" pitchFamily="34" charset="0"/>
                          <a:cs typeface="Open Sans" panose="020B0606030504020204" pitchFamily="34" charset="0"/>
                        </a:rPr>
                        <a:t>Function</a:t>
                      </a:r>
                    </a:p>
                    <a:p>
                      <a:pPr marL="180000" marR="0" lvl="0" indent="0" algn="l" defTabSz="914400" rtl="0" eaLnBrk="1" fontAlgn="auto" latinLnBrk="0" hangingPunct="1">
                        <a:lnSpc>
                          <a:spcPct val="100000"/>
                        </a:lnSpc>
                        <a:spcBef>
                          <a:spcPts val="0"/>
                        </a:spcBef>
                        <a:spcAft>
                          <a:spcPts val="1000"/>
                        </a:spcAft>
                        <a:buClr>
                          <a:srgbClr val="000000"/>
                        </a:buClr>
                        <a:buSzTx/>
                        <a:buFont typeface="Arial" panose="020B0604020202020204" pitchFamily="34" charset="0"/>
                        <a:buNone/>
                        <a:tabLst/>
                        <a:defRPr/>
                      </a:pPr>
                      <a:endParaRPr lang="en-US" sz="4400" b="1" dirty="0">
                        <a:solidFill>
                          <a:schemeClr val="tx1"/>
                        </a:solidFill>
                        <a:latin typeface="Open Sans" panose="020B0606030504020204" pitchFamily="34" charset="0"/>
                        <a:ea typeface="Open Sans" panose="020B0606030504020204" pitchFamily="34" charset="0"/>
                        <a:cs typeface="Open Sans" panose="020B0606030504020204" pitchFamily="34" charset="0"/>
                      </a:endParaRPr>
                    </a:p>
                    <a:p>
                      <a:pPr marL="180000" marR="0" lvl="0" indent="0" algn="l" defTabSz="914400" rtl="0" eaLnBrk="1" fontAlgn="auto" latinLnBrk="0" hangingPunct="1">
                        <a:lnSpc>
                          <a:spcPct val="100000"/>
                        </a:lnSpc>
                        <a:spcBef>
                          <a:spcPts val="0"/>
                        </a:spcBef>
                        <a:spcAft>
                          <a:spcPts val="1000"/>
                        </a:spcAft>
                        <a:buClr>
                          <a:srgbClr val="000000"/>
                        </a:buClr>
                        <a:buSzTx/>
                        <a:buFont typeface="Arial" panose="020B0604020202020204" pitchFamily="34" charset="0"/>
                        <a:buNone/>
                        <a:tabLst/>
                        <a:defRPr/>
                      </a:pPr>
                      <a:r>
                        <a:rPr lang="en-US" sz="4400" b="1" dirty="0" err="1">
                          <a:solidFill>
                            <a:schemeClr val="tx1"/>
                          </a:solidFill>
                          <a:latin typeface="Open Sans" panose="020B0606030504020204" pitchFamily="34" charset="0"/>
                          <a:ea typeface="Open Sans" panose="020B0606030504020204" pitchFamily="34" charset="0"/>
                          <a:cs typeface="Open Sans" panose="020B0606030504020204" pitchFamily="34" charset="0"/>
                        </a:rPr>
                        <a:t>UnaryOperator</a:t>
                      </a:r>
                      <a:endParaRPr lang="en-US" sz="4400" b="1" dirty="0">
                        <a:solidFill>
                          <a:schemeClr val="tx1"/>
                        </a:solidFill>
                        <a:latin typeface="Open Sans" panose="020B0606030504020204" pitchFamily="34" charset="0"/>
                        <a:ea typeface="Open Sans" panose="020B0606030504020204" pitchFamily="34" charset="0"/>
                        <a:cs typeface="Open Sans" panose="020B0606030504020204" pitchFamily="34" charset="0"/>
                      </a:endParaRPr>
                    </a:p>
                    <a:p>
                      <a:pPr marL="180000" marR="0" lvl="0" indent="0" algn="l" defTabSz="914400" rtl="0" eaLnBrk="1" fontAlgn="auto" latinLnBrk="0" hangingPunct="1">
                        <a:lnSpc>
                          <a:spcPct val="100000"/>
                        </a:lnSpc>
                        <a:spcBef>
                          <a:spcPts val="0"/>
                        </a:spcBef>
                        <a:spcAft>
                          <a:spcPts val="1000"/>
                        </a:spcAft>
                        <a:buClr>
                          <a:srgbClr val="000000"/>
                        </a:buClr>
                        <a:buSzTx/>
                        <a:buFont typeface="Arial" panose="020B0604020202020204" pitchFamily="34" charset="0"/>
                        <a:buNone/>
                        <a:tabLst/>
                        <a:defRPr/>
                      </a:pPr>
                      <a:endParaRPr lang="en-US" sz="4400" b="1" dirty="0">
                        <a:solidFill>
                          <a:schemeClr val="tx1"/>
                        </a:solidFill>
                        <a:latin typeface="Open Sans" panose="020B0606030504020204" pitchFamily="34" charset="0"/>
                        <a:ea typeface="Open Sans" panose="020B0606030504020204" pitchFamily="34" charset="0"/>
                        <a:cs typeface="Open Sans" panose="020B0606030504020204" pitchFamily="34" charset="0"/>
                      </a:endParaRPr>
                    </a:p>
                    <a:p>
                      <a:pPr marL="180000" marR="0" lvl="0" indent="0" algn="l" defTabSz="914400" rtl="0" eaLnBrk="1" fontAlgn="auto" latinLnBrk="0" hangingPunct="1">
                        <a:lnSpc>
                          <a:spcPct val="100000"/>
                        </a:lnSpc>
                        <a:spcBef>
                          <a:spcPts val="0"/>
                        </a:spcBef>
                        <a:spcAft>
                          <a:spcPts val="1000"/>
                        </a:spcAft>
                        <a:buClr>
                          <a:srgbClr val="000000"/>
                        </a:buClr>
                        <a:buSzTx/>
                        <a:buFont typeface="Arial" panose="020B0604020202020204" pitchFamily="34" charset="0"/>
                        <a:buNone/>
                        <a:tabLst/>
                        <a:defRPr/>
                      </a:pPr>
                      <a:r>
                        <a:rPr lang="en-US" sz="4400" b="1" dirty="0">
                          <a:solidFill>
                            <a:schemeClr val="tx1"/>
                          </a:solidFill>
                          <a:latin typeface="Open Sans" panose="020B0606030504020204" pitchFamily="34" charset="0"/>
                          <a:ea typeface="Open Sans" panose="020B0606030504020204" pitchFamily="34" charset="0"/>
                          <a:cs typeface="Open Sans" panose="020B0606030504020204" pitchFamily="34" charset="0"/>
                        </a:rPr>
                        <a:t>et. al.</a:t>
                      </a:r>
                    </a:p>
                  </a:txBody>
                  <a:tcPr marL="86794" marR="86794" marT="43397" marB="43397">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lumMod val="20000"/>
                        <a:lumOff val="80000"/>
                      </a:schemeClr>
                    </a:solidFill>
                  </a:tcPr>
                </a:tc>
                <a:extLst>
                  <a:ext uri="{0D108BD9-81ED-4DB2-BD59-A6C34878D82A}">
                    <a16:rowId xmlns:a16="http://schemas.microsoft.com/office/drawing/2014/main" val="1640325450"/>
                  </a:ext>
                </a:extLst>
              </a:tr>
              <a:tr h="1418253">
                <a:tc>
                  <a:txBody>
                    <a:bodyPr/>
                    <a:lstStyle/>
                    <a:p>
                      <a:pPr marL="180000" marR="0" lvl="0" indent="0" algn="l" defTabSz="914400" rtl="0" eaLnBrk="1" fontAlgn="auto" latinLnBrk="0" hangingPunct="1">
                        <a:lnSpc>
                          <a:spcPct val="100000"/>
                        </a:lnSpc>
                        <a:spcBef>
                          <a:spcPts val="0"/>
                        </a:spcBef>
                        <a:spcAft>
                          <a:spcPts val="1000"/>
                        </a:spcAft>
                        <a:buClr>
                          <a:srgbClr val="000000"/>
                        </a:buClr>
                        <a:buSzTx/>
                        <a:buFont typeface="Arial" panose="020B0604020202020204" pitchFamily="34" charset="0"/>
                        <a:buNone/>
                        <a:tabLst/>
                        <a:defRPr/>
                      </a:pPr>
                      <a:r>
                        <a:rPr lang="en-US" sz="4400" b="0" dirty="0">
                          <a:solidFill>
                            <a:schemeClr val="tx1"/>
                          </a:solidFill>
                          <a:latin typeface="Open Sans" panose="020B0606030504020204" pitchFamily="34" charset="0"/>
                          <a:ea typeface="Open Sans" panose="020B0606030504020204" pitchFamily="34" charset="0"/>
                          <a:cs typeface="Open Sans" panose="020B0606030504020204" pitchFamily="34" charset="0"/>
                        </a:rPr>
                        <a:t>Reference Type (Static)</a:t>
                      </a:r>
                    </a:p>
                  </a:txBody>
                  <a:tcPr marL="86794" marR="86794" marT="43397" marB="43397">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180000" marR="0" lvl="0" indent="0" algn="l" defTabSz="914400" rtl="0" eaLnBrk="1" fontAlgn="auto" latinLnBrk="0" hangingPunct="1">
                        <a:lnSpc>
                          <a:spcPct val="100000"/>
                        </a:lnSpc>
                        <a:spcBef>
                          <a:spcPts val="0"/>
                        </a:spcBef>
                        <a:spcAft>
                          <a:spcPts val="1000"/>
                        </a:spcAft>
                        <a:buClr>
                          <a:srgbClr val="000000"/>
                        </a:buClr>
                        <a:buSzTx/>
                        <a:buFont typeface="Arial" panose="020B0604020202020204" pitchFamily="34" charset="0"/>
                        <a:buNone/>
                        <a:tabLst/>
                        <a:defRPr/>
                      </a:pPr>
                      <a:endParaRPr lang="en-US" sz="4400" b="0" dirty="0">
                        <a:solidFill>
                          <a:schemeClr val="tx1"/>
                        </a:solidFill>
                        <a:latin typeface="Open Sans" panose="020B0606030504020204" pitchFamily="34" charset="0"/>
                        <a:ea typeface="Open Sans" panose="020B0606030504020204" pitchFamily="34" charset="0"/>
                        <a:cs typeface="Open Sans" panose="020B0606030504020204" pitchFamily="34" charset="0"/>
                      </a:endParaRPr>
                    </a:p>
                  </a:txBody>
                  <a:tcPr marL="86794" marR="86794" marT="43397" marB="43397">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180000" marR="0" lvl="0" indent="0" algn="l" defTabSz="914400" rtl="0" eaLnBrk="1" fontAlgn="auto" latinLnBrk="0" hangingPunct="1">
                        <a:lnSpc>
                          <a:spcPct val="100000"/>
                        </a:lnSpc>
                        <a:spcBef>
                          <a:spcPts val="0"/>
                        </a:spcBef>
                        <a:spcAft>
                          <a:spcPts val="1000"/>
                        </a:spcAft>
                        <a:buClr>
                          <a:srgbClr val="000000"/>
                        </a:buClr>
                        <a:buSzTx/>
                        <a:buFont typeface="Arial" panose="020B0604020202020204" pitchFamily="34" charset="0"/>
                        <a:buNone/>
                        <a:tabLst/>
                        <a:defRPr/>
                      </a:pPr>
                      <a:endParaRPr lang="en-US" sz="4400" b="0" dirty="0">
                        <a:solidFill>
                          <a:schemeClr val="tx1"/>
                        </a:solidFill>
                        <a:latin typeface="Open Sans" panose="020B0606030504020204" pitchFamily="34" charset="0"/>
                        <a:ea typeface="Open Sans" panose="020B0606030504020204" pitchFamily="34" charset="0"/>
                        <a:cs typeface="Open Sans" panose="020B0606030504020204" pitchFamily="34" charset="0"/>
                      </a:endParaRPr>
                    </a:p>
                  </a:txBody>
                  <a:tcPr marL="86794" marR="86794" marT="43397" marB="43397">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180000" marR="0" lvl="0" indent="0" algn="l" defTabSz="914400" rtl="0" eaLnBrk="1" fontAlgn="auto" latinLnBrk="0" hangingPunct="1">
                        <a:lnSpc>
                          <a:spcPct val="100000"/>
                        </a:lnSpc>
                        <a:spcBef>
                          <a:spcPts val="0"/>
                        </a:spcBef>
                        <a:spcAft>
                          <a:spcPts val="1000"/>
                        </a:spcAft>
                        <a:buClr>
                          <a:srgbClr val="000000"/>
                        </a:buClr>
                        <a:buSzTx/>
                        <a:buFont typeface="Arial" panose="020B0604020202020204" pitchFamily="34" charset="0"/>
                        <a:buNone/>
                        <a:tabLst/>
                        <a:defRPr/>
                      </a:pPr>
                      <a:endParaRPr lang="en-US" sz="4400" b="0" dirty="0">
                        <a:solidFill>
                          <a:schemeClr val="tx1"/>
                        </a:solidFill>
                        <a:latin typeface="Open Sans" panose="020B0606030504020204" pitchFamily="34" charset="0"/>
                        <a:ea typeface="Open Sans" panose="020B0606030504020204" pitchFamily="34" charset="0"/>
                        <a:cs typeface="Open Sans" panose="020B0606030504020204" pitchFamily="34" charset="0"/>
                      </a:endParaRPr>
                    </a:p>
                  </a:txBody>
                  <a:tcPr marL="86794" marR="86794" marT="43397" marB="43397">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180000" marR="0" lvl="0" indent="0" algn="l" defTabSz="914400" rtl="0" eaLnBrk="1" fontAlgn="auto" latinLnBrk="0" hangingPunct="1">
                        <a:lnSpc>
                          <a:spcPct val="100000"/>
                        </a:lnSpc>
                        <a:spcBef>
                          <a:spcPts val="0"/>
                        </a:spcBef>
                        <a:spcAft>
                          <a:spcPts val="1000"/>
                        </a:spcAft>
                        <a:buClr>
                          <a:srgbClr val="000000"/>
                        </a:buClr>
                        <a:buSzTx/>
                        <a:buFont typeface="Arial" panose="020B0604020202020204" pitchFamily="34" charset="0"/>
                        <a:buNone/>
                        <a:tabLst/>
                        <a:defRPr/>
                      </a:pPr>
                      <a:endParaRPr lang="en-US" sz="4400" b="0" dirty="0">
                        <a:solidFill>
                          <a:schemeClr val="tx1"/>
                        </a:solidFill>
                        <a:latin typeface="Open Sans" panose="020B0606030504020204" pitchFamily="34" charset="0"/>
                        <a:ea typeface="Open Sans" panose="020B0606030504020204" pitchFamily="34" charset="0"/>
                        <a:cs typeface="Open Sans" panose="020B0606030504020204" pitchFamily="34" charset="0"/>
                      </a:endParaRPr>
                    </a:p>
                  </a:txBody>
                  <a:tcPr marL="86794" marR="86794" marT="43397" marB="43397">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555455263"/>
                  </a:ext>
                </a:extLst>
              </a:tr>
              <a:tr h="1418253">
                <a:tc>
                  <a:txBody>
                    <a:bodyPr/>
                    <a:lstStyle/>
                    <a:p>
                      <a:pPr marL="180000" marR="0" lvl="0" indent="0" algn="l" defTabSz="914400" rtl="0" eaLnBrk="1" fontAlgn="auto" latinLnBrk="0" hangingPunct="1">
                        <a:lnSpc>
                          <a:spcPct val="100000"/>
                        </a:lnSpc>
                        <a:spcBef>
                          <a:spcPts val="0"/>
                        </a:spcBef>
                        <a:spcAft>
                          <a:spcPts val="1000"/>
                        </a:spcAft>
                        <a:buClr>
                          <a:srgbClr val="000000"/>
                        </a:buClr>
                        <a:buSzTx/>
                        <a:buFont typeface="Arial" panose="020B0604020202020204" pitchFamily="34" charset="0"/>
                        <a:buNone/>
                        <a:tabLst/>
                        <a:defRPr/>
                      </a:pPr>
                      <a:r>
                        <a:rPr lang="en-US" sz="4400" b="0" dirty="0">
                          <a:solidFill>
                            <a:schemeClr val="tx1"/>
                          </a:solidFill>
                          <a:latin typeface="Open Sans" panose="020B0606030504020204" pitchFamily="34" charset="0"/>
                          <a:ea typeface="Open Sans" panose="020B0606030504020204" pitchFamily="34" charset="0"/>
                          <a:cs typeface="Open Sans" panose="020B0606030504020204" pitchFamily="34" charset="0"/>
                        </a:rPr>
                        <a:t>Reference Type (Constructor)</a:t>
                      </a:r>
                    </a:p>
                  </a:txBody>
                  <a:tcPr marL="86794" marR="86794" marT="43397" marB="43397">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180000" marR="0" lvl="0" indent="0" algn="l" defTabSz="914400" rtl="0" eaLnBrk="1" fontAlgn="auto" latinLnBrk="0" hangingPunct="1">
                        <a:lnSpc>
                          <a:spcPct val="100000"/>
                        </a:lnSpc>
                        <a:spcBef>
                          <a:spcPts val="0"/>
                        </a:spcBef>
                        <a:spcAft>
                          <a:spcPts val="1000"/>
                        </a:spcAft>
                        <a:buClr>
                          <a:srgbClr val="000000"/>
                        </a:buClr>
                        <a:buSzTx/>
                        <a:buFont typeface="Arial" panose="020B0604020202020204" pitchFamily="34" charset="0"/>
                        <a:buNone/>
                        <a:tabLst/>
                        <a:defRPr/>
                      </a:pPr>
                      <a:endParaRPr lang="en-US" sz="4400" b="0" dirty="0">
                        <a:solidFill>
                          <a:schemeClr val="tx1"/>
                        </a:solidFill>
                        <a:latin typeface="Open Sans" panose="020B0606030504020204" pitchFamily="34" charset="0"/>
                        <a:ea typeface="Open Sans" panose="020B0606030504020204" pitchFamily="34" charset="0"/>
                        <a:cs typeface="Open Sans" panose="020B0606030504020204" pitchFamily="34" charset="0"/>
                      </a:endParaRPr>
                    </a:p>
                  </a:txBody>
                  <a:tcPr marL="86794" marR="86794" marT="43397" marB="43397">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180000" marR="0" lvl="0" indent="0" algn="l" defTabSz="914400" rtl="0" eaLnBrk="1" fontAlgn="auto" latinLnBrk="0" hangingPunct="1">
                        <a:lnSpc>
                          <a:spcPct val="100000"/>
                        </a:lnSpc>
                        <a:spcBef>
                          <a:spcPts val="0"/>
                        </a:spcBef>
                        <a:spcAft>
                          <a:spcPts val="1000"/>
                        </a:spcAft>
                        <a:buClr>
                          <a:srgbClr val="000000"/>
                        </a:buClr>
                        <a:buSzTx/>
                        <a:buFont typeface="Arial" panose="020B0604020202020204" pitchFamily="34" charset="0"/>
                        <a:buNone/>
                        <a:tabLst/>
                        <a:defRPr/>
                      </a:pPr>
                      <a:endParaRPr lang="en-US" sz="4400" b="0" dirty="0">
                        <a:solidFill>
                          <a:schemeClr val="tx1"/>
                        </a:solidFill>
                        <a:latin typeface="Open Sans" panose="020B0606030504020204" pitchFamily="34" charset="0"/>
                        <a:ea typeface="Open Sans" panose="020B0606030504020204" pitchFamily="34" charset="0"/>
                        <a:cs typeface="Open Sans" panose="020B0606030504020204" pitchFamily="34" charset="0"/>
                      </a:endParaRPr>
                    </a:p>
                  </a:txBody>
                  <a:tcPr marL="86794" marR="86794" marT="43397" marB="43397">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180000" marR="0" lvl="0" indent="0" algn="ctr" defTabSz="914400" rtl="0" eaLnBrk="1" fontAlgn="auto" latinLnBrk="0" hangingPunct="1">
                        <a:lnSpc>
                          <a:spcPct val="100000"/>
                        </a:lnSpc>
                        <a:spcBef>
                          <a:spcPts val="0"/>
                        </a:spcBef>
                        <a:spcAft>
                          <a:spcPts val="1000"/>
                        </a:spcAft>
                        <a:buClr>
                          <a:srgbClr val="000000"/>
                        </a:buClr>
                        <a:buSzTx/>
                        <a:buFont typeface="Arial" panose="020B0604020202020204" pitchFamily="34" charset="0"/>
                        <a:buNone/>
                        <a:tabLst/>
                        <a:defRPr/>
                      </a:pPr>
                      <a:r>
                        <a:rPr lang="en-US" sz="4400" b="1" dirty="0">
                          <a:solidFill>
                            <a:schemeClr val="tx1"/>
                          </a:solidFill>
                          <a:latin typeface="Open Sans" panose="020B0606030504020204" pitchFamily="34" charset="0"/>
                          <a:ea typeface="Open Sans" panose="020B0606030504020204" pitchFamily="34" charset="0"/>
                          <a:cs typeface="Open Sans" panose="020B0606030504020204" pitchFamily="34" charset="0"/>
                        </a:rPr>
                        <a:t>n/a</a:t>
                      </a:r>
                    </a:p>
                  </a:txBody>
                  <a:tcPr marL="86794" marR="86794" marT="43397" marB="43397">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180000" marR="0" lvl="0" indent="0" algn="l" defTabSz="914400" rtl="0" eaLnBrk="1" fontAlgn="auto" latinLnBrk="0" hangingPunct="1">
                        <a:lnSpc>
                          <a:spcPct val="100000"/>
                        </a:lnSpc>
                        <a:spcBef>
                          <a:spcPts val="0"/>
                        </a:spcBef>
                        <a:spcAft>
                          <a:spcPts val="1000"/>
                        </a:spcAft>
                        <a:buClr>
                          <a:srgbClr val="000000"/>
                        </a:buClr>
                        <a:buSzTx/>
                        <a:buFont typeface="Arial" panose="020B0604020202020204" pitchFamily="34" charset="0"/>
                        <a:buNone/>
                        <a:tabLst/>
                        <a:defRPr/>
                      </a:pPr>
                      <a:endParaRPr lang="en-US" sz="4400" b="0" dirty="0">
                        <a:solidFill>
                          <a:schemeClr val="tx1"/>
                        </a:solidFill>
                        <a:latin typeface="Open Sans" panose="020B0606030504020204" pitchFamily="34" charset="0"/>
                        <a:ea typeface="Open Sans" panose="020B0606030504020204" pitchFamily="34" charset="0"/>
                        <a:cs typeface="Open Sans" panose="020B0606030504020204" pitchFamily="34" charset="0"/>
                      </a:endParaRPr>
                    </a:p>
                  </a:txBody>
                  <a:tcPr marL="86794" marR="86794" marT="43397" marB="43397">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521613951"/>
                  </a:ext>
                </a:extLst>
              </a:tr>
              <a:tr h="1418253">
                <a:tc>
                  <a:txBody>
                    <a:bodyPr/>
                    <a:lstStyle/>
                    <a:p>
                      <a:pPr marL="180000" marR="0" lvl="0" indent="0" algn="l" defTabSz="914400" rtl="0" eaLnBrk="1" fontAlgn="auto" latinLnBrk="0" hangingPunct="1">
                        <a:lnSpc>
                          <a:spcPct val="100000"/>
                        </a:lnSpc>
                        <a:spcBef>
                          <a:spcPts val="0"/>
                        </a:spcBef>
                        <a:spcAft>
                          <a:spcPts val="1000"/>
                        </a:spcAft>
                        <a:buClr>
                          <a:srgbClr val="000000"/>
                        </a:buClr>
                        <a:buSzTx/>
                        <a:buFont typeface="Arial" panose="020B0604020202020204" pitchFamily="34" charset="0"/>
                        <a:buNone/>
                        <a:tabLst/>
                        <a:defRPr/>
                      </a:pPr>
                      <a:r>
                        <a:rPr lang="en-US" sz="4400" b="0" dirty="0">
                          <a:solidFill>
                            <a:schemeClr val="tx1"/>
                          </a:solidFill>
                          <a:latin typeface="Open Sans" panose="020B0606030504020204" pitchFamily="34" charset="0"/>
                          <a:ea typeface="Open Sans" panose="020B0606030504020204" pitchFamily="34" charset="0"/>
                          <a:cs typeface="Open Sans" panose="020B0606030504020204" pitchFamily="34" charset="0"/>
                        </a:rPr>
                        <a:t>Bounded Receiver (Instance)</a:t>
                      </a:r>
                    </a:p>
                  </a:txBody>
                  <a:tcPr marL="86794" marR="86794" marT="43397" marB="43397">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180000" marR="0" lvl="0" indent="0" algn="l" defTabSz="914400" rtl="0" eaLnBrk="1" fontAlgn="auto" latinLnBrk="0" hangingPunct="1">
                        <a:lnSpc>
                          <a:spcPct val="100000"/>
                        </a:lnSpc>
                        <a:spcBef>
                          <a:spcPts val="0"/>
                        </a:spcBef>
                        <a:spcAft>
                          <a:spcPts val="1000"/>
                        </a:spcAft>
                        <a:buClr>
                          <a:srgbClr val="000000"/>
                        </a:buClr>
                        <a:buSzTx/>
                        <a:buFont typeface="Arial" panose="020B0604020202020204" pitchFamily="34" charset="0"/>
                        <a:buNone/>
                        <a:tabLst/>
                        <a:defRPr/>
                      </a:pPr>
                      <a:endParaRPr lang="en-US" sz="4400" b="0" dirty="0">
                        <a:solidFill>
                          <a:schemeClr val="tx1"/>
                        </a:solidFill>
                        <a:latin typeface="Open Sans" panose="020B0606030504020204" pitchFamily="34" charset="0"/>
                        <a:ea typeface="Open Sans" panose="020B0606030504020204" pitchFamily="34" charset="0"/>
                        <a:cs typeface="Open Sans" panose="020B0606030504020204" pitchFamily="34" charset="0"/>
                      </a:endParaRPr>
                    </a:p>
                  </a:txBody>
                  <a:tcPr marL="86794" marR="86794" marT="43397" marB="43397">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180000" marR="0" lvl="0" indent="0" algn="l" defTabSz="914400" rtl="0" eaLnBrk="1" fontAlgn="auto" latinLnBrk="0" hangingPunct="1">
                        <a:lnSpc>
                          <a:spcPct val="100000"/>
                        </a:lnSpc>
                        <a:spcBef>
                          <a:spcPts val="0"/>
                        </a:spcBef>
                        <a:spcAft>
                          <a:spcPts val="1000"/>
                        </a:spcAft>
                        <a:buClr>
                          <a:srgbClr val="000000"/>
                        </a:buClr>
                        <a:buSzTx/>
                        <a:buFont typeface="Arial" panose="020B0604020202020204" pitchFamily="34" charset="0"/>
                        <a:buNone/>
                        <a:tabLst/>
                        <a:defRPr/>
                      </a:pPr>
                      <a:endParaRPr lang="en-US" sz="4400" b="0" dirty="0">
                        <a:solidFill>
                          <a:schemeClr val="tx1"/>
                        </a:solidFill>
                        <a:latin typeface="Open Sans" panose="020B0606030504020204" pitchFamily="34" charset="0"/>
                        <a:ea typeface="Open Sans" panose="020B0606030504020204" pitchFamily="34" charset="0"/>
                        <a:cs typeface="Open Sans" panose="020B0606030504020204" pitchFamily="34" charset="0"/>
                      </a:endParaRPr>
                    </a:p>
                  </a:txBody>
                  <a:tcPr marL="86794" marR="86794" marT="43397" marB="43397">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180000" marR="0" lvl="0" indent="0" algn="l" defTabSz="914400" rtl="0" eaLnBrk="1" fontAlgn="auto" latinLnBrk="0" hangingPunct="1">
                        <a:lnSpc>
                          <a:spcPct val="100000"/>
                        </a:lnSpc>
                        <a:spcBef>
                          <a:spcPts val="0"/>
                        </a:spcBef>
                        <a:spcAft>
                          <a:spcPts val="1000"/>
                        </a:spcAft>
                        <a:buClr>
                          <a:srgbClr val="000000"/>
                        </a:buClr>
                        <a:buSzTx/>
                        <a:buFont typeface="Arial" panose="020B0604020202020204" pitchFamily="34" charset="0"/>
                        <a:buNone/>
                        <a:tabLst/>
                        <a:defRPr/>
                      </a:pPr>
                      <a:endParaRPr lang="en-US" sz="4400" b="0" dirty="0">
                        <a:solidFill>
                          <a:schemeClr val="tx1"/>
                        </a:solidFill>
                        <a:latin typeface="Open Sans" panose="020B0606030504020204" pitchFamily="34" charset="0"/>
                        <a:ea typeface="Open Sans" panose="020B0606030504020204" pitchFamily="34" charset="0"/>
                        <a:cs typeface="Open Sans" panose="020B0606030504020204" pitchFamily="34" charset="0"/>
                      </a:endParaRPr>
                    </a:p>
                  </a:txBody>
                  <a:tcPr marL="86794" marR="86794" marT="43397" marB="43397">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180000" marR="0" lvl="0" indent="0" algn="l" defTabSz="914400" rtl="0" eaLnBrk="1" fontAlgn="auto" latinLnBrk="0" hangingPunct="1">
                        <a:lnSpc>
                          <a:spcPct val="100000"/>
                        </a:lnSpc>
                        <a:spcBef>
                          <a:spcPts val="0"/>
                        </a:spcBef>
                        <a:spcAft>
                          <a:spcPts val="1000"/>
                        </a:spcAft>
                        <a:buClr>
                          <a:srgbClr val="000000"/>
                        </a:buClr>
                        <a:buSzTx/>
                        <a:buFont typeface="Arial" panose="020B0604020202020204" pitchFamily="34" charset="0"/>
                        <a:buNone/>
                        <a:tabLst/>
                        <a:defRPr/>
                      </a:pPr>
                      <a:endParaRPr lang="en-US" sz="4400" b="0" dirty="0">
                        <a:solidFill>
                          <a:schemeClr val="tx1"/>
                        </a:solidFill>
                        <a:latin typeface="Open Sans" panose="020B0606030504020204" pitchFamily="34" charset="0"/>
                        <a:ea typeface="Open Sans" panose="020B0606030504020204" pitchFamily="34" charset="0"/>
                        <a:cs typeface="Open Sans" panose="020B0606030504020204" pitchFamily="34" charset="0"/>
                      </a:endParaRPr>
                    </a:p>
                  </a:txBody>
                  <a:tcPr marL="86794" marR="86794" marT="43397" marB="43397">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74654465"/>
                  </a:ext>
                </a:extLst>
              </a:tr>
              <a:tr h="1286882">
                <a:tc>
                  <a:txBody>
                    <a:bodyPr/>
                    <a:lstStyle/>
                    <a:p>
                      <a:pPr marL="180000" marR="0" lvl="0" indent="0" algn="l" defTabSz="914400" rtl="0" eaLnBrk="1" fontAlgn="auto" latinLnBrk="0" hangingPunct="1">
                        <a:lnSpc>
                          <a:spcPct val="100000"/>
                        </a:lnSpc>
                        <a:spcBef>
                          <a:spcPts val="0"/>
                        </a:spcBef>
                        <a:spcAft>
                          <a:spcPts val="1000"/>
                        </a:spcAft>
                        <a:buClr>
                          <a:srgbClr val="000000"/>
                        </a:buClr>
                        <a:buSzTx/>
                        <a:buFont typeface="Arial" panose="020B0604020202020204" pitchFamily="34" charset="0"/>
                        <a:buNone/>
                        <a:tabLst/>
                        <a:defRPr/>
                      </a:pPr>
                      <a:r>
                        <a:rPr lang="en-US" sz="4400" b="0">
                          <a:solidFill>
                            <a:schemeClr val="tx1"/>
                          </a:solidFill>
                          <a:latin typeface="Open Sans" panose="020B0606030504020204" pitchFamily="34" charset="0"/>
                          <a:ea typeface="Open Sans" panose="020B0606030504020204" pitchFamily="34" charset="0"/>
                          <a:cs typeface="Open Sans" panose="020B0606030504020204" pitchFamily="34" charset="0"/>
                        </a:rPr>
                        <a:t>Unbounded Receiver </a:t>
                      </a:r>
                      <a:r>
                        <a:rPr lang="en-US" sz="4400" b="0" dirty="0">
                          <a:solidFill>
                            <a:schemeClr val="tx1"/>
                          </a:solidFill>
                          <a:latin typeface="Open Sans" panose="020B0606030504020204" pitchFamily="34" charset="0"/>
                          <a:ea typeface="Open Sans" panose="020B0606030504020204" pitchFamily="34" charset="0"/>
                          <a:cs typeface="Open Sans" panose="020B0606030504020204" pitchFamily="34" charset="0"/>
                        </a:rPr>
                        <a:t>(Instance)</a:t>
                      </a:r>
                    </a:p>
                  </a:txBody>
                  <a:tcPr marL="86794" marR="86794" marT="43397" marB="43397">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180000" marR="0" lvl="0" indent="0" algn="ctr" defTabSz="914400" rtl="0" eaLnBrk="1" fontAlgn="auto" latinLnBrk="0" hangingPunct="1">
                        <a:lnSpc>
                          <a:spcPct val="100000"/>
                        </a:lnSpc>
                        <a:spcBef>
                          <a:spcPts val="0"/>
                        </a:spcBef>
                        <a:spcAft>
                          <a:spcPts val="1000"/>
                        </a:spcAft>
                        <a:buClr>
                          <a:srgbClr val="000000"/>
                        </a:buClr>
                        <a:buSzTx/>
                        <a:buFont typeface="Arial" panose="020B0604020202020204" pitchFamily="34" charset="0"/>
                        <a:buNone/>
                        <a:tabLst/>
                        <a:defRPr/>
                      </a:pPr>
                      <a:r>
                        <a:rPr lang="en-US" sz="4400" b="1" dirty="0">
                          <a:solidFill>
                            <a:schemeClr val="tx1"/>
                          </a:solidFill>
                          <a:latin typeface="Open Sans" panose="020B0606030504020204" pitchFamily="34" charset="0"/>
                          <a:ea typeface="Open Sans" panose="020B0606030504020204" pitchFamily="34" charset="0"/>
                          <a:cs typeface="Open Sans" panose="020B0606030504020204" pitchFamily="34" charset="0"/>
                        </a:rPr>
                        <a:t>n/a</a:t>
                      </a:r>
                    </a:p>
                  </a:txBody>
                  <a:tcPr marL="86794" marR="86794" marT="43397" marB="43397">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180000" marR="0" lvl="0" indent="0" algn="l" defTabSz="914400" rtl="0" eaLnBrk="1" fontAlgn="auto" latinLnBrk="0" hangingPunct="1">
                        <a:lnSpc>
                          <a:spcPct val="100000"/>
                        </a:lnSpc>
                        <a:spcBef>
                          <a:spcPts val="0"/>
                        </a:spcBef>
                        <a:spcAft>
                          <a:spcPts val="1000"/>
                        </a:spcAft>
                        <a:buClr>
                          <a:srgbClr val="000000"/>
                        </a:buClr>
                        <a:buSzTx/>
                        <a:buFont typeface="Arial" panose="020B0604020202020204" pitchFamily="34" charset="0"/>
                        <a:buNone/>
                        <a:tabLst/>
                        <a:defRPr/>
                      </a:pPr>
                      <a:endParaRPr lang="en-US" sz="4400" b="0" dirty="0">
                        <a:solidFill>
                          <a:schemeClr val="tx1"/>
                        </a:solidFill>
                        <a:latin typeface="Open Sans" panose="020B0606030504020204" pitchFamily="34" charset="0"/>
                        <a:ea typeface="Open Sans" panose="020B0606030504020204" pitchFamily="34" charset="0"/>
                        <a:cs typeface="Open Sans" panose="020B0606030504020204" pitchFamily="34" charset="0"/>
                      </a:endParaRPr>
                    </a:p>
                  </a:txBody>
                  <a:tcPr marL="86794" marR="86794" marT="43397" marB="43397">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180000" marR="0" lvl="0" indent="0" algn="l" defTabSz="914400" rtl="0" eaLnBrk="1" fontAlgn="auto" latinLnBrk="0" hangingPunct="1">
                        <a:lnSpc>
                          <a:spcPct val="100000"/>
                        </a:lnSpc>
                        <a:spcBef>
                          <a:spcPts val="0"/>
                        </a:spcBef>
                        <a:spcAft>
                          <a:spcPts val="1000"/>
                        </a:spcAft>
                        <a:buClr>
                          <a:srgbClr val="000000"/>
                        </a:buClr>
                        <a:buSzTx/>
                        <a:buFont typeface="Arial" panose="020B0604020202020204" pitchFamily="34" charset="0"/>
                        <a:buNone/>
                        <a:tabLst/>
                        <a:defRPr/>
                      </a:pPr>
                      <a:endParaRPr lang="en-US" sz="4400" b="0" dirty="0">
                        <a:solidFill>
                          <a:schemeClr val="tx1"/>
                        </a:solidFill>
                        <a:latin typeface="Open Sans" panose="020B0606030504020204" pitchFamily="34" charset="0"/>
                        <a:ea typeface="Open Sans" panose="020B0606030504020204" pitchFamily="34" charset="0"/>
                        <a:cs typeface="Open Sans" panose="020B0606030504020204" pitchFamily="34" charset="0"/>
                      </a:endParaRPr>
                    </a:p>
                  </a:txBody>
                  <a:tcPr marL="86794" marR="86794" marT="43397" marB="43397">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180000" marR="0" lvl="0" indent="0" algn="l" defTabSz="914400" rtl="0" eaLnBrk="1" fontAlgn="auto" latinLnBrk="0" hangingPunct="1">
                        <a:lnSpc>
                          <a:spcPct val="100000"/>
                        </a:lnSpc>
                        <a:spcBef>
                          <a:spcPts val="0"/>
                        </a:spcBef>
                        <a:spcAft>
                          <a:spcPts val="1000"/>
                        </a:spcAft>
                        <a:buClr>
                          <a:srgbClr val="000000"/>
                        </a:buClr>
                        <a:buSzTx/>
                        <a:buFont typeface="Arial" panose="020B0604020202020204" pitchFamily="34" charset="0"/>
                        <a:buNone/>
                        <a:tabLst/>
                        <a:defRPr/>
                      </a:pPr>
                      <a:endParaRPr lang="en-US" sz="4400" b="0" dirty="0">
                        <a:solidFill>
                          <a:schemeClr val="tx1"/>
                        </a:solidFill>
                        <a:latin typeface="Open Sans" panose="020B0606030504020204" pitchFamily="34" charset="0"/>
                        <a:ea typeface="Open Sans" panose="020B0606030504020204" pitchFamily="34" charset="0"/>
                        <a:cs typeface="Open Sans" panose="020B0606030504020204" pitchFamily="34" charset="0"/>
                      </a:endParaRPr>
                    </a:p>
                  </a:txBody>
                  <a:tcPr marL="86794" marR="86794" marT="43397" marB="43397">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267098654"/>
                  </a:ext>
                </a:extLst>
              </a:tr>
            </a:tbl>
          </a:graphicData>
        </a:graphic>
      </p:graphicFrame>
      <p:pic>
        <p:nvPicPr>
          <p:cNvPr id="5" name="Picture 4">
            <a:extLst>
              <a:ext uri="{FF2B5EF4-FFF2-40B4-BE49-F238E27FC236}">
                <a16:creationId xmlns:a16="http://schemas.microsoft.com/office/drawing/2014/main" id="{934CE6E9-1E6C-0075-3BA4-65A6E096BDBC}"/>
              </a:ext>
            </a:extLst>
          </p:cNvPr>
          <p:cNvPicPr>
            <a:picLocks noChangeAspect="1"/>
          </p:cNvPicPr>
          <p:nvPr/>
        </p:nvPicPr>
        <p:blipFill>
          <a:blip r:embed="rId4"/>
          <a:stretch>
            <a:fillRect/>
          </a:stretch>
        </p:blipFill>
        <p:spPr>
          <a:xfrm>
            <a:off x="10143058" y="14006852"/>
            <a:ext cx="4728572" cy="657143"/>
          </a:xfrm>
          <a:prstGeom prst="rect">
            <a:avLst/>
          </a:prstGeom>
        </p:spPr>
      </p:pic>
      <p:pic>
        <p:nvPicPr>
          <p:cNvPr id="12" name="Picture 11">
            <a:extLst>
              <a:ext uri="{FF2B5EF4-FFF2-40B4-BE49-F238E27FC236}">
                <a16:creationId xmlns:a16="http://schemas.microsoft.com/office/drawing/2014/main" id="{FFF38ED9-E40D-75B9-7540-53FF8096DFA5}"/>
              </a:ext>
            </a:extLst>
          </p:cNvPr>
          <p:cNvPicPr>
            <a:picLocks noChangeAspect="1"/>
          </p:cNvPicPr>
          <p:nvPr/>
        </p:nvPicPr>
        <p:blipFill>
          <a:blip r:embed="rId5"/>
          <a:stretch>
            <a:fillRect/>
          </a:stretch>
        </p:blipFill>
        <p:spPr>
          <a:xfrm>
            <a:off x="15945454" y="16816969"/>
            <a:ext cx="5428572" cy="714285"/>
          </a:xfrm>
          <a:prstGeom prst="rect">
            <a:avLst/>
          </a:prstGeom>
        </p:spPr>
      </p:pic>
      <p:pic>
        <p:nvPicPr>
          <p:cNvPr id="16" name="Picture 15">
            <a:extLst>
              <a:ext uri="{FF2B5EF4-FFF2-40B4-BE49-F238E27FC236}">
                <a16:creationId xmlns:a16="http://schemas.microsoft.com/office/drawing/2014/main" id="{4E9A023B-6FBF-F15C-243E-02678B4CD626}"/>
              </a:ext>
            </a:extLst>
          </p:cNvPr>
          <p:cNvPicPr>
            <a:picLocks noChangeAspect="1"/>
          </p:cNvPicPr>
          <p:nvPr/>
        </p:nvPicPr>
        <p:blipFill>
          <a:blip r:embed="rId6"/>
          <a:stretch>
            <a:fillRect/>
          </a:stretch>
        </p:blipFill>
        <p:spPr>
          <a:xfrm>
            <a:off x="21611067" y="15402898"/>
            <a:ext cx="6814286" cy="714285"/>
          </a:xfrm>
          <a:prstGeom prst="rect">
            <a:avLst/>
          </a:prstGeom>
        </p:spPr>
      </p:pic>
      <p:pic>
        <p:nvPicPr>
          <p:cNvPr id="20" name="Picture 19">
            <a:extLst>
              <a:ext uri="{FF2B5EF4-FFF2-40B4-BE49-F238E27FC236}">
                <a16:creationId xmlns:a16="http://schemas.microsoft.com/office/drawing/2014/main" id="{4E49A23E-AC82-3B93-C3DE-798D1C2DCCAE}"/>
              </a:ext>
            </a:extLst>
          </p:cNvPr>
          <p:cNvPicPr>
            <a:picLocks noChangeAspect="1"/>
          </p:cNvPicPr>
          <p:nvPr/>
        </p:nvPicPr>
        <p:blipFill>
          <a:blip r:embed="rId7"/>
          <a:stretch>
            <a:fillRect/>
          </a:stretch>
        </p:blipFill>
        <p:spPr>
          <a:xfrm>
            <a:off x="21611067" y="16825355"/>
            <a:ext cx="3985715" cy="642857"/>
          </a:xfrm>
          <a:prstGeom prst="rect">
            <a:avLst/>
          </a:prstGeom>
        </p:spPr>
      </p:pic>
      <p:pic>
        <p:nvPicPr>
          <p:cNvPr id="24" name="Picture 23">
            <a:extLst>
              <a:ext uri="{FF2B5EF4-FFF2-40B4-BE49-F238E27FC236}">
                <a16:creationId xmlns:a16="http://schemas.microsoft.com/office/drawing/2014/main" id="{EA2CBC70-6968-8DF3-4B7E-E11111D22E73}"/>
              </a:ext>
            </a:extLst>
          </p:cNvPr>
          <p:cNvPicPr>
            <a:picLocks noChangeAspect="1"/>
          </p:cNvPicPr>
          <p:nvPr/>
        </p:nvPicPr>
        <p:blipFill>
          <a:blip r:embed="rId8"/>
          <a:stretch>
            <a:fillRect/>
          </a:stretch>
        </p:blipFill>
        <p:spPr>
          <a:xfrm>
            <a:off x="29054082" y="14021138"/>
            <a:ext cx="4742858" cy="642857"/>
          </a:xfrm>
          <a:prstGeom prst="rect">
            <a:avLst/>
          </a:prstGeom>
        </p:spPr>
      </p:pic>
      <p:pic>
        <p:nvPicPr>
          <p:cNvPr id="28" name="Picture 27">
            <a:extLst>
              <a:ext uri="{FF2B5EF4-FFF2-40B4-BE49-F238E27FC236}">
                <a16:creationId xmlns:a16="http://schemas.microsoft.com/office/drawing/2014/main" id="{B7F1F7C3-5D7F-3E57-6E2B-784FF39969E2}"/>
              </a:ext>
            </a:extLst>
          </p:cNvPr>
          <p:cNvPicPr>
            <a:picLocks noChangeAspect="1"/>
          </p:cNvPicPr>
          <p:nvPr/>
        </p:nvPicPr>
        <p:blipFill>
          <a:blip r:embed="rId9"/>
          <a:stretch>
            <a:fillRect/>
          </a:stretch>
        </p:blipFill>
        <p:spPr>
          <a:xfrm>
            <a:off x="29054082" y="16825355"/>
            <a:ext cx="5042858" cy="714285"/>
          </a:xfrm>
          <a:prstGeom prst="rect">
            <a:avLst/>
          </a:prstGeom>
        </p:spPr>
      </p:pic>
    </p:spTree>
    <p:extLst>
      <p:ext uri="{BB962C8B-B14F-4D97-AF65-F5344CB8AC3E}">
        <p14:creationId xmlns:p14="http://schemas.microsoft.com/office/powerpoint/2010/main" val="323001150"/>
      </p:ext>
    </p:extLst>
  </p:cSld>
  <p:clrMapOvr>
    <a:masterClrMapping/>
  </p:clrMapOvr>
  <p:transition spd="slow"/>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able 2">
            <a:extLst>
              <a:ext uri="{FF2B5EF4-FFF2-40B4-BE49-F238E27FC236}">
                <a16:creationId xmlns:a16="http://schemas.microsoft.com/office/drawing/2014/main" id="{1D389F3C-3B87-CB26-AB78-850EF61BC766}"/>
              </a:ext>
            </a:extLst>
          </p:cNvPr>
          <p:cNvGraphicFramePr>
            <a:graphicFrameLocks noGrp="1"/>
          </p:cNvGraphicFramePr>
          <p:nvPr/>
        </p:nvGraphicFramePr>
        <p:xfrm>
          <a:off x="952500" y="7367679"/>
          <a:ext cx="34782667" cy="10677722"/>
        </p:xfrm>
        <a:graphic>
          <a:graphicData uri="http://schemas.openxmlformats.org/drawingml/2006/table">
            <a:tbl>
              <a:tblPr firstRow="1" bandRow="1">
                <a:tableStyleId>{5C22544A-7EE6-4342-B048-85BDC9FD1C3A}</a:tableStyleId>
              </a:tblPr>
              <a:tblGrid>
                <a:gridCol w="9031255">
                  <a:extLst>
                    <a:ext uri="{9D8B030D-6E8A-4147-A177-3AD203B41FA5}">
                      <a16:colId xmlns:a16="http://schemas.microsoft.com/office/drawing/2014/main" val="2844207666"/>
                    </a:ext>
                  </a:extLst>
                </a:gridCol>
                <a:gridCol w="5840963">
                  <a:extLst>
                    <a:ext uri="{9D8B030D-6E8A-4147-A177-3AD203B41FA5}">
                      <a16:colId xmlns:a16="http://schemas.microsoft.com/office/drawing/2014/main" val="1891655341"/>
                    </a:ext>
                  </a:extLst>
                </a:gridCol>
                <a:gridCol w="5635690">
                  <a:extLst>
                    <a:ext uri="{9D8B030D-6E8A-4147-A177-3AD203B41FA5}">
                      <a16:colId xmlns:a16="http://schemas.microsoft.com/office/drawing/2014/main" val="2017387083"/>
                    </a:ext>
                  </a:extLst>
                </a:gridCol>
                <a:gridCol w="7389845">
                  <a:extLst>
                    <a:ext uri="{9D8B030D-6E8A-4147-A177-3AD203B41FA5}">
                      <a16:colId xmlns:a16="http://schemas.microsoft.com/office/drawing/2014/main" val="1020653276"/>
                    </a:ext>
                  </a:extLst>
                </a:gridCol>
                <a:gridCol w="6884914">
                  <a:extLst>
                    <a:ext uri="{9D8B030D-6E8A-4147-A177-3AD203B41FA5}">
                      <a16:colId xmlns:a16="http://schemas.microsoft.com/office/drawing/2014/main" val="28904781"/>
                    </a:ext>
                  </a:extLst>
                </a:gridCol>
              </a:tblGrid>
              <a:tr h="1188487">
                <a:tc>
                  <a:txBody>
                    <a:bodyPr/>
                    <a:lstStyle/>
                    <a:p>
                      <a:pPr marL="180000" algn="l"/>
                      <a:endParaRPr lang="en-PH" sz="4800" dirty="0">
                        <a:solidFill>
                          <a:schemeClr val="tx1"/>
                        </a:solidFill>
                        <a:latin typeface="Open Sans" panose="020B0606030504020204" pitchFamily="34" charset="0"/>
                        <a:ea typeface="Open Sans" panose="020B0606030504020204" pitchFamily="34" charset="0"/>
                        <a:cs typeface="Open Sans" panose="020B0606030504020204" pitchFamily="34" charset="0"/>
                      </a:endParaRPr>
                    </a:p>
                  </a:txBody>
                  <a:tcPr marL="86794" marR="86794" marT="43397" marB="43397">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BE4D5"/>
                    </a:solidFill>
                  </a:tcPr>
                </a:tc>
                <a:tc>
                  <a:txBody>
                    <a:bodyPr/>
                    <a:lstStyle/>
                    <a:p>
                      <a:pPr marL="180000" algn="ctr"/>
                      <a:r>
                        <a:rPr lang="en-US" sz="4800" dirty="0">
                          <a:solidFill>
                            <a:schemeClr val="tx1"/>
                          </a:solidFill>
                          <a:latin typeface="Open Sans" panose="020B0606030504020204" pitchFamily="34" charset="0"/>
                          <a:ea typeface="Open Sans" panose="020B0606030504020204" pitchFamily="34" charset="0"/>
                          <a:cs typeface="Open Sans" panose="020B0606030504020204" pitchFamily="34" charset="0"/>
                        </a:rPr>
                        <a:t>No </a:t>
                      </a:r>
                      <a:r>
                        <a:rPr lang="en-US" sz="4800" dirty="0" err="1">
                          <a:solidFill>
                            <a:schemeClr val="tx1"/>
                          </a:solidFill>
                          <a:latin typeface="Open Sans" panose="020B0606030504020204" pitchFamily="34" charset="0"/>
                          <a:ea typeface="Open Sans" panose="020B0606030504020204" pitchFamily="34" charset="0"/>
                          <a:cs typeface="Open Sans" panose="020B0606030504020204" pitchFamily="34" charset="0"/>
                        </a:rPr>
                        <a:t>Args</a:t>
                      </a:r>
                      <a:endParaRPr lang="en-PH" sz="4800" dirty="0">
                        <a:solidFill>
                          <a:schemeClr val="tx1"/>
                        </a:solidFill>
                        <a:latin typeface="Open Sans" panose="020B0606030504020204" pitchFamily="34" charset="0"/>
                        <a:ea typeface="Open Sans" panose="020B0606030504020204" pitchFamily="34" charset="0"/>
                        <a:cs typeface="Open Sans" panose="020B0606030504020204" pitchFamily="34" charset="0"/>
                      </a:endParaRPr>
                    </a:p>
                  </a:txBody>
                  <a:tcPr marL="86794" marR="86794" marT="43397" marB="43397">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BE4D5"/>
                    </a:solidFill>
                  </a:tcPr>
                </a:tc>
                <a:tc gridSpan="3">
                  <a:txBody>
                    <a:bodyPr/>
                    <a:lstStyle/>
                    <a:p>
                      <a:pPr marL="180000" algn="ctr"/>
                      <a:r>
                        <a:rPr lang="en-US" sz="4800" dirty="0">
                          <a:solidFill>
                            <a:schemeClr val="tx1"/>
                          </a:solidFill>
                          <a:latin typeface="Open Sans" panose="020B0606030504020204" pitchFamily="34" charset="0"/>
                          <a:ea typeface="Open Sans" panose="020B0606030504020204" pitchFamily="34" charset="0"/>
                          <a:cs typeface="Open Sans" panose="020B0606030504020204" pitchFamily="34" charset="0"/>
                        </a:rPr>
                        <a:t>One Argument</a:t>
                      </a:r>
                      <a:endParaRPr lang="en-PH" sz="4800" dirty="0">
                        <a:solidFill>
                          <a:schemeClr val="tx1"/>
                        </a:solidFill>
                        <a:latin typeface="Open Sans" panose="020B0606030504020204" pitchFamily="34" charset="0"/>
                        <a:ea typeface="Open Sans" panose="020B0606030504020204" pitchFamily="34" charset="0"/>
                        <a:cs typeface="Open Sans" panose="020B0606030504020204" pitchFamily="34" charset="0"/>
                      </a:endParaRPr>
                    </a:p>
                  </a:txBody>
                  <a:tcPr marL="86794" marR="86794" marT="43397" marB="43397">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BE4D5"/>
                    </a:solidFill>
                  </a:tcPr>
                </a:tc>
                <a:tc hMerge="1">
                  <a:txBody>
                    <a:bodyPr/>
                    <a:lstStyle/>
                    <a:p>
                      <a:pPr marL="180000" algn="ctr"/>
                      <a:r>
                        <a:rPr lang="en-US" sz="4800" dirty="0">
                          <a:solidFill>
                            <a:schemeClr val="tx1"/>
                          </a:solidFill>
                          <a:latin typeface="Open Sans" panose="020B0606030504020204" pitchFamily="34" charset="0"/>
                          <a:ea typeface="Open Sans" panose="020B0606030504020204" pitchFamily="34" charset="0"/>
                          <a:cs typeface="Open Sans" panose="020B0606030504020204" pitchFamily="34" charset="0"/>
                        </a:rPr>
                        <a:t>One Argument</a:t>
                      </a:r>
                      <a:endParaRPr lang="en-PH" sz="4800" dirty="0">
                        <a:solidFill>
                          <a:schemeClr val="tx1"/>
                        </a:solidFill>
                        <a:latin typeface="Open Sans" panose="020B0606030504020204" pitchFamily="34" charset="0"/>
                        <a:ea typeface="Open Sans" panose="020B0606030504020204" pitchFamily="34" charset="0"/>
                        <a:cs typeface="Open Sans" panose="020B0606030504020204" pitchFamily="34" charset="0"/>
                      </a:endParaRPr>
                    </a:p>
                  </a:txBody>
                  <a:tcPr marL="86794" marR="86794" marT="43397" marB="43397">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BE4D5"/>
                    </a:solidFill>
                  </a:tcPr>
                </a:tc>
                <a:tc hMerge="1">
                  <a:txBody>
                    <a:bodyPr/>
                    <a:lstStyle/>
                    <a:p>
                      <a:pPr marL="180000" algn="l"/>
                      <a:endParaRPr lang="en-PH" sz="4800" dirty="0">
                        <a:solidFill>
                          <a:schemeClr val="tx1"/>
                        </a:solidFill>
                        <a:latin typeface="Open Sans" panose="020B0606030504020204" pitchFamily="34" charset="0"/>
                        <a:ea typeface="Open Sans" panose="020B0606030504020204" pitchFamily="34" charset="0"/>
                        <a:cs typeface="Open Sans" panose="020B0606030504020204" pitchFamily="34" charset="0"/>
                      </a:endParaRPr>
                    </a:p>
                  </a:txBody>
                  <a:tcPr marL="86794" marR="86794" marT="43397" marB="43397">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BE4D5"/>
                    </a:solidFill>
                  </a:tcPr>
                </a:tc>
                <a:extLst>
                  <a:ext uri="{0D108BD9-81ED-4DB2-BD59-A6C34878D82A}">
                    <a16:rowId xmlns:a16="http://schemas.microsoft.com/office/drawing/2014/main" val="3978129174"/>
                  </a:ext>
                </a:extLst>
              </a:tr>
              <a:tr h="1418253">
                <a:tc>
                  <a:txBody>
                    <a:bodyPr/>
                    <a:lstStyle/>
                    <a:p>
                      <a:pPr marL="180000" marR="0" lvl="0" indent="0" algn="l" defTabSz="914400" rtl="0" eaLnBrk="1" fontAlgn="auto" latinLnBrk="0" hangingPunct="1">
                        <a:lnSpc>
                          <a:spcPct val="100000"/>
                        </a:lnSpc>
                        <a:spcBef>
                          <a:spcPts val="0"/>
                        </a:spcBef>
                        <a:spcAft>
                          <a:spcPts val="1000"/>
                        </a:spcAft>
                        <a:buClr>
                          <a:srgbClr val="000000"/>
                        </a:buClr>
                        <a:buSzTx/>
                        <a:buFont typeface="Arial" panose="020B0604020202020204" pitchFamily="34" charset="0"/>
                        <a:buNone/>
                        <a:tabLst/>
                        <a:defRPr/>
                      </a:pPr>
                      <a:r>
                        <a:rPr lang="en-US" sz="4400" b="1" dirty="0">
                          <a:solidFill>
                            <a:schemeClr val="tx1"/>
                          </a:solidFill>
                          <a:latin typeface="Open Sans" panose="020B0606030504020204" pitchFamily="34" charset="0"/>
                          <a:ea typeface="Open Sans" panose="020B0606030504020204" pitchFamily="34" charset="0"/>
                          <a:cs typeface="Open Sans" panose="020B0606030504020204" pitchFamily="34" charset="0"/>
                        </a:rPr>
                        <a:t>Types of Method References</a:t>
                      </a:r>
                    </a:p>
                  </a:txBody>
                  <a:tcPr marL="86794" marR="86794" marT="43397" marB="43397">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lumMod val="20000"/>
                        <a:lumOff val="80000"/>
                      </a:schemeClr>
                    </a:solidFill>
                  </a:tcPr>
                </a:tc>
                <a:tc>
                  <a:txBody>
                    <a:bodyPr/>
                    <a:lstStyle/>
                    <a:p>
                      <a:pPr marL="180000" marR="0" lvl="0" indent="0" algn="l" defTabSz="914400" rtl="0" eaLnBrk="1" fontAlgn="auto" latinLnBrk="0" hangingPunct="1">
                        <a:lnSpc>
                          <a:spcPct val="100000"/>
                        </a:lnSpc>
                        <a:spcBef>
                          <a:spcPts val="0"/>
                        </a:spcBef>
                        <a:spcAft>
                          <a:spcPts val="1000"/>
                        </a:spcAft>
                        <a:buClr>
                          <a:srgbClr val="000000"/>
                        </a:buClr>
                        <a:buSzTx/>
                        <a:buFont typeface="Arial" panose="020B0604020202020204" pitchFamily="34" charset="0"/>
                        <a:buNone/>
                        <a:tabLst/>
                        <a:defRPr/>
                      </a:pPr>
                      <a:r>
                        <a:rPr lang="en-US" sz="4400" b="1" dirty="0">
                          <a:solidFill>
                            <a:schemeClr val="tx1"/>
                          </a:solidFill>
                          <a:latin typeface="Open Sans" panose="020B0606030504020204" pitchFamily="34" charset="0"/>
                          <a:ea typeface="Open Sans" panose="020B0606030504020204" pitchFamily="34" charset="0"/>
                          <a:cs typeface="Open Sans" panose="020B0606030504020204" pitchFamily="34" charset="0"/>
                        </a:rPr>
                        <a:t>Supplier</a:t>
                      </a:r>
                    </a:p>
                  </a:txBody>
                  <a:tcPr marL="86794" marR="86794" marT="43397" marB="43397">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lumMod val="20000"/>
                        <a:lumOff val="80000"/>
                      </a:schemeClr>
                    </a:solidFill>
                  </a:tcPr>
                </a:tc>
                <a:tc>
                  <a:txBody>
                    <a:bodyPr/>
                    <a:lstStyle/>
                    <a:p>
                      <a:pPr marL="180000" marR="0" lvl="0" indent="0" algn="l" defTabSz="914400" rtl="0" eaLnBrk="1" fontAlgn="auto" latinLnBrk="0" hangingPunct="1">
                        <a:lnSpc>
                          <a:spcPct val="100000"/>
                        </a:lnSpc>
                        <a:spcBef>
                          <a:spcPts val="0"/>
                        </a:spcBef>
                        <a:spcAft>
                          <a:spcPts val="1000"/>
                        </a:spcAft>
                        <a:buClr>
                          <a:srgbClr val="000000"/>
                        </a:buClr>
                        <a:buSzTx/>
                        <a:buFont typeface="Arial" panose="020B0604020202020204" pitchFamily="34" charset="0"/>
                        <a:buNone/>
                        <a:tabLst/>
                        <a:defRPr/>
                      </a:pPr>
                      <a:r>
                        <a:rPr lang="en-US" sz="4400" b="1" dirty="0">
                          <a:solidFill>
                            <a:schemeClr val="tx1"/>
                          </a:solidFill>
                          <a:latin typeface="Open Sans" panose="020B0606030504020204" pitchFamily="34" charset="0"/>
                          <a:ea typeface="Open Sans" panose="020B0606030504020204" pitchFamily="34" charset="0"/>
                          <a:cs typeface="Open Sans" panose="020B0606030504020204" pitchFamily="34" charset="0"/>
                        </a:rPr>
                        <a:t>Predicate</a:t>
                      </a:r>
                    </a:p>
                  </a:txBody>
                  <a:tcPr marL="86794" marR="86794" marT="43397" marB="43397">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lumMod val="20000"/>
                        <a:lumOff val="80000"/>
                      </a:schemeClr>
                    </a:solidFill>
                  </a:tcPr>
                </a:tc>
                <a:tc>
                  <a:txBody>
                    <a:bodyPr/>
                    <a:lstStyle/>
                    <a:p>
                      <a:pPr marL="180000" marR="0" lvl="0" indent="0" algn="l" defTabSz="914400" rtl="0" eaLnBrk="1" fontAlgn="auto" latinLnBrk="0" hangingPunct="1">
                        <a:lnSpc>
                          <a:spcPct val="100000"/>
                        </a:lnSpc>
                        <a:spcBef>
                          <a:spcPts val="0"/>
                        </a:spcBef>
                        <a:spcAft>
                          <a:spcPts val="1000"/>
                        </a:spcAft>
                        <a:buClr>
                          <a:srgbClr val="000000"/>
                        </a:buClr>
                        <a:buSzTx/>
                        <a:buFont typeface="Arial" panose="020B0604020202020204" pitchFamily="34" charset="0"/>
                        <a:buNone/>
                        <a:tabLst/>
                        <a:defRPr/>
                      </a:pPr>
                      <a:r>
                        <a:rPr lang="en-US" sz="4400" b="1" dirty="0">
                          <a:solidFill>
                            <a:schemeClr val="tx1"/>
                          </a:solidFill>
                          <a:latin typeface="Open Sans" panose="020B0606030504020204" pitchFamily="34" charset="0"/>
                          <a:ea typeface="Open Sans" panose="020B0606030504020204" pitchFamily="34" charset="0"/>
                          <a:cs typeface="Open Sans" panose="020B0606030504020204" pitchFamily="34" charset="0"/>
                        </a:rPr>
                        <a:t>Consumer</a:t>
                      </a:r>
                    </a:p>
                  </a:txBody>
                  <a:tcPr marL="86794" marR="86794" marT="43397" marB="43397">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lumMod val="20000"/>
                        <a:lumOff val="80000"/>
                      </a:schemeClr>
                    </a:solidFill>
                  </a:tcPr>
                </a:tc>
                <a:tc>
                  <a:txBody>
                    <a:bodyPr/>
                    <a:lstStyle/>
                    <a:p>
                      <a:pPr marL="180000" marR="0" lvl="0" indent="0" algn="l" defTabSz="914400" rtl="0" eaLnBrk="1" fontAlgn="auto" latinLnBrk="0" hangingPunct="1">
                        <a:lnSpc>
                          <a:spcPct val="100000"/>
                        </a:lnSpc>
                        <a:spcBef>
                          <a:spcPts val="0"/>
                        </a:spcBef>
                        <a:spcAft>
                          <a:spcPts val="1000"/>
                        </a:spcAft>
                        <a:buClr>
                          <a:srgbClr val="000000"/>
                        </a:buClr>
                        <a:buSzTx/>
                        <a:buFont typeface="Arial" panose="020B0604020202020204" pitchFamily="34" charset="0"/>
                        <a:buNone/>
                        <a:tabLst/>
                        <a:defRPr/>
                      </a:pPr>
                      <a:r>
                        <a:rPr lang="en-US" sz="4400" b="1" dirty="0">
                          <a:solidFill>
                            <a:schemeClr val="tx1"/>
                          </a:solidFill>
                          <a:latin typeface="Open Sans" panose="020B0606030504020204" pitchFamily="34" charset="0"/>
                          <a:ea typeface="Open Sans" panose="020B0606030504020204" pitchFamily="34" charset="0"/>
                          <a:cs typeface="Open Sans" panose="020B0606030504020204" pitchFamily="34" charset="0"/>
                        </a:rPr>
                        <a:t>Function</a:t>
                      </a:r>
                    </a:p>
                    <a:p>
                      <a:pPr marL="180000" marR="0" lvl="0" indent="0" algn="l" defTabSz="914400" rtl="0" eaLnBrk="1" fontAlgn="auto" latinLnBrk="0" hangingPunct="1">
                        <a:lnSpc>
                          <a:spcPct val="100000"/>
                        </a:lnSpc>
                        <a:spcBef>
                          <a:spcPts val="0"/>
                        </a:spcBef>
                        <a:spcAft>
                          <a:spcPts val="1000"/>
                        </a:spcAft>
                        <a:buClr>
                          <a:srgbClr val="000000"/>
                        </a:buClr>
                        <a:buSzTx/>
                        <a:buFont typeface="Arial" panose="020B0604020202020204" pitchFamily="34" charset="0"/>
                        <a:buNone/>
                        <a:tabLst/>
                        <a:defRPr/>
                      </a:pPr>
                      <a:endParaRPr lang="en-US" sz="4400" b="1" dirty="0">
                        <a:solidFill>
                          <a:schemeClr val="tx1"/>
                        </a:solidFill>
                        <a:latin typeface="Open Sans" panose="020B0606030504020204" pitchFamily="34" charset="0"/>
                        <a:ea typeface="Open Sans" panose="020B0606030504020204" pitchFamily="34" charset="0"/>
                        <a:cs typeface="Open Sans" panose="020B0606030504020204" pitchFamily="34" charset="0"/>
                      </a:endParaRPr>
                    </a:p>
                    <a:p>
                      <a:pPr marL="180000" marR="0" lvl="0" indent="0" algn="l" defTabSz="914400" rtl="0" eaLnBrk="1" fontAlgn="auto" latinLnBrk="0" hangingPunct="1">
                        <a:lnSpc>
                          <a:spcPct val="100000"/>
                        </a:lnSpc>
                        <a:spcBef>
                          <a:spcPts val="0"/>
                        </a:spcBef>
                        <a:spcAft>
                          <a:spcPts val="1000"/>
                        </a:spcAft>
                        <a:buClr>
                          <a:srgbClr val="000000"/>
                        </a:buClr>
                        <a:buSzTx/>
                        <a:buFont typeface="Arial" panose="020B0604020202020204" pitchFamily="34" charset="0"/>
                        <a:buNone/>
                        <a:tabLst/>
                        <a:defRPr/>
                      </a:pPr>
                      <a:r>
                        <a:rPr lang="en-US" sz="4400" b="1" dirty="0" err="1">
                          <a:solidFill>
                            <a:schemeClr val="tx1"/>
                          </a:solidFill>
                          <a:latin typeface="Open Sans" panose="020B0606030504020204" pitchFamily="34" charset="0"/>
                          <a:ea typeface="Open Sans" panose="020B0606030504020204" pitchFamily="34" charset="0"/>
                          <a:cs typeface="Open Sans" panose="020B0606030504020204" pitchFamily="34" charset="0"/>
                        </a:rPr>
                        <a:t>UnaryOperator</a:t>
                      </a:r>
                      <a:endParaRPr lang="en-US" sz="4400" b="1" dirty="0">
                        <a:solidFill>
                          <a:schemeClr val="tx1"/>
                        </a:solidFill>
                        <a:latin typeface="Open Sans" panose="020B0606030504020204" pitchFamily="34" charset="0"/>
                        <a:ea typeface="Open Sans" panose="020B0606030504020204" pitchFamily="34" charset="0"/>
                        <a:cs typeface="Open Sans" panose="020B0606030504020204" pitchFamily="34" charset="0"/>
                      </a:endParaRPr>
                    </a:p>
                    <a:p>
                      <a:pPr marL="180000" marR="0" lvl="0" indent="0" algn="l" defTabSz="914400" rtl="0" eaLnBrk="1" fontAlgn="auto" latinLnBrk="0" hangingPunct="1">
                        <a:lnSpc>
                          <a:spcPct val="100000"/>
                        </a:lnSpc>
                        <a:spcBef>
                          <a:spcPts val="0"/>
                        </a:spcBef>
                        <a:spcAft>
                          <a:spcPts val="1000"/>
                        </a:spcAft>
                        <a:buClr>
                          <a:srgbClr val="000000"/>
                        </a:buClr>
                        <a:buSzTx/>
                        <a:buFont typeface="Arial" panose="020B0604020202020204" pitchFamily="34" charset="0"/>
                        <a:buNone/>
                        <a:tabLst/>
                        <a:defRPr/>
                      </a:pPr>
                      <a:endParaRPr lang="en-US" sz="4400" b="1" dirty="0">
                        <a:solidFill>
                          <a:schemeClr val="tx1"/>
                        </a:solidFill>
                        <a:latin typeface="Open Sans" panose="020B0606030504020204" pitchFamily="34" charset="0"/>
                        <a:ea typeface="Open Sans" panose="020B0606030504020204" pitchFamily="34" charset="0"/>
                        <a:cs typeface="Open Sans" panose="020B0606030504020204" pitchFamily="34" charset="0"/>
                      </a:endParaRPr>
                    </a:p>
                    <a:p>
                      <a:pPr marL="180000" marR="0" lvl="0" indent="0" algn="l" defTabSz="914400" rtl="0" eaLnBrk="1" fontAlgn="auto" latinLnBrk="0" hangingPunct="1">
                        <a:lnSpc>
                          <a:spcPct val="100000"/>
                        </a:lnSpc>
                        <a:spcBef>
                          <a:spcPts val="0"/>
                        </a:spcBef>
                        <a:spcAft>
                          <a:spcPts val="1000"/>
                        </a:spcAft>
                        <a:buClr>
                          <a:srgbClr val="000000"/>
                        </a:buClr>
                        <a:buSzTx/>
                        <a:buFont typeface="Arial" panose="020B0604020202020204" pitchFamily="34" charset="0"/>
                        <a:buNone/>
                        <a:tabLst/>
                        <a:defRPr/>
                      </a:pPr>
                      <a:r>
                        <a:rPr lang="en-US" sz="4400" b="1" dirty="0">
                          <a:solidFill>
                            <a:schemeClr val="tx1"/>
                          </a:solidFill>
                          <a:latin typeface="Open Sans" panose="020B0606030504020204" pitchFamily="34" charset="0"/>
                          <a:ea typeface="Open Sans" panose="020B0606030504020204" pitchFamily="34" charset="0"/>
                          <a:cs typeface="Open Sans" panose="020B0606030504020204" pitchFamily="34" charset="0"/>
                        </a:rPr>
                        <a:t>et. al.</a:t>
                      </a:r>
                    </a:p>
                  </a:txBody>
                  <a:tcPr marL="86794" marR="86794" marT="43397" marB="43397">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lumMod val="20000"/>
                        <a:lumOff val="80000"/>
                      </a:schemeClr>
                    </a:solidFill>
                  </a:tcPr>
                </a:tc>
                <a:extLst>
                  <a:ext uri="{0D108BD9-81ED-4DB2-BD59-A6C34878D82A}">
                    <a16:rowId xmlns:a16="http://schemas.microsoft.com/office/drawing/2014/main" val="1640325450"/>
                  </a:ext>
                </a:extLst>
              </a:tr>
              <a:tr h="1418253">
                <a:tc>
                  <a:txBody>
                    <a:bodyPr/>
                    <a:lstStyle/>
                    <a:p>
                      <a:pPr marL="180000" marR="0" lvl="0" indent="0" algn="l" defTabSz="914400" rtl="0" eaLnBrk="1" fontAlgn="auto" latinLnBrk="0" hangingPunct="1">
                        <a:lnSpc>
                          <a:spcPct val="100000"/>
                        </a:lnSpc>
                        <a:spcBef>
                          <a:spcPts val="0"/>
                        </a:spcBef>
                        <a:spcAft>
                          <a:spcPts val="1000"/>
                        </a:spcAft>
                        <a:buClr>
                          <a:srgbClr val="000000"/>
                        </a:buClr>
                        <a:buSzTx/>
                        <a:buFont typeface="Arial" panose="020B0604020202020204" pitchFamily="34" charset="0"/>
                        <a:buNone/>
                        <a:tabLst/>
                        <a:defRPr/>
                      </a:pPr>
                      <a:r>
                        <a:rPr lang="en-US" sz="4400" b="0" dirty="0">
                          <a:solidFill>
                            <a:schemeClr val="tx1"/>
                          </a:solidFill>
                          <a:latin typeface="Open Sans" panose="020B0606030504020204" pitchFamily="34" charset="0"/>
                          <a:ea typeface="Open Sans" panose="020B0606030504020204" pitchFamily="34" charset="0"/>
                          <a:cs typeface="Open Sans" panose="020B0606030504020204" pitchFamily="34" charset="0"/>
                        </a:rPr>
                        <a:t>Reference Type (Static)</a:t>
                      </a:r>
                    </a:p>
                  </a:txBody>
                  <a:tcPr marL="86794" marR="86794" marT="43397" marB="43397">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180000" marR="0" lvl="0" indent="0" algn="l" defTabSz="914400" rtl="0" eaLnBrk="1" fontAlgn="auto" latinLnBrk="0" hangingPunct="1">
                        <a:lnSpc>
                          <a:spcPct val="100000"/>
                        </a:lnSpc>
                        <a:spcBef>
                          <a:spcPts val="0"/>
                        </a:spcBef>
                        <a:spcAft>
                          <a:spcPts val="1000"/>
                        </a:spcAft>
                        <a:buClr>
                          <a:srgbClr val="000000"/>
                        </a:buClr>
                        <a:buSzTx/>
                        <a:buFont typeface="Arial" panose="020B0604020202020204" pitchFamily="34" charset="0"/>
                        <a:buNone/>
                        <a:tabLst/>
                        <a:defRPr/>
                      </a:pPr>
                      <a:endParaRPr lang="en-US" sz="4400" b="0" dirty="0">
                        <a:solidFill>
                          <a:schemeClr val="tx1"/>
                        </a:solidFill>
                        <a:latin typeface="Open Sans" panose="020B0606030504020204" pitchFamily="34" charset="0"/>
                        <a:ea typeface="Open Sans" panose="020B0606030504020204" pitchFamily="34" charset="0"/>
                        <a:cs typeface="Open Sans" panose="020B0606030504020204" pitchFamily="34" charset="0"/>
                      </a:endParaRPr>
                    </a:p>
                  </a:txBody>
                  <a:tcPr marL="86794" marR="86794" marT="43397" marB="43397">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180000" marR="0" lvl="0" indent="0" algn="l" defTabSz="914400" rtl="0" eaLnBrk="1" fontAlgn="auto" latinLnBrk="0" hangingPunct="1">
                        <a:lnSpc>
                          <a:spcPct val="100000"/>
                        </a:lnSpc>
                        <a:spcBef>
                          <a:spcPts val="0"/>
                        </a:spcBef>
                        <a:spcAft>
                          <a:spcPts val="1000"/>
                        </a:spcAft>
                        <a:buClr>
                          <a:srgbClr val="000000"/>
                        </a:buClr>
                        <a:buSzTx/>
                        <a:buFont typeface="Arial" panose="020B0604020202020204" pitchFamily="34" charset="0"/>
                        <a:buNone/>
                        <a:tabLst/>
                        <a:defRPr/>
                      </a:pPr>
                      <a:endParaRPr lang="en-US" sz="4400" b="0" dirty="0">
                        <a:solidFill>
                          <a:schemeClr val="tx1"/>
                        </a:solidFill>
                        <a:latin typeface="Open Sans" panose="020B0606030504020204" pitchFamily="34" charset="0"/>
                        <a:ea typeface="Open Sans" panose="020B0606030504020204" pitchFamily="34" charset="0"/>
                        <a:cs typeface="Open Sans" panose="020B0606030504020204" pitchFamily="34" charset="0"/>
                      </a:endParaRPr>
                    </a:p>
                  </a:txBody>
                  <a:tcPr marL="86794" marR="86794" marT="43397" marB="43397">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180000" marR="0" lvl="0" indent="0" algn="l" defTabSz="914400" rtl="0" eaLnBrk="1" fontAlgn="auto" latinLnBrk="0" hangingPunct="1">
                        <a:lnSpc>
                          <a:spcPct val="100000"/>
                        </a:lnSpc>
                        <a:spcBef>
                          <a:spcPts val="0"/>
                        </a:spcBef>
                        <a:spcAft>
                          <a:spcPts val="1000"/>
                        </a:spcAft>
                        <a:buClr>
                          <a:srgbClr val="000000"/>
                        </a:buClr>
                        <a:buSzTx/>
                        <a:buFont typeface="Arial" panose="020B0604020202020204" pitchFamily="34" charset="0"/>
                        <a:buNone/>
                        <a:tabLst/>
                        <a:defRPr/>
                      </a:pPr>
                      <a:endParaRPr lang="en-US" sz="4400" b="0" dirty="0">
                        <a:solidFill>
                          <a:schemeClr val="tx1"/>
                        </a:solidFill>
                        <a:latin typeface="Open Sans" panose="020B0606030504020204" pitchFamily="34" charset="0"/>
                        <a:ea typeface="Open Sans" panose="020B0606030504020204" pitchFamily="34" charset="0"/>
                        <a:cs typeface="Open Sans" panose="020B0606030504020204" pitchFamily="34" charset="0"/>
                      </a:endParaRPr>
                    </a:p>
                  </a:txBody>
                  <a:tcPr marL="86794" marR="86794" marT="43397" marB="43397">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180000" marR="0" lvl="0" indent="0" algn="l" defTabSz="914400" rtl="0" eaLnBrk="1" fontAlgn="auto" latinLnBrk="0" hangingPunct="1">
                        <a:lnSpc>
                          <a:spcPct val="100000"/>
                        </a:lnSpc>
                        <a:spcBef>
                          <a:spcPts val="0"/>
                        </a:spcBef>
                        <a:spcAft>
                          <a:spcPts val="1000"/>
                        </a:spcAft>
                        <a:buClr>
                          <a:srgbClr val="000000"/>
                        </a:buClr>
                        <a:buSzTx/>
                        <a:buFont typeface="Arial" panose="020B0604020202020204" pitchFamily="34" charset="0"/>
                        <a:buNone/>
                        <a:tabLst/>
                        <a:defRPr/>
                      </a:pPr>
                      <a:endParaRPr lang="en-US" sz="4400" b="0" dirty="0">
                        <a:solidFill>
                          <a:schemeClr val="tx1"/>
                        </a:solidFill>
                        <a:latin typeface="Open Sans" panose="020B0606030504020204" pitchFamily="34" charset="0"/>
                        <a:ea typeface="Open Sans" panose="020B0606030504020204" pitchFamily="34" charset="0"/>
                        <a:cs typeface="Open Sans" panose="020B0606030504020204" pitchFamily="34" charset="0"/>
                      </a:endParaRPr>
                    </a:p>
                  </a:txBody>
                  <a:tcPr marL="86794" marR="86794" marT="43397" marB="43397">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555455263"/>
                  </a:ext>
                </a:extLst>
              </a:tr>
              <a:tr h="1418253">
                <a:tc>
                  <a:txBody>
                    <a:bodyPr/>
                    <a:lstStyle/>
                    <a:p>
                      <a:pPr marL="180000" marR="0" lvl="0" indent="0" algn="l" defTabSz="914400" rtl="0" eaLnBrk="1" fontAlgn="auto" latinLnBrk="0" hangingPunct="1">
                        <a:lnSpc>
                          <a:spcPct val="100000"/>
                        </a:lnSpc>
                        <a:spcBef>
                          <a:spcPts val="0"/>
                        </a:spcBef>
                        <a:spcAft>
                          <a:spcPts val="1000"/>
                        </a:spcAft>
                        <a:buClr>
                          <a:srgbClr val="000000"/>
                        </a:buClr>
                        <a:buSzTx/>
                        <a:buFont typeface="Arial" panose="020B0604020202020204" pitchFamily="34" charset="0"/>
                        <a:buNone/>
                        <a:tabLst/>
                        <a:defRPr/>
                      </a:pPr>
                      <a:r>
                        <a:rPr lang="en-US" sz="4400" b="0" dirty="0">
                          <a:solidFill>
                            <a:schemeClr val="tx1"/>
                          </a:solidFill>
                          <a:latin typeface="Open Sans" panose="020B0606030504020204" pitchFamily="34" charset="0"/>
                          <a:ea typeface="Open Sans" panose="020B0606030504020204" pitchFamily="34" charset="0"/>
                          <a:cs typeface="Open Sans" panose="020B0606030504020204" pitchFamily="34" charset="0"/>
                        </a:rPr>
                        <a:t>Reference Type (Constructor)</a:t>
                      </a:r>
                    </a:p>
                  </a:txBody>
                  <a:tcPr marL="86794" marR="86794" marT="43397" marB="43397">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180000" marR="0" lvl="0" indent="0" algn="l" defTabSz="914400" rtl="0" eaLnBrk="1" fontAlgn="auto" latinLnBrk="0" hangingPunct="1">
                        <a:lnSpc>
                          <a:spcPct val="100000"/>
                        </a:lnSpc>
                        <a:spcBef>
                          <a:spcPts val="0"/>
                        </a:spcBef>
                        <a:spcAft>
                          <a:spcPts val="1000"/>
                        </a:spcAft>
                        <a:buClr>
                          <a:srgbClr val="000000"/>
                        </a:buClr>
                        <a:buSzTx/>
                        <a:buFont typeface="Arial" panose="020B0604020202020204" pitchFamily="34" charset="0"/>
                        <a:buNone/>
                        <a:tabLst/>
                        <a:defRPr/>
                      </a:pPr>
                      <a:endParaRPr lang="en-US" sz="4400" b="0" dirty="0">
                        <a:solidFill>
                          <a:schemeClr val="tx1"/>
                        </a:solidFill>
                        <a:latin typeface="Open Sans" panose="020B0606030504020204" pitchFamily="34" charset="0"/>
                        <a:ea typeface="Open Sans" panose="020B0606030504020204" pitchFamily="34" charset="0"/>
                        <a:cs typeface="Open Sans" panose="020B0606030504020204" pitchFamily="34" charset="0"/>
                      </a:endParaRPr>
                    </a:p>
                  </a:txBody>
                  <a:tcPr marL="86794" marR="86794" marT="43397" marB="43397">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180000" marR="0" lvl="0" indent="0" algn="l" defTabSz="914400" rtl="0" eaLnBrk="1" fontAlgn="auto" latinLnBrk="0" hangingPunct="1">
                        <a:lnSpc>
                          <a:spcPct val="100000"/>
                        </a:lnSpc>
                        <a:spcBef>
                          <a:spcPts val="0"/>
                        </a:spcBef>
                        <a:spcAft>
                          <a:spcPts val="1000"/>
                        </a:spcAft>
                        <a:buClr>
                          <a:srgbClr val="000000"/>
                        </a:buClr>
                        <a:buSzTx/>
                        <a:buFont typeface="Arial" panose="020B0604020202020204" pitchFamily="34" charset="0"/>
                        <a:buNone/>
                        <a:tabLst/>
                        <a:defRPr/>
                      </a:pPr>
                      <a:endParaRPr lang="en-US" sz="4400" b="0" dirty="0">
                        <a:solidFill>
                          <a:schemeClr val="tx1"/>
                        </a:solidFill>
                        <a:latin typeface="Open Sans" panose="020B0606030504020204" pitchFamily="34" charset="0"/>
                        <a:ea typeface="Open Sans" panose="020B0606030504020204" pitchFamily="34" charset="0"/>
                        <a:cs typeface="Open Sans" panose="020B0606030504020204" pitchFamily="34" charset="0"/>
                      </a:endParaRPr>
                    </a:p>
                  </a:txBody>
                  <a:tcPr marL="86794" marR="86794" marT="43397" marB="43397">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180000" marR="0" lvl="0" indent="0" algn="ctr" defTabSz="914400" rtl="0" eaLnBrk="1" fontAlgn="auto" latinLnBrk="0" hangingPunct="1">
                        <a:lnSpc>
                          <a:spcPct val="100000"/>
                        </a:lnSpc>
                        <a:spcBef>
                          <a:spcPts val="0"/>
                        </a:spcBef>
                        <a:spcAft>
                          <a:spcPts val="1000"/>
                        </a:spcAft>
                        <a:buClr>
                          <a:srgbClr val="000000"/>
                        </a:buClr>
                        <a:buSzTx/>
                        <a:buFont typeface="Arial" panose="020B0604020202020204" pitchFamily="34" charset="0"/>
                        <a:buNone/>
                        <a:tabLst/>
                        <a:defRPr/>
                      </a:pPr>
                      <a:r>
                        <a:rPr lang="en-US" sz="4400" b="1" dirty="0">
                          <a:solidFill>
                            <a:schemeClr val="tx1"/>
                          </a:solidFill>
                          <a:latin typeface="Open Sans" panose="020B0606030504020204" pitchFamily="34" charset="0"/>
                          <a:ea typeface="Open Sans" panose="020B0606030504020204" pitchFamily="34" charset="0"/>
                          <a:cs typeface="Open Sans" panose="020B0606030504020204" pitchFamily="34" charset="0"/>
                        </a:rPr>
                        <a:t>n/a</a:t>
                      </a:r>
                    </a:p>
                  </a:txBody>
                  <a:tcPr marL="86794" marR="86794" marT="43397" marB="43397">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180000" marR="0" lvl="0" indent="0" algn="l" defTabSz="914400" rtl="0" eaLnBrk="1" fontAlgn="auto" latinLnBrk="0" hangingPunct="1">
                        <a:lnSpc>
                          <a:spcPct val="100000"/>
                        </a:lnSpc>
                        <a:spcBef>
                          <a:spcPts val="0"/>
                        </a:spcBef>
                        <a:spcAft>
                          <a:spcPts val="1000"/>
                        </a:spcAft>
                        <a:buClr>
                          <a:srgbClr val="000000"/>
                        </a:buClr>
                        <a:buSzTx/>
                        <a:buFont typeface="Arial" panose="020B0604020202020204" pitchFamily="34" charset="0"/>
                        <a:buNone/>
                        <a:tabLst/>
                        <a:defRPr/>
                      </a:pPr>
                      <a:endParaRPr lang="en-US" sz="4400" b="0" dirty="0">
                        <a:solidFill>
                          <a:schemeClr val="tx1"/>
                        </a:solidFill>
                        <a:latin typeface="Open Sans" panose="020B0606030504020204" pitchFamily="34" charset="0"/>
                        <a:ea typeface="Open Sans" panose="020B0606030504020204" pitchFamily="34" charset="0"/>
                        <a:cs typeface="Open Sans" panose="020B0606030504020204" pitchFamily="34" charset="0"/>
                      </a:endParaRPr>
                    </a:p>
                  </a:txBody>
                  <a:tcPr marL="86794" marR="86794" marT="43397" marB="43397">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521613951"/>
                  </a:ext>
                </a:extLst>
              </a:tr>
              <a:tr h="1418253">
                <a:tc>
                  <a:txBody>
                    <a:bodyPr/>
                    <a:lstStyle/>
                    <a:p>
                      <a:pPr marL="180000" marR="0" lvl="0" indent="0" algn="l" defTabSz="914400" rtl="0" eaLnBrk="1" fontAlgn="auto" latinLnBrk="0" hangingPunct="1">
                        <a:lnSpc>
                          <a:spcPct val="100000"/>
                        </a:lnSpc>
                        <a:spcBef>
                          <a:spcPts val="0"/>
                        </a:spcBef>
                        <a:spcAft>
                          <a:spcPts val="1000"/>
                        </a:spcAft>
                        <a:buClr>
                          <a:srgbClr val="000000"/>
                        </a:buClr>
                        <a:buSzTx/>
                        <a:buFont typeface="Arial" panose="020B0604020202020204" pitchFamily="34" charset="0"/>
                        <a:buNone/>
                        <a:tabLst/>
                        <a:defRPr/>
                      </a:pPr>
                      <a:r>
                        <a:rPr lang="en-US" sz="4400" b="0" dirty="0">
                          <a:solidFill>
                            <a:schemeClr val="tx1"/>
                          </a:solidFill>
                          <a:latin typeface="Open Sans" panose="020B0606030504020204" pitchFamily="34" charset="0"/>
                          <a:ea typeface="Open Sans" panose="020B0606030504020204" pitchFamily="34" charset="0"/>
                          <a:cs typeface="Open Sans" panose="020B0606030504020204" pitchFamily="34" charset="0"/>
                        </a:rPr>
                        <a:t>Bounded Receiver (Instance)</a:t>
                      </a:r>
                    </a:p>
                  </a:txBody>
                  <a:tcPr marL="86794" marR="86794" marT="43397" marB="43397">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180000" marR="0" lvl="0" indent="0" algn="l" defTabSz="914400" rtl="0" eaLnBrk="1" fontAlgn="auto" latinLnBrk="0" hangingPunct="1">
                        <a:lnSpc>
                          <a:spcPct val="100000"/>
                        </a:lnSpc>
                        <a:spcBef>
                          <a:spcPts val="0"/>
                        </a:spcBef>
                        <a:spcAft>
                          <a:spcPts val="1000"/>
                        </a:spcAft>
                        <a:buClr>
                          <a:srgbClr val="000000"/>
                        </a:buClr>
                        <a:buSzTx/>
                        <a:buFont typeface="Arial" panose="020B0604020202020204" pitchFamily="34" charset="0"/>
                        <a:buNone/>
                        <a:tabLst/>
                        <a:defRPr/>
                      </a:pPr>
                      <a:endParaRPr lang="en-US" sz="4400" b="0" dirty="0">
                        <a:solidFill>
                          <a:schemeClr val="tx1"/>
                        </a:solidFill>
                        <a:latin typeface="Open Sans" panose="020B0606030504020204" pitchFamily="34" charset="0"/>
                        <a:ea typeface="Open Sans" panose="020B0606030504020204" pitchFamily="34" charset="0"/>
                        <a:cs typeface="Open Sans" panose="020B0606030504020204" pitchFamily="34" charset="0"/>
                      </a:endParaRPr>
                    </a:p>
                  </a:txBody>
                  <a:tcPr marL="86794" marR="86794" marT="43397" marB="43397">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180000" marR="0" lvl="0" indent="0" algn="l" defTabSz="914400" rtl="0" eaLnBrk="1" fontAlgn="auto" latinLnBrk="0" hangingPunct="1">
                        <a:lnSpc>
                          <a:spcPct val="100000"/>
                        </a:lnSpc>
                        <a:spcBef>
                          <a:spcPts val="0"/>
                        </a:spcBef>
                        <a:spcAft>
                          <a:spcPts val="1000"/>
                        </a:spcAft>
                        <a:buClr>
                          <a:srgbClr val="000000"/>
                        </a:buClr>
                        <a:buSzTx/>
                        <a:buFont typeface="Arial" panose="020B0604020202020204" pitchFamily="34" charset="0"/>
                        <a:buNone/>
                        <a:tabLst/>
                        <a:defRPr/>
                      </a:pPr>
                      <a:endParaRPr lang="en-US" sz="4400" b="0" dirty="0">
                        <a:solidFill>
                          <a:schemeClr val="tx1"/>
                        </a:solidFill>
                        <a:latin typeface="Open Sans" panose="020B0606030504020204" pitchFamily="34" charset="0"/>
                        <a:ea typeface="Open Sans" panose="020B0606030504020204" pitchFamily="34" charset="0"/>
                        <a:cs typeface="Open Sans" panose="020B0606030504020204" pitchFamily="34" charset="0"/>
                      </a:endParaRPr>
                    </a:p>
                  </a:txBody>
                  <a:tcPr marL="86794" marR="86794" marT="43397" marB="43397">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180000" marR="0" lvl="0" indent="0" algn="l" defTabSz="914400" rtl="0" eaLnBrk="1" fontAlgn="auto" latinLnBrk="0" hangingPunct="1">
                        <a:lnSpc>
                          <a:spcPct val="100000"/>
                        </a:lnSpc>
                        <a:spcBef>
                          <a:spcPts val="0"/>
                        </a:spcBef>
                        <a:spcAft>
                          <a:spcPts val="1000"/>
                        </a:spcAft>
                        <a:buClr>
                          <a:srgbClr val="000000"/>
                        </a:buClr>
                        <a:buSzTx/>
                        <a:buFont typeface="Arial" panose="020B0604020202020204" pitchFamily="34" charset="0"/>
                        <a:buNone/>
                        <a:tabLst/>
                        <a:defRPr/>
                      </a:pPr>
                      <a:endParaRPr lang="en-US" sz="4400" b="0" dirty="0">
                        <a:solidFill>
                          <a:schemeClr val="tx1"/>
                        </a:solidFill>
                        <a:latin typeface="Open Sans" panose="020B0606030504020204" pitchFamily="34" charset="0"/>
                        <a:ea typeface="Open Sans" panose="020B0606030504020204" pitchFamily="34" charset="0"/>
                        <a:cs typeface="Open Sans" panose="020B0606030504020204" pitchFamily="34" charset="0"/>
                      </a:endParaRPr>
                    </a:p>
                  </a:txBody>
                  <a:tcPr marL="86794" marR="86794" marT="43397" marB="43397">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180000" marR="0" lvl="0" indent="0" algn="l" defTabSz="914400" rtl="0" eaLnBrk="1" fontAlgn="auto" latinLnBrk="0" hangingPunct="1">
                        <a:lnSpc>
                          <a:spcPct val="100000"/>
                        </a:lnSpc>
                        <a:spcBef>
                          <a:spcPts val="0"/>
                        </a:spcBef>
                        <a:spcAft>
                          <a:spcPts val="1000"/>
                        </a:spcAft>
                        <a:buClr>
                          <a:srgbClr val="000000"/>
                        </a:buClr>
                        <a:buSzTx/>
                        <a:buFont typeface="Arial" panose="020B0604020202020204" pitchFamily="34" charset="0"/>
                        <a:buNone/>
                        <a:tabLst/>
                        <a:defRPr/>
                      </a:pPr>
                      <a:endParaRPr lang="en-US" sz="4400" b="0" dirty="0">
                        <a:solidFill>
                          <a:schemeClr val="tx1"/>
                        </a:solidFill>
                        <a:latin typeface="Open Sans" panose="020B0606030504020204" pitchFamily="34" charset="0"/>
                        <a:ea typeface="Open Sans" panose="020B0606030504020204" pitchFamily="34" charset="0"/>
                        <a:cs typeface="Open Sans" panose="020B0606030504020204" pitchFamily="34" charset="0"/>
                      </a:endParaRPr>
                    </a:p>
                  </a:txBody>
                  <a:tcPr marL="86794" marR="86794" marT="43397" marB="43397">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74654465"/>
                  </a:ext>
                </a:extLst>
              </a:tr>
              <a:tr h="1286882">
                <a:tc>
                  <a:txBody>
                    <a:bodyPr/>
                    <a:lstStyle/>
                    <a:p>
                      <a:pPr marL="180000" marR="0" lvl="0" indent="0" algn="l" defTabSz="914400" rtl="0" eaLnBrk="1" fontAlgn="auto" latinLnBrk="0" hangingPunct="1">
                        <a:lnSpc>
                          <a:spcPct val="100000"/>
                        </a:lnSpc>
                        <a:spcBef>
                          <a:spcPts val="0"/>
                        </a:spcBef>
                        <a:spcAft>
                          <a:spcPts val="1000"/>
                        </a:spcAft>
                        <a:buClr>
                          <a:srgbClr val="000000"/>
                        </a:buClr>
                        <a:buSzTx/>
                        <a:buFont typeface="Arial" panose="020B0604020202020204" pitchFamily="34" charset="0"/>
                        <a:buNone/>
                        <a:tabLst/>
                        <a:defRPr/>
                      </a:pPr>
                      <a:r>
                        <a:rPr lang="en-US" sz="4400" b="0" dirty="0">
                          <a:solidFill>
                            <a:schemeClr val="tx1"/>
                          </a:solidFill>
                          <a:latin typeface="Open Sans" panose="020B0606030504020204" pitchFamily="34" charset="0"/>
                          <a:ea typeface="Open Sans" panose="020B0606030504020204" pitchFamily="34" charset="0"/>
                          <a:cs typeface="Open Sans" panose="020B0606030504020204" pitchFamily="34" charset="0"/>
                        </a:rPr>
                        <a:t>Unbounded Receiver (Instance)</a:t>
                      </a:r>
                    </a:p>
                  </a:txBody>
                  <a:tcPr marL="86794" marR="86794" marT="43397" marB="43397">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180000" marR="0" lvl="0" indent="0" algn="ctr" defTabSz="914400" rtl="0" eaLnBrk="1" fontAlgn="auto" latinLnBrk="0" hangingPunct="1">
                        <a:lnSpc>
                          <a:spcPct val="100000"/>
                        </a:lnSpc>
                        <a:spcBef>
                          <a:spcPts val="0"/>
                        </a:spcBef>
                        <a:spcAft>
                          <a:spcPts val="1000"/>
                        </a:spcAft>
                        <a:buClr>
                          <a:srgbClr val="000000"/>
                        </a:buClr>
                        <a:buSzTx/>
                        <a:buFont typeface="Arial" panose="020B0604020202020204" pitchFamily="34" charset="0"/>
                        <a:buNone/>
                        <a:tabLst/>
                        <a:defRPr/>
                      </a:pPr>
                      <a:r>
                        <a:rPr lang="en-US" sz="4400" b="1" dirty="0">
                          <a:solidFill>
                            <a:schemeClr val="tx1"/>
                          </a:solidFill>
                          <a:latin typeface="Open Sans" panose="020B0606030504020204" pitchFamily="34" charset="0"/>
                          <a:ea typeface="Open Sans" panose="020B0606030504020204" pitchFamily="34" charset="0"/>
                          <a:cs typeface="Open Sans" panose="020B0606030504020204" pitchFamily="34" charset="0"/>
                        </a:rPr>
                        <a:t>n/a</a:t>
                      </a:r>
                    </a:p>
                  </a:txBody>
                  <a:tcPr marL="86794" marR="86794" marT="43397" marB="43397">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180000" marR="0" lvl="0" indent="0" algn="l" defTabSz="914400" rtl="0" eaLnBrk="1" fontAlgn="auto" latinLnBrk="0" hangingPunct="1">
                        <a:lnSpc>
                          <a:spcPct val="100000"/>
                        </a:lnSpc>
                        <a:spcBef>
                          <a:spcPts val="0"/>
                        </a:spcBef>
                        <a:spcAft>
                          <a:spcPts val="1000"/>
                        </a:spcAft>
                        <a:buClr>
                          <a:srgbClr val="000000"/>
                        </a:buClr>
                        <a:buSzTx/>
                        <a:buFont typeface="Arial" panose="020B0604020202020204" pitchFamily="34" charset="0"/>
                        <a:buNone/>
                        <a:tabLst/>
                        <a:defRPr/>
                      </a:pPr>
                      <a:endParaRPr lang="en-US" sz="4400" b="0" dirty="0">
                        <a:solidFill>
                          <a:schemeClr val="tx1"/>
                        </a:solidFill>
                        <a:latin typeface="Open Sans" panose="020B0606030504020204" pitchFamily="34" charset="0"/>
                        <a:ea typeface="Open Sans" panose="020B0606030504020204" pitchFamily="34" charset="0"/>
                        <a:cs typeface="Open Sans" panose="020B0606030504020204" pitchFamily="34" charset="0"/>
                      </a:endParaRPr>
                    </a:p>
                  </a:txBody>
                  <a:tcPr marL="86794" marR="86794" marT="43397" marB="43397">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180000" marR="0" lvl="0" indent="0" algn="l" defTabSz="914400" rtl="0" eaLnBrk="1" fontAlgn="auto" latinLnBrk="0" hangingPunct="1">
                        <a:lnSpc>
                          <a:spcPct val="100000"/>
                        </a:lnSpc>
                        <a:spcBef>
                          <a:spcPts val="0"/>
                        </a:spcBef>
                        <a:spcAft>
                          <a:spcPts val="1000"/>
                        </a:spcAft>
                        <a:buClr>
                          <a:srgbClr val="000000"/>
                        </a:buClr>
                        <a:buSzTx/>
                        <a:buFont typeface="Arial" panose="020B0604020202020204" pitchFamily="34" charset="0"/>
                        <a:buNone/>
                        <a:tabLst/>
                        <a:defRPr/>
                      </a:pPr>
                      <a:endParaRPr lang="en-US" sz="4400" b="0" dirty="0">
                        <a:solidFill>
                          <a:schemeClr val="tx1"/>
                        </a:solidFill>
                        <a:latin typeface="Open Sans" panose="020B0606030504020204" pitchFamily="34" charset="0"/>
                        <a:ea typeface="Open Sans" panose="020B0606030504020204" pitchFamily="34" charset="0"/>
                        <a:cs typeface="Open Sans" panose="020B0606030504020204" pitchFamily="34" charset="0"/>
                      </a:endParaRPr>
                    </a:p>
                  </a:txBody>
                  <a:tcPr marL="86794" marR="86794" marT="43397" marB="43397">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180000" marR="0" lvl="0" indent="0" algn="l" defTabSz="914400" rtl="0" eaLnBrk="1" fontAlgn="auto" latinLnBrk="0" hangingPunct="1">
                        <a:lnSpc>
                          <a:spcPct val="100000"/>
                        </a:lnSpc>
                        <a:spcBef>
                          <a:spcPts val="0"/>
                        </a:spcBef>
                        <a:spcAft>
                          <a:spcPts val="1000"/>
                        </a:spcAft>
                        <a:buClr>
                          <a:srgbClr val="000000"/>
                        </a:buClr>
                        <a:buSzTx/>
                        <a:buFont typeface="Arial" panose="020B0604020202020204" pitchFamily="34" charset="0"/>
                        <a:buNone/>
                        <a:tabLst/>
                        <a:defRPr/>
                      </a:pPr>
                      <a:endParaRPr lang="en-US" sz="4400" b="0" dirty="0">
                        <a:solidFill>
                          <a:schemeClr val="tx1"/>
                        </a:solidFill>
                        <a:latin typeface="Open Sans" panose="020B0606030504020204" pitchFamily="34" charset="0"/>
                        <a:ea typeface="Open Sans" panose="020B0606030504020204" pitchFamily="34" charset="0"/>
                        <a:cs typeface="Open Sans" panose="020B0606030504020204" pitchFamily="34" charset="0"/>
                      </a:endParaRPr>
                    </a:p>
                  </a:txBody>
                  <a:tcPr marL="86794" marR="86794" marT="43397" marB="43397">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267098654"/>
                  </a:ext>
                </a:extLst>
              </a:tr>
            </a:tbl>
          </a:graphicData>
        </a:graphic>
      </p:graphicFrame>
      <p:sp>
        <p:nvSpPr>
          <p:cNvPr id="126" name="Shape 126"/>
          <p:cNvSpPr/>
          <p:nvPr/>
        </p:nvSpPr>
        <p:spPr>
          <a:xfrm>
            <a:off x="952498" y="646396"/>
            <a:ext cx="34533493" cy="1538883"/>
          </a:xfrm>
          <a:prstGeom prst="rect">
            <a:avLst/>
          </a:prstGeom>
          <a:ln w="12700">
            <a:miter lim="400000"/>
          </a:ln>
          <a:extLst>
            <a:ext uri="{C572A759-6A51-4108-AA02-DFA0A04FC94B}">
              <ma14:wrappingTextBoxFlag xmlns="" xmlns:ma14="http://schemas.microsoft.com/office/mac/drawingml/2011/main" val="1"/>
            </a:ext>
          </a:extLst>
        </p:spPr>
        <p:txBody>
          <a:bodyPr wrap="none" lIns="76200" tIns="76200" rIns="76200" bIns="76200">
            <a:spAutoFit/>
          </a:bodyPr>
          <a:lstStyle>
            <a:lvl1pPr algn="l">
              <a:defRPr sz="7000">
                <a:latin typeface="Alright Sans"/>
                <a:ea typeface="Alright Sans"/>
                <a:cs typeface="Alright Sans"/>
                <a:sym typeface="Alright Sans"/>
              </a:defRPr>
            </a:lvl1pPr>
          </a:lstStyle>
          <a:p>
            <a:pPr>
              <a:defRPr sz="3000">
                <a:latin typeface="Alright Sans"/>
                <a:ea typeface="Alright Sans"/>
                <a:cs typeface="Alright Sans"/>
                <a:sym typeface="Alright Sans"/>
              </a:defRPr>
            </a:pPr>
            <a:r>
              <a:rPr lang="en-US" sz="9000" dirty="0">
                <a:latin typeface="Open Sans" panose="020B0606030504020204" pitchFamily="34" charset="0"/>
                <a:ea typeface="Open Sans" panose="020B0606030504020204" pitchFamily="34" charset="0"/>
                <a:cs typeface="Open Sans" panose="020B0606030504020204" pitchFamily="34" charset="0"/>
              </a:rPr>
              <a:t>Method Reference Examples (No arguments and one argument)</a:t>
            </a:r>
          </a:p>
        </p:txBody>
      </p:sp>
      <p:sp>
        <p:nvSpPr>
          <p:cNvPr id="128" name="Shape 128"/>
          <p:cNvSpPr/>
          <p:nvPr/>
        </p:nvSpPr>
        <p:spPr>
          <a:xfrm>
            <a:off x="952500" y="18210515"/>
            <a:ext cx="34782668" cy="2"/>
          </a:xfrm>
          <a:prstGeom prst="line">
            <a:avLst/>
          </a:prstGeom>
          <a:ln w="76200">
            <a:solidFill>
              <a:schemeClr val="accent1">
                <a:satOff val="-3355"/>
                <a:lumOff val="26614"/>
              </a:schemeClr>
            </a:solidFill>
            <a:miter lim="400000"/>
          </a:ln>
        </p:spPr>
        <p:txBody>
          <a:bodyPr lIns="76200" tIns="76200" rIns="76200" bIns="76200" anchor="ctr"/>
          <a:lstStyle/>
          <a:p>
            <a:pPr>
              <a:defRPr sz="3200"/>
            </a:pPr>
            <a:endParaRPr sz="4800"/>
          </a:p>
        </p:txBody>
      </p:sp>
      <p:pic>
        <p:nvPicPr>
          <p:cNvPr id="129" name="Logo.png"/>
          <p:cNvPicPr>
            <a:picLocks noChangeAspect="1"/>
          </p:cNvPicPr>
          <p:nvPr/>
        </p:nvPicPr>
        <p:blipFill>
          <a:blip r:embed="rId3"/>
          <a:stretch>
            <a:fillRect/>
          </a:stretch>
        </p:blipFill>
        <p:spPr>
          <a:xfrm>
            <a:off x="14650974" y="18489726"/>
            <a:ext cx="6321552" cy="1392336"/>
          </a:xfrm>
          <a:prstGeom prst="rect">
            <a:avLst/>
          </a:prstGeom>
          <a:ln w="12700">
            <a:miter lim="400000"/>
          </a:ln>
        </p:spPr>
      </p:pic>
      <p:sp>
        <p:nvSpPr>
          <p:cNvPr id="9" name="Shape 127"/>
          <p:cNvSpPr/>
          <p:nvPr/>
        </p:nvSpPr>
        <p:spPr>
          <a:xfrm flipV="1">
            <a:off x="952499" y="2203340"/>
            <a:ext cx="34782670" cy="38132"/>
          </a:xfrm>
          <a:prstGeom prst="line">
            <a:avLst/>
          </a:prstGeom>
          <a:ln w="152400">
            <a:solidFill>
              <a:schemeClr val="accent1">
                <a:satOff val="-3355"/>
                <a:lumOff val="26614"/>
              </a:schemeClr>
            </a:solidFill>
            <a:miter lim="400000"/>
          </a:ln>
        </p:spPr>
        <p:txBody>
          <a:bodyPr lIns="76200" tIns="76200" rIns="76200" bIns="76200" anchor="ctr"/>
          <a:lstStyle/>
          <a:p>
            <a:pPr>
              <a:defRPr sz="3200"/>
            </a:pPr>
            <a:endParaRPr sz="4800"/>
          </a:p>
        </p:txBody>
      </p:sp>
      <p:sp>
        <p:nvSpPr>
          <p:cNvPr id="10" name="Shape 131"/>
          <p:cNvSpPr/>
          <p:nvPr/>
        </p:nvSpPr>
        <p:spPr>
          <a:xfrm>
            <a:off x="952500" y="18489726"/>
            <a:ext cx="16008688" cy="1308050"/>
          </a:xfrm>
          <a:prstGeom prst="rect">
            <a:avLst/>
          </a:prstGeom>
          <a:ln w="12700">
            <a:miter lim="400000"/>
          </a:ln>
          <a:extLst>
            <a:ext uri="{C572A759-6A51-4108-AA02-DFA0A04FC94B}">
              <ma14:wrappingTextBoxFlag xmlns:ma14="http://schemas.microsoft.com/office/mac/drawingml/2011/main" xmlns="" val="1"/>
            </a:ext>
          </a:extLst>
        </p:spPr>
        <p:txBody>
          <a:bodyPr lIns="76200" tIns="76200" rIns="76200" bIns="76200">
            <a:spAutoFit/>
          </a:bodyPr>
          <a:lstStyle/>
          <a:p>
            <a:pPr algn="l">
              <a:defRPr sz="2000">
                <a:latin typeface="Alright Sans"/>
                <a:ea typeface="Alright Sans"/>
                <a:cs typeface="Alright Sans"/>
                <a:sym typeface="Alright Sans"/>
              </a:defRPr>
            </a:pPr>
            <a:r>
              <a:rPr lang="en-US" sz="3000" dirty="0">
                <a:latin typeface="Open Sans" panose="020B0606030504020204" pitchFamily="34" charset="0"/>
                <a:ea typeface="Open Sans" panose="020B0606030504020204" pitchFamily="34" charset="0"/>
                <a:cs typeface="Open Sans" panose="020B0606030504020204" pitchFamily="34" charset="0"/>
              </a:rPr>
              <a:t>COMPLETE JAVA MASTERCLASS</a:t>
            </a:r>
          </a:p>
          <a:p>
            <a:pPr algn="l">
              <a:defRPr sz="3000">
                <a:latin typeface="Alright Sans"/>
                <a:ea typeface="Alright Sans"/>
                <a:cs typeface="Alright Sans"/>
                <a:sym typeface="Alright Sans"/>
              </a:defRPr>
            </a:pPr>
            <a:r>
              <a:rPr lang="en-US" sz="4500" dirty="0">
                <a:latin typeface="Open Sans" panose="020B0606030504020204" pitchFamily="34" charset="0"/>
                <a:ea typeface="Open Sans" panose="020B0606030504020204" pitchFamily="34" charset="0"/>
                <a:cs typeface="Open Sans" panose="020B0606030504020204" pitchFamily="34" charset="0"/>
              </a:rPr>
              <a:t>The Most Confusing of the Method References</a:t>
            </a:r>
          </a:p>
        </p:txBody>
      </p:sp>
      <p:sp>
        <p:nvSpPr>
          <p:cNvPr id="8" name="Rectangle 7">
            <a:extLst>
              <a:ext uri="{FF2B5EF4-FFF2-40B4-BE49-F238E27FC236}">
                <a16:creationId xmlns:a16="http://schemas.microsoft.com/office/drawing/2014/main" id="{89DBB243-EF27-4345-872D-E76597E95619}"/>
              </a:ext>
            </a:extLst>
          </p:cNvPr>
          <p:cNvSpPr/>
          <p:nvPr/>
        </p:nvSpPr>
        <p:spPr>
          <a:xfrm>
            <a:off x="952501" y="2464488"/>
            <a:ext cx="34782670" cy="13701592"/>
          </a:xfrm>
          <a:prstGeom prst="rect">
            <a:avLst/>
          </a:prstGeom>
        </p:spPr>
        <p:txBody>
          <a:bodyPr wrap="square">
            <a:normAutofit/>
          </a:bodyPr>
          <a:lstStyle/>
          <a:p>
            <a:pPr algn="l">
              <a:spcAft>
                <a:spcPts val="5022"/>
              </a:spcAft>
            </a:pPr>
            <a:r>
              <a:rPr lang="en-US" sz="6400" dirty="0">
                <a:latin typeface="Open Sans" panose="020B0606030504020204" pitchFamily="34" charset="0"/>
                <a:ea typeface="Open Sans" panose="020B0606030504020204" pitchFamily="34" charset="0"/>
                <a:cs typeface="Open Sans" panose="020B0606030504020204" pitchFamily="34" charset="0"/>
              </a:rPr>
              <a:t>If a cell is empty, it's not because it's not valid, but because are many possibilities.</a:t>
            </a:r>
          </a:p>
          <a:p>
            <a:pPr algn="l">
              <a:spcAft>
                <a:spcPts val="5022"/>
              </a:spcAft>
            </a:pPr>
            <a:r>
              <a:rPr lang="en-US" sz="6400" dirty="0">
                <a:latin typeface="Open Sans" panose="020B0606030504020204" pitchFamily="34" charset="0"/>
                <a:ea typeface="Open Sans" panose="020B0606030504020204" pitchFamily="34" charset="0"/>
                <a:cs typeface="Open Sans" panose="020B0606030504020204" pitchFamily="34" charset="0"/>
              </a:rPr>
              <a:t>n/a means not applicable, so a Supplier or an interface method that has no arguments, can never be a target for the unbounded receiver type of method reference.</a:t>
            </a:r>
          </a:p>
        </p:txBody>
      </p:sp>
      <p:pic>
        <p:nvPicPr>
          <p:cNvPr id="5" name="Picture 4">
            <a:extLst>
              <a:ext uri="{FF2B5EF4-FFF2-40B4-BE49-F238E27FC236}">
                <a16:creationId xmlns:a16="http://schemas.microsoft.com/office/drawing/2014/main" id="{934CE6E9-1E6C-0075-3BA4-65A6E096BDBC}"/>
              </a:ext>
            </a:extLst>
          </p:cNvPr>
          <p:cNvPicPr>
            <a:picLocks noChangeAspect="1"/>
          </p:cNvPicPr>
          <p:nvPr/>
        </p:nvPicPr>
        <p:blipFill>
          <a:blip r:embed="rId4"/>
          <a:stretch>
            <a:fillRect/>
          </a:stretch>
        </p:blipFill>
        <p:spPr>
          <a:xfrm>
            <a:off x="10143058" y="14006852"/>
            <a:ext cx="4728572" cy="657143"/>
          </a:xfrm>
          <a:prstGeom prst="rect">
            <a:avLst/>
          </a:prstGeom>
        </p:spPr>
      </p:pic>
      <p:pic>
        <p:nvPicPr>
          <p:cNvPr id="12" name="Picture 11">
            <a:extLst>
              <a:ext uri="{FF2B5EF4-FFF2-40B4-BE49-F238E27FC236}">
                <a16:creationId xmlns:a16="http://schemas.microsoft.com/office/drawing/2014/main" id="{FFF38ED9-E40D-75B9-7540-53FF8096DFA5}"/>
              </a:ext>
            </a:extLst>
          </p:cNvPr>
          <p:cNvPicPr>
            <a:picLocks noChangeAspect="1"/>
          </p:cNvPicPr>
          <p:nvPr/>
        </p:nvPicPr>
        <p:blipFill>
          <a:blip r:embed="rId5"/>
          <a:stretch>
            <a:fillRect/>
          </a:stretch>
        </p:blipFill>
        <p:spPr>
          <a:xfrm>
            <a:off x="15945454" y="16816969"/>
            <a:ext cx="5428572" cy="714285"/>
          </a:xfrm>
          <a:prstGeom prst="rect">
            <a:avLst/>
          </a:prstGeom>
        </p:spPr>
      </p:pic>
      <p:pic>
        <p:nvPicPr>
          <p:cNvPr id="16" name="Picture 15">
            <a:extLst>
              <a:ext uri="{FF2B5EF4-FFF2-40B4-BE49-F238E27FC236}">
                <a16:creationId xmlns:a16="http://schemas.microsoft.com/office/drawing/2014/main" id="{4E9A023B-6FBF-F15C-243E-02678B4CD626}"/>
              </a:ext>
            </a:extLst>
          </p:cNvPr>
          <p:cNvPicPr>
            <a:picLocks noChangeAspect="1"/>
          </p:cNvPicPr>
          <p:nvPr/>
        </p:nvPicPr>
        <p:blipFill>
          <a:blip r:embed="rId6"/>
          <a:stretch>
            <a:fillRect/>
          </a:stretch>
        </p:blipFill>
        <p:spPr>
          <a:xfrm>
            <a:off x="21611067" y="15402898"/>
            <a:ext cx="6814286" cy="714285"/>
          </a:xfrm>
          <a:prstGeom prst="rect">
            <a:avLst/>
          </a:prstGeom>
        </p:spPr>
      </p:pic>
      <p:pic>
        <p:nvPicPr>
          <p:cNvPr id="20" name="Picture 19">
            <a:extLst>
              <a:ext uri="{FF2B5EF4-FFF2-40B4-BE49-F238E27FC236}">
                <a16:creationId xmlns:a16="http://schemas.microsoft.com/office/drawing/2014/main" id="{4E49A23E-AC82-3B93-C3DE-798D1C2DCCAE}"/>
              </a:ext>
            </a:extLst>
          </p:cNvPr>
          <p:cNvPicPr>
            <a:picLocks noChangeAspect="1"/>
          </p:cNvPicPr>
          <p:nvPr/>
        </p:nvPicPr>
        <p:blipFill>
          <a:blip r:embed="rId7"/>
          <a:stretch>
            <a:fillRect/>
          </a:stretch>
        </p:blipFill>
        <p:spPr>
          <a:xfrm>
            <a:off x="21611067" y="16825355"/>
            <a:ext cx="3985715" cy="642857"/>
          </a:xfrm>
          <a:prstGeom prst="rect">
            <a:avLst/>
          </a:prstGeom>
        </p:spPr>
      </p:pic>
      <p:pic>
        <p:nvPicPr>
          <p:cNvPr id="24" name="Picture 23">
            <a:extLst>
              <a:ext uri="{FF2B5EF4-FFF2-40B4-BE49-F238E27FC236}">
                <a16:creationId xmlns:a16="http://schemas.microsoft.com/office/drawing/2014/main" id="{EA2CBC70-6968-8DF3-4B7E-E11111D22E73}"/>
              </a:ext>
            </a:extLst>
          </p:cNvPr>
          <p:cNvPicPr>
            <a:picLocks noChangeAspect="1"/>
          </p:cNvPicPr>
          <p:nvPr/>
        </p:nvPicPr>
        <p:blipFill>
          <a:blip r:embed="rId8"/>
          <a:stretch>
            <a:fillRect/>
          </a:stretch>
        </p:blipFill>
        <p:spPr>
          <a:xfrm>
            <a:off x="29054082" y="14021138"/>
            <a:ext cx="4742858" cy="642857"/>
          </a:xfrm>
          <a:prstGeom prst="rect">
            <a:avLst/>
          </a:prstGeom>
        </p:spPr>
      </p:pic>
      <p:pic>
        <p:nvPicPr>
          <p:cNvPr id="28" name="Picture 27">
            <a:extLst>
              <a:ext uri="{FF2B5EF4-FFF2-40B4-BE49-F238E27FC236}">
                <a16:creationId xmlns:a16="http://schemas.microsoft.com/office/drawing/2014/main" id="{B7F1F7C3-5D7F-3E57-6E2B-784FF39969E2}"/>
              </a:ext>
            </a:extLst>
          </p:cNvPr>
          <p:cNvPicPr>
            <a:picLocks noChangeAspect="1"/>
          </p:cNvPicPr>
          <p:nvPr/>
        </p:nvPicPr>
        <p:blipFill>
          <a:blip r:embed="rId9"/>
          <a:stretch>
            <a:fillRect/>
          </a:stretch>
        </p:blipFill>
        <p:spPr>
          <a:xfrm>
            <a:off x="29054082" y="16825355"/>
            <a:ext cx="5042858" cy="714285"/>
          </a:xfrm>
          <a:prstGeom prst="rect">
            <a:avLst/>
          </a:prstGeom>
        </p:spPr>
      </p:pic>
    </p:spTree>
    <p:extLst>
      <p:ext uri="{BB962C8B-B14F-4D97-AF65-F5344CB8AC3E}">
        <p14:creationId xmlns:p14="http://schemas.microsoft.com/office/powerpoint/2010/main" val="1786524754"/>
      </p:ext>
    </p:extLst>
  </p:cSld>
  <p:clrMapOvr>
    <a:masterClrMapping/>
  </p:clrMapOvr>
  <p:transition spd="slow"/>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 name="Shape 126"/>
          <p:cNvSpPr/>
          <p:nvPr/>
        </p:nvSpPr>
        <p:spPr>
          <a:xfrm>
            <a:off x="952498" y="459786"/>
            <a:ext cx="30615753" cy="1815882"/>
          </a:xfrm>
          <a:prstGeom prst="rect">
            <a:avLst/>
          </a:prstGeom>
          <a:ln w="12700">
            <a:miter lim="400000"/>
          </a:ln>
          <a:extLst>
            <a:ext uri="{C572A759-6A51-4108-AA02-DFA0A04FC94B}">
              <ma14:wrappingTextBoxFlag xmlns="" xmlns:ma14="http://schemas.microsoft.com/office/mac/drawingml/2011/main" val="1"/>
            </a:ext>
          </a:extLst>
        </p:spPr>
        <p:txBody>
          <a:bodyPr wrap="none" lIns="76200" tIns="76200" rIns="76200" bIns="76200">
            <a:spAutoFit/>
          </a:bodyPr>
          <a:lstStyle>
            <a:lvl1pPr algn="l">
              <a:defRPr sz="7000">
                <a:latin typeface="Alright Sans"/>
                <a:ea typeface="Alright Sans"/>
                <a:cs typeface="Alright Sans"/>
                <a:sym typeface="Alright Sans"/>
              </a:defRPr>
            </a:lvl1pPr>
          </a:lstStyle>
          <a:p>
            <a:pPr>
              <a:defRPr sz="3000">
                <a:latin typeface="Alright Sans"/>
                <a:ea typeface="Alright Sans"/>
                <a:cs typeface="Alright Sans"/>
                <a:sym typeface="Alright Sans"/>
              </a:defRPr>
            </a:pPr>
            <a:r>
              <a:rPr lang="en-US" sz="10800" dirty="0">
                <a:latin typeface="Open Sans" panose="020B0606030504020204" pitchFamily="34" charset="0"/>
                <a:ea typeface="Open Sans" panose="020B0606030504020204" pitchFamily="34" charset="0"/>
                <a:cs typeface="Open Sans" panose="020B0606030504020204" pitchFamily="34" charset="0"/>
              </a:rPr>
              <a:t>Method Reference Examples (Two Arguments)</a:t>
            </a:r>
          </a:p>
        </p:txBody>
      </p:sp>
      <p:sp>
        <p:nvSpPr>
          <p:cNvPr id="128" name="Shape 128"/>
          <p:cNvSpPr/>
          <p:nvPr/>
        </p:nvSpPr>
        <p:spPr>
          <a:xfrm>
            <a:off x="952500" y="18210515"/>
            <a:ext cx="34782668" cy="2"/>
          </a:xfrm>
          <a:prstGeom prst="line">
            <a:avLst/>
          </a:prstGeom>
          <a:ln w="76200">
            <a:solidFill>
              <a:schemeClr val="accent1">
                <a:satOff val="-3355"/>
                <a:lumOff val="26614"/>
              </a:schemeClr>
            </a:solidFill>
            <a:miter lim="400000"/>
          </a:ln>
        </p:spPr>
        <p:txBody>
          <a:bodyPr lIns="76200" tIns="76200" rIns="76200" bIns="76200" anchor="ctr"/>
          <a:lstStyle/>
          <a:p>
            <a:pPr>
              <a:defRPr sz="3200"/>
            </a:pPr>
            <a:endParaRPr sz="4800"/>
          </a:p>
        </p:txBody>
      </p:sp>
      <p:pic>
        <p:nvPicPr>
          <p:cNvPr id="129" name="Logo.png"/>
          <p:cNvPicPr>
            <a:picLocks noChangeAspect="1"/>
          </p:cNvPicPr>
          <p:nvPr/>
        </p:nvPicPr>
        <p:blipFill>
          <a:blip r:embed="rId3"/>
          <a:stretch>
            <a:fillRect/>
          </a:stretch>
        </p:blipFill>
        <p:spPr>
          <a:xfrm>
            <a:off x="14650974" y="18489726"/>
            <a:ext cx="6321552" cy="1392336"/>
          </a:xfrm>
          <a:prstGeom prst="rect">
            <a:avLst/>
          </a:prstGeom>
          <a:ln w="12700">
            <a:miter lim="400000"/>
          </a:ln>
        </p:spPr>
      </p:pic>
      <p:sp>
        <p:nvSpPr>
          <p:cNvPr id="9" name="Shape 127"/>
          <p:cNvSpPr/>
          <p:nvPr/>
        </p:nvSpPr>
        <p:spPr>
          <a:xfrm flipV="1">
            <a:off x="952499" y="2203340"/>
            <a:ext cx="34782670" cy="38132"/>
          </a:xfrm>
          <a:prstGeom prst="line">
            <a:avLst/>
          </a:prstGeom>
          <a:ln w="152400">
            <a:solidFill>
              <a:schemeClr val="accent1">
                <a:satOff val="-3355"/>
                <a:lumOff val="26614"/>
              </a:schemeClr>
            </a:solidFill>
            <a:miter lim="400000"/>
          </a:ln>
        </p:spPr>
        <p:txBody>
          <a:bodyPr lIns="76200" tIns="76200" rIns="76200" bIns="76200" anchor="ctr"/>
          <a:lstStyle/>
          <a:p>
            <a:pPr>
              <a:defRPr sz="3200"/>
            </a:pPr>
            <a:endParaRPr sz="4800"/>
          </a:p>
        </p:txBody>
      </p:sp>
      <p:sp>
        <p:nvSpPr>
          <p:cNvPr id="10" name="Shape 131"/>
          <p:cNvSpPr/>
          <p:nvPr/>
        </p:nvSpPr>
        <p:spPr>
          <a:xfrm>
            <a:off x="952500" y="18489726"/>
            <a:ext cx="16008688" cy="1308050"/>
          </a:xfrm>
          <a:prstGeom prst="rect">
            <a:avLst/>
          </a:prstGeom>
          <a:ln w="12700">
            <a:miter lim="400000"/>
          </a:ln>
          <a:extLst>
            <a:ext uri="{C572A759-6A51-4108-AA02-DFA0A04FC94B}">
              <ma14:wrappingTextBoxFlag xmlns:ma14="http://schemas.microsoft.com/office/mac/drawingml/2011/main" xmlns="" val="1"/>
            </a:ext>
          </a:extLst>
        </p:spPr>
        <p:txBody>
          <a:bodyPr lIns="76200" tIns="76200" rIns="76200" bIns="76200">
            <a:spAutoFit/>
          </a:bodyPr>
          <a:lstStyle/>
          <a:p>
            <a:pPr algn="l">
              <a:defRPr sz="2000">
                <a:latin typeface="Alright Sans"/>
                <a:ea typeface="Alright Sans"/>
                <a:cs typeface="Alright Sans"/>
                <a:sym typeface="Alright Sans"/>
              </a:defRPr>
            </a:pPr>
            <a:r>
              <a:rPr lang="en-US" sz="3000" dirty="0">
                <a:latin typeface="Open Sans" panose="020B0606030504020204" pitchFamily="34" charset="0"/>
                <a:ea typeface="Open Sans" panose="020B0606030504020204" pitchFamily="34" charset="0"/>
                <a:cs typeface="Open Sans" panose="020B0606030504020204" pitchFamily="34" charset="0"/>
              </a:rPr>
              <a:t>COMPLETE JAVA MASTERCLASS</a:t>
            </a:r>
          </a:p>
          <a:p>
            <a:pPr algn="l">
              <a:defRPr sz="3000">
                <a:latin typeface="Alright Sans"/>
                <a:ea typeface="Alright Sans"/>
                <a:cs typeface="Alright Sans"/>
                <a:sym typeface="Alright Sans"/>
              </a:defRPr>
            </a:pPr>
            <a:r>
              <a:rPr lang="en-US" sz="4500" dirty="0">
                <a:latin typeface="Open Sans" panose="020B0606030504020204" pitchFamily="34" charset="0"/>
                <a:ea typeface="Open Sans" panose="020B0606030504020204" pitchFamily="34" charset="0"/>
                <a:cs typeface="Open Sans" panose="020B0606030504020204" pitchFamily="34" charset="0"/>
              </a:rPr>
              <a:t>The Most Confusing of the Method References</a:t>
            </a:r>
          </a:p>
        </p:txBody>
      </p:sp>
      <p:sp>
        <p:nvSpPr>
          <p:cNvPr id="8" name="Rectangle 7">
            <a:extLst>
              <a:ext uri="{FF2B5EF4-FFF2-40B4-BE49-F238E27FC236}">
                <a16:creationId xmlns:a16="http://schemas.microsoft.com/office/drawing/2014/main" id="{89DBB243-EF27-4345-872D-E76597E95619}"/>
              </a:ext>
            </a:extLst>
          </p:cNvPr>
          <p:cNvSpPr/>
          <p:nvPr/>
        </p:nvSpPr>
        <p:spPr>
          <a:xfrm>
            <a:off x="952501" y="2554877"/>
            <a:ext cx="34782670" cy="13611203"/>
          </a:xfrm>
          <a:prstGeom prst="rect">
            <a:avLst/>
          </a:prstGeom>
        </p:spPr>
        <p:txBody>
          <a:bodyPr wrap="square">
            <a:normAutofit/>
          </a:bodyPr>
          <a:lstStyle/>
          <a:p>
            <a:pPr algn="l">
              <a:spcAft>
                <a:spcPts val="5022"/>
              </a:spcAft>
            </a:pPr>
            <a:r>
              <a:rPr lang="en-US" sz="6400" dirty="0">
                <a:latin typeface="Open Sans" panose="020B0606030504020204" pitchFamily="34" charset="0"/>
                <a:ea typeface="Open Sans" panose="020B0606030504020204" pitchFamily="34" charset="0"/>
                <a:cs typeface="Open Sans" panose="020B0606030504020204" pitchFamily="34" charset="0"/>
              </a:rPr>
              <a:t>This chart shows some of the valid ways to use method references when assigned to different interface types.</a:t>
            </a:r>
          </a:p>
          <a:p>
            <a:pPr algn="l">
              <a:spcAft>
                <a:spcPts val="5022"/>
              </a:spcAft>
            </a:pPr>
            <a:r>
              <a:rPr lang="en-US" sz="6400" dirty="0">
                <a:latin typeface="Open Sans" panose="020B0606030504020204" pitchFamily="34" charset="0"/>
                <a:ea typeface="Open Sans" panose="020B0606030504020204" pitchFamily="34" charset="0"/>
                <a:cs typeface="Open Sans" panose="020B0606030504020204" pitchFamily="34" charset="0"/>
              </a:rPr>
              <a:t>These interface types have two arguments, and therefore it's more common to see the unbounded receiver method references used for these.</a:t>
            </a:r>
          </a:p>
        </p:txBody>
      </p:sp>
      <p:sp>
        <p:nvSpPr>
          <p:cNvPr id="2" name="Shape 128">
            <a:extLst>
              <a:ext uri="{FF2B5EF4-FFF2-40B4-BE49-F238E27FC236}">
                <a16:creationId xmlns:a16="http://schemas.microsoft.com/office/drawing/2014/main" id="{91807D15-1D84-4128-13DE-36B6A8E72DA7}"/>
              </a:ext>
            </a:extLst>
          </p:cNvPr>
          <p:cNvSpPr/>
          <p:nvPr/>
        </p:nvSpPr>
        <p:spPr>
          <a:xfrm>
            <a:off x="952500" y="18210515"/>
            <a:ext cx="34782668" cy="2"/>
          </a:xfrm>
          <a:prstGeom prst="line">
            <a:avLst/>
          </a:prstGeom>
          <a:ln w="76200">
            <a:solidFill>
              <a:schemeClr val="accent1">
                <a:satOff val="-3355"/>
                <a:lumOff val="26614"/>
              </a:schemeClr>
            </a:solidFill>
            <a:miter lim="400000"/>
          </a:ln>
        </p:spPr>
        <p:txBody>
          <a:bodyPr lIns="76200" tIns="76200" rIns="76200" bIns="76200" anchor="ctr"/>
          <a:lstStyle/>
          <a:p>
            <a:pPr>
              <a:defRPr sz="3200"/>
            </a:pPr>
            <a:endParaRPr sz="4800"/>
          </a:p>
        </p:txBody>
      </p:sp>
      <p:graphicFrame>
        <p:nvGraphicFramePr>
          <p:cNvPr id="3" name="Table 2">
            <a:extLst>
              <a:ext uri="{FF2B5EF4-FFF2-40B4-BE49-F238E27FC236}">
                <a16:creationId xmlns:a16="http://schemas.microsoft.com/office/drawing/2014/main" id="{3DD8AC94-CA17-2D38-D795-D55D67A12814}"/>
              </a:ext>
            </a:extLst>
          </p:cNvPr>
          <p:cNvGraphicFramePr>
            <a:graphicFrameLocks noGrp="1"/>
          </p:cNvGraphicFramePr>
          <p:nvPr/>
        </p:nvGraphicFramePr>
        <p:xfrm>
          <a:off x="952499" y="7367679"/>
          <a:ext cx="34782667" cy="10677725"/>
        </p:xfrm>
        <a:graphic>
          <a:graphicData uri="http://schemas.openxmlformats.org/drawingml/2006/table">
            <a:tbl>
              <a:tblPr firstRow="1" bandRow="1">
                <a:tableStyleId>{5C22544A-7EE6-4342-B048-85BDC9FD1C3A}</a:tableStyleId>
              </a:tblPr>
              <a:tblGrid>
                <a:gridCol w="10853927">
                  <a:extLst>
                    <a:ext uri="{9D8B030D-6E8A-4147-A177-3AD203B41FA5}">
                      <a16:colId xmlns:a16="http://schemas.microsoft.com/office/drawing/2014/main" val="2844207666"/>
                    </a:ext>
                  </a:extLst>
                </a:gridCol>
                <a:gridCol w="6773075">
                  <a:extLst>
                    <a:ext uri="{9D8B030D-6E8A-4147-A177-3AD203B41FA5}">
                      <a16:colId xmlns:a16="http://schemas.microsoft.com/office/drawing/2014/main" val="2017387083"/>
                    </a:ext>
                  </a:extLst>
                </a:gridCol>
                <a:gridCol w="8881250">
                  <a:extLst>
                    <a:ext uri="{9D8B030D-6E8A-4147-A177-3AD203B41FA5}">
                      <a16:colId xmlns:a16="http://schemas.microsoft.com/office/drawing/2014/main" val="1020653276"/>
                    </a:ext>
                  </a:extLst>
                </a:gridCol>
                <a:gridCol w="8274415">
                  <a:extLst>
                    <a:ext uri="{9D8B030D-6E8A-4147-A177-3AD203B41FA5}">
                      <a16:colId xmlns:a16="http://schemas.microsoft.com/office/drawing/2014/main" val="28904781"/>
                    </a:ext>
                  </a:extLst>
                </a:gridCol>
              </a:tblGrid>
              <a:tr h="1188487">
                <a:tc>
                  <a:txBody>
                    <a:bodyPr/>
                    <a:lstStyle/>
                    <a:p>
                      <a:pPr marL="180000" algn="l"/>
                      <a:endParaRPr lang="en-PH" sz="4800" dirty="0">
                        <a:solidFill>
                          <a:schemeClr val="tx1"/>
                        </a:solidFill>
                        <a:latin typeface="Open Sans" panose="020B0606030504020204" pitchFamily="34" charset="0"/>
                        <a:ea typeface="Open Sans" panose="020B0606030504020204" pitchFamily="34" charset="0"/>
                        <a:cs typeface="Open Sans" panose="020B0606030504020204" pitchFamily="34" charset="0"/>
                      </a:endParaRPr>
                    </a:p>
                  </a:txBody>
                  <a:tcPr marL="86794" marR="86794" marT="43397" marB="43397">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BE4D5"/>
                    </a:solidFill>
                  </a:tcPr>
                </a:tc>
                <a:tc gridSpan="3">
                  <a:txBody>
                    <a:bodyPr/>
                    <a:lstStyle/>
                    <a:p>
                      <a:pPr marL="180000" algn="ctr"/>
                      <a:r>
                        <a:rPr lang="en-US" sz="4800" dirty="0">
                          <a:solidFill>
                            <a:schemeClr val="tx1"/>
                          </a:solidFill>
                          <a:latin typeface="Open Sans" panose="020B0606030504020204" pitchFamily="34" charset="0"/>
                          <a:ea typeface="Open Sans" panose="020B0606030504020204" pitchFamily="34" charset="0"/>
                          <a:cs typeface="Open Sans" panose="020B0606030504020204" pitchFamily="34" charset="0"/>
                        </a:rPr>
                        <a:t>Two Arguments</a:t>
                      </a:r>
                    </a:p>
                  </a:txBody>
                  <a:tcPr marL="86794" marR="86794" marT="43397" marB="43397">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BE4D5"/>
                    </a:solidFill>
                  </a:tcPr>
                </a:tc>
                <a:tc hMerge="1">
                  <a:txBody>
                    <a:bodyPr/>
                    <a:lstStyle/>
                    <a:p>
                      <a:pPr marL="180000" algn="ctr"/>
                      <a:r>
                        <a:rPr lang="en-US" sz="4800" dirty="0">
                          <a:solidFill>
                            <a:schemeClr val="tx1"/>
                          </a:solidFill>
                          <a:latin typeface="Open Sans" panose="020B0606030504020204" pitchFamily="34" charset="0"/>
                          <a:ea typeface="Open Sans" panose="020B0606030504020204" pitchFamily="34" charset="0"/>
                          <a:cs typeface="Open Sans" panose="020B0606030504020204" pitchFamily="34" charset="0"/>
                        </a:rPr>
                        <a:t>Two Arguments</a:t>
                      </a:r>
                    </a:p>
                  </a:txBody>
                  <a:tcPr marL="86794" marR="86794" marT="43397" marB="43397">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BE4D5"/>
                    </a:solidFill>
                  </a:tcPr>
                </a:tc>
                <a:tc hMerge="1">
                  <a:txBody>
                    <a:bodyPr/>
                    <a:lstStyle/>
                    <a:p>
                      <a:pPr marL="180000" algn="l"/>
                      <a:endParaRPr lang="en-PH" sz="4800" dirty="0">
                        <a:solidFill>
                          <a:schemeClr val="tx1"/>
                        </a:solidFill>
                        <a:latin typeface="Open Sans" panose="020B0606030504020204" pitchFamily="34" charset="0"/>
                        <a:ea typeface="Open Sans" panose="020B0606030504020204" pitchFamily="34" charset="0"/>
                        <a:cs typeface="Open Sans" panose="020B0606030504020204" pitchFamily="34" charset="0"/>
                      </a:endParaRPr>
                    </a:p>
                  </a:txBody>
                  <a:tcPr marL="86794" marR="86794" marT="43397" marB="43397">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BE4D5"/>
                    </a:solidFill>
                  </a:tcPr>
                </a:tc>
                <a:extLst>
                  <a:ext uri="{0D108BD9-81ED-4DB2-BD59-A6C34878D82A}">
                    <a16:rowId xmlns:a16="http://schemas.microsoft.com/office/drawing/2014/main" val="3978129174"/>
                  </a:ext>
                </a:extLst>
              </a:tr>
              <a:tr h="1418253">
                <a:tc>
                  <a:txBody>
                    <a:bodyPr/>
                    <a:lstStyle/>
                    <a:p>
                      <a:pPr marL="180000" marR="0" lvl="0" indent="0" algn="l" defTabSz="914400" rtl="0" eaLnBrk="1" fontAlgn="auto" latinLnBrk="0" hangingPunct="1">
                        <a:lnSpc>
                          <a:spcPct val="100000"/>
                        </a:lnSpc>
                        <a:spcBef>
                          <a:spcPts val="0"/>
                        </a:spcBef>
                        <a:spcAft>
                          <a:spcPts val="1000"/>
                        </a:spcAft>
                        <a:buClr>
                          <a:srgbClr val="000000"/>
                        </a:buClr>
                        <a:buSzTx/>
                        <a:buFont typeface="Arial" panose="020B0604020202020204" pitchFamily="34" charset="0"/>
                        <a:buNone/>
                        <a:tabLst/>
                        <a:defRPr/>
                      </a:pPr>
                      <a:r>
                        <a:rPr lang="en-US" sz="4400" b="1" dirty="0">
                          <a:solidFill>
                            <a:schemeClr val="tx1"/>
                          </a:solidFill>
                          <a:latin typeface="Open Sans" panose="020B0606030504020204" pitchFamily="34" charset="0"/>
                          <a:ea typeface="Open Sans" panose="020B0606030504020204" pitchFamily="34" charset="0"/>
                          <a:cs typeface="Open Sans" panose="020B0606030504020204" pitchFamily="34" charset="0"/>
                        </a:rPr>
                        <a:t>Types of Method References</a:t>
                      </a:r>
                    </a:p>
                  </a:txBody>
                  <a:tcPr marL="86794" marR="86794" marT="43397" marB="43397">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lumMod val="20000"/>
                        <a:lumOff val="80000"/>
                      </a:schemeClr>
                    </a:solidFill>
                  </a:tcPr>
                </a:tc>
                <a:tc>
                  <a:txBody>
                    <a:bodyPr/>
                    <a:lstStyle/>
                    <a:p>
                      <a:pPr marL="180000" marR="0" lvl="0" indent="0" algn="l" defTabSz="914400" rtl="0" eaLnBrk="1" fontAlgn="auto" latinLnBrk="0" hangingPunct="1">
                        <a:lnSpc>
                          <a:spcPct val="100000"/>
                        </a:lnSpc>
                        <a:spcBef>
                          <a:spcPts val="0"/>
                        </a:spcBef>
                        <a:spcAft>
                          <a:spcPts val="1000"/>
                        </a:spcAft>
                        <a:buClr>
                          <a:srgbClr val="000000"/>
                        </a:buClr>
                        <a:buSzTx/>
                        <a:buFont typeface="Arial" panose="020B0604020202020204" pitchFamily="34" charset="0"/>
                        <a:buNone/>
                        <a:tabLst/>
                        <a:defRPr/>
                      </a:pPr>
                      <a:r>
                        <a:rPr lang="en-US" sz="4400" b="1" dirty="0" err="1">
                          <a:solidFill>
                            <a:schemeClr val="tx1"/>
                          </a:solidFill>
                          <a:latin typeface="Open Sans" panose="020B0606030504020204" pitchFamily="34" charset="0"/>
                          <a:ea typeface="Open Sans" panose="020B0606030504020204" pitchFamily="34" charset="0"/>
                          <a:cs typeface="Open Sans" panose="020B0606030504020204" pitchFamily="34" charset="0"/>
                        </a:rPr>
                        <a:t>BiPredicate</a:t>
                      </a:r>
                      <a:endParaRPr lang="en-US" sz="4400" b="1" dirty="0">
                        <a:solidFill>
                          <a:schemeClr val="tx1"/>
                        </a:solidFill>
                        <a:latin typeface="Open Sans" panose="020B0606030504020204" pitchFamily="34" charset="0"/>
                        <a:ea typeface="Open Sans" panose="020B0606030504020204" pitchFamily="34" charset="0"/>
                        <a:cs typeface="Open Sans" panose="020B0606030504020204" pitchFamily="34" charset="0"/>
                      </a:endParaRPr>
                    </a:p>
                  </a:txBody>
                  <a:tcPr marL="86794" marR="86794" marT="43397" marB="43397">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lumMod val="20000"/>
                        <a:lumOff val="80000"/>
                      </a:schemeClr>
                    </a:solidFill>
                  </a:tcPr>
                </a:tc>
                <a:tc>
                  <a:txBody>
                    <a:bodyPr/>
                    <a:lstStyle/>
                    <a:p>
                      <a:pPr marL="180000" marR="0" lvl="0" indent="0" algn="l" defTabSz="914400" rtl="0" eaLnBrk="1" fontAlgn="auto" latinLnBrk="0" hangingPunct="1">
                        <a:lnSpc>
                          <a:spcPct val="100000"/>
                        </a:lnSpc>
                        <a:spcBef>
                          <a:spcPts val="0"/>
                        </a:spcBef>
                        <a:spcAft>
                          <a:spcPts val="1000"/>
                        </a:spcAft>
                        <a:buClr>
                          <a:srgbClr val="000000"/>
                        </a:buClr>
                        <a:buSzTx/>
                        <a:buFont typeface="Arial" panose="020B0604020202020204" pitchFamily="34" charset="0"/>
                        <a:buNone/>
                        <a:tabLst/>
                        <a:defRPr/>
                      </a:pPr>
                      <a:r>
                        <a:rPr lang="en-US" sz="4400" b="1" dirty="0" err="1">
                          <a:solidFill>
                            <a:schemeClr val="tx1"/>
                          </a:solidFill>
                          <a:latin typeface="Open Sans" panose="020B0606030504020204" pitchFamily="34" charset="0"/>
                          <a:ea typeface="Open Sans" panose="020B0606030504020204" pitchFamily="34" charset="0"/>
                          <a:cs typeface="Open Sans" panose="020B0606030504020204" pitchFamily="34" charset="0"/>
                        </a:rPr>
                        <a:t>BiConsumer</a:t>
                      </a:r>
                      <a:r>
                        <a:rPr lang="en-US" sz="4400" b="1" dirty="0">
                          <a:solidFill>
                            <a:schemeClr val="tx1"/>
                          </a:solidFill>
                          <a:latin typeface="Open Sans" panose="020B0606030504020204" pitchFamily="34" charset="0"/>
                          <a:ea typeface="Open Sans" panose="020B0606030504020204" pitchFamily="34" charset="0"/>
                          <a:cs typeface="Open Sans" panose="020B0606030504020204" pitchFamily="34" charset="0"/>
                        </a:rPr>
                        <a:t>	</a:t>
                      </a:r>
                    </a:p>
                  </a:txBody>
                  <a:tcPr marL="86794" marR="86794" marT="43397" marB="43397">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lumMod val="20000"/>
                        <a:lumOff val="80000"/>
                      </a:schemeClr>
                    </a:solidFill>
                  </a:tcPr>
                </a:tc>
                <a:tc>
                  <a:txBody>
                    <a:bodyPr/>
                    <a:lstStyle/>
                    <a:p>
                      <a:pPr marL="180000" marR="0" lvl="0" indent="0" algn="l" defTabSz="914400" rtl="0" eaLnBrk="1" fontAlgn="auto" latinLnBrk="0" hangingPunct="1">
                        <a:lnSpc>
                          <a:spcPct val="100000"/>
                        </a:lnSpc>
                        <a:spcBef>
                          <a:spcPts val="0"/>
                        </a:spcBef>
                        <a:spcAft>
                          <a:spcPts val="1000"/>
                        </a:spcAft>
                        <a:buClr>
                          <a:srgbClr val="000000"/>
                        </a:buClr>
                        <a:buSzTx/>
                        <a:buFont typeface="Arial" panose="020B0604020202020204" pitchFamily="34" charset="0"/>
                        <a:buNone/>
                        <a:tabLst/>
                        <a:defRPr/>
                      </a:pPr>
                      <a:r>
                        <a:rPr lang="en-US" sz="4400" b="1" dirty="0" err="1">
                          <a:solidFill>
                            <a:schemeClr val="tx1"/>
                          </a:solidFill>
                          <a:latin typeface="Open Sans" panose="020B0606030504020204" pitchFamily="34" charset="0"/>
                          <a:ea typeface="Open Sans" panose="020B0606030504020204" pitchFamily="34" charset="0"/>
                          <a:cs typeface="Open Sans" panose="020B0606030504020204" pitchFamily="34" charset="0"/>
                        </a:rPr>
                        <a:t>BiFunction</a:t>
                      </a:r>
                      <a:endParaRPr lang="en-US" sz="4400" b="1" dirty="0">
                        <a:solidFill>
                          <a:schemeClr val="tx1"/>
                        </a:solidFill>
                        <a:latin typeface="Open Sans" panose="020B0606030504020204" pitchFamily="34" charset="0"/>
                        <a:ea typeface="Open Sans" panose="020B0606030504020204" pitchFamily="34" charset="0"/>
                        <a:cs typeface="Open Sans" panose="020B0606030504020204" pitchFamily="34" charset="0"/>
                      </a:endParaRPr>
                    </a:p>
                    <a:p>
                      <a:pPr marL="180000" marR="0" lvl="0" indent="0" algn="l" defTabSz="914400" rtl="0" eaLnBrk="1" fontAlgn="auto" latinLnBrk="0" hangingPunct="1">
                        <a:lnSpc>
                          <a:spcPct val="100000"/>
                        </a:lnSpc>
                        <a:spcBef>
                          <a:spcPts val="0"/>
                        </a:spcBef>
                        <a:spcAft>
                          <a:spcPts val="1000"/>
                        </a:spcAft>
                        <a:buClr>
                          <a:srgbClr val="000000"/>
                        </a:buClr>
                        <a:buSzTx/>
                        <a:buFont typeface="Arial" panose="020B0604020202020204" pitchFamily="34" charset="0"/>
                        <a:buNone/>
                        <a:tabLst/>
                        <a:defRPr/>
                      </a:pPr>
                      <a:endParaRPr lang="en-US" sz="4400" b="1" dirty="0">
                        <a:solidFill>
                          <a:schemeClr val="tx1"/>
                        </a:solidFill>
                        <a:latin typeface="Open Sans" panose="020B0606030504020204" pitchFamily="34" charset="0"/>
                        <a:ea typeface="Open Sans" panose="020B0606030504020204" pitchFamily="34" charset="0"/>
                        <a:cs typeface="Open Sans" panose="020B0606030504020204" pitchFamily="34" charset="0"/>
                      </a:endParaRPr>
                    </a:p>
                    <a:p>
                      <a:pPr marL="180000" marR="0" lvl="0" indent="0" algn="l" defTabSz="914400" rtl="0" eaLnBrk="1" fontAlgn="auto" latinLnBrk="0" hangingPunct="1">
                        <a:lnSpc>
                          <a:spcPct val="100000"/>
                        </a:lnSpc>
                        <a:spcBef>
                          <a:spcPts val="0"/>
                        </a:spcBef>
                        <a:spcAft>
                          <a:spcPts val="1000"/>
                        </a:spcAft>
                        <a:buClr>
                          <a:srgbClr val="000000"/>
                        </a:buClr>
                        <a:buSzTx/>
                        <a:buFont typeface="Arial" panose="020B0604020202020204" pitchFamily="34" charset="0"/>
                        <a:buNone/>
                        <a:tabLst/>
                        <a:defRPr/>
                      </a:pPr>
                      <a:r>
                        <a:rPr lang="en-US" sz="4400" b="1" dirty="0" err="1">
                          <a:solidFill>
                            <a:schemeClr val="tx1"/>
                          </a:solidFill>
                          <a:latin typeface="Open Sans" panose="020B0606030504020204" pitchFamily="34" charset="0"/>
                          <a:ea typeface="Open Sans" panose="020B0606030504020204" pitchFamily="34" charset="0"/>
                          <a:cs typeface="Open Sans" panose="020B0606030504020204" pitchFamily="34" charset="0"/>
                        </a:rPr>
                        <a:t>BinaryOperator</a:t>
                      </a:r>
                      <a:endParaRPr lang="en-US" sz="4400" b="1" dirty="0">
                        <a:solidFill>
                          <a:schemeClr val="tx1"/>
                        </a:solidFill>
                        <a:latin typeface="Open Sans" panose="020B0606030504020204" pitchFamily="34" charset="0"/>
                        <a:ea typeface="Open Sans" panose="020B0606030504020204" pitchFamily="34" charset="0"/>
                        <a:cs typeface="Open Sans" panose="020B0606030504020204" pitchFamily="34" charset="0"/>
                      </a:endParaRPr>
                    </a:p>
                    <a:p>
                      <a:pPr marL="180000" marR="0" lvl="0" indent="0" algn="l" defTabSz="914400" rtl="0" eaLnBrk="1" fontAlgn="auto" latinLnBrk="0" hangingPunct="1">
                        <a:lnSpc>
                          <a:spcPct val="100000"/>
                        </a:lnSpc>
                        <a:spcBef>
                          <a:spcPts val="0"/>
                        </a:spcBef>
                        <a:spcAft>
                          <a:spcPts val="1000"/>
                        </a:spcAft>
                        <a:buClr>
                          <a:srgbClr val="000000"/>
                        </a:buClr>
                        <a:buSzTx/>
                        <a:buFont typeface="Arial" panose="020B0604020202020204" pitchFamily="34" charset="0"/>
                        <a:buNone/>
                        <a:tabLst/>
                        <a:defRPr/>
                      </a:pPr>
                      <a:endParaRPr lang="en-US" sz="4400" b="1" dirty="0">
                        <a:solidFill>
                          <a:schemeClr val="tx1"/>
                        </a:solidFill>
                        <a:latin typeface="Open Sans" panose="020B0606030504020204" pitchFamily="34" charset="0"/>
                        <a:ea typeface="Open Sans" panose="020B0606030504020204" pitchFamily="34" charset="0"/>
                        <a:cs typeface="Open Sans" panose="020B0606030504020204" pitchFamily="34" charset="0"/>
                      </a:endParaRPr>
                    </a:p>
                    <a:p>
                      <a:pPr marL="180000" marR="0" lvl="0" indent="0" algn="l" defTabSz="914400" rtl="0" eaLnBrk="1" fontAlgn="auto" latinLnBrk="0" hangingPunct="1">
                        <a:lnSpc>
                          <a:spcPct val="100000"/>
                        </a:lnSpc>
                        <a:spcBef>
                          <a:spcPts val="0"/>
                        </a:spcBef>
                        <a:spcAft>
                          <a:spcPts val="1000"/>
                        </a:spcAft>
                        <a:buClr>
                          <a:srgbClr val="000000"/>
                        </a:buClr>
                        <a:buSzTx/>
                        <a:buFont typeface="Arial" panose="020B0604020202020204" pitchFamily="34" charset="0"/>
                        <a:buNone/>
                        <a:tabLst/>
                        <a:defRPr/>
                      </a:pPr>
                      <a:r>
                        <a:rPr lang="en-US" sz="4400" b="1" dirty="0">
                          <a:solidFill>
                            <a:schemeClr val="tx1"/>
                          </a:solidFill>
                          <a:latin typeface="Open Sans" panose="020B0606030504020204" pitchFamily="34" charset="0"/>
                          <a:ea typeface="Open Sans" panose="020B0606030504020204" pitchFamily="34" charset="0"/>
                          <a:cs typeface="Open Sans" panose="020B0606030504020204" pitchFamily="34" charset="0"/>
                        </a:rPr>
                        <a:t>et. al.</a:t>
                      </a:r>
                    </a:p>
                  </a:txBody>
                  <a:tcPr marL="86794" marR="86794" marT="43397" marB="43397">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lumMod val="20000"/>
                        <a:lumOff val="80000"/>
                      </a:schemeClr>
                    </a:solidFill>
                  </a:tcPr>
                </a:tc>
                <a:extLst>
                  <a:ext uri="{0D108BD9-81ED-4DB2-BD59-A6C34878D82A}">
                    <a16:rowId xmlns:a16="http://schemas.microsoft.com/office/drawing/2014/main" val="1640325450"/>
                  </a:ext>
                </a:extLst>
              </a:tr>
              <a:tr h="1025628">
                <a:tc>
                  <a:txBody>
                    <a:bodyPr/>
                    <a:lstStyle/>
                    <a:p>
                      <a:pPr marL="180000" marR="0" lvl="0" indent="0" algn="l" defTabSz="914400" rtl="0" eaLnBrk="1" fontAlgn="auto" latinLnBrk="0" hangingPunct="1">
                        <a:lnSpc>
                          <a:spcPct val="100000"/>
                        </a:lnSpc>
                        <a:spcBef>
                          <a:spcPts val="0"/>
                        </a:spcBef>
                        <a:spcAft>
                          <a:spcPts val="1000"/>
                        </a:spcAft>
                        <a:buClr>
                          <a:srgbClr val="000000"/>
                        </a:buClr>
                        <a:buSzTx/>
                        <a:buFont typeface="Arial" panose="020B0604020202020204" pitchFamily="34" charset="0"/>
                        <a:buNone/>
                        <a:tabLst/>
                        <a:defRPr/>
                      </a:pPr>
                      <a:r>
                        <a:rPr lang="en-US" sz="4400" b="0" dirty="0">
                          <a:solidFill>
                            <a:schemeClr val="tx1"/>
                          </a:solidFill>
                          <a:latin typeface="Open Sans" panose="020B0606030504020204" pitchFamily="34" charset="0"/>
                          <a:ea typeface="Open Sans" panose="020B0606030504020204" pitchFamily="34" charset="0"/>
                          <a:cs typeface="Open Sans" panose="020B0606030504020204" pitchFamily="34" charset="0"/>
                        </a:rPr>
                        <a:t>Reference Type (Static)</a:t>
                      </a:r>
                    </a:p>
                  </a:txBody>
                  <a:tcPr marL="86794" marR="86794" marT="43397" marB="43397">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180000" marR="0" lvl="0" indent="0" algn="l" defTabSz="914400" rtl="0" eaLnBrk="1" fontAlgn="auto" latinLnBrk="0" hangingPunct="1">
                        <a:lnSpc>
                          <a:spcPct val="100000"/>
                        </a:lnSpc>
                        <a:spcBef>
                          <a:spcPts val="0"/>
                        </a:spcBef>
                        <a:spcAft>
                          <a:spcPts val="1000"/>
                        </a:spcAft>
                        <a:buClr>
                          <a:srgbClr val="000000"/>
                        </a:buClr>
                        <a:buSzTx/>
                        <a:buFont typeface="Arial" panose="020B0604020202020204" pitchFamily="34" charset="0"/>
                        <a:buNone/>
                        <a:tabLst/>
                        <a:defRPr/>
                      </a:pPr>
                      <a:endParaRPr lang="en-US" sz="4400" b="0" dirty="0">
                        <a:solidFill>
                          <a:schemeClr val="tx1"/>
                        </a:solidFill>
                        <a:latin typeface="Open Sans" panose="020B0606030504020204" pitchFamily="34" charset="0"/>
                        <a:ea typeface="Open Sans" panose="020B0606030504020204" pitchFamily="34" charset="0"/>
                        <a:cs typeface="Open Sans" panose="020B0606030504020204" pitchFamily="34" charset="0"/>
                      </a:endParaRPr>
                    </a:p>
                  </a:txBody>
                  <a:tcPr marL="86794" marR="86794" marT="43397" marB="43397">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180000" marR="0" lvl="0" indent="0" algn="l" defTabSz="914400" rtl="0" eaLnBrk="1" fontAlgn="auto" latinLnBrk="0" hangingPunct="1">
                        <a:lnSpc>
                          <a:spcPct val="100000"/>
                        </a:lnSpc>
                        <a:spcBef>
                          <a:spcPts val="0"/>
                        </a:spcBef>
                        <a:spcAft>
                          <a:spcPts val="1000"/>
                        </a:spcAft>
                        <a:buClr>
                          <a:srgbClr val="000000"/>
                        </a:buClr>
                        <a:buSzTx/>
                        <a:buFont typeface="Arial" panose="020B0604020202020204" pitchFamily="34" charset="0"/>
                        <a:buNone/>
                        <a:tabLst/>
                        <a:defRPr/>
                      </a:pPr>
                      <a:endParaRPr lang="en-US" sz="4400" b="0" dirty="0">
                        <a:solidFill>
                          <a:schemeClr val="tx1"/>
                        </a:solidFill>
                        <a:latin typeface="Open Sans" panose="020B0606030504020204" pitchFamily="34" charset="0"/>
                        <a:ea typeface="Open Sans" panose="020B0606030504020204" pitchFamily="34" charset="0"/>
                        <a:cs typeface="Open Sans" panose="020B0606030504020204" pitchFamily="34" charset="0"/>
                      </a:endParaRPr>
                    </a:p>
                  </a:txBody>
                  <a:tcPr marL="86794" marR="86794" marT="43397" marB="43397">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180000" marR="0" lvl="0" indent="0" algn="l" defTabSz="914400" rtl="0" eaLnBrk="1" fontAlgn="auto" latinLnBrk="0" hangingPunct="1">
                        <a:lnSpc>
                          <a:spcPct val="100000"/>
                        </a:lnSpc>
                        <a:spcBef>
                          <a:spcPts val="0"/>
                        </a:spcBef>
                        <a:spcAft>
                          <a:spcPts val="1000"/>
                        </a:spcAft>
                        <a:buClr>
                          <a:srgbClr val="000000"/>
                        </a:buClr>
                        <a:buSzTx/>
                        <a:buFont typeface="Arial" panose="020B0604020202020204" pitchFamily="34" charset="0"/>
                        <a:buNone/>
                        <a:tabLst/>
                        <a:defRPr/>
                      </a:pPr>
                      <a:endParaRPr lang="en-US" sz="4400" b="0" dirty="0">
                        <a:solidFill>
                          <a:schemeClr val="tx1"/>
                        </a:solidFill>
                        <a:latin typeface="Open Sans" panose="020B0606030504020204" pitchFamily="34" charset="0"/>
                        <a:ea typeface="Open Sans" panose="020B0606030504020204" pitchFamily="34" charset="0"/>
                        <a:cs typeface="Open Sans" panose="020B0606030504020204" pitchFamily="34" charset="0"/>
                      </a:endParaRPr>
                    </a:p>
                  </a:txBody>
                  <a:tcPr marL="86794" marR="86794" marT="43397" marB="43397">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555455263"/>
                  </a:ext>
                </a:extLst>
              </a:tr>
              <a:tr h="1007706">
                <a:tc>
                  <a:txBody>
                    <a:bodyPr/>
                    <a:lstStyle/>
                    <a:p>
                      <a:pPr marL="180000" marR="0" lvl="0" indent="0" algn="l" defTabSz="914400" rtl="0" eaLnBrk="1" fontAlgn="auto" latinLnBrk="0" hangingPunct="1">
                        <a:lnSpc>
                          <a:spcPct val="100000"/>
                        </a:lnSpc>
                        <a:spcBef>
                          <a:spcPts val="0"/>
                        </a:spcBef>
                        <a:spcAft>
                          <a:spcPts val="1000"/>
                        </a:spcAft>
                        <a:buClr>
                          <a:srgbClr val="000000"/>
                        </a:buClr>
                        <a:buSzTx/>
                        <a:buFont typeface="Arial" panose="020B0604020202020204" pitchFamily="34" charset="0"/>
                        <a:buNone/>
                        <a:tabLst/>
                        <a:defRPr/>
                      </a:pPr>
                      <a:r>
                        <a:rPr lang="en-US" sz="4400" b="0" dirty="0">
                          <a:solidFill>
                            <a:schemeClr val="tx1"/>
                          </a:solidFill>
                          <a:latin typeface="Open Sans" panose="020B0606030504020204" pitchFamily="34" charset="0"/>
                          <a:ea typeface="Open Sans" panose="020B0606030504020204" pitchFamily="34" charset="0"/>
                          <a:cs typeface="Open Sans" panose="020B0606030504020204" pitchFamily="34" charset="0"/>
                        </a:rPr>
                        <a:t>Reference Type (Constructor)</a:t>
                      </a:r>
                    </a:p>
                  </a:txBody>
                  <a:tcPr marL="86794" marR="86794" marT="43397" marB="43397">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180000" marR="0" lvl="0" indent="0" algn="l" defTabSz="914400" rtl="0" eaLnBrk="1" fontAlgn="auto" latinLnBrk="0" hangingPunct="1">
                        <a:lnSpc>
                          <a:spcPct val="100000"/>
                        </a:lnSpc>
                        <a:spcBef>
                          <a:spcPts val="0"/>
                        </a:spcBef>
                        <a:spcAft>
                          <a:spcPts val="1000"/>
                        </a:spcAft>
                        <a:buClr>
                          <a:srgbClr val="000000"/>
                        </a:buClr>
                        <a:buSzTx/>
                        <a:buFont typeface="Arial" panose="020B0604020202020204" pitchFamily="34" charset="0"/>
                        <a:buNone/>
                        <a:tabLst/>
                        <a:defRPr/>
                      </a:pPr>
                      <a:endParaRPr lang="en-US" sz="4400" b="0" dirty="0">
                        <a:solidFill>
                          <a:schemeClr val="tx1"/>
                        </a:solidFill>
                        <a:latin typeface="Open Sans" panose="020B0606030504020204" pitchFamily="34" charset="0"/>
                        <a:ea typeface="Open Sans" panose="020B0606030504020204" pitchFamily="34" charset="0"/>
                        <a:cs typeface="Open Sans" panose="020B0606030504020204" pitchFamily="34" charset="0"/>
                      </a:endParaRPr>
                    </a:p>
                  </a:txBody>
                  <a:tcPr marL="86794" marR="86794" marT="43397" marB="43397">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180000" marR="0" lvl="0" indent="0" algn="l" defTabSz="914400" rtl="0" eaLnBrk="1" fontAlgn="auto" latinLnBrk="0" hangingPunct="1">
                        <a:lnSpc>
                          <a:spcPct val="100000"/>
                        </a:lnSpc>
                        <a:spcBef>
                          <a:spcPts val="0"/>
                        </a:spcBef>
                        <a:spcAft>
                          <a:spcPts val="1000"/>
                        </a:spcAft>
                        <a:buClr>
                          <a:srgbClr val="000000"/>
                        </a:buClr>
                        <a:buSzTx/>
                        <a:buFont typeface="Arial" panose="020B0604020202020204" pitchFamily="34" charset="0"/>
                        <a:buNone/>
                        <a:tabLst/>
                        <a:defRPr/>
                      </a:pPr>
                      <a:endParaRPr lang="en-US" sz="4400" b="1" dirty="0">
                        <a:solidFill>
                          <a:schemeClr val="tx1"/>
                        </a:solidFill>
                        <a:latin typeface="Open Sans" panose="020B0606030504020204" pitchFamily="34" charset="0"/>
                        <a:ea typeface="Open Sans" panose="020B0606030504020204" pitchFamily="34" charset="0"/>
                        <a:cs typeface="Open Sans" panose="020B0606030504020204" pitchFamily="34" charset="0"/>
                      </a:endParaRPr>
                    </a:p>
                  </a:txBody>
                  <a:tcPr marL="86794" marR="86794" marT="43397" marB="43397">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180000" marR="0" lvl="0" indent="0" algn="l" defTabSz="914400" rtl="0" eaLnBrk="1" fontAlgn="auto" latinLnBrk="0" hangingPunct="1">
                        <a:lnSpc>
                          <a:spcPct val="100000"/>
                        </a:lnSpc>
                        <a:spcBef>
                          <a:spcPts val="0"/>
                        </a:spcBef>
                        <a:spcAft>
                          <a:spcPts val="1000"/>
                        </a:spcAft>
                        <a:buClr>
                          <a:srgbClr val="000000"/>
                        </a:buClr>
                        <a:buSzTx/>
                        <a:buFont typeface="Arial" panose="020B0604020202020204" pitchFamily="34" charset="0"/>
                        <a:buNone/>
                        <a:tabLst/>
                        <a:defRPr/>
                      </a:pPr>
                      <a:endParaRPr lang="en-US" sz="4400" b="0" dirty="0">
                        <a:solidFill>
                          <a:schemeClr val="tx1"/>
                        </a:solidFill>
                        <a:latin typeface="Open Sans" panose="020B0606030504020204" pitchFamily="34" charset="0"/>
                        <a:ea typeface="Open Sans" panose="020B0606030504020204" pitchFamily="34" charset="0"/>
                        <a:cs typeface="Open Sans" panose="020B0606030504020204" pitchFamily="34" charset="0"/>
                      </a:endParaRPr>
                    </a:p>
                  </a:txBody>
                  <a:tcPr marL="86794" marR="86794" marT="43397" marB="43397">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521613951"/>
                  </a:ext>
                </a:extLst>
              </a:tr>
              <a:tr h="989045">
                <a:tc>
                  <a:txBody>
                    <a:bodyPr/>
                    <a:lstStyle/>
                    <a:p>
                      <a:pPr marL="180000" marR="0" lvl="0" indent="0" algn="l" defTabSz="914400" rtl="0" eaLnBrk="1" fontAlgn="auto" latinLnBrk="0" hangingPunct="1">
                        <a:lnSpc>
                          <a:spcPct val="100000"/>
                        </a:lnSpc>
                        <a:spcBef>
                          <a:spcPts val="0"/>
                        </a:spcBef>
                        <a:spcAft>
                          <a:spcPts val="1000"/>
                        </a:spcAft>
                        <a:buClr>
                          <a:srgbClr val="000000"/>
                        </a:buClr>
                        <a:buSzTx/>
                        <a:buFont typeface="Arial" panose="020B0604020202020204" pitchFamily="34" charset="0"/>
                        <a:buNone/>
                        <a:tabLst/>
                        <a:defRPr/>
                      </a:pPr>
                      <a:r>
                        <a:rPr lang="en-US" sz="4400" b="0" dirty="0">
                          <a:solidFill>
                            <a:schemeClr val="tx1"/>
                          </a:solidFill>
                          <a:latin typeface="Open Sans" panose="020B0606030504020204" pitchFamily="34" charset="0"/>
                          <a:ea typeface="Open Sans" panose="020B0606030504020204" pitchFamily="34" charset="0"/>
                          <a:cs typeface="Open Sans" panose="020B0606030504020204" pitchFamily="34" charset="0"/>
                        </a:rPr>
                        <a:t>Bounded Receiver (Instance)</a:t>
                      </a:r>
                    </a:p>
                  </a:txBody>
                  <a:tcPr marL="86794" marR="86794" marT="43397" marB="43397">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180000" marR="0" lvl="0" indent="0" algn="l" defTabSz="914400" rtl="0" eaLnBrk="1" fontAlgn="auto" latinLnBrk="0" hangingPunct="1">
                        <a:lnSpc>
                          <a:spcPct val="100000"/>
                        </a:lnSpc>
                        <a:spcBef>
                          <a:spcPts val="0"/>
                        </a:spcBef>
                        <a:spcAft>
                          <a:spcPts val="1000"/>
                        </a:spcAft>
                        <a:buClr>
                          <a:srgbClr val="000000"/>
                        </a:buClr>
                        <a:buSzTx/>
                        <a:buFont typeface="Arial" panose="020B0604020202020204" pitchFamily="34" charset="0"/>
                        <a:buNone/>
                        <a:tabLst/>
                        <a:defRPr/>
                      </a:pPr>
                      <a:endParaRPr lang="en-US" sz="4400" b="0" dirty="0">
                        <a:solidFill>
                          <a:schemeClr val="tx1"/>
                        </a:solidFill>
                        <a:latin typeface="Open Sans" panose="020B0606030504020204" pitchFamily="34" charset="0"/>
                        <a:ea typeface="Open Sans" panose="020B0606030504020204" pitchFamily="34" charset="0"/>
                        <a:cs typeface="Open Sans" panose="020B0606030504020204" pitchFamily="34" charset="0"/>
                      </a:endParaRPr>
                    </a:p>
                  </a:txBody>
                  <a:tcPr marL="86794" marR="86794" marT="43397" marB="43397">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180000" marR="0" lvl="0" indent="0" algn="l" defTabSz="914400" rtl="0" eaLnBrk="1" fontAlgn="auto" latinLnBrk="0" hangingPunct="1">
                        <a:lnSpc>
                          <a:spcPct val="100000"/>
                        </a:lnSpc>
                        <a:spcBef>
                          <a:spcPts val="0"/>
                        </a:spcBef>
                        <a:spcAft>
                          <a:spcPts val="1000"/>
                        </a:spcAft>
                        <a:buClr>
                          <a:srgbClr val="000000"/>
                        </a:buClr>
                        <a:buSzTx/>
                        <a:buFont typeface="Arial" panose="020B0604020202020204" pitchFamily="34" charset="0"/>
                        <a:buNone/>
                        <a:tabLst/>
                        <a:defRPr/>
                      </a:pPr>
                      <a:endParaRPr lang="en-US" sz="4400" b="0" dirty="0">
                        <a:solidFill>
                          <a:schemeClr val="tx1"/>
                        </a:solidFill>
                        <a:latin typeface="Open Sans" panose="020B0606030504020204" pitchFamily="34" charset="0"/>
                        <a:ea typeface="Open Sans" panose="020B0606030504020204" pitchFamily="34" charset="0"/>
                        <a:cs typeface="Open Sans" panose="020B0606030504020204" pitchFamily="34" charset="0"/>
                      </a:endParaRPr>
                    </a:p>
                  </a:txBody>
                  <a:tcPr marL="86794" marR="86794" marT="43397" marB="43397">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180000" marR="0" lvl="0" indent="0" algn="l" defTabSz="914400" rtl="0" eaLnBrk="1" fontAlgn="auto" latinLnBrk="0" hangingPunct="1">
                        <a:lnSpc>
                          <a:spcPct val="100000"/>
                        </a:lnSpc>
                        <a:spcBef>
                          <a:spcPts val="0"/>
                        </a:spcBef>
                        <a:spcAft>
                          <a:spcPts val="1000"/>
                        </a:spcAft>
                        <a:buClr>
                          <a:srgbClr val="000000"/>
                        </a:buClr>
                        <a:buSzTx/>
                        <a:buFont typeface="Arial" panose="020B0604020202020204" pitchFamily="34" charset="0"/>
                        <a:buNone/>
                        <a:tabLst/>
                        <a:defRPr/>
                      </a:pPr>
                      <a:endParaRPr lang="en-US" sz="4400" b="0" dirty="0">
                        <a:solidFill>
                          <a:schemeClr val="tx1"/>
                        </a:solidFill>
                        <a:latin typeface="Open Sans" panose="020B0606030504020204" pitchFamily="34" charset="0"/>
                        <a:ea typeface="Open Sans" panose="020B0606030504020204" pitchFamily="34" charset="0"/>
                        <a:cs typeface="Open Sans" panose="020B0606030504020204" pitchFamily="34" charset="0"/>
                      </a:endParaRPr>
                    </a:p>
                  </a:txBody>
                  <a:tcPr marL="86794" marR="86794" marT="43397" marB="43397">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74654465"/>
                  </a:ext>
                </a:extLst>
              </a:tr>
              <a:tr h="2519265">
                <a:tc>
                  <a:txBody>
                    <a:bodyPr/>
                    <a:lstStyle/>
                    <a:p>
                      <a:pPr marL="180000" marR="0" lvl="0" indent="0" algn="l" defTabSz="914400" rtl="0" eaLnBrk="1" fontAlgn="auto" latinLnBrk="0" hangingPunct="1">
                        <a:lnSpc>
                          <a:spcPct val="100000"/>
                        </a:lnSpc>
                        <a:spcBef>
                          <a:spcPts val="0"/>
                        </a:spcBef>
                        <a:spcAft>
                          <a:spcPts val="1000"/>
                        </a:spcAft>
                        <a:buClr>
                          <a:srgbClr val="000000"/>
                        </a:buClr>
                        <a:buSzTx/>
                        <a:buFont typeface="Arial" panose="020B0604020202020204" pitchFamily="34" charset="0"/>
                        <a:buNone/>
                        <a:tabLst/>
                        <a:defRPr/>
                      </a:pPr>
                      <a:r>
                        <a:rPr lang="en-US" sz="4400" b="0" dirty="0">
                          <a:solidFill>
                            <a:schemeClr val="tx1"/>
                          </a:solidFill>
                          <a:latin typeface="Open Sans" panose="020B0606030504020204" pitchFamily="34" charset="0"/>
                          <a:ea typeface="Open Sans" panose="020B0606030504020204" pitchFamily="34" charset="0"/>
                          <a:cs typeface="Open Sans" panose="020B0606030504020204" pitchFamily="34" charset="0"/>
                        </a:rPr>
                        <a:t>Unbounded Receiver (Instance)</a:t>
                      </a:r>
                    </a:p>
                  </a:txBody>
                  <a:tcPr marL="86794" marR="86794" marT="43397" marB="43397">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180000" marR="0" lvl="0" indent="0" algn="l" defTabSz="914400" rtl="0" eaLnBrk="1" fontAlgn="auto" latinLnBrk="0" hangingPunct="1">
                        <a:lnSpc>
                          <a:spcPct val="100000"/>
                        </a:lnSpc>
                        <a:spcBef>
                          <a:spcPts val="0"/>
                        </a:spcBef>
                        <a:spcAft>
                          <a:spcPts val="1000"/>
                        </a:spcAft>
                        <a:buClr>
                          <a:srgbClr val="000000"/>
                        </a:buClr>
                        <a:buSzTx/>
                        <a:buFont typeface="Arial" panose="020B0604020202020204" pitchFamily="34" charset="0"/>
                        <a:buNone/>
                        <a:tabLst/>
                        <a:defRPr/>
                      </a:pPr>
                      <a:endParaRPr lang="en-US" sz="4400" b="0" dirty="0">
                        <a:solidFill>
                          <a:schemeClr val="tx1"/>
                        </a:solidFill>
                        <a:latin typeface="Open Sans" panose="020B0606030504020204" pitchFamily="34" charset="0"/>
                        <a:ea typeface="Open Sans" panose="020B0606030504020204" pitchFamily="34" charset="0"/>
                        <a:cs typeface="Open Sans" panose="020B0606030504020204" pitchFamily="34" charset="0"/>
                      </a:endParaRPr>
                    </a:p>
                  </a:txBody>
                  <a:tcPr marL="86794" marR="86794" marT="43397" marB="43397">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180000" marR="0" lvl="0" indent="0" algn="l" defTabSz="914400" rtl="0" eaLnBrk="1" fontAlgn="auto" latinLnBrk="0" hangingPunct="1">
                        <a:lnSpc>
                          <a:spcPct val="100000"/>
                        </a:lnSpc>
                        <a:spcBef>
                          <a:spcPts val="0"/>
                        </a:spcBef>
                        <a:spcAft>
                          <a:spcPts val="1000"/>
                        </a:spcAft>
                        <a:buClr>
                          <a:srgbClr val="000000"/>
                        </a:buClr>
                        <a:buSzTx/>
                        <a:buFont typeface="Arial" panose="020B0604020202020204" pitchFamily="34" charset="0"/>
                        <a:buNone/>
                        <a:tabLst/>
                        <a:defRPr/>
                      </a:pPr>
                      <a:endParaRPr lang="en-US" sz="4400" b="0" dirty="0">
                        <a:solidFill>
                          <a:schemeClr val="tx1"/>
                        </a:solidFill>
                        <a:latin typeface="Open Sans" panose="020B0606030504020204" pitchFamily="34" charset="0"/>
                        <a:ea typeface="Open Sans" panose="020B0606030504020204" pitchFamily="34" charset="0"/>
                        <a:cs typeface="Open Sans" panose="020B0606030504020204" pitchFamily="34" charset="0"/>
                      </a:endParaRPr>
                    </a:p>
                  </a:txBody>
                  <a:tcPr marL="86794" marR="86794" marT="43397" marB="43397">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180000" marR="0" lvl="0" indent="0" algn="l" defTabSz="914400" rtl="0" eaLnBrk="1" fontAlgn="auto" latinLnBrk="0" hangingPunct="1">
                        <a:lnSpc>
                          <a:spcPct val="100000"/>
                        </a:lnSpc>
                        <a:spcBef>
                          <a:spcPts val="0"/>
                        </a:spcBef>
                        <a:spcAft>
                          <a:spcPts val="1000"/>
                        </a:spcAft>
                        <a:buClr>
                          <a:srgbClr val="000000"/>
                        </a:buClr>
                        <a:buSzTx/>
                        <a:buFont typeface="Arial" panose="020B0604020202020204" pitchFamily="34" charset="0"/>
                        <a:buNone/>
                        <a:tabLst/>
                        <a:defRPr/>
                      </a:pPr>
                      <a:endParaRPr lang="en-US" sz="4400" b="0" dirty="0">
                        <a:solidFill>
                          <a:schemeClr val="tx1"/>
                        </a:solidFill>
                        <a:latin typeface="Open Sans" panose="020B0606030504020204" pitchFamily="34" charset="0"/>
                        <a:ea typeface="Open Sans" panose="020B0606030504020204" pitchFamily="34" charset="0"/>
                        <a:cs typeface="Open Sans" panose="020B0606030504020204" pitchFamily="34" charset="0"/>
                      </a:endParaRPr>
                    </a:p>
                  </a:txBody>
                  <a:tcPr marL="86794" marR="86794" marT="43397" marB="43397">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267098654"/>
                  </a:ext>
                </a:extLst>
              </a:tr>
            </a:tbl>
          </a:graphicData>
        </a:graphic>
      </p:graphicFrame>
      <p:pic>
        <p:nvPicPr>
          <p:cNvPr id="14" name="Picture 13">
            <a:extLst>
              <a:ext uri="{FF2B5EF4-FFF2-40B4-BE49-F238E27FC236}">
                <a16:creationId xmlns:a16="http://schemas.microsoft.com/office/drawing/2014/main" id="{77219935-D003-78E6-DE57-AFED6C360AD1}"/>
              </a:ext>
            </a:extLst>
          </p:cNvPr>
          <p:cNvPicPr>
            <a:picLocks noChangeAspect="1"/>
          </p:cNvPicPr>
          <p:nvPr/>
        </p:nvPicPr>
        <p:blipFill>
          <a:blip r:embed="rId4"/>
          <a:stretch>
            <a:fillRect/>
          </a:stretch>
        </p:blipFill>
        <p:spPr>
          <a:xfrm>
            <a:off x="11961188" y="15717493"/>
            <a:ext cx="5000000" cy="671429"/>
          </a:xfrm>
          <a:prstGeom prst="rect">
            <a:avLst/>
          </a:prstGeom>
        </p:spPr>
      </p:pic>
      <p:pic>
        <p:nvPicPr>
          <p:cNvPr id="16" name="Picture 15">
            <a:extLst>
              <a:ext uri="{FF2B5EF4-FFF2-40B4-BE49-F238E27FC236}">
                <a16:creationId xmlns:a16="http://schemas.microsoft.com/office/drawing/2014/main" id="{1285E49E-5978-95AD-6286-8A7E455C250E}"/>
              </a:ext>
            </a:extLst>
          </p:cNvPr>
          <p:cNvPicPr>
            <a:picLocks noChangeAspect="1"/>
          </p:cNvPicPr>
          <p:nvPr/>
        </p:nvPicPr>
        <p:blipFill>
          <a:blip r:embed="rId5"/>
          <a:stretch>
            <a:fillRect/>
          </a:stretch>
        </p:blipFill>
        <p:spPr>
          <a:xfrm>
            <a:off x="18778250" y="14749644"/>
            <a:ext cx="6514286" cy="685715"/>
          </a:xfrm>
          <a:prstGeom prst="rect">
            <a:avLst/>
          </a:prstGeom>
        </p:spPr>
      </p:pic>
      <p:pic>
        <p:nvPicPr>
          <p:cNvPr id="18" name="Picture 17">
            <a:extLst>
              <a:ext uri="{FF2B5EF4-FFF2-40B4-BE49-F238E27FC236}">
                <a16:creationId xmlns:a16="http://schemas.microsoft.com/office/drawing/2014/main" id="{CA2FAFC2-1FF8-A600-777F-E74C03833076}"/>
              </a:ext>
            </a:extLst>
          </p:cNvPr>
          <p:cNvPicPr>
            <a:picLocks noChangeAspect="1"/>
          </p:cNvPicPr>
          <p:nvPr/>
        </p:nvPicPr>
        <p:blipFill>
          <a:blip r:embed="rId6"/>
          <a:stretch>
            <a:fillRect/>
          </a:stretch>
        </p:blipFill>
        <p:spPr>
          <a:xfrm>
            <a:off x="18778249" y="15634644"/>
            <a:ext cx="3257144" cy="642857"/>
          </a:xfrm>
          <a:prstGeom prst="rect">
            <a:avLst/>
          </a:prstGeom>
        </p:spPr>
      </p:pic>
      <p:pic>
        <p:nvPicPr>
          <p:cNvPr id="20" name="Picture 19">
            <a:extLst>
              <a:ext uri="{FF2B5EF4-FFF2-40B4-BE49-F238E27FC236}">
                <a16:creationId xmlns:a16="http://schemas.microsoft.com/office/drawing/2014/main" id="{FCD73C46-5F51-3B86-BEBF-D0B263B22E1B}"/>
              </a:ext>
            </a:extLst>
          </p:cNvPr>
          <p:cNvPicPr>
            <a:picLocks noChangeAspect="1"/>
          </p:cNvPicPr>
          <p:nvPr/>
        </p:nvPicPr>
        <p:blipFill>
          <a:blip r:embed="rId7"/>
          <a:stretch>
            <a:fillRect/>
          </a:stretch>
        </p:blipFill>
        <p:spPr>
          <a:xfrm>
            <a:off x="27653941" y="12668686"/>
            <a:ext cx="4357143" cy="714285"/>
          </a:xfrm>
          <a:prstGeom prst="rect">
            <a:avLst/>
          </a:prstGeom>
        </p:spPr>
      </p:pic>
      <p:pic>
        <p:nvPicPr>
          <p:cNvPr id="22" name="Picture 21">
            <a:extLst>
              <a:ext uri="{FF2B5EF4-FFF2-40B4-BE49-F238E27FC236}">
                <a16:creationId xmlns:a16="http://schemas.microsoft.com/office/drawing/2014/main" id="{4BDCFDF8-383E-9BFA-75C1-A8F75738832A}"/>
              </a:ext>
            </a:extLst>
          </p:cNvPr>
          <p:cNvPicPr>
            <a:picLocks noChangeAspect="1"/>
          </p:cNvPicPr>
          <p:nvPr/>
        </p:nvPicPr>
        <p:blipFill>
          <a:blip r:embed="rId8"/>
          <a:stretch>
            <a:fillRect/>
          </a:stretch>
        </p:blipFill>
        <p:spPr>
          <a:xfrm>
            <a:off x="27653941" y="13696376"/>
            <a:ext cx="4700000" cy="714285"/>
          </a:xfrm>
          <a:prstGeom prst="rect">
            <a:avLst/>
          </a:prstGeom>
        </p:spPr>
      </p:pic>
      <p:pic>
        <p:nvPicPr>
          <p:cNvPr id="24" name="Picture 23">
            <a:extLst>
              <a:ext uri="{FF2B5EF4-FFF2-40B4-BE49-F238E27FC236}">
                <a16:creationId xmlns:a16="http://schemas.microsoft.com/office/drawing/2014/main" id="{10A9CAF6-BC90-5916-B36A-6BC7F7324770}"/>
              </a:ext>
            </a:extLst>
          </p:cNvPr>
          <p:cNvPicPr>
            <a:picLocks noChangeAspect="1"/>
          </p:cNvPicPr>
          <p:nvPr/>
        </p:nvPicPr>
        <p:blipFill>
          <a:blip r:embed="rId9"/>
          <a:stretch>
            <a:fillRect/>
          </a:stretch>
        </p:blipFill>
        <p:spPr>
          <a:xfrm>
            <a:off x="27653941" y="14719317"/>
            <a:ext cx="7514286" cy="642857"/>
          </a:xfrm>
          <a:prstGeom prst="rect">
            <a:avLst/>
          </a:prstGeom>
        </p:spPr>
      </p:pic>
      <p:pic>
        <p:nvPicPr>
          <p:cNvPr id="30" name="Picture 29">
            <a:extLst>
              <a:ext uri="{FF2B5EF4-FFF2-40B4-BE49-F238E27FC236}">
                <a16:creationId xmlns:a16="http://schemas.microsoft.com/office/drawing/2014/main" id="{D639A62E-E0E1-C0D5-A5CE-C6668AA02A33}"/>
              </a:ext>
            </a:extLst>
          </p:cNvPr>
          <p:cNvPicPr>
            <a:picLocks noChangeAspect="1"/>
          </p:cNvPicPr>
          <p:nvPr/>
        </p:nvPicPr>
        <p:blipFill>
          <a:blip r:embed="rId10"/>
          <a:stretch>
            <a:fillRect/>
          </a:stretch>
        </p:blipFill>
        <p:spPr>
          <a:xfrm>
            <a:off x="27653941" y="15648621"/>
            <a:ext cx="5085714" cy="2157143"/>
          </a:xfrm>
          <a:prstGeom prst="rect">
            <a:avLst/>
          </a:prstGeom>
        </p:spPr>
      </p:pic>
    </p:spTree>
    <p:extLst>
      <p:ext uri="{BB962C8B-B14F-4D97-AF65-F5344CB8AC3E}">
        <p14:creationId xmlns:p14="http://schemas.microsoft.com/office/powerpoint/2010/main" val="387613194"/>
      </p:ext>
    </p:extLst>
  </p:cSld>
  <p:clrMapOvr>
    <a:masterClrMapping/>
  </p:clrMapOvr>
  <p:transition spd="slow"/>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 name="Shape 126"/>
          <p:cNvSpPr/>
          <p:nvPr/>
        </p:nvSpPr>
        <p:spPr>
          <a:xfrm>
            <a:off x="952498" y="459786"/>
            <a:ext cx="20354931" cy="1815882"/>
          </a:xfrm>
          <a:prstGeom prst="rect">
            <a:avLst/>
          </a:prstGeom>
          <a:ln w="12700">
            <a:miter lim="400000"/>
          </a:ln>
          <a:extLst>
            <a:ext uri="{C572A759-6A51-4108-AA02-DFA0A04FC94B}">
              <ma14:wrappingTextBoxFlag xmlns="" xmlns:ma14="http://schemas.microsoft.com/office/mac/drawingml/2011/main" val="1"/>
            </a:ext>
          </a:extLst>
        </p:spPr>
        <p:txBody>
          <a:bodyPr wrap="none" lIns="76200" tIns="76200" rIns="76200" bIns="76200">
            <a:spAutoFit/>
          </a:bodyPr>
          <a:lstStyle>
            <a:lvl1pPr algn="l">
              <a:defRPr sz="7000">
                <a:latin typeface="Alright Sans"/>
                <a:ea typeface="Alright Sans"/>
                <a:cs typeface="Alright Sans"/>
                <a:sym typeface="Alright Sans"/>
              </a:defRPr>
            </a:lvl1pPr>
          </a:lstStyle>
          <a:p>
            <a:pPr>
              <a:defRPr sz="3000">
                <a:latin typeface="Alright Sans"/>
                <a:ea typeface="Alright Sans"/>
                <a:cs typeface="Alright Sans"/>
                <a:sym typeface="Alright Sans"/>
              </a:defRPr>
            </a:pPr>
            <a:r>
              <a:rPr lang="en-US" sz="10800" dirty="0">
                <a:latin typeface="Open Sans" panose="020B0606030504020204" pitchFamily="34" charset="0"/>
                <a:ea typeface="Open Sans" panose="020B0606030504020204" pitchFamily="34" charset="0"/>
                <a:cs typeface="Open Sans" panose="020B0606030504020204" pitchFamily="34" charset="0"/>
              </a:rPr>
              <a:t>Method and Lambda Challenge</a:t>
            </a:r>
          </a:p>
        </p:txBody>
      </p:sp>
      <p:sp>
        <p:nvSpPr>
          <p:cNvPr id="128" name="Shape 128"/>
          <p:cNvSpPr/>
          <p:nvPr/>
        </p:nvSpPr>
        <p:spPr>
          <a:xfrm>
            <a:off x="952500" y="18210515"/>
            <a:ext cx="34782668" cy="2"/>
          </a:xfrm>
          <a:prstGeom prst="line">
            <a:avLst/>
          </a:prstGeom>
          <a:ln w="76200">
            <a:solidFill>
              <a:schemeClr val="accent1">
                <a:satOff val="-3355"/>
                <a:lumOff val="26614"/>
              </a:schemeClr>
            </a:solidFill>
            <a:miter lim="400000"/>
          </a:ln>
        </p:spPr>
        <p:txBody>
          <a:bodyPr lIns="76200" tIns="76200" rIns="76200" bIns="76200" anchor="ctr"/>
          <a:lstStyle/>
          <a:p>
            <a:pPr>
              <a:defRPr sz="3200"/>
            </a:pPr>
            <a:endParaRPr sz="4800"/>
          </a:p>
        </p:txBody>
      </p:sp>
      <p:pic>
        <p:nvPicPr>
          <p:cNvPr id="129" name="Logo.png"/>
          <p:cNvPicPr>
            <a:picLocks noChangeAspect="1"/>
          </p:cNvPicPr>
          <p:nvPr/>
        </p:nvPicPr>
        <p:blipFill>
          <a:blip r:embed="rId3"/>
          <a:stretch>
            <a:fillRect/>
          </a:stretch>
        </p:blipFill>
        <p:spPr>
          <a:xfrm>
            <a:off x="14650974" y="18489726"/>
            <a:ext cx="6321552" cy="1392336"/>
          </a:xfrm>
          <a:prstGeom prst="rect">
            <a:avLst/>
          </a:prstGeom>
          <a:ln w="12700">
            <a:miter lim="400000"/>
          </a:ln>
        </p:spPr>
      </p:pic>
      <p:sp>
        <p:nvSpPr>
          <p:cNvPr id="9" name="Shape 127"/>
          <p:cNvSpPr/>
          <p:nvPr/>
        </p:nvSpPr>
        <p:spPr>
          <a:xfrm flipV="1">
            <a:off x="952499" y="2203340"/>
            <a:ext cx="34782670" cy="38132"/>
          </a:xfrm>
          <a:prstGeom prst="line">
            <a:avLst/>
          </a:prstGeom>
          <a:ln w="152400">
            <a:solidFill>
              <a:schemeClr val="accent1">
                <a:satOff val="-3355"/>
                <a:lumOff val="26614"/>
              </a:schemeClr>
            </a:solidFill>
            <a:miter lim="400000"/>
          </a:ln>
        </p:spPr>
        <p:txBody>
          <a:bodyPr lIns="76200" tIns="76200" rIns="76200" bIns="76200" anchor="ctr"/>
          <a:lstStyle/>
          <a:p>
            <a:pPr>
              <a:defRPr sz="3200"/>
            </a:pPr>
            <a:endParaRPr sz="4800"/>
          </a:p>
        </p:txBody>
      </p:sp>
      <p:sp>
        <p:nvSpPr>
          <p:cNvPr id="10" name="Shape 131"/>
          <p:cNvSpPr/>
          <p:nvPr/>
        </p:nvSpPr>
        <p:spPr>
          <a:xfrm>
            <a:off x="952500" y="18489726"/>
            <a:ext cx="16008688" cy="1308050"/>
          </a:xfrm>
          <a:prstGeom prst="rect">
            <a:avLst/>
          </a:prstGeom>
          <a:ln w="12700">
            <a:miter lim="400000"/>
          </a:ln>
          <a:extLst>
            <a:ext uri="{C572A759-6A51-4108-AA02-DFA0A04FC94B}">
              <ma14:wrappingTextBoxFlag xmlns:ma14="http://schemas.microsoft.com/office/mac/drawingml/2011/main" xmlns="" val="1"/>
            </a:ext>
          </a:extLst>
        </p:spPr>
        <p:txBody>
          <a:bodyPr lIns="76200" tIns="76200" rIns="76200" bIns="76200">
            <a:spAutoFit/>
          </a:bodyPr>
          <a:lstStyle/>
          <a:p>
            <a:pPr algn="l">
              <a:defRPr sz="2000">
                <a:latin typeface="Alright Sans"/>
                <a:ea typeface="Alright Sans"/>
                <a:cs typeface="Alright Sans"/>
                <a:sym typeface="Alright Sans"/>
              </a:defRPr>
            </a:pPr>
            <a:r>
              <a:rPr lang="en-US" sz="3000" dirty="0">
                <a:latin typeface="Open Sans" panose="020B0606030504020204" pitchFamily="34" charset="0"/>
                <a:ea typeface="Open Sans" panose="020B0606030504020204" pitchFamily="34" charset="0"/>
                <a:cs typeface="Open Sans" panose="020B0606030504020204" pitchFamily="34" charset="0"/>
              </a:rPr>
              <a:t>COMPLETE JAVA MASTERCLASS</a:t>
            </a:r>
          </a:p>
          <a:p>
            <a:pPr algn="l">
              <a:defRPr sz="3000">
                <a:latin typeface="Alright Sans"/>
                <a:ea typeface="Alright Sans"/>
                <a:cs typeface="Alright Sans"/>
                <a:sym typeface="Alright Sans"/>
              </a:defRPr>
            </a:pPr>
            <a:r>
              <a:rPr lang="en-US" sz="4500" dirty="0">
                <a:latin typeface="Open Sans" panose="020B0606030504020204" pitchFamily="34" charset="0"/>
                <a:ea typeface="Open Sans" panose="020B0606030504020204" pitchFamily="34" charset="0"/>
                <a:cs typeface="Open Sans" panose="020B0606030504020204" pitchFamily="34" charset="0"/>
              </a:rPr>
              <a:t>Method Reference Challenge</a:t>
            </a:r>
          </a:p>
        </p:txBody>
      </p:sp>
      <p:sp>
        <p:nvSpPr>
          <p:cNvPr id="8" name="Rectangle 7">
            <a:extLst>
              <a:ext uri="{FF2B5EF4-FFF2-40B4-BE49-F238E27FC236}">
                <a16:creationId xmlns:a16="http://schemas.microsoft.com/office/drawing/2014/main" id="{89DBB243-EF27-4345-872D-E76597E95619}"/>
              </a:ext>
            </a:extLst>
          </p:cNvPr>
          <p:cNvSpPr/>
          <p:nvPr/>
        </p:nvSpPr>
        <p:spPr>
          <a:xfrm>
            <a:off x="952501" y="4285904"/>
            <a:ext cx="34782670" cy="11880176"/>
          </a:xfrm>
          <a:prstGeom prst="rect">
            <a:avLst/>
          </a:prstGeom>
        </p:spPr>
        <p:txBody>
          <a:bodyPr wrap="square">
            <a:normAutofit lnSpcReduction="10000"/>
          </a:bodyPr>
          <a:lstStyle/>
          <a:p>
            <a:pPr algn="l">
              <a:spcAft>
                <a:spcPts val="5022"/>
              </a:spcAft>
            </a:pPr>
            <a:r>
              <a:rPr lang="en-US" sz="6400" dirty="0">
                <a:latin typeface="Open Sans" panose="020B0606030504020204" pitchFamily="34" charset="0"/>
                <a:ea typeface="Open Sans" panose="020B0606030504020204" pitchFamily="34" charset="0"/>
                <a:cs typeface="Open Sans" panose="020B0606030504020204" pitchFamily="34" charset="0"/>
              </a:rPr>
              <a:t>First, create an array of names, in mixed case, as you did in the Lambda Expression Challenge.</a:t>
            </a:r>
          </a:p>
          <a:p>
            <a:pPr algn="l">
              <a:spcAft>
                <a:spcPts val="5022"/>
              </a:spcAft>
            </a:pPr>
            <a:r>
              <a:rPr lang="en-US" sz="6400" dirty="0">
                <a:latin typeface="Open Sans" panose="020B0606030504020204" pitchFamily="34" charset="0"/>
                <a:ea typeface="Open Sans" panose="020B0606030504020204" pitchFamily="34" charset="0"/>
                <a:cs typeface="Open Sans" panose="020B0606030504020204" pitchFamily="34" charset="0"/>
              </a:rPr>
              <a:t>Create a list of Function interfaces, or alternately </a:t>
            </a:r>
            <a:r>
              <a:rPr lang="en-US" sz="6400" dirty="0" err="1">
                <a:latin typeface="Open Sans" panose="020B0606030504020204" pitchFamily="34" charset="0"/>
                <a:ea typeface="Open Sans" panose="020B0606030504020204" pitchFamily="34" charset="0"/>
                <a:cs typeface="Open Sans" panose="020B0606030504020204" pitchFamily="34" charset="0"/>
              </a:rPr>
              <a:t>UnaryOperator</a:t>
            </a:r>
            <a:r>
              <a:rPr lang="en-US" sz="6400" dirty="0">
                <a:latin typeface="Open Sans" panose="020B0606030504020204" pitchFamily="34" charset="0"/>
                <a:ea typeface="Open Sans" panose="020B0606030504020204" pitchFamily="34" charset="0"/>
                <a:cs typeface="Open Sans" panose="020B0606030504020204" pitchFamily="34" charset="0"/>
              </a:rPr>
              <a:t>, which will contain all the operations you want executed on each name in your array.</a:t>
            </a:r>
          </a:p>
          <a:p>
            <a:pPr algn="l">
              <a:spcAft>
                <a:spcPts val="5022"/>
              </a:spcAft>
            </a:pPr>
            <a:r>
              <a:rPr lang="en-US" sz="6400" dirty="0">
                <a:latin typeface="Open Sans" panose="020B0606030504020204" pitchFamily="34" charset="0"/>
                <a:ea typeface="Open Sans" panose="020B0606030504020204" pitchFamily="34" charset="0"/>
                <a:cs typeface="Open Sans" panose="020B0606030504020204" pitchFamily="34" charset="0"/>
              </a:rPr>
              <a:t>Do something similar to what we did in the Lambda Expression challenge:</a:t>
            </a:r>
          </a:p>
          <a:p>
            <a:pPr marL="857250" indent="-857250" algn="l">
              <a:spcAft>
                <a:spcPts val="5022"/>
              </a:spcAft>
              <a:buFont typeface="Arial" panose="020B0604020202020204" pitchFamily="34" charset="0"/>
              <a:buChar char="•"/>
            </a:pPr>
            <a:r>
              <a:rPr lang="en-US" sz="6400" dirty="0">
                <a:latin typeface="Open Sans" panose="020B0606030504020204" pitchFamily="34" charset="0"/>
                <a:ea typeface="Open Sans" panose="020B0606030504020204" pitchFamily="34" charset="0"/>
                <a:cs typeface="Open Sans" panose="020B0606030504020204" pitchFamily="34" charset="0"/>
              </a:rPr>
              <a:t>Make each name upper case,</a:t>
            </a:r>
          </a:p>
          <a:p>
            <a:pPr marL="857250" indent="-857250" algn="l">
              <a:spcAft>
                <a:spcPts val="5022"/>
              </a:spcAft>
              <a:buFont typeface="Arial" panose="020B0604020202020204" pitchFamily="34" charset="0"/>
              <a:buChar char="•"/>
            </a:pPr>
            <a:r>
              <a:rPr lang="en-US" sz="6400" dirty="0">
                <a:latin typeface="Open Sans" panose="020B0606030504020204" pitchFamily="34" charset="0"/>
                <a:ea typeface="Open Sans" panose="020B0606030504020204" pitchFamily="34" charset="0"/>
                <a:cs typeface="Open Sans" panose="020B0606030504020204" pitchFamily="34" charset="0"/>
              </a:rPr>
              <a:t>Add a random middle initial,</a:t>
            </a:r>
          </a:p>
          <a:p>
            <a:pPr marL="857250" indent="-857250" algn="l">
              <a:spcAft>
                <a:spcPts val="5022"/>
              </a:spcAft>
              <a:buFont typeface="Arial" panose="020B0604020202020204" pitchFamily="34" charset="0"/>
              <a:buChar char="•"/>
            </a:pPr>
            <a:r>
              <a:rPr lang="en-US" sz="6400" dirty="0">
                <a:latin typeface="Open Sans" panose="020B0606030504020204" pitchFamily="34" charset="0"/>
                <a:ea typeface="Open Sans" panose="020B0606030504020204" pitchFamily="34" charset="0"/>
                <a:cs typeface="Open Sans" panose="020B0606030504020204" pitchFamily="34" charset="0"/>
              </a:rPr>
              <a:t>Add a last name, which should be the reverse of the first.</a:t>
            </a:r>
          </a:p>
          <a:p>
            <a:pPr algn="l">
              <a:spcAft>
                <a:spcPts val="5022"/>
              </a:spcAft>
            </a:pPr>
            <a:r>
              <a:rPr lang="en-US" sz="6400" dirty="0">
                <a:latin typeface="Open Sans" panose="020B0606030504020204" pitchFamily="34" charset="0"/>
                <a:ea typeface="Open Sans" panose="020B0606030504020204" pitchFamily="34" charset="0"/>
                <a:cs typeface="Open Sans" panose="020B0606030504020204" pitchFamily="34" charset="0"/>
              </a:rPr>
              <a:t>In addition to this, add some custom transformations of your own.</a:t>
            </a:r>
          </a:p>
        </p:txBody>
      </p:sp>
    </p:spTree>
    <p:extLst>
      <p:ext uri="{BB962C8B-B14F-4D97-AF65-F5344CB8AC3E}">
        <p14:creationId xmlns:p14="http://schemas.microsoft.com/office/powerpoint/2010/main" val="2615684538"/>
      </p:ext>
    </p:extLst>
  </p:cSld>
  <p:clrMapOvr>
    <a:masterClrMapping/>
  </p:clrMapOvr>
  <p:transition spd="slow"/>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 name="Shape 126"/>
          <p:cNvSpPr/>
          <p:nvPr/>
        </p:nvSpPr>
        <p:spPr>
          <a:xfrm>
            <a:off x="952498" y="459786"/>
            <a:ext cx="20354931" cy="1815882"/>
          </a:xfrm>
          <a:prstGeom prst="rect">
            <a:avLst/>
          </a:prstGeom>
          <a:ln w="12700">
            <a:miter lim="400000"/>
          </a:ln>
          <a:extLst>
            <a:ext uri="{C572A759-6A51-4108-AA02-DFA0A04FC94B}">
              <ma14:wrappingTextBoxFlag xmlns:ma14="http://schemas.microsoft.com/office/mac/drawingml/2011/main" xmlns="" val="1"/>
            </a:ext>
          </a:extLst>
        </p:spPr>
        <p:txBody>
          <a:bodyPr wrap="none" lIns="76200" tIns="76200" rIns="76200" bIns="76200">
            <a:spAutoFit/>
          </a:bodyPr>
          <a:lstStyle>
            <a:lvl1pPr algn="l">
              <a:defRPr sz="7000">
                <a:latin typeface="Alright Sans"/>
                <a:ea typeface="Alright Sans"/>
                <a:cs typeface="Alright Sans"/>
                <a:sym typeface="Alright Sans"/>
              </a:defRPr>
            </a:lvl1pPr>
          </a:lstStyle>
          <a:p>
            <a:pPr>
              <a:defRPr sz="3000">
                <a:latin typeface="Alright Sans"/>
                <a:ea typeface="Alright Sans"/>
                <a:cs typeface="Alright Sans"/>
                <a:sym typeface="Alright Sans"/>
              </a:defRPr>
            </a:pPr>
            <a:r>
              <a:rPr lang="en-US" sz="10800" dirty="0">
                <a:latin typeface="Open Sans" panose="020B0606030504020204" pitchFamily="34" charset="0"/>
                <a:ea typeface="Open Sans" panose="020B0606030504020204" pitchFamily="34" charset="0"/>
                <a:cs typeface="Open Sans" panose="020B0606030504020204" pitchFamily="34" charset="0"/>
              </a:rPr>
              <a:t>Method and Lambda Challenge</a:t>
            </a:r>
          </a:p>
        </p:txBody>
      </p:sp>
      <p:sp>
        <p:nvSpPr>
          <p:cNvPr id="128" name="Shape 128"/>
          <p:cNvSpPr/>
          <p:nvPr/>
        </p:nvSpPr>
        <p:spPr>
          <a:xfrm>
            <a:off x="952500" y="18210515"/>
            <a:ext cx="34782668" cy="2"/>
          </a:xfrm>
          <a:prstGeom prst="line">
            <a:avLst/>
          </a:prstGeom>
          <a:ln w="76200">
            <a:solidFill>
              <a:schemeClr val="accent1">
                <a:satOff val="-3355"/>
                <a:lumOff val="26614"/>
              </a:schemeClr>
            </a:solidFill>
            <a:miter lim="400000"/>
          </a:ln>
        </p:spPr>
        <p:txBody>
          <a:bodyPr lIns="76200" tIns="76200" rIns="76200" bIns="76200" anchor="ctr"/>
          <a:lstStyle/>
          <a:p>
            <a:pPr>
              <a:defRPr sz="3200"/>
            </a:pPr>
            <a:endParaRPr sz="4800"/>
          </a:p>
        </p:txBody>
      </p:sp>
      <p:pic>
        <p:nvPicPr>
          <p:cNvPr id="129" name="Logo.png"/>
          <p:cNvPicPr>
            <a:picLocks noChangeAspect="1"/>
          </p:cNvPicPr>
          <p:nvPr/>
        </p:nvPicPr>
        <p:blipFill>
          <a:blip r:embed="rId3"/>
          <a:stretch>
            <a:fillRect/>
          </a:stretch>
        </p:blipFill>
        <p:spPr>
          <a:xfrm>
            <a:off x="14650974" y="18489726"/>
            <a:ext cx="6321552" cy="1392336"/>
          </a:xfrm>
          <a:prstGeom prst="rect">
            <a:avLst/>
          </a:prstGeom>
          <a:ln w="12700">
            <a:miter lim="400000"/>
          </a:ln>
        </p:spPr>
      </p:pic>
      <p:sp>
        <p:nvSpPr>
          <p:cNvPr id="9" name="Shape 127"/>
          <p:cNvSpPr/>
          <p:nvPr/>
        </p:nvSpPr>
        <p:spPr>
          <a:xfrm flipV="1">
            <a:off x="952499" y="2203340"/>
            <a:ext cx="34782670" cy="38132"/>
          </a:xfrm>
          <a:prstGeom prst="line">
            <a:avLst/>
          </a:prstGeom>
          <a:ln w="152400">
            <a:solidFill>
              <a:schemeClr val="accent1">
                <a:satOff val="-3355"/>
                <a:lumOff val="26614"/>
              </a:schemeClr>
            </a:solidFill>
            <a:miter lim="400000"/>
          </a:ln>
        </p:spPr>
        <p:txBody>
          <a:bodyPr lIns="76200" tIns="76200" rIns="76200" bIns="76200" anchor="ctr"/>
          <a:lstStyle/>
          <a:p>
            <a:pPr>
              <a:defRPr sz="3200"/>
            </a:pPr>
            <a:endParaRPr sz="4800"/>
          </a:p>
        </p:txBody>
      </p:sp>
      <p:sp>
        <p:nvSpPr>
          <p:cNvPr id="10" name="Shape 131"/>
          <p:cNvSpPr/>
          <p:nvPr/>
        </p:nvSpPr>
        <p:spPr>
          <a:xfrm>
            <a:off x="952500" y="18489726"/>
            <a:ext cx="16008688" cy="1308050"/>
          </a:xfrm>
          <a:prstGeom prst="rect">
            <a:avLst/>
          </a:prstGeom>
          <a:ln w="12700">
            <a:miter lim="400000"/>
          </a:ln>
          <a:extLst>
            <a:ext uri="{C572A759-6A51-4108-AA02-DFA0A04FC94B}">
              <ma14:wrappingTextBoxFlag xmlns="" xmlns:ma14="http://schemas.microsoft.com/office/mac/drawingml/2011/main" val="1"/>
            </a:ext>
          </a:extLst>
        </p:spPr>
        <p:txBody>
          <a:bodyPr lIns="76200" tIns="76200" rIns="76200" bIns="76200">
            <a:spAutoFit/>
          </a:bodyPr>
          <a:lstStyle/>
          <a:p>
            <a:pPr algn="l">
              <a:defRPr sz="2000">
                <a:latin typeface="Alright Sans"/>
                <a:ea typeface="Alright Sans"/>
                <a:cs typeface="Alright Sans"/>
                <a:sym typeface="Alright Sans"/>
              </a:defRPr>
            </a:pPr>
            <a:r>
              <a:rPr lang="en-US" sz="3000" dirty="0">
                <a:latin typeface="Open Sans" panose="020B0606030504020204" pitchFamily="34" charset="0"/>
                <a:ea typeface="Open Sans" panose="020B0606030504020204" pitchFamily="34" charset="0"/>
                <a:cs typeface="Open Sans" panose="020B0606030504020204" pitchFamily="34" charset="0"/>
              </a:rPr>
              <a:t>COMPLETE JAVA MASTERCLASS</a:t>
            </a:r>
          </a:p>
          <a:p>
            <a:pPr algn="l">
              <a:defRPr sz="3000">
                <a:latin typeface="Alright Sans"/>
                <a:ea typeface="Alright Sans"/>
                <a:cs typeface="Alright Sans"/>
                <a:sym typeface="Alright Sans"/>
              </a:defRPr>
            </a:pPr>
            <a:r>
              <a:rPr lang="en-US" sz="4500" dirty="0">
                <a:latin typeface="Open Sans" panose="020B0606030504020204" pitchFamily="34" charset="0"/>
                <a:ea typeface="Open Sans" panose="020B0606030504020204" pitchFamily="34" charset="0"/>
                <a:cs typeface="Open Sans" panose="020B0606030504020204" pitchFamily="34" charset="0"/>
              </a:rPr>
              <a:t>Method Reference Challenge</a:t>
            </a:r>
          </a:p>
        </p:txBody>
      </p:sp>
      <p:sp>
        <p:nvSpPr>
          <p:cNvPr id="8" name="Rectangle 7">
            <a:extLst>
              <a:ext uri="{FF2B5EF4-FFF2-40B4-BE49-F238E27FC236}">
                <a16:creationId xmlns:a16="http://schemas.microsoft.com/office/drawing/2014/main" id="{89DBB243-EF27-4345-872D-E76597E95619}"/>
              </a:ext>
            </a:extLst>
          </p:cNvPr>
          <p:cNvSpPr/>
          <p:nvPr/>
        </p:nvSpPr>
        <p:spPr>
          <a:xfrm>
            <a:off x="952501" y="4285904"/>
            <a:ext cx="34782670" cy="11880176"/>
          </a:xfrm>
          <a:prstGeom prst="rect">
            <a:avLst/>
          </a:prstGeom>
        </p:spPr>
        <p:txBody>
          <a:bodyPr wrap="square">
            <a:normAutofit/>
          </a:bodyPr>
          <a:lstStyle/>
          <a:p>
            <a:pPr algn="l">
              <a:spcAft>
                <a:spcPts val="5022"/>
              </a:spcAft>
            </a:pPr>
            <a:r>
              <a:rPr lang="en-US" sz="6400" dirty="0">
                <a:latin typeface="Open Sans" panose="020B0606030504020204" pitchFamily="34" charset="0"/>
                <a:ea typeface="Open Sans" panose="020B0606030504020204" pitchFamily="34" charset="0"/>
                <a:cs typeface="Open Sans" panose="020B0606030504020204" pitchFamily="34" charset="0"/>
              </a:rPr>
              <a:t>Use a mix of lambda expressions, and method references.</a:t>
            </a:r>
          </a:p>
          <a:p>
            <a:pPr algn="l">
              <a:spcAft>
                <a:spcPts val="5022"/>
              </a:spcAft>
            </a:pPr>
            <a:r>
              <a:rPr lang="en-US" sz="6400" dirty="0">
                <a:latin typeface="Open Sans" panose="020B0606030504020204" pitchFamily="34" charset="0"/>
                <a:ea typeface="Open Sans" panose="020B0606030504020204" pitchFamily="34" charset="0"/>
                <a:cs typeface="Open Sans" panose="020B0606030504020204" pitchFamily="34" charset="0"/>
              </a:rPr>
              <a:t>Create a method that takes the name array, and the function list, and applies each function to each name, using the transform method on String, to do this.</a:t>
            </a:r>
          </a:p>
          <a:p>
            <a:pPr algn="l">
              <a:spcAft>
                <a:spcPts val="5022"/>
              </a:spcAft>
            </a:pPr>
            <a:r>
              <a:rPr lang="en-US" sz="6400" dirty="0">
                <a:latin typeface="Open Sans" panose="020B0606030504020204" pitchFamily="34" charset="0"/>
                <a:ea typeface="Open Sans" panose="020B0606030504020204" pitchFamily="34" charset="0"/>
                <a:cs typeface="Open Sans" panose="020B0606030504020204" pitchFamily="34" charset="0"/>
              </a:rPr>
              <a:t>All changes should be applied to the original array.</a:t>
            </a:r>
          </a:p>
          <a:p>
            <a:pPr algn="l">
              <a:spcAft>
                <a:spcPts val="5022"/>
              </a:spcAft>
            </a:pPr>
            <a:r>
              <a:rPr lang="en-US" sz="6400" dirty="0">
                <a:latin typeface="Open Sans" panose="020B0606030504020204" pitchFamily="34" charset="0"/>
                <a:ea typeface="Open Sans" panose="020B0606030504020204" pitchFamily="34" charset="0"/>
                <a:cs typeface="Open Sans" panose="020B0606030504020204" pitchFamily="34" charset="0"/>
              </a:rPr>
              <a:t>Make sure you explore as many transformations as you can, trying as many different types of method references as you can think of.</a:t>
            </a:r>
          </a:p>
        </p:txBody>
      </p:sp>
    </p:spTree>
    <p:extLst>
      <p:ext uri="{BB962C8B-B14F-4D97-AF65-F5344CB8AC3E}">
        <p14:creationId xmlns:p14="http://schemas.microsoft.com/office/powerpoint/2010/main" val="1049758964"/>
      </p:ext>
    </p:extLst>
  </p:cSld>
  <p:clrMapOvr>
    <a:masterClrMapping/>
  </p:clrMapOvr>
  <p:transition spd="slow"/>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 name="Shape 126"/>
          <p:cNvSpPr/>
          <p:nvPr/>
        </p:nvSpPr>
        <p:spPr>
          <a:xfrm>
            <a:off x="952498" y="459786"/>
            <a:ext cx="14520001" cy="1815882"/>
          </a:xfrm>
          <a:prstGeom prst="rect">
            <a:avLst/>
          </a:prstGeom>
          <a:ln w="12700">
            <a:miter lim="400000"/>
          </a:ln>
          <a:extLst>
            <a:ext uri="{C572A759-6A51-4108-AA02-DFA0A04FC94B}">
              <ma14:wrappingTextBoxFlag xmlns:ma14="http://schemas.microsoft.com/office/mac/drawingml/2011/main" xmlns="" val="1"/>
            </a:ext>
          </a:extLst>
        </p:spPr>
        <p:txBody>
          <a:bodyPr wrap="none" lIns="76200" tIns="76200" rIns="76200" bIns="76200">
            <a:spAutoFit/>
          </a:bodyPr>
          <a:lstStyle>
            <a:lvl1pPr algn="l">
              <a:defRPr sz="7000">
                <a:latin typeface="Alright Sans"/>
                <a:ea typeface="Alright Sans"/>
                <a:cs typeface="Alright Sans"/>
                <a:sym typeface="Alright Sans"/>
              </a:defRPr>
            </a:lvl1pPr>
          </a:lstStyle>
          <a:p>
            <a:pPr>
              <a:defRPr sz="3000">
                <a:latin typeface="Alright Sans"/>
                <a:ea typeface="Alright Sans"/>
                <a:cs typeface="Alright Sans"/>
                <a:sym typeface="Alright Sans"/>
              </a:defRPr>
            </a:pPr>
            <a:r>
              <a:rPr lang="en-US" sz="10800" dirty="0">
                <a:latin typeface="Open Sans" panose="020B0606030504020204" pitchFamily="34" charset="0"/>
                <a:ea typeface="Open Sans" panose="020B0606030504020204" pitchFamily="34" charset="0"/>
                <a:cs typeface="Open Sans" panose="020B0606030504020204" pitchFamily="34" charset="0"/>
              </a:rPr>
              <a:t>Convenience Methods</a:t>
            </a:r>
          </a:p>
        </p:txBody>
      </p:sp>
      <p:sp>
        <p:nvSpPr>
          <p:cNvPr id="128" name="Shape 128"/>
          <p:cNvSpPr/>
          <p:nvPr/>
        </p:nvSpPr>
        <p:spPr>
          <a:xfrm>
            <a:off x="952500" y="18210515"/>
            <a:ext cx="34782668" cy="2"/>
          </a:xfrm>
          <a:prstGeom prst="line">
            <a:avLst/>
          </a:prstGeom>
          <a:ln w="76200">
            <a:solidFill>
              <a:schemeClr val="accent1">
                <a:satOff val="-3355"/>
                <a:lumOff val="26614"/>
              </a:schemeClr>
            </a:solidFill>
            <a:miter lim="400000"/>
          </a:ln>
        </p:spPr>
        <p:txBody>
          <a:bodyPr lIns="76200" tIns="76200" rIns="76200" bIns="76200" anchor="ctr"/>
          <a:lstStyle/>
          <a:p>
            <a:pPr>
              <a:defRPr sz="3200"/>
            </a:pPr>
            <a:endParaRPr sz="4800"/>
          </a:p>
        </p:txBody>
      </p:sp>
      <p:pic>
        <p:nvPicPr>
          <p:cNvPr id="129" name="Logo.png"/>
          <p:cNvPicPr>
            <a:picLocks noChangeAspect="1"/>
          </p:cNvPicPr>
          <p:nvPr/>
        </p:nvPicPr>
        <p:blipFill>
          <a:blip r:embed="rId3"/>
          <a:stretch>
            <a:fillRect/>
          </a:stretch>
        </p:blipFill>
        <p:spPr>
          <a:xfrm>
            <a:off x="14650974" y="18489726"/>
            <a:ext cx="6321552" cy="1392336"/>
          </a:xfrm>
          <a:prstGeom prst="rect">
            <a:avLst/>
          </a:prstGeom>
          <a:ln w="12700">
            <a:miter lim="400000"/>
          </a:ln>
        </p:spPr>
      </p:pic>
      <p:sp>
        <p:nvSpPr>
          <p:cNvPr id="9" name="Shape 127"/>
          <p:cNvSpPr/>
          <p:nvPr/>
        </p:nvSpPr>
        <p:spPr>
          <a:xfrm flipV="1">
            <a:off x="952499" y="2203340"/>
            <a:ext cx="34782670" cy="38132"/>
          </a:xfrm>
          <a:prstGeom prst="line">
            <a:avLst/>
          </a:prstGeom>
          <a:ln w="152400">
            <a:solidFill>
              <a:schemeClr val="accent1">
                <a:satOff val="-3355"/>
                <a:lumOff val="26614"/>
              </a:schemeClr>
            </a:solidFill>
            <a:miter lim="400000"/>
          </a:ln>
        </p:spPr>
        <p:txBody>
          <a:bodyPr lIns="76200" tIns="76200" rIns="76200" bIns="76200" anchor="ctr"/>
          <a:lstStyle/>
          <a:p>
            <a:pPr>
              <a:defRPr sz="3200"/>
            </a:pPr>
            <a:endParaRPr sz="4800"/>
          </a:p>
        </p:txBody>
      </p:sp>
      <p:sp>
        <p:nvSpPr>
          <p:cNvPr id="10" name="Shape 131"/>
          <p:cNvSpPr/>
          <p:nvPr/>
        </p:nvSpPr>
        <p:spPr>
          <a:xfrm>
            <a:off x="952500" y="18489726"/>
            <a:ext cx="16008688" cy="1123384"/>
          </a:xfrm>
          <a:prstGeom prst="rect">
            <a:avLst/>
          </a:prstGeom>
          <a:ln w="12700">
            <a:miter lim="400000"/>
          </a:ln>
          <a:extLst>
            <a:ext uri="{C572A759-6A51-4108-AA02-DFA0A04FC94B}">
              <ma14:wrappingTextBoxFlag xmlns="" xmlns:ma14="http://schemas.microsoft.com/office/mac/drawingml/2011/main" val="1"/>
            </a:ext>
          </a:extLst>
        </p:spPr>
        <p:txBody>
          <a:bodyPr lIns="76200" tIns="76200" rIns="76200" bIns="76200">
            <a:spAutoFit/>
          </a:bodyPr>
          <a:lstStyle/>
          <a:p>
            <a:pPr algn="l">
              <a:defRPr sz="2000">
                <a:latin typeface="Alright Sans"/>
                <a:ea typeface="Alright Sans"/>
                <a:cs typeface="Alright Sans"/>
                <a:sym typeface="Alright Sans"/>
              </a:defRPr>
            </a:pPr>
            <a:r>
              <a:rPr lang="en-US" sz="3000" dirty="0">
                <a:latin typeface="Open Sans" panose="020B0606030504020204" pitchFamily="34" charset="0"/>
                <a:ea typeface="Open Sans" panose="020B0606030504020204" pitchFamily="34" charset="0"/>
                <a:cs typeface="Open Sans" panose="020B0606030504020204" pitchFamily="34" charset="0"/>
              </a:rPr>
              <a:t>COMPLETE JAVA MASTERCLASS</a:t>
            </a:r>
          </a:p>
          <a:p>
            <a:pPr algn="l">
              <a:defRPr sz="3000">
                <a:latin typeface="Alright Sans"/>
                <a:ea typeface="Alright Sans"/>
                <a:cs typeface="Alright Sans"/>
                <a:sym typeface="Alright Sans"/>
              </a:defRPr>
            </a:pPr>
            <a:r>
              <a:rPr lang="en-US" sz="3300" dirty="0">
                <a:latin typeface="Open Sans" panose="020B0606030504020204" pitchFamily="34" charset="0"/>
                <a:ea typeface="Open Sans" panose="020B0606030504020204" pitchFamily="34" charset="0"/>
                <a:cs typeface="Open Sans" panose="020B0606030504020204" pitchFamily="34" charset="0"/>
              </a:rPr>
              <a:t>Convenience Methods on Functional Interfaces (Chaining lambdas)</a:t>
            </a:r>
          </a:p>
        </p:txBody>
      </p:sp>
      <p:sp>
        <p:nvSpPr>
          <p:cNvPr id="8" name="Rectangle 7">
            <a:extLst>
              <a:ext uri="{FF2B5EF4-FFF2-40B4-BE49-F238E27FC236}">
                <a16:creationId xmlns:a16="http://schemas.microsoft.com/office/drawing/2014/main" id="{89DBB243-EF27-4345-872D-E76597E95619}"/>
              </a:ext>
            </a:extLst>
          </p:cNvPr>
          <p:cNvSpPr/>
          <p:nvPr/>
        </p:nvSpPr>
        <p:spPr>
          <a:xfrm>
            <a:off x="952501" y="4285904"/>
            <a:ext cx="34782670" cy="11880176"/>
          </a:xfrm>
          <a:prstGeom prst="rect">
            <a:avLst/>
          </a:prstGeom>
        </p:spPr>
        <p:txBody>
          <a:bodyPr wrap="square">
            <a:normAutofit/>
          </a:bodyPr>
          <a:lstStyle/>
          <a:p>
            <a:pPr algn="l">
              <a:spcAft>
                <a:spcPts val="5022"/>
              </a:spcAft>
            </a:pPr>
            <a:r>
              <a:rPr lang="en-US" sz="6400" dirty="0">
                <a:latin typeface="Open Sans" panose="020B0606030504020204" pitchFamily="34" charset="0"/>
                <a:ea typeface="Open Sans" panose="020B0606030504020204" pitchFamily="34" charset="0"/>
                <a:cs typeface="Open Sans" panose="020B0606030504020204" pitchFamily="34" charset="0"/>
              </a:rPr>
              <a:t>In this video, you'll learn how to do something similar, using what are called convenience methods.</a:t>
            </a:r>
          </a:p>
          <a:p>
            <a:pPr algn="l">
              <a:spcAft>
                <a:spcPts val="5022"/>
              </a:spcAft>
            </a:pPr>
            <a:r>
              <a:rPr lang="en-US" sz="6400" dirty="0">
                <a:latin typeface="Open Sans" panose="020B0606030504020204" pitchFamily="34" charset="0"/>
                <a:ea typeface="Open Sans" panose="020B0606030504020204" pitchFamily="34" charset="0"/>
                <a:cs typeface="Open Sans" panose="020B0606030504020204" pitchFamily="34" charset="0"/>
              </a:rPr>
              <a:t>These are default methods on some of the functional interfaces I've been covering in the last few videos.</a:t>
            </a:r>
          </a:p>
          <a:p>
            <a:pPr algn="l">
              <a:spcAft>
                <a:spcPts val="5022"/>
              </a:spcAft>
            </a:pPr>
            <a:r>
              <a:rPr lang="en-US" sz="6400" dirty="0">
                <a:latin typeface="Open Sans" panose="020B0606030504020204" pitchFamily="34" charset="0"/>
                <a:ea typeface="Open Sans" panose="020B0606030504020204" pitchFamily="34" charset="0"/>
                <a:cs typeface="Open Sans" panose="020B0606030504020204" pitchFamily="34" charset="0"/>
              </a:rPr>
              <a:t>The Consumer, Predicate, and Function interfaces all come with these methods, as does the Comparator, which I'll also </a:t>
            </a:r>
            <a:r>
              <a:rPr lang="en-US" sz="6400">
                <a:latin typeface="Open Sans" panose="020B0606030504020204" pitchFamily="34" charset="0"/>
                <a:ea typeface="Open Sans" panose="020B0606030504020204" pitchFamily="34" charset="0"/>
                <a:cs typeface="Open Sans" panose="020B0606030504020204" pitchFamily="34" charset="0"/>
              </a:rPr>
              <a:t>include here.</a:t>
            </a:r>
            <a:endParaRPr lang="en-US" sz="6400" dirty="0">
              <a:latin typeface="Open Sans" panose="020B0606030504020204" pitchFamily="34" charset="0"/>
              <a:ea typeface="Open Sans" panose="020B0606030504020204" pitchFamily="34" charset="0"/>
              <a:cs typeface="Open Sans" panose="020B0606030504020204" pitchFamily="34" charset="0"/>
            </a:endParaRPr>
          </a:p>
        </p:txBody>
      </p:sp>
    </p:spTree>
    <p:extLst>
      <p:ext uri="{BB962C8B-B14F-4D97-AF65-F5344CB8AC3E}">
        <p14:creationId xmlns:p14="http://schemas.microsoft.com/office/powerpoint/2010/main" val="3901049461"/>
      </p:ext>
    </p:extLst>
  </p:cSld>
  <p:clrMapOvr>
    <a:masterClrMapping/>
  </p:clrMapOvr>
  <p:transition spd="slow"/>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 name="Shape 126"/>
          <p:cNvSpPr/>
          <p:nvPr/>
        </p:nvSpPr>
        <p:spPr>
          <a:xfrm>
            <a:off x="952498" y="897936"/>
            <a:ext cx="33695122" cy="1308050"/>
          </a:xfrm>
          <a:prstGeom prst="rect">
            <a:avLst/>
          </a:prstGeom>
          <a:ln w="12700">
            <a:miter lim="400000"/>
          </a:ln>
          <a:extLst>
            <a:ext uri="{C572A759-6A51-4108-AA02-DFA0A04FC94B}">
              <ma14:wrappingTextBoxFlag xmlns="" xmlns:ma14="http://schemas.microsoft.com/office/mac/drawingml/2011/main" val="1"/>
            </a:ext>
          </a:extLst>
        </p:spPr>
        <p:txBody>
          <a:bodyPr wrap="none" lIns="76200" tIns="76200" rIns="76200" bIns="76200">
            <a:spAutoFit/>
          </a:bodyPr>
          <a:lstStyle>
            <a:lvl1pPr algn="l">
              <a:defRPr sz="7000">
                <a:latin typeface="Alright Sans"/>
                <a:ea typeface="Alright Sans"/>
                <a:cs typeface="Alright Sans"/>
                <a:sym typeface="Alright Sans"/>
              </a:defRPr>
            </a:lvl1pPr>
          </a:lstStyle>
          <a:p>
            <a:pPr>
              <a:defRPr sz="3000">
                <a:latin typeface="Alright Sans"/>
                <a:ea typeface="Alright Sans"/>
                <a:cs typeface="Alright Sans"/>
                <a:sym typeface="Alright Sans"/>
              </a:defRPr>
            </a:pPr>
            <a:r>
              <a:rPr lang="en-US" sz="7500" dirty="0">
                <a:latin typeface="Open Sans" panose="020B0606030504020204" pitchFamily="34" charset="0"/>
                <a:ea typeface="Open Sans" panose="020B0606030504020204" pitchFamily="34" charset="0"/>
                <a:cs typeface="Open Sans" panose="020B0606030504020204" pitchFamily="34" charset="0"/>
              </a:rPr>
              <a:t>Convenience Methods on functional interfaces in </a:t>
            </a:r>
            <a:r>
              <a:rPr lang="en-US" sz="7500" dirty="0" err="1">
                <a:latin typeface="Open Sans" panose="020B0606030504020204" pitchFamily="34" charset="0"/>
                <a:ea typeface="Open Sans" panose="020B0606030504020204" pitchFamily="34" charset="0"/>
                <a:cs typeface="Open Sans" panose="020B0606030504020204" pitchFamily="34" charset="0"/>
              </a:rPr>
              <a:t>java.util.function</a:t>
            </a:r>
            <a:r>
              <a:rPr lang="en-US" sz="7500" dirty="0">
                <a:latin typeface="Open Sans" panose="020B0606030504020204" pitchFamily="34" charset="0"/>
                <a:ea typeface="Open Sans" panose="020B0606030504020204" pitchFamily="34" charset="0"/>
                <a:cs typeface="Open Sans" panose="020B0606030504020204" pitchFamily="34" charset="0"/>
              </a:rPr>
              <a:t> package</a:t>
            </a:r>
          </a:p>
        </p:txBody>
      </p:sp>
      <p:sp>
        <p:nvSpPr>
          <p:cNvPr id="128" name="Shape 128"/>
          <p:cNvSpPr/>
          <p:nvPr/>
        </p:nvSpPr>
        <p:spPr>
          <a:xfrm>
            <a:off x="952500" y="18210515"/>
            <a:ext cx="34782668" cy="2"/>
          </a:xfrm>
          <a:prstGeom prst="line">
            <a:avLst/>
          </a:prstGeom>
          <a:ln w="76200">
            <a:solidFill>
              <a:schemeClr val="accent1">
                <a:satOff val="-3355"/>
                <a:lumOff val="26614"/>
              </a:schemeClr>
            </a:solidFill>
            <a:miter lim="400000"/>
          </a:ln>
        </p:spPr>
        <p:txBody>
          <a:bodyPr lIns="76200" tIns="76200" rIns="76200" bIns="76200" anchor="ctr"/>
          <a:lstStyle/>
          <a:p>
            <a:pPr>
              <a:defRPr sz="3200"/>
            </a:pPr>
            <a:endParaRPr sz="4800"/>
          </a:p>
        </p:txBody>
      </p:sp>
      <p:pic>
        <p:nvPicPr>
          <p:cNvPr id="129" name="Logo.png"/>
          <p:cNvPicPr>
            <a:picLocks noChangeAspect="1"/>
          </p:cNvPicPr>
          <p:nvPr/>
        </p:nvPicPr>
        <p:blipFill>
          <a:blip r:embed="rId3"/>
          <a:stretch>
            <a:fillRect/>
          </a:stretch>
        </p:blipFill>
        <p:spPr>
          <a:xfrm>
            <a:off x="14650974" y="18489726"/>
            <a:ext cx="6321552" cy="1392336"/>
          </a:xfrm>
          <a:prstGeom prst="rect">
            <a:avLst/>
          </a:prstGeom>
          <a:ln w="12700">
            <a:miter lim="400000"/>
          </a:ln>
        </p:spPr>
      </p:pic>
      <p:sp>
        <p:nvSpPr>
          <p:cNvPr id="9" name="Shape 127"/>
          <p:cNvSpPr/>
          <p:nvPr/>
        </p:nvSpPr>
        <p:spPr>
          <a:xfrm flipV="1">
            <a:off x="952499" y="2203340"/>
            <a:ext cx="34782670" cy="38132"/>
          </a:xfrm>
          <a:prstGeom prst="line">
            <a:avLst/>
          </a:prstGeom>
          <a:ln w="152400">
            <a:solidFill>
              <a:schemeClr val="accent1">
                <a:satOff val="-3355"/>
                <a:lumOff val="26614"/>
              </a:schemeClr>
            </a:solidFill>
            <a:miter lim="400000"/>
          </a:ln>
        </p:spPr>
        <p:txBody>
          <a:bodyPr lIns="76200" tIns="76200" rIns="76200" bIns="76200" anchor="ctr"/>
          <a:lstStyle/>
          <a:p>
            <a:pPr>
              <a:defRPr sz="3200"/>
            </a:pPr>
            <a:endParaRPr sz="4800"/>
          </a:p>
        </p:txBody>
      </p:sp>
      <p:sp>
        <p:nvSpPr>
          <p:cNvPr id="10" name="Shape 131"/>
          <p:cNvSpPr/>
          <p:nvPr/>
        </p:nvSpPr>
        <p:spPr>
          <a:xfrm>
            <a:off x="952500" y="18489726"/>
            <a:ext cx="16008688" cy="1231106"/>
          </a:xfrm>
          <a:prstGeom prst="rect">
            <a:avLst/>
          </a:prstGeom>
          <a:ln w="12700">
            <a:miter lim="400000"/>
          </a:ln>
          <a:extLst>
            <a:ext uri="{C572A759-6A51-4108-AA02-DFA0A04FC94B}">
              <ma14:wrappingTextBoxFlag xmlns:ma14="http://schemas.microsoft.com/office/mac/drawingml/2011/main" xmlns="" val="1"/>
            </a:ext>
          </a:extLst>
        </p:spPr>
        <p:txBody>
          <a:bodyPr lIns="76200" tIns="76200" rIns="76200" bIns="76200">
            <a:spAutoFit/>
          </a:bodyPr>
          <a:lstStyle/>
          <a:p>
            <a:pPr algn="l">
              <a:defRPr sz="2000">
                <a:latin typeface="Alright Sans"/>
                <a:ea typeface="Alright Sans"/>
                <a:cs typeface="Alright Sans"/>
                <a:sym typeface="Alright Sans"/>
              </a:defRPr>
            </a:pPr>
            <a:r>
              <a:rPr lang="en-US" sz="3000" dirty="0">
                <a:latin typeface="Open Sans" panose="020B0606030504020204" pitchFamily="34" charset="0"/>
                <a:ea typeface="Open Sans" panose="020B0606030504020204" pitchFamily="34" charset="0"/>
                <a:cs typeface="Open Sans" panose="020B0606030504020204" pitchFamily="34" charset="0"/>
              </a:rPr>
              <a:t>COMPLETE JAVA MASTERCLASS</a:t>
            </a:r>
          </a:p>
          <a:p>
            <a:pPr algn="l">
              <a:defRPr sz="3000">
                <a:latin typeface="Alright Sans"/>
                <a:ea typeface="Alright Sans"/>
                <a:cs typeface="Alright Sans"/>
                <a:sym typeface="Alright Sans"/>
              </a:defRPr>
            </a:pPr>
            <a:r>
              <a:rPr lang="en-US" sz="4000" dirty="0">
                <a:latin typeface="Open Sans" panose="020B0606030504020204" pitchFamily="34" charset="0"/>
                <a:ea typeface="Open Sans" panose="020B0606030504020204" pitchFamily="34" charset="0"/>
                <a:cs typeface="Open Sans" panose="020B0606030504020204" pitchFamily="34" charset="0"/>
              </a:rPr>
              <a:t>Convenience Methods, Continued, with the Comparator</a:t>
            </a:r>
          </a:p>
        </p:txBody>
      </p:sp>
      <p:sp>
        <p:nvSpPr>
          <p:cNvPr id="3" name="Rectangle 2">
            <a:extLst>
              <a:ext uri="{FF2B5EF4-FFF2-40B4-BE49-F238E27FC236}">
                <a16:creationId xmlns:a16="http://schemas.microsoft.com/office/drawing/2014/main" id="{1374D74B-F337-B775-45FC-E8CDC871FD07}"/>
              </a:ext>
            </a:extLst>
          </p:cNvPr>
          <p:cNvSpPr/>
          <p:nvPr/>
        </p:nvSpPr>
        <p:spPr>
          <a:xfrm>
            <a:off x="952501" y="12233189"/>
            <a:ext cx="34782670" cy="5816095"/>
          </a:xfrm>
          <a:prstGeom prst="rect">
            <a:avLst/>
          </a:prstGeom>
        </p:spPr>
        <p:txBody>
          <a:bodyPr wrap="square">
            <a:normAutofit/>
          </a:bodyPr>
          <a:lstStyle/>
          <a:p>
            <a:pPr algn="l">
              <a:spcAft>
                <a:spcPts val="5022"/>
              </a:spcAft>
            </a:pPr>
            <a:r>
              <a:rPr lang="en-US" sz="6400" dirty="0">
                <a:latin typeface="Open Sans" panose="020B0606030504020204" pitchFamily="34" charset="0"/>
                <a:ea typeface="Open Sans" panose="020B0606030504020204" pitchFamily="34" charset="0"/>
                <a:cs typeface="Open Sans" panose="020B0606030504020204" pitchFamily="34" charset="0"/>
              </a:rPr>
              <a:t>For </a:t>
            </a:r>
            <a:r>
              <a:rPr lang="en-US" sz="6400" dirty="0" err="1">
                <a:latin typeface="Open Sans" panose="020B0606030504020204" pitchFamily="34" charset="0"/>
                <a:ea typeface="Open Sans" panose="020B0606030504020204" pitchFamily="34" charset="0"/>
                <a:cs typeface="Open Sans" panose="020B0606030504020204" pitchFamily="34" charset="0"/>
              </a:rPr>
              <a:t>andThen</a:t>
            </a:r>
            <a:r>
              <a:rPr lang="en-US" sz="6400" dirty="0">
                <a:latin typeface="Open Sans" panose="020B0606030504020204" pitchFamily="34" charset="0"/>
                <a:ea typeface="Open Sans" panose="020B0606030504020204" pitchFamily="34" charset="0"/>
                <a:cs typeface="Open Sans" panose="020B0606030504020204" pitchFamily="34" charset="0"/>
              </a:rPr>
              <a:t>, and compose, on the Function category of interfaces, any Interim functions are not required to have the same type arguments.   </a:t>
            </a:r>
          </a:p>
          <a:p>
            <a:pPr algn="l">
              <a:spcAft>
                <a:spcPts val="5022"/>
              </a:spcAft>
            </a:pPr>
            <a:r>
              <a:rPr lang="en-US" sz="6400" dirty="0">
                <a:latin typeface="Open Sans" panose="020B0606030504020204" pitchFamily="34" charset="0"/>
                <a:ea typeface="Open Sans" panose="020B0606030504020204" pitchFamily="34" charset="0"/>
                <a:cs typeface="Open Sans" panose="020B0606030504020204" pitchFamily="34" charset="0"/>
              </a:rPr>
              <a:t>Instead, one function's output becomes the next function's input, and the next function's output is not constrained to any specific type, except the last function executed in the chain.</a:t>
            </a:r>
          </a:p>
        </p:txBody>
      </p:sp>
      <p:graphicFrame>
        <p:nvGraphicFramePr>
          <p:cNvPr id="4" name="Table 3">
            <a:extLst>
              <a:ext uri="{FF2B5EF4-FFF2-40B4-BE49-F238E27FC236}">
                <a16:creationId xmlns:a16="http://schemas.microsoft.com/office/drawing/2014/main" id="{75CA2074-8D9E-3473-2327-8214B0260991}"/>
              </a:ext>
            </a:extLst>
          </p:cNvPr>
          <p:cNvGraphicFramePr>
            <a:graphicFrameLocks noGrp="1"/>
          </p:cNvGraphicFramePr>
          <p:nvPr/>
        </p:nvGraphicFramePr>
        <p:xfrm>
          <a:off x="952500" y="2844412"/>
          <a:ext cx="34782668" cy="8919220"/>
        </p:xfrm>
        <a:graphic>
          <a:graphicData uri="http://schemas.openxmlformats.org/drawingml/2006/table">
            <a:tbl>
              <a:tblPr firstRow="1" bandRow="1">
                <a:tableStyleId>{5C22544A-7EE6-4342-B048-85BDC9FD1C3A}</a:tableStyleId>
              </a:tblPr>
              <a:tblGrid>
                <a:gridCol w="8172841">
                  <a:extLst>
                    <a:ext uri="{9D8B030D-6E8A-4147-A177-3AD203B41FA5}">
                      <a16:colId xmlns:a16="http://schemas.microsoft.com/office/drawing/2014/main" val="2844207666"/>
                    </a:ext>
                  </a:extLst>
                </a:gridCol>
                <a:gridCol w="11439330">
                  <a:extLst>
                    <a:ext uri="{9D8B030D-6E8A-4147-A177-3AD203B41FA5}">
                      <a16:colId xmlns:a16="http://schemas.microsoft.com/office/drawing/2014/main" val="1891655341"/>
                    </a:ext>
                  </a:extLst>
                </a:gridCol>
                <a:gridCol w="15170497">
                  <a:extLst>
                    <a:ext uri="{9D8B030D-6E8A-4147-A177-3AD203B41FA5}">
                      <a16:colId xmlns:a16="http://schemas.microsoft.com/office/drawing/2014/main" val="2017387083"/>
                    </a:ext>
                  </a:extLst>
                </a:gridCol>
              </a:tblGrid>
              <a:tr h="1188487">
                <a:tc>
                  <a:txBody>
                    <a:bodyPr/>
                    <a:lstStyle/>
                    <a:p>
                      <a:pPr marL="180000" algn="l"/>
                      <a:r>
                        <a:rPr lang="en-US" sz="5400" dirty="0">
                          <a:solidFill>
                            <a:schemeClr val="tx1"/>
                          </a:solidFill>
                          <a:latin typeface="Open Sans" panose="020B0606030504020204" pitchFamily="34" charset="0"/>
                          <a:ea typeface="Open Sans" panose="020B0606030504020204" pitchFamily="34" charset="0"/>
                          <a:cs typeface="Open Sans" panose="020B0606030504020204" pitchFamily="34" charset="0"/>
                        </a:rPr>
                        <a:t>Category of Interface</a:t>
                      </a:r>
                      <a:endParaRPr lang="en-PH" sz="5400" dirty="0">
                        <a:solidFill>
                          <a:schemeClr val="tx1"/>
                        </a:solidFill>
                        <a:latin typeface="Open Sans" panose="020B0606030504020204" pitchFamily="34" charset="0"/>
                        <a:ea typeface="Open Sans" panose="020B0606030504020204" pitchFamily="34" charset="0"/>
                        <a:cs typeface="Open Sans" panose="020B0606030504020204" pitchFamily="34" charset="0"/>
                      </a:endParaRPr>
                    </a:p>
                  </a:txBody>
                  <a:tcPr marL="86794" marR="86794" marT="43397" marB="43397">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BE4D5"/>
                    </a:solidFill>
                  </a:tcPr>
                </a:tc>
                <a:tc>
                  <a:txBody>
                    <a:bodyPr/>
                    <a:lstStyle/>
                    <a:p>
                      <a:pPr marL="180000" algn="l"/>
                      <a:r>
                        <a:rPr lang="en-US" sz="5400" dirty="0">
                          <a:solidFill>
                            <a:schemeClr val="tx1"/>
                          </a:solidFill>
                          <a:latin typeface="Open Sans" panose="020B0606030504020204" pitchFamily="34" charset="0"/>
                          <a:ea typeface="Open Sans" panose="020B0606030504020204" pitchFamily="34" charset="0"/>
                          <a:cs typeface="Open Sans" panose="020B0606030504020204" pitchFamily="34" charset="0"/>
                        </a:rPr>
                        <a:t>Convenience method example</a:t>
                      </a:r>
                      <a:endParaRPr lang="en-PH" sz="5400" dirty="0">
                        <a:solidFill>
                          <a:schemeClr val="tx1"/>
                        </a:solidFill>
                        <a:latin typeface="Open Sans" panose="020B0606030504020204" pitchFamily="34" charset="0"/>
                        <a:ea typeface="Open Sans" panose="020B0606030504020204" pitchFamily="34" charset="0"/>
                        <a:cs typeface="Open Sans" panose="020B0606030504020204" pitchFamily="34" charset="0"/>
                      </a:endParaRPr>
                    </a:p>
                  </a:txBody>
                  <a:tcPr marL="86794" marR="86794" marT="43397" marB="43397">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BE4D5"/>
                    </a:solidFill>
                  </a:tcPr>
                </a:tc>
                <a:tc>
                  <a:txBody>
                    <a:bodyPr/>
                    <a:lstStyle/>
                    <a:p>
                      <a:pPr marL="180000" algn="l"/>
                      <a:r>
                        <a:rPr lang="en-US" sz="5400" dirty="0">
                          <a:solidFill>
                            <a:schemeClr val="tx1"/>
                          </a:solidFill>
                          <a:latin typeface="Open Sans" panose="020B0606030504020204" pitchFamily="34" charset="0"/>
                          <a:ea typeface="Open Sans" panose="020B0606030504020204" pitchFamily="34" charset="0"/>
                          <a:cs typeface="Open Sans" panose="020B0606030504020204" pitchFamily="34" charset="0"/>
                        </a:rPr>
                        <a:t>Notes</a:t>
                      </a:r>
                      <a:endParaRPr lang="en-PH" sz="5400" dirty="0">
                        <a:solidFill>
                          <a:schemeClr val="tx1"/>
                        </a:solidFill>
                        <a:latin typeface="Open Sans" panose="020B0606030504020204" pitchFamily="34" charset="0"/>
                        <a:ea typeface="Open Sans" panose="020B0606030504020204" pitchFamily="34" charset="0"/>
                        <a:cs typeface="Open Sans" panose="020B0606030504020204" pitchFamily="34" charset="0"/>
                      </a:endParaRPr>
                    </a:p>
                  </a:txBody>
                  <a:tcPr marL="86794" marR="86794" marT="43397" marB="43397">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BE4D5"/>
                    </a:solidFill>
                  </a:tcPr>
                </a:tc>
                <a:extLst>
                  <a:ext uri="{0D108BD9-81ED-4DB2-BD59-A6C34878D82A}">
                    <a16:rowId xmlns:a16="http://schemas.microsoft.com/office/drawing/2014/main" val="3978129174"/>
                  </a:ext>
                </a:extLst>
              </a:tr>
              <a:tr h="1418253">
                <a:tc>
                  <a:txBody>
                    <a:bodyPr/>
                    <a:lstStyle/>
                    <a:p>
                      <a:pPr marL="180000" marR="0" lvl="0" indent="0" algn="l" defTabSz="914400" rtl="0" eaLnBrk="1" fontAlgn="auto" latinLnBrk="0" hangingPunct="1">
                        <a:lnSpc>
                          <a:spcPct val="100000"/>
                        </a:lnSpc>
                        <a:spcBef>
                          <a:spcPts val="0"/>
                        </a:spcBef>
                        <a:spcAft>
                          <a:spcPts val="1000"/>
                        </a:spcAft>
                        <a:buClr>
                          <a:srgbClr val="000000"/>
                        </a:buClr>
                        <a:buSzTx/>
                        <a:buFont typeface="Arial" panose="020B0604020202020204" pitchFamily="34" charset="0"/>
                        <a:buNone/>
                        <a:tabLst/>
                        <a:defRPr/>
                      </a:pPr>
                      <a:r>
                        <a:rPr lang="en-US" sz="5400" b="0" dirty="0">
                          <a:solidFill>
                            <a:schemeClr val="tx1"/>
                          </a:solidFill>
                          <a:latin typeface="Open Sans" panose="020B0606030504020204" pitchFamily="34" charset="0"/>
                          <a:ea typeface="Open Sans" panose="020B0606030504020204" pitchFamily="34" charset="0"/>
                          <a:cs typeface="Open Sans" panose="020B0606030504020204" pitchFamily="34" charset="0"/>
                        </a:rPr>
                        <a:t>Function</a:t>
                      </a:r>
                    </a:p>
                  </a:txBody>
                  <a:tcPr marL="86794" marR="86794" marT="43397" marB="43397">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180000" marR="0" lvl="0" indent="0" algn="l" defTabSz="914400" rtl="0" eaLnBrk="1" fontAlgn="auto" latinLnBrk="0" hangingPunct="1">
                        <a:lnSpc>
                          <a:spcPct val="100000"/>
                        </a:lnSpc>
                        <a:spcBef>
                          <a:spcPts val="0"/>
                        </a:spcBef>
                        <a:spcAft>
                          <a:spcPts val="1000"/>
                        </a:spcAft>
                        <a:buClr>
                          <a:srgbClr val="000000"/>
                        </a:buClr>
                        <a:buSzTx/>
                        <a:buFont typeface="Arial" panose="020B0604020202020204" pitchFamily="34" charset="0"/>
                        <a:buNone/>
                        <a:tabLst/>
                        <a:defRPr/>
                      </a:pPr>
                      <a:r>
                        <a:rPr lang="en-US" sz="5400" b="0" dirty="0">
                          <a:solidFill>
                            <a:schemeClr val="tx1"/>
                          </a:solidFill>
                          <a:latin typeface="Open Sans" panose="020B0606030504020204" pitchFamily="34" charset="0"/>
                          <a:ea typeface="Open Sans" panose="020B0606030504020204" pitchFamily="34" charset="0"/>
                          <a:cs typeface="Open Sans" panose="020B0606030504020204" pitchFamily="34" charset="0"/>
                        </a:rPr>
                        <a:t>function1.</a:t>
                      </a:r>
                      <a:r>
                        <a:rPr lang="en-US" sz="5400" b="1" dirty="0">
                          <a:solidFill>
                            <a:schemeClr val="tx1"/>
                          </a:solidFill>
                          <a:latin typeface="Open Sans" panose="020B0606030504020204" pitchFamily="34" charset="0"/>
                          <a:ea typeface="Open Sans" panose="020B0606030504020204" pitchFamily="34" charset="0"/>
                          <a:cs typeface="Open Sans" panose="020B0606030504020204" pitchFamily="34" charset="0"/>
                        </a:rPr>
                        <a:t>andThen</a:t>
                      </a:r>
                      <a:r>
                        <a:rPr lang="en-US" sz="5400" b="0" dirty="0">
                          <a:solidFill>
                            <a:schemeClr val="tx1"/>
                          </a:solidFill>
                          <a:latin typeface="Open Sans" panose="020B0606030504020204" pitchFamily="34" charset="0"/>
                          <a:ea typeface="Open Sans" panose="020B0606030504020204" pitchFamily="34" charset="0"/>
                          <a:cs typeface="Open Sans" panose="020B0606030504020204" pitchFamily="34" charset="0"/>
                        </a:rPr>
                        <a:t>(function2)</a:t>
                      </a:r>
                    </a:p>
                  </a:txBody>
                  <a:tcPr marL="86794" marR="86794" marT="43397" marB="43397">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180000" marR="0" lvl="0" indent="0" algn="l" defTabSz="914400" rtl="0" eaLnBrk="1" fontAlgn="auto" latinLnBrk="0" hangingPunct="1">
                        <a:lnSpc>
                          <a:spcPct val="100000"/>
                        </a:lnSpc>
                        <a:spcBef>
                          <a:spcPts val="0"/>
                        </a:spcBef>
                        <a:spcAft>
                          <a:spcPts val="1000"/>
                        </a:spcAft>
                        <a:buClr>
                          <a:srgbClr val="000000"/>
                        </a:buClr>
                        <a:buSzTx/>
                        <a:buFont typeface="Arial" panose="020B0604020202020204" pitchFamily="34" charset="0"/>
                        <a:buNone/>
                        <a:tabLst/>
                        <a:defRPr/>
                      </a:pPr>
                      <a:r>
                        <a:rPr lang="en-US" sz="5400" b="0" dirty="0">
                          <a:solidFill>
                            <a:schemeClr val="tx1"/>
                          </a:solidFill>
                          <a:latin typeface="Open Sans" panose="020B0606030504020204" pitchFamily="34" charset="0"/>
                          <a:ea typeface="Open Sans" panose="020B0606030504020204" pitchFamily="34" charset="0"/>
                          <a:cs typeface="Open Sans" panose="020B0606030504020204" pitchFamily="34" charset="0"/>
                        </a:rPr>
                        <a:t>Not implemented on </a:t>
                      </a:r>
                      <a:r>
                        <a:rPr lang="en-US" sz="5400" b="0" dirty="0" err="1">
                          <a:solidFill>
                            <a:schemeClr val="tx1"/>
                          </a:solidFill>
                          <a:latin typeface="Open Sans" panose="020B0606030504020204" pitchFamily="34" charset="0"/>
                          <a:ea typeface="Open Sans" panose="020B0606030504020204" pitchFamily="34" charset="0"/>
                          <a:cs typeface="Open Sans" panose="020B0606030504020204" pitchFamily="34" charset="0"/>
                        </a:rPr>
                        <a:t>IntFunction</a:t>
                      </a:r>
                      <a:r>
                        <a:rPr lang="en-US" sz="5400" b="0" dirty="0">
                          <a:solidFill>
                            <a:schemeClr val="tx1"/>
                          </a:solidFill>
                          <a:latin typeface="Open Sans" panose="020B0606030504020204" pitchFamily="34" charset="0"/>
                          <a:ea typeface="Open Sans" panose="020B0606030504020204" pitchFamily="34" charset="0"/>
                          <a:cs typeface="Open Sans" panose="020B0606030504020204" pitchFamily="34" charset="0"/>
                        </a:rPr>
                        <a:t>, </a:t>
                      </a:r>
                      <a:r>
                        <a:rPr lang="en-US" sz="5400" b="0" dirty="0" err="1">
                          <a:solidFill>
                            <a:schemeClr val="tx1"/>
                          </a:solidFill>
                          <a:latin typeface="Open Sans" panose="020B0606030504020204" pitchFamily="34" charset="0"/>
                          <a:ea typeface="Open Sans" panose="020B0606030504020204" pitchFamily="34" charset="0"/>
                          <a:cs typeface="Open Sans" panose="020B0606030504020204" pitchFamily="34" charset="0"/>
                        </a:rPr>
                        <a:t>DoubleFunction</a:t>
                      </a:r>
                      <a:r>
                        <a:rPr lang="en-US" sz="5400" b="0" dirty="0">
                          <a:solidFill>
                            <a:schemeClr val="tx1"/>
                          </a:solidFill>
                          <a:latin typeface="Open Sans" panose="020B0606030504020204" pitchFamily="34" charset="0"/>
                          <a:ea typeface="Open Sans" panose="020B0606030504020204" pitchFamily="34" charset="0"/>
                          <a:cs typeface="Open Sans" panose="020B0606030504020204" pitchFamily="34" charset="0"/>
                        </a:rPr>
                        <a:t>, </a:t>
                      </a:r>
                      <a:r>
                        <a:rPr lang="en-US" sz="5400" b="0" dirty="0" err="1">
                          <a:solidFill>
                            <a:schemeClr val="tx1"/>
                          </a:solidFill>
                          <a:latin typeface="Open Sans" panose="020B0606030504020204" pitchFamily="34" charset="0"/>
                          <a:ea typeface="Open Sans" panose="020B0606030504020204" pitchFamily="34" charset="0"/>
                          <a:cs typeface="Open Sans" panose="020B0606030504020204" pitchFamily="34" charset="0"/>
                        </a:rPr>
                        <a:t>LongFunction</a:t>
                      </a:r>
                      <a:endParaRPr lang="en-US" sz="5400" b="0" dirty="0">
                        <a:solidFill>
                          <a:schemeClr val="tx1"/>
                        </a:solidFill>
                        <a:latin typeface="Open Sans" panose="020B0606030504020204" pitchFamily="34" charset="0"/>
                        <a:ea typeface="Open Sans" panose="020B0606030504020204" pitchFamily="34" charset="0"/>
                        <a:cs typeface="Open Sans" panose="020B0606030504020204" pitchFamily="34" charset="0"/>
                      </a:endParaRPr>
                    </a:p>
                  </a:txBody>
                  <a:tcPr marL="86794" marR="86794" marT="43397" marB="43397">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640325450"/>
                  </a:ext>
                </a:extLst>
              </a:tr>
              <a:tr h="1418253">
                <a:tc>
                  <a:txBody>
                    <a:bodyPr/>
                    <a:lstStyle/>
                    <a:p>
                      <a:pPr marL="180000" marR="0" lvl="0" indent="0" algn="l" defTabSz="914400" rtl="0" eaLnBrk="1" fontAlgn="auto" latinLnBrk="0" hangingPunct="1">
                        <a:lnSpc>
                          <a:spcPct val="100000"/>
                        </a:lnSpc>
                        <a:spcBef>
                          <a:spcPts val="0"/>
                        </a:spcBef>
                        <a:spcAft>
                          <a:spcPts val="1000"/>
                        </a:spcAft>
                        <a:buClr>
                          <a:srgbClr val="000000"/>
                        </a:buClr>
                        <a:buSzTx/>
                        <a:buFont typeface="Arial" panose="020B0604020202020204" pitchFamily="34" charset="0"/>
                        <a:buNone/>
                        <a:tabLst/>
                        <a:defRPr/>
                      </a:pPr>
                      <a:r>
                        <a:rPr lang="en-US" sz="5400" b="0" dirty="0">
                          <a:solidFill>
                            <a:schemeClr val="tx1"/>
                          </a:solidFill>
                          <a:latin typeface="Open Sans" panose="020B0606030504020204" pitchFamily="34" charset="0"/>
                          <a:ea typeface="Open Sans" panose="020B0606030504020204" pitchFamily="34" charset="0"/>
                          <a:cs typeface="Open Sans" panose="020B0606030504020204" pitchFamily="34" charset="0"/>
                        </a:rPr>
                        <a:t>Function</a:t>
                      </a:r>
                    </a:p>
                  </a:txBody>
                  <a:tcPr marL="86794" marR="86794" marT="43397" marB="43397">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180000" marR="0" lvl="0" indent="0" algn="l" defTabSz="914400" rtl="0" eaLnBrk="1" fontAlgn="auto" latinLnBrk="0" hangingPunct="1">
                        <a:lnSpc>
                          <a:spcPct val="100000"/>
                        </a:lnSpc>
                        <a:spcBef>
                          <a:spcPts val="0"/>
                        </a:spcBef>
                        <a:spcAft>
                          <a:spcPts val="1000"/>
                        </a:spcAft>
                        <a:buClr>
                          <a:srgbClr val="000000"/>
                        </a:buClr>
                        <a:buSzTx/>
                        <a:buFont typeface="Arial" panose="020B0604020202020204" pitchFamily="34" charset="0"/>
                        <a:buNone/>
                        <a:tabLst/>
                        <a:defRPr/>
                      </a:pPr>
                      <a:r>
                        <a:rPr lang="en-US" sz="5400" b="0" dirty="0">
                          <a:solidFill>
                            <a:schemeClr val="tx1"/>
                          </a:solidFill>
                          <a:latin typeface="Open Sans" panose="020B0606030504020204" pitchFamily="34" charset="0"/>
                          <a:ea typeface="Open Sans" panose="020B0606030504020204" pitchFamily="34" charset="0"/>
                          <a:cs typeface="Open Sans" panose="020B0606030504020204" pitchFamily="34" charset="0"/>
                        </a:rPr>
                        <a:t>function2.</a:t>
                      </a:r>
                      <a:r>
                        <a:rPr lang="en-US" sz="5400" b="1" dirty="0">
                          <a:solidFill>
                            <a:schemeClr val="tx1"/>
                          </a:solidFill>
                          <a:latin typeface="Open Sans" panose="020B0606030504020204" pitchFamily="34" charset="0"/>
                          <a:ea typeface="Open Sans" panose="020B0606030504020204" pitchFamily="34" charset="0"/>
                          <a:cs typeface="Open Sans" panose="020B0606030504020204" pitchFamily="34" charset="0"/>
                        </a:rPr>
                        <a:t>compose</a:t>
                      </a:r>
                      <a:r>
                        <a:rPr lang="en-US" sz="5400" b="0" dirty="0">
                          <a:solidFill>
                            <a:schemeClr val="tx1"/>
                          </a:solidFill>
                          <a:latin typeface="Open Sans" panose="020B0606030504020204" pitchFamily="34" charset="0"/>
                          <a:ea typeface="Open Sans" panose="020B0606030504020204" pitchFamily="34" charset="0"/>
                          <a:cs typeface="Open Sans" panose="020B0606030504020204" pitchFamily="34" charset="0"/>
                        </a:rPr>
                        <a:t>(function1)</a:t>
                      </a:r>
                    </a:p>
                  </a:txBody>
                  <a:tcPr marL="86794" marR="86794" marT="43397" marB="43397">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180000" marR="0" lvl="0" indent="0" algn="l" defTabSz="914400" rtl="0" eaLnBrk="1" fontAlgn="auto" latinLnBrk="0" hangingPunct="1">
                        <a:lnSpc>
                          <a:spcPct val="100000"/>
                        </a:lnSpc>
                        <a:spcBef>
                          <a:spcPts val="0"/>
                        </a:spcBef>
                        <a:spcAft>
                          <a:spcPts val="1000"/>
                        </a:spcAft>
                        <a:buClr>
                          <a:srgbClr val="000000"/>
                        </a:buClr>
                        <a:buSzTx/>
                        <a:buFont typeface="Arial" panose="020B0604020202020204" pitchFamily="34" charset="0"/>
                        <a:buNone/>
                        <a:tabLst/>
                        <a:defRPr/>
                      </a:pPr>
                      <a:r>
                        <a:rPr lang="en-US" sz="5400" b="0" dirty="0">
                          <a:solidFill>
                            <a:schemeClr val="tx1"/>
                          </a:solidFill>
                          <a:latin typeface="Open Sans" panose="020B0606030504020204" pitchFamily="34" charset="0"/>
                          <a:ea typeface="Open Sans" panose="020B0606030504020204" pitchFamily="34" charset="0"/>
                          <a:cs typeface="Open Sans" panose="020B0606030504020204" pitchFamily="34" charset="0"/>
                        </a:rPr>
                        <a:t>Only implemented on Function &amp; </a:t>
                      </a:r>
                      <a:r>
                        <a:rPr lang="en-US" sz="5400" b="0" dirty="0" err="1">
                          <a:solidFill>
                            <a:schemeClr val="tx1"/>
                          </a:solidFill>
                          <a:latin typeface="Open Sans" panose="020B0606030504020204" pitchFamily="34" charset="0"/>
                          <a:ea typeface="Open Sans" panose="020B0606030504020204" pitchFamily="34" charset="0"/>
                          <a:cs typeface="Open Sans" panose="020B0606030504020204" pitchFamily="34" charset="0"/>
                        </a:rPr>
                        <a:t>UnaryOperator</a:t>
                      </a:r>
                      <a:endParaRPr lang="en-US" sz="5400" b="0" dirty="0">
                        <a:solidFill>
                          <a:schemeClr val="tx1"/>
                        </a:solidFill>
                        <a:latin typeface="Open Sans" panose="020B0606030504020204" pitchFamily="34" charset="0"/>
                        <a:ea typeface="Open Sans" panose="020B0606030504020204" pitchFamily="34" charset="0"/>
                        <a:cs typeface="Open Sans" panose="020B0606030504020204" pitchFamily="34" charset="0"/>
                      </a:endParaRPr>
                    </a:p>
                  </a:txBody>
                  <a:tcPr marL="86794" marR="86794" marT="43397" marB="43397">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521613951"/>
                  </a:ext>
                </a:extLst>
              </a:tr>
              <a:tr h="1064905">
                <a:tc>
                  <a:txBody>
                    <a:bodyPr/>
                    <a:lstStyle/>
                    <a:p>
                      <a:pPr marL="180000" marR="0" lvl="0" indent="0" algn="l" defTabSz="914400" rtl="0" eaLnBrk="1" fontAlgn="auto" latinLnBrk="0" hangingPunct="1">
                        <a:lnSpc>
                          <a:spcPct val="100000"/>
                        </a:lnSpc>
                        <a:spcBef>
                          <a:spcPts val="0"/>
                        </a:spcBef>
                        <a:spcAft>
                          <a:spcPts val="1000"/>
                        </a:spcAft>
                        <a:buClr>
                          <a:srgbClr val="000000"/>
                        </a:buClr>
                        <a:buSzTx/>
                        <a:buFont typeface="Arial" panose="020B0604020202020204" pitchFamily="34" charset="0"/>
                        <a:buNone/>
                        <a:tabLst/>
                        <a:defRPr/>
                      </a:pPr>
                      <a:r>
                        <a:rPr lang="en-US" sz="5400" b="0" dirty="0">
                          <a:solidFill>
                            <a:schemeClr val="tx1"/>
                          </a:solidFill>
                          <a:latin typeface="Open Sans" panose="020B0606030504020204" pitchFamily="34" charset="0"/>
                          <a:ea typeface="Open Sans" panose="020B0606030504020204" pitchFamily="34" charset="0"/>
                          <a:cs typeface="Open Sans" panose="020B0606030504020204" pitchFamily="34" charset="0"/>
                        </a:rPr>
                        <a:t>Consumer</a:t>
                      </a:r>
                    </a:p>
                  </a:txBody>
                  <a:tcPr marL="86794" marR="86794" marT="43397" marB="43397">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marL="180000" marR="0" lvl="0" indent="0" algn="l" defTabSz="914400" rtl="0" eaLnBrk="1" fontAlgn="auto" latinLnBrk="0" hangingPunct="1">
                        <a:lnSpc>
                          <a:spcPct val="100000"/>
                        </a:lnSpc>
                        <a:spcBef>
                          <a:spcPts val="0"/>
                        </a:spcBef>
                        <a:spcAft>
                          <a:spcPts val="1000"/>
                        </a:spcAft>
                        <a:buClr>
                          <a:srgbClr val="000000"/>
                        </a:buClr>
                        <a:buSzTx/>
                        <a:buFont typeface="Arial" panose="020B0604020202020204" pitchFamily="34" charset="0"/>
                        <a:buNone/>
                        <a:tabLst/>
                        <a:defRPr/>
                      </a:pPr>
                      <a:r>
                        <a:rPr lang="en-US" sz="5400" b="0" dirty="0">
                          <a:solidFill>
                            <a:schemeClr val="tx1"/>
                          </a:solidFill>
                          <a:latin typeface="Open Sans" panose="020B0606030504020204" pitchFamily="34" charset="0"/>
                          <a:ea typeface="Open Sans" panose="020B0606030504020204" pitchFamily="34" charset="0"/>
                          <a:cs typeface="Open Sans" panose="020B0606030504020204" pitchFamily="34" charset="0"/>
                        </a:rPr>
                        <a:t>consumer1.</a:t>
                      </a:r>
                      <a:r>
                        <a:rPr lang="en-US" sz="5400" b="1" dirty="0">
                          <a:solidFill>
                            <a:schemeClr val="tx1"/>
                          </a:solidFill>
                          <a:latin typeface="Open Sans" panose="020B0606030504020204" pitchFamily="34" charset="0"/>
                          <a:ea typeface="Open Sans" panose="020B0606030504020204" pitchFamily="34" charset="0"/>
                          <a:cs typeface="Open Sans" panose="020B0606030504020204" pitchFamily="34" charset="0"/>
                        </a:rPr>
                        <a:t>andThen</a:t>
                      </a:r>
                      <a:r>
                        <a:rPr lang="en-US" sz="5400" b="0" dirty="0">
                          <a:solidFill>
                            <a:schemeClr val="tx1"/>
                          </a:solidFill>
                          <a:latin typeface="Open Sans" panose="020B0606030504020204" pitchFamily="34" charset="0"/>
                          <a:ea typeface="Open Sans" panose="020B0606030504020204" pitchFamily="34" charset="0"/>
                          <a:cs typeface="Open Sans" panose="020B0606030504020204" pitchFamily="34" charset="0"/>
                        </a:rPr>
                        <a:t>(consumer2)</a:t>
                      </a:r>
                    </a:p>
                  </a:txBody>
                  <a:tcPr marL="86794" marR="86794" marT="43397" marB="43397">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marL="180000" marR="0" lvl="0" indent="0" algn="l" defTabSz="914400" rtl="0" eaLnBrk="1" fontAlgn="auto" latinLnBrk="0" hangingPunct="1">
                        <a:lnSpc>
                          <a:spcPct val="100000"/>
                        </a:lnSpc>
                        <a:spcBef>
                          <a:spcPts val="0"/>
                        </a:spcBef>
                        <a:spcAft>
                          <a:spcPts val="1000"/>
                        </a:spcAft>
                        <a:buClr>
                          <a:srgbClr val="000000"/>
                        </a:buClr>
                        <a:buSzTx/>
                        <a:buFont typeface="Arial" panose="020B0604020202020204" pitchFamily="34" charset="0"/>
                        <a:buNone/>
                        <a:tabLst/>
                        <a:defRPr/>
                      </a:pPr>
                      <a:endParaRPr lang="en-US" sz="5400" b="0" dirty="0">
                        <a:solidFill>
                          <a:schemeClr val="tx1"/>
                        </a:solidFill>
                        <a:latin typeface="Open Sans" panose="020B0606030504020204" pitchFamily="34" charset="0"/>
                        <a:ea typeface="Open Sans" panose="020B0606030504020204" pitchFamily="34" charset="0"/>
                        <a:cs typeface="Open Sans" panose="020B0606030504020204" pitchFamily="34" charset="0"/>
                      </a:endParaRPr>
                    </a:p>
                  </a:txBody>
                  <a:tcPr marL="86794" marR="86794" marT="43397" marB="43397">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2420160854"/>
                  </a:ext>
                </a:extLst>
              </a:tr>
              <a:tr h="1050325">
                <a:tc>
                  <a:txBody>
                    <a:bodyPr/>
                    <a:lstStyle/>
                    <a:p>
                      <a:pPr marL="180000" marR="0" lvl="0" indent="0" algn="l" defTabSz="914400" rtl="0" eaLnBrk="1" fontAlgn="auto" latinLnBrk="0" hangingPunct="1">
                        <a:lnSpc>
                          <a:spcPct val="100000"/>
                        </a:lnSpc>
                        <a:spcBef>
                          <a:spcPts val="0"/>
                        </a:spcBef>
                        <a:spcAft>
                          <a:spcPts val="1000"/>
                        </a:spcAft>
                        <a:buClr>
                          <a:srgbClr val="000000"/>
                        </a:buClr>
                        <a:buSzTx/>
                        <a:buFont typeface="Arial" panose="020B0604020202020204" pitchFamily="34" charset="0"/>
                        <a:buNone/>
                        <a:tabLst/>
                        <a:defRPr/>
                      </a:pPr>
                      <a:r>
                        <a:rPr lang="en-US" sz="5400" b="0" dirty="0">
                          <a:solidFill>
                            <a:schemeClr val="tx1"/>
                          </a:solidFill>
                          <a:latin typeface="Open Sans" panose="020B0606030504020204" pitchFamily="34" charset="0"/>
                          <a:ea typeface="Open Sans" panose="020B0606030504020204" pitchFamily="34" charset="0"/>
                          <a:cs typeface="Open Sans" panose="020B0606030504020204" pitchFamily="34" charset="0"/>
                        </a:rPr>
                        <a:t>Predicate</a:t>
                      </a:r>
                    </a:p>
                  </a:txBody>
                  <a:tcPr marL="86794" marR="86794" marT="43397" marB="43397">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180000" marR="0" lvl="0" indent="0" algn="l" defTabSz="914400" rtl="0" eaLnBrk="1" fontAlgn="auto" latinLnBrk="0" hangingPunct="1">
                        <a:lnSpc>
                          <a:spcPct val="100000"/>
                        </a:lnSpc>
                        <a:spcBef>
                          <a:spcPts val="0"/>
                        </a:spcBef>
                        <a:spcAft>
                          <a:spcPts val="1000"/>
                        </a:spcAft>
                        <a:buClr>
                          <a:srgbClr val="000000"/>
                        </a:buClr>
                        <a:buSzTx/>
                        <a:buFont typeface="Arial" panose="020B0604020202020204" pitchFamily="34" charset="0"/>
                        <a:buNone/>
                        <a:tabLst/>
                        <a:defRPr/>
                      </a:pPr>
                      <a:r>
                        <a:rPr lang="en-US" sz="5400" b="0" dirty="0">
                          <a:solidFill>
                            <a:schemeClr val="tx1"/>
                          </a:solidFill>
                          <a:latin typeface="Open Sans" panose="020B0606030504020204" pitchFamily="34" charset="0"/>
                          <a:ea typeface="Open Sans" panose="020B0606030504020204" pitchFamily="34" charset="0"/>
                          <a:cs typeface="Open Sans" panose="020B0606030504020204" pitchFamily="34" charset="0"/>
                        </a:rPr>
                        <a:t>predicate1.</a:t>
                      </a:r>
                      <a:r>
                        <a:rPr lang="en-US" sz="5400" b="1" dirty="0">
                          <a:solidFill>
                            <a:schemeClr val="tx1"/>
                          </a:solidFill>
                          <a:latin typeface="Open Sans" panose="020B0606030504020204" pitchFamily="34" charset="0"/>
                          <a:ea typeface="Open Sans" panose="020B0606030504020204" pitchFamily="34" charset="0"/>
                          <a:cs typeface="Open Sans" panose="020B0606030504020204" pitchFamily="34" charset="0"/>
                        </a:rPr>
                        <a:t>and</a:t>
                      </a:r>
                      <a:r>
                        <a:rPr lang="en-US" sz="5400" b="0" dirty="0">
                          <a:solidFill>
                            <a:schemeClr val="tx1"/>
                          </a:solidFill>
                          <a:latin typeface="Open Sans" panose="020B0606030504020204" pitchFamily="34" charset="0"/>
                          <a:ea typeface="Open Sans" panose="020B0606030504020204" pitchFamily="34" charset="0"/>
                          <a:cs typeface="Open Sans" panose="020B0606030504020204" pitchFamily="34" charset="0"/>
                        </a:rPr>
                        <a:t>(predicate2)</a:t>
                      </a:r>
                    </a:p>
                  </a:txBody>
                  <a:tcPr marL="86794" marR="86794" marT="43397" marB="43397">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180000" marR="0" lvl="0" indent="0" algn="l" defTabSz="914400" rtl="0" eaLnBrk="1" fontAlgn="auto" latinLnBrk="0" hangingPunct="1">
                        <a:lnSpc>
                          <a:spcPct val="100000"/>
                        </a:lnSpc>
                        <a:spcBef>
                          <a:spcPts val="0"/>
                        </a:spcBef>
                        <a:spcAft>
                          <a:spcPts val="1000"/>
                        </a:spcAft>
                        <a:buClr>
                          <a:srgbClr val="000000"/>
                        </a:buClr>
                        <a:buSzTx/>
                        <a:buFont typeface="Arial" panose="020B0604020202020204" pitchFamily="34" charset="0"/>
                        <a:buNone/>
                        <a:tabLst/>
                        <a:defRPr/>
                      </a:pPr>
                      <a:endParaRPr lang="en-US" sz="5400" b="0" dirty="0">
                        <a:solidFill>
                          <a:schemeClr val="tx1"/>
                        </a:solidFill>
                        <a:latin typeface="Open Sans" panose="020B0606030504020204" pitchFamily="34" charset="0"/>
                        <a:ea typeface="Open Sans" panose="020B0606030504020204" pitchFamily="34" charset="0"/>
                        <a:cs typeface="Open Sans" panose="020B0606030504020204" pitchFamily="34" charset="0"/>
                      </a:endParaRPr>
                    </a:p>
                  </a:txBody>
                  <a:tcPr marL="86794" marR="86794" marT="43397" marB="43397">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112155813"/>
                  </a:ext>
                </a:extLst>
              </a:tr>
              <a:tr h="1112108">
                <a:tc>
                  <a:txBody>
                    <a:bodyPr/>
                    <a:lstStyle/>
                    <a:p>
                      <a:pPr marL="180000" marR="0" lvl="0" indent="0" algn="l" defTabSz="914400" rtl="0" eaLnBrk="1" fontAlgn="auto" latinLnBrk="0" hangingPunct="1">
                        <a:lnSpc>
                          <a:spcPct val="100000"/>
                        </a:lnSpc>
                        <a:spcBef>
                          <a:spcPts val="0"/>
                        </a:spcBef>
                        <a:spcAft>
                          <a:spcPts val="1000"/>
                        </a:spcAft>
                        <a:buClr>
                          <a:srgbClr val="000000"/>
                        </a:buClr>
                        <a:buSzTx/>
                        <a:buFont typeface="Arial" panose="020B0604020202020204" pitchFamily="34" charset="0"/>
                        <a:buNone/>
                        <a:tabLst/>
                        <a:defRPr/>
                      </a:pPr>
                      <a:r>
                        <a:rPr lang="en-US" sz="5400" b="0" dirty="0">
                          <a:solidFill>
                            <a:schemeClr val="tx1"/>
                          </a:solidFill>
                          <a:latin typeface="Open Sans" panose="020B0606030504020204" pitchFamily="34" charset="0"/>
                          <a:ea typeface="Open Sans" panose="020B0606030504020204" pitchFamily="34" charset="0"/>
                          <a:cs typeface="Open Sans" panose="020B0606030504020204" pitchFamily="34" charset="0"/>
                        </a:rPr>
                        <a:t>Predicate</a:t>
                      </a:r>
                    </a:p>
                  </a:txBody>
                  <a:tcPr marL="86794" marR="86794" marT="43397" marB="43397">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180000" marR="0" lvl="0" indent="0" algn="l" defTabSz="914400" rtl="0" eaLnBrk="1" fontAlgn="auto" latinLnBrk="0" hangingPunct="1">
                        <a:lnSpc>
                          <a:spcPct val="100000"/>
                        </a:lnSpc>
                        <a:spcBef>
                          <a:spcPts val="0"/>
                        </a:spcBef>
                        <a:spcAft>
                          <a:spcPts val="1000"/>
                        </a:spcAft>
                        <a:buClr>
                          <a:srgbClr val="000000"/>
                        </a:buClr>
                        <a:buSzTx/>
                        <a:buFont typeface="Arial" panose="020B0604020202020204" pitchFamily="34" charset="0"/>
                        <a:buNone/>
                        <a:tabLst/>
                        <a:defRPr/>
                      </a:pPr>
                      <a:r>
                        <a:rPr lang="en-US" sz="5400" b="0" dirty="0">
                          <a:solidFill>
                            <a:schemeClr val="tx1"/>
                          </a:solidFill>
                          <a:latin typeface="Open Sans" panose="020B0606030504020204" pitchFamily="34" charset="0"/>
                          <a:ea typeface="Open Sans" panose="020B0606030504020204" pitchFamily="34" charset="0"/>
                          <a:cs typeface="Open Sans" panose="020B0606030504020204" pitchFamily="34" charset="0"/>
                        </a:rPr>
                        <a:t>predicate1.</a:t>
                      </a:r>
                      <a:r>
                        <a:rPr lang="en-US" sz="5400" b="1" dirty="0">
                          <a:solidFill>
                            <a:schemeClr val="tx1"/>
                          </a:solidFill>
                          <a:latin typeface="Open Sans" panose="020B0606030504020204" pitchFamily="34" charset="0"/>
                          <a:ea typeface="Open Sans" panose="020B0606030504020204" pitchFamily="34" charset="0"/>
                          <a:cs typeface="Open Sans" panose="020B0606030504020204" pitchFamily="34" charset="0"/>
                        </a:rPr>
                        <a:t>or</a:t>
                      </a:r>
                      <a:r>
                        <a:rPr lang="en-US" sz="5400" b="0" dirty="0">
                          <a:solidFill>
                            <a:schemeClr val="tx1"/>
                          </a:solidFill>
                          <a:latin typeface="Open Sans" panose="020B0606030504020204" pitchFamily="34" charset="0"/>
                          <a:ea typeface="Open Sans" panose="020B0606030504020204" pitchFamily="34" charset="0"/>
                          <a:cs typeface="Open Sans" panose="020B0606030504020204" pitchFamily="34" charset="0"/>
                        </a:rPr>
                        <a:t>(predicate2)</a:t>
                      </a:r>
                    </a:p>
                  </a:txBody>
                  <a:tcPr marL="86794" marR="86794" marT="43397" marB="43397">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180000" marR="0" lvl="0" indent="0" algn="l" defTabSz="914400" rtl="0" eaLnBrk="1" fontAlgn="auto" latinLnBrk="0" hangingPunct="1">
                        <a:lnSpc>
                          <a:spcPct val="100000"/>
                        </a:lnSpc>
                        <a:spcBef>
                          <a:spcPts val="0"/>
                        </a:spcBef>
                        <a:spcAft>
                          <a:spcPts val="1000"/>
                        </a:spcAft>
                        <a:buClr>
                          <a:srgbClr val="000000"/>
                        </a:buClr>
                        <a:buSzTx/>
                        <a:buFont typeface="Arial" panose="020B0604020202020204" pitchFamily="34" charset="0"/>
                        <a:buNone/>
                        <a:tabLst/>
                        <a:defRPr/>
                      </a:pPr>
                      <a:endParaRPr lang="en-US" sz="5400" b="0" dirty="0">
                        <a:solidFill>
                          <a:schemeClr val="tx1"/>
                        </a:solidFill>
                        <a:latin typeface="Open Sans" panose="020B0606030504020204" pitchFamily="34" charset="0"/>
                        <a:ea typeface="Open Sans" panose="020B0606030504020204" pitchFamily="34" charset="0"/>
                        <a:cs typeface="Open Sans" panose="020B0606030504020204" pitchFamily="34" charset="0"/>
                      </a:endParaRPr>
                    </a:p>
                  </a:txBody>
                  <a:tcPr marL="86794" marR="86794" marT="43397" marB="43397">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132363078"/>
                  </a:ext>
                </a:extLst>
              </a:tr>
              <a:tr h="1037967">
                <a:tc>
                  <a:txBody>
                    <a:bodyPr/>
                    <a:lstStyle/>
                    <a:p>
                      <a:pPr marL="180000" marR="0" lvl="0" indent="0" algn="l" defTabSz="914400" rtl="0" eaLnBrk="1" fontAlgn="auto" latinLnBrk="0" hangingPunct="1">
                        <a:lnSpc>
                          <a:spcPct val="100000"/>
                        </a:lnSpc>
                        <a:spcBef>
                          <a:spcPts val="0"/>
                        </a:spcBef>
                        <a:spcAft>
                          <a:spcPts val="1000"/>
                        </a:spcAft>
                        <a:buClr>
                          <a:srgbClr val="000000"/>
                        </a:buClr>
                        <a:buSzTx/>
                        <a:buFont typeface="Arial" panose="020B0604020202020204" pitchFamily="34" charset="0"/>
                        <a:buNone/>
                        <a:tabLst/>
                        <a:defRPr/>
                      </a:pPr>
                      <a:r>
                        <a:rPr lang="en-US" sz="5400" b="0" dirty="0">
                          <a:solidFill>
                            <a:schemeClr val="tx1"/>
                          </a:solidFill>
                          <a:latin typeface="Open Sans" panose="020B0606030504020204" pitchFamily="34" charset="0"/>
                          <a:ea typeface="Open Sans" panose="020B0606030504020204" pitchFamily="34" charset="0"/>
                          <a:cs typeface="Open Sans" panose="020B0606030504020204" pitchFamily="34" charset="0"/>
                        </a:rPr>
                        <a:t>Predicate</a:t>
                      </a:r>
                    </a:p>
                  </a:txBody>
                  <a:tcPr marL="86794" marR="86794" marT="43397" marB="43397">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180000" marR="0" lvl="0" indent="0" algn="l" defTabSz="914400" rtl="0" eaLnBrk="1" fontAlgn="auto" latinLnBrk="0" hangingPunct="1">
                        <a:lnSpc>
                          <a:spcPct val="100000"/>
                        </a:lnSpc>
                        <a:spcBef>
                          <a:spcPts val="0"/>
                        </a:spcBef>
                        <a:spcAft>
                          <a:spcPts val="1000"/>
                        </a:spcAft>
                        <a:buClr>
                          <a:srgbClr val="000000"/>
                        </a:buClr>
                        <a:buSzTx/>
                        <a:buFont typeface="Arial" panose="020B0604020202020204" pitchFamily="34" charset="0"/>
                        <a:buNone/>
                        <a:tabLst/>
                        <a:defRPr/>
                      </a:pPr>
                      <a:r>
                        <a:rPr lang="en-US" sz="5400" b="0" dirty="0">
                          <a:solidFill>
                            <a:schemeClr val="tx1"/>
                          </a:solidFill>
                          <a:latin typeface="Open Sans" panose="020B0606030504020204" pitchFamily="34" charset="0"/>
                          <a:ea typeface="Open Sans" panose="020B0606030504020204" pitchFamily="34" charset="0"/>
                          <a:cs typeface="Open Sans" panose="020B0606030504020204" pitchFamily="34" charset="0"/>
                        </a:rPr>
                        <a:t>predicate1.</a:t>
                      </a:r>
                      <a:r>
                        <a:rPr lang="en-US" sz="5400" b="1" dirty="0">
                          <a:solidFill>
                            <a:schemeClr val="tx1"/>
                          </a:solidFill>
                          <a:latin typeface="Open Sans" panose="020B0606030504020204" pitchFamily="34" charset="0"/>
                          <a:ea typeface="Open Sans" panose="020B0606030504020204" pitchFamily="34" charset="0"/>
                          <a:cs typeface="Open Sans" panose="020B0606030504020204" pitchFamily="34" charset="0"/>
                        </a:rPr>
                        <a:t>negate</a:t>
                      </a:r>
                      <a:r>
                        <a:rPr lang="en-US" sz="5400" b="0" dirty="0">
                          <a:solidFill>
                            <a:schemeClr val="tx1"/>
                          </a:solidFill>
                          <a:latin typeface="Open Sans" panose="020B0606030504020204" pitchFamily="34" charset="0"/>
                          <a:ea typeface="Open Sans" panose="020B0606030504020204" pitchFamily="34" charset="0"/>
                          <a:cs typeface="Open Sans" panose="020B0606030504020204" pitchFamily="34" charset="0"/>
                        </a:rPr>
                        <a:t>()</a:t>
                      </a:r>
                    </a:p>
                  </a:txBody>
                  <a:tcPr marL="86794" marR="86794" marT="43397" marB="43397">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180000" marR="0" lvl="0" indent="0" algn="l" defTabSz="914400" rtl="0" eaLnBrk="1" fontAlgn="auto" latinLnBrk="0" hangingPunct="1">
                        <a:lnSpc>
                          <a:spcPct val="100000"/>
                        </a:lnSpc>
                        <a:spcBef>
                          <a:spcPts val="0"/>
                        </a:spcBef>
                        <a:spcAft>
                          <a:spcPts val="1000"/>
                        </a:spcAft>
                        <a:buClr>
                          <a:srgbClr val="000000"/>
                        </a:buClr>
                        <a:buSzTx/>
                        <a:buFont typeface="Arial" panose="020B0604020202020204" pitchFamily="34" charset="0"/>
                        <a:buNone/>
                        <a:tabLst/>
                        <a:defRPr/>
                      </a:pPr>
                      <a:endParaRPr lang="en-US" sz="5400" b="0" dirty="0">
                        <a:solidFill>
                          <a:schemeClr val="tx1"/>
                        </a:solidFill>
                        <a:latin typeface="Open Sans" panose="020B0606030504020204" pitchFamily="34" charset="0"/>
                        <a:ea typeface="Open Sans" panose="020B0606030504020204" pitchFamily="34" charset="0"/>
                        <a:cs typeface="Open Sans" panose="020B0606030504020204" pitchFamily="34" charset="0"/>
                      </a:endParaRPr>
                    </a:p>
                  </a:txBody>
                  <a:tcPr marL="86794" marR="86794" marT="43397" marB="43397">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40830193"/>
                  </a:ext>
                </a:extLst>
              </a:tr>
            </a:tbl>
          </a:graphicData>
        </a:graphic>
      </p:graphicFrame>
    </p:spTree>
    <p:extLst>
      <p:ext uri="{BB962C8B-B14F-4D97-AF65-F5344CB8AC3E}">
        <p14:creationId xmlns:p14="http://schemas.microsoft.com/office/powerpoint/2010/main" val="344133835"/>
      </p:ext>
    </p:extLst>
  </p:cSld>
  <p:clrMapOvr>
    <a:masterClrMapping/>
  </p:clrMapOvr>
  <p:transition spd="slow"/>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 name="Shape 126"/>
          <p:cNvSpPr/>
          <p:nvPr/>
        </p:nvSpPr>
        <p:spPr>
          <a:xfrm>
            <a:off x="952498" y="897936"/>
            <a:ext cx="33695122" cy="1308050"/>
          </a:xfrm>
          <a:prstGeom prst="rect">
            <a:avLst/>
          </a:prstGeom>
          <a:ln w="12700">
            <a:miter lim="400000"/>
          </a:ln>
          <a:extLst>
            <a:ext uri="{C572A759-6A51-4108-AA02-DFA0A04FC94B}">
              <ma14:wrappingTextBoxFlag xmlns:ma14="http://schemas.microsoft.com/office/mac/drawingml/2011/main" xmlns="" val="1"/>
            </a:ext>
          </a:extLst>
        </p:spPr>
        <p:txBody>
          <a:bodyPr wrap="none" lIns="76200" tIns="76200" rIns="76200" bIns="76200">
            <a:spAutoFit/>
          </a:bodyPr>
          <a:lstStyle>
            <a:lvl1pPr algn="l">
              <a:defRPr sz="7000">
                <a:latin typeface="Alright Sans"/>
                <a:ea typeface="Alright Sans"/>
                <a:cs typeface="Alright Sans"/>
                <a:sym typeface="Alright Sans"/>
              </a:defRPr>
            </a:lvl1pPr>
          </a:lstStyle>
          <a:p>
            <a:pPr>
              <a:defRPr sz="3000">
                <a:latin typeface="Alright Sans"/>
                <a:ea typeface="Alright Sans"/>
                <a:cs typeface="Alright Sans"/>
                <a:sym typeface="Alright Sans"/>
              </a:defRPr>
            </a:pPr>
            <a:r>
              <a:rPr lang="en-US" sz="7500" dirty="0">
                <a:latin typeface="Open Sans" panose="020B0606030504020204" pitchFamily="34" charset="0"/>
                <a:ea typeface="Open Sans" panose="020B0606030504020204" pitchFamily="34" charset="0"/>
                <a:cs typeface="Open Sans" panose="020B0606030504020204" pitchFamily="34" charset="0"/>
              </a:rPr>
              <a:t>Convenience Methods on functional interfaces in </a:t>
            </a:r>
            <a:r>
              <a:rPr lang="en-US" sz="7500" dirty="0" err="1">
                <a:latin typeface="Open Sans" panose="020B0606030504020204" pitchFamily="34" charset="0"/>
                <a:ea typeface="Open Sans" panose="020B0606030504020204" pitchFamily="34" charset="0"/>
                <a:cs typeface="Open Sans" panose="020B0606030504020204" pitchFamily="34" charset="0"/>
              </a:rPr>
              <a:t>java.util.function</a:t>
            </a:r>
            <a:r>
              <a:rPr lang="en-US" sz="7500" dirty="0">
                <a:latin typeface="Open Sans" panose="020B0606030504020204" pitchFamily="34" charset="0"/>
                <a:ea typeface="Open Sans" panose="020B0606030504020204" pitchFamily="34" charset="0"/>
                <a:cs typeface="Open Sans" panose="020B0606030504020204" pitchFamily="34" charset="0"/>
              </a:rPr>
              <a:t> package</a:t>
            </a:r>
          </a:p>
        </p:txBody>
      </p:sp>
      <p:sp>
        <p:nvSpPr>
          <p:cNvPr id="128" name="Shape 128"/>
          <p:cNvSpPr/>
          <p:nvPr/>
        </p:nvSpPr>
        <p:spPr>
          <a:xfrm>
            <a:off x="952500" y="18210515"/>
            <a:ext cx="34782668" cy="2"/>
          </a:xfrm>
          <a:prstGeom prst="line">
            <a:avLst/>
          </a:prstGeom>
          <a:ln w="76200">
            <a:solidFill>
              <a:schemeClr val="accent1">
                <a:satOff val="-3355"/>
                <a:lumOff val="26614"/>
              </a:schemeClr>
            </a:solidFill>
            <a:miter lim="400000"/>
          </a:ln>
        </p:spPr>
        <p:txBody>
          <a:bodyPr lIns="76200" tIns="76200" rIns="76200" bIns="76200" anchor="ctr"/>
          <a:lstStyle/>
          <a:p>
            <a:pPr>
              <a:defRPr sz="3200"/>
            </a:pPr>
            <a:endParaRPr sz="4800"/>
          </a:p>
        </p:txBody>
      </p:sp>
      <p:pic>
        <p:nvPicPr>
          <p:cNvPr id="129" name="Logo.png"/>
          <p:cNvPicPr>
            <a:picLocks noChangeAspect="1"/>
          </p:cNvPicPr>
          <p:nvPr/>
        </p:nvPicPr>
        <p:blipFill>
          <a:blip r:embed="rId3"/>
          <a:stretch>
            <a:fillRect/>
          </a:stretch>
        </p:blipFill>
        <p:spPr>
          <a:xfrm>
            <a:off x="14650974" y="18489726"/>
            <a:ext cx="6321552" cy="1392336"/>
          </a:xfrm>
          <a:prstGeom prst="rect">
            <a:avLst/>
          </a:prstGeom>
          <a:ln w="12700">
            <a:miter lim="400000"/>
          </a:ln>
        </p:spPr>
      </p:pic>
      <p:sp>
        <p:nvSpPr>
          <p:cNvPr id="9" name="Shape 127"/>
          <p:cNvSpPr/>
          <p:nvPr/>
        </p:nvSpPr>
        <p:spPr>
          <a:xfrm flipV="1">
            <a:off x="952499" y="2203340"/>
            <a:ext cx="34782670" cy="38132"/>
          </a:xfrm>
          <a:prstGeom prst="line">
            <a:avLst/>
          </a:prstGeom>
          <a:ln w="152400">
            <a:solidFill>
              <a:schemeClr val="accent1">
                <a:satOff val="-3355"/>
                <a:lumOff val="26614"/>
              </a:schemeClr>
            </a:solidFill>
            <a:miter lim="400000"/>
          </a:ln>
        </p:spPr>
        <p:txBody>
          <a:bodyPr lIns="76200" tIns="76200" rIns="76200" bIns="76200" anchor="ctr"/>
          <a:lstStyle/>
          <a:p>
            <a:pPr>
              <a:defRPr sz="3200"/>
            </a:pPr>
            <a:endParaRPr sz="4800"/>
          </a:p>
        </p:txBody>
      </p:sp>
      <p:sp>
        <p:nvSpPr>
          <p:cNvPr id="10" name="Shape 131"/>
          <p:cNvSpPr/>
          <p:nvPr/>
        </p:nvSpPr>
        <p:spPr>
          <a:xfrm>
            <a:off x="952500" y="18489726"/>
            <a:ext cx="16008688" cy="1231106"/>
          </a:xfrm>
          <a:prstGeom prst="rect">
            <a:avLst/>
          </a:prstGeom>
          <a:ln w="12700">
            <a:miter lim="400000"/>
          </a:ln>
          <a:extLst>
            <a:ext uri="{C572A759-6A51-4108-AA02-DFA0A04FC94B}">
              <ma14:wrappingTextBoxFlag xmlns="" xmlns:ma14="http://schemas.microsoft.com/office/mac/drawingml/2011/main" val="1"/>
            </a:ext>
          </a:extLst>
        </p:spPr>
        <p:txBody>
          <a:bodyPr lIns="76200" tIns="76200" rIns="76200" bIns="76200">
            <a:spAutoFit/>
          </a:bodyPr>
          <a:lstStyle/>
          <a:p>
            <a:pPr algn="l">
              <a:defRPr sz="2000">
                <a:latin typeface="Alright Sans"/>
                <a:ea typeface="Alright Sans"/>
                <a:cs typeface="Alright Sans"/>
                <a:sym typeface="Alright Sans"/>
              </a:defRPr>
            </a:pPr>
            <a:r>
              <a:rPr lang="en-US" sz="3000" dirty="0">
                <a:latin typeface="Open Sans" panose="020B0606030504020204" pitchFamily="34" charset="0"/>
                <a:ea typeface="Open Sans" panose="020B0606030504020204" pitchFamily="34" charset="0"/>
                <a:cs typeface="Open Sans" panose="020B0606030504020204" pitchFamily="34" charset="0"/>
              </a:rPr>
              <a:t>COMPLETE JAVA MASTERCLASS</a:t>
            </a:r>
          </a:p>
          <a:p>
            <a:pPr algn="l">
              <a:defRPr sz="3000">
                <a:latin typeface="Alright Sans"/>
                <a:ea typeface="Alright Sans"/>
                <a:cs typeface="Alright Sans"/>
                <a:sym typeface="Alright Sans"/>
              </a:defRPr>
            </a:pPr>
            <a:r>
              <a:rPr lang="en-US" sz="4000" dirty="0">
                <a:latin typeface="Open Sans" panose="020B0606030504020204" pitchFamily="34" charset="0"/>
                <a:ea typeface="Open Sans" panose="020B0606030504020204" pitchFamily="34" charset="0"/>
                <a:cs typeface="Open Sans" panose="020B0606030504020204" pitchFamily="34" charset="0"/>
              </a:rPr>
              <a:t>Convenience Methods, Continued, with the Comparator</a:t>
            </a:r>
          </a:p>
        </p:txBody>
      </p:sp>
      <p:graphicFrame>
        <p:nvGraphicFramePr>
          <p:cNvPr id="2" name="Table 1">
            <a:extLst>
              <a:ext uri="{FF2B5EF4-FFF2-40B4-BE49-F238E27FC236}">
                <a16:creationId xmlns:a16="http://schemas.microsoft.com/office/drawing/2014/main" id="{AFBA5021-7201-858E-FF69-02ABF000B773}"/>
              </a:ext>
            </a:extLst>
          </p:cNvPr>
          <p:cNvGraphicFramePr>
            <a:graphicFrameLocks noGrp="1"/>
          </p:cNvGraphicFramePr>
          <p:nvPr/>
        </p:nvGraphicFramePr>
        <p:xfrm>
          <a:off x="952500" y="2844412"/>
          <a:ext cx="34782668" cy="8919220"/>
        </p:xfrm>
        <a:graphic>
          <a:graphicData uri="http://schemas.openxmlformats.org/drawingml/2006/table">
            <a:tbl>
              <a:tblPr firstRow="1" bandRow="1">
                <a:tableStyleId>{5C22544A-7EE6-4342-B048-85BDC9FD1C3A}</a:tableStyleId>
              </a:tblPr>
              <a:tblGrid>
                <a:gridCol w="8172841">
                  <a:extLst>
                    <a:ext uri="{9D8B030D-6E8A-4147-A177-3AD203B41FA5}">
                      <a16:colId xmlns:a16="http://schemas.microsoft.com/office/drawing/2014/main" val="2844207666"/>
                    </a:ext>
                  </a:extLst>
                </a:gridCol>
                <a:gridCol w="11439330">
                  <a:extLst>
                    <a:ext uri="{9D8B030D-6E8A-4147-A177-3AD203B41FA5}">
                      <a16:colId xmlns:a16="http://schemas.microsoft.com/office/drawing/2014/main" val="1891655341"/>
                    </a:ext>
                  </a:extLst>
                </a:gridCol>
                <a:gridCol w="15170497">
                  <a:extLst>
                    <a:ext uri="{9D8B030D-6E8A-4147-A177-3AD203B41FA5}">
                      <a16:colId xmlns:a16="http://schemas.microsoft.com/office/drawing/2014/main" val="2017387083"/>
                    </a:ext>
                  </a:extLst>
                </a:gridCol>
              </a:tblGrid>
              <a:tr h="1188487">
                <a:tc>
                  <a:txBody>
                    <a:bodyPr/>
                    <a:lstStyle/>
                    <a:p>
                      <a:pPr marL="180000" algn="l"/>
                      <a:r>
                        <a:rPr lang="en-US" sz="5400" dirty="0">
                          <a:solidFill>
                            <a:schemeClr val="tx1"/>
                          </a:solidFill>
                          <a:latin typeface="Open Sans" panose="020B0606030504020204" pitchFamily="34" charset="0"/>
                          <a:ea typeface="Open Sans" panose="020B0606030504020204" pitchFamily="34" charset="0"/>
                          <a:cs typeface="Open Sans" panose="020B0606030504020204" pitchFamily="34" charset="0"/>
                        </a:rPr>
                        <a:t>Category of Interface</a:t>
                      </a:r>
                      <a:endParaRPr lang="en-PH" sz="5400" dirty="0">
                        <a:solidFill>
                          <a:schemeClr val="tx1"/>
                        </a:solidFill>
                        <a:latin typeface="Open Sans" panose="020B0606030504020204" pitchFamily="34" charset="0"/>
                        <a:ea typeface="Open Sans" panose="020B0606030504020204" pitchFamily="34" charset="0"/>
                        <a:cs typeface="Open Sans" panose="020B0606030504020204" pitchFamily="34" charset="0"/>
                      </a:endParaRPr>
                    </a:p>
                  </a:txBody>
                  <a:tcPr marL="86794" marR="86794" marT="43397" marB="43397">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BE4D5"/>
                    </a:solidFill>
                  </a:tcPr>
                </a:tc>
                <a:tc>
                  <a:txBody>
                    <a:bodyPr/>
                    <a:lstStyle/>
                    <a:p>
                      <a:pPr marL="180000" algn="l"/>
                      <a:r>
                        <a:rPr lang="en-US" sz="5400" dirty="0">
                          <a:solidFill>
                            <a:schemeClr val="tx1"/>
                          </a:solidFill>
                          <a:latin typeface="Open Sans" panose="020B0606030504020204" pitchFamily="34" charset="0"/>
                          <a:ea typeface="Open Sans" panose="020B0606030504020204" pitchFamily="34" charset="0"/>
                          <a:cs typeface="Open Sans" panose="020B0606030504020204" pitchFamily="34" charset="0"/>
                        </a:rPr>
                        <a:t>Convenience method example</a:t>
                      </a:r>
                      <a:endParaRPr lang="en-PH" sz="5400" dirty="0">
                        <a:solidFill>
                          <a:schemeClr val="tx1"/>
                        </a:solidFill>
                        <a:latin typeface="Open Sans" panose="020B0606030504020204" pitchFamily="34" charset="0"/>
                        <a:ea typeface="Open Sans" panose="020B0606030504020204" pitchFamily="34" charset="0"/>
                        <a:cs typeface="Open Sans" panose="020B0606030504020204" pitchFamily="34" charset="0"/>
                      </a:endParaRPr>
                    </a:p>
                  </a:txBody>
                  <a:tcPr marL="86794" marR="86794" marT="43397" marB="43397">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BE4D5"/>
                    </a:solidFill>
                  </a:tcPr>
                </a:tc>
                <a:tc>
                  <a:txBody>
                    <a:bodyPr/>
                    <a:lstStyle/>
                    <a:p>
                      <a:pPr marL="180000" algn="l"/>
                      <a:r>
                        <a:rPr lang="en-US" sz="5400" dirty="0">
                          <a:solidFill>
                            <a:schemeClr val="tx1"/>
                          </a:solidFill>
                          <a:latin typeface="Open Sans" panose="020B0606030504020204" pitchFamily="34" charset="0"/>
                          <a:ea typeface="Open Sans" panose="020B0606030504020204" pitchFamily="34" charset="0"/>
                          <a:cs typeface="Open Sans" panose="020B0606030504020204" pitchFamily="34" charset="0"/>
                        </a:rPr>
                        <a:t>Notes</a:t>
                      </a:r>
                      <a:endParaRPr lang="en-PH" sz="5400" dirty="0">
                        <a:solidFill>
                          <a:schemeClr val="tx1"/>
                        </a:solidFill>
                        <a:latin typeface="Open Sans" panose="020B0606030504020204" pitchFamily="34" charset="0"/>
                        <a:ea typeface="Open Sans" panose="020B0606030504020204" pitchFamily="34" charset="0"/>
                        <a:cs typeface="Open Sans" panose="020B0606030504020204" pitchFamily="34" charset="0"/>
                      </a:endParaRPr>
                    </a:p>
                  </a:txBody>
                  <a:tcPr marL="86794" marR="86794" marT="43397" marB="43397">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BE4D5"/>
                    </a:solidFill>
                  </a:tcPr>
                </a:tc>
                <a:extLst>
                  <a:ext uri="{0D108BD9-81ED-4DB2-BD59-A6C34878D82A}">
                    <a16:rowId xmlns:a16="http://schemas.microsoft.com/office/drawing/2014/main" val="3978129174"/>
                  </a:ext>
                </a:extLst>
              </a:tr>
              <a:tr h="1418253">
                <a:tc>
                  <a:txBody>
                    <a:bodyPr/>
                    <a:lstStyle/>
                    <a:p>
                      <a:pPr marL="180000" marR="0" lvl="0" indent="0" algn="l" defTabSz="914400" rtl="0" eaLnBrk="1" fontAlgn="auto" latinLnBrk="0" hangingPunct="1">
                        <a:lnSpc>
                          <a:spcPct val="100000"/>
                        </a:lnSpc>
                        <a:spcBef>
                          <a:spcPts val="0"/>
                        </a:spcBef>
                        <a:spcAft>
                          <a:spcPts val="1000"/>
                        </a:spcAft>
                        <a:buClr>
                          <a:srgbClr val="000000"/>
                        </a:buClr>
                        <a:buSzTx/>
                        <a:buFont typeface="Arial" panose="020B0604020202020204" pitchFamily="34" charset="0"/>
                        <a:buNone/>
                        <a:tabLst/>
                        <a:defRPr/>
                      </a:pPr>
                      <a:r>
                        <a:rPr lang="en-US" sz="5400" b="0" dirty="0">
                          <a:solidFill>
                            <a:schemeClr val="tx1"/>
                          </a:solidFill>
                          <a:latin typeface="Open Sans" panose="020B0606030504020204" pitchFamily="34" charset="0"/>
                          <a:ea typeface="Open Sans" panose="020B0606030504020204" pitchFamily="34" charset="0"/>
                          <a:cs typeface="Open Sans" panose="020B0606030504020204" pitchFamily="34" charset="0"/>
                        </a:rPr>
                        <a:t>Function</a:t>
                      </a:r>
                    </a:p>
                  </a:txBody>
                  <a:tcPr marL="86794" marR="86794" marT="43397" marB="43397">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180000" marR="0" lvl="0" indent="0" algn="l" defTabSz="914400" rtl="0" eaLnBrk="1" fontAlgn="auto" latinLnBrk="0" hangingPunct="1">
                        <a:lnSpc>
                          <a:spcPct val="100000"/>
                        </a:lnSpc>
                        <a:spcBef>
                          <a:spcPts val="0"/>
                        </a:spcBef>
                        <a:spcAft>
                          <a:spcPts val="1000"/>
                        </a:spcAft>
                        <a:buClr>
                          <a:srgbClr val="000000"/>
                        </a:buClr>
                        <a:buSzTx/>
                        <a:buFont typeface="Arial" panose="020B0604020202020204" pitchFamily="34" charset="0"/>
                        <a:buNone/>
                        <a:tabLst/>
                        <a:defRPr/>
                      </a:pPr>
                      <a:r>
                        <a:rPr lang="en-US" sz="5400" b="0" dirty="0">
                          <a:solidFill>
                            <a:schemeClr val="tx1"/>
                          </a:solidFill>
                          <a:latin typeface="Open Sans" panose="020B0606030504020204" pitchFamily="34" charset="0"/>
                          <a:ea typeface="Open Sans" panose="020B0606030504020204" pitchFamily="34" charset="0"/>
                          <a:cs typeface="Open Sans" panose="020B0606030504020204" pitchFamily="34" charset="0"/>
                        </a:rPr>
                        <a:t>function1.</a:t>
                      </a:r>
                      <a:r>
                        <a:rPr lang="en-US" sz="5400" b="1" dirty="0">
                          <a:solidFill>
                            <a:schemeClr val="tx1"/>
                          </a:solidFill>
                          <a:latin typeface="Open Sans" panose="020B0606030504020204" pitchFamily="34" charset="0"/>
                          <a:ea typeface="Open Sans" panose="020B0606030504020204" pitchFamily="34" charset="0"/>
                          <a:cs typeface="Open Sans" panose="020B0606030504020204" pitchFamily="34" charset="0"/>
                        </a:rPr>
                        <a:t>andThen</a:t>
                      </a:r>
                      <a:r>
                        <a:rPr lang="en-US" sz="5400" b="0" dirty="0">
                          <a:solidFill>
                            <a:schemeClr val="tx1"/>
                          </a:solidFill>
                          <a:latin typeface="Open Sans" panose="020B0606030504020204" pitchFamily="34" charset="0"/>
                          <a:ea typeface="Open Sans" panose="020B0606030504020204" pitchFamily="34" charset="0"/>
                          <a:cs typeface="Open Sans" panose="020B0606030504020204" pitchFamily="34" charset="0"/>
                        </a:rPr>
                        <a:t>(function2)</a:t>
                      </a:r>
                    </a:p>
                  </a:txBody>
                  <a:tcPr marL="86794" marR="86794" marT="43397" marB="43397">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180000" marR="0" lvl="0" indent="0" algn="l" defTabSz="914400" rtl="0" eaLnBrk="1" fontAlgn="auto" latinLnBrk="0" hangingPunct="1">
                        <a:lnSpc>
                          <a:spcPct val="100000"/>
                        </a:lnSpc>
                        <a:spcBef>
                          <a:spcPts val="0"/>
                        </a:spcBef>
                        <a:spcAft>
                          <a:spcPts val="1000"/>
                        </a:spcAft>
                        <a:buClr>
                          <a:srgbClr val="000000"/>
                        </a:buClr>
                        <a:buSzTx/>
                        <a:buFont typeface="Arial" panose="020B0604020202020204" pitchFamily="34" charset="0"/>
                        <a:buNone/>
                        <a:tabLst/>
                        <a:defRPr/>
                      </a:pPr>
                      <a:r>
                        <a:rPr lang="en-US" sz="5400" b="0" dirty="0">
                          <a:solidFill>
                            <a:schemeClr val="tx1"/>
                          </a:solidFill>
                          <a:latin typeface="Open Sans" panose="020B0606030504020204" pitchFamily="34" charset="0"/>
                          <a:ea typeface="Open Sans" panose="020B0606030504020204" pitchFamily="34" charset="0"/>
                          <a:cs typeface="Open Sans" panose="020B0606030504020204" pitchFamily="34" charset="0"/>
                        </a:rPr>
                        <a:t>Not implemented on </a:t>
                      </a:r>
                      <a:r>
                        <a:rPr lang="en-US" sz="5400" b="0" dirty="0" err="1">
                          <a:solidFill>
                            <a:schemeClr val="tx1"/>
                          </a:solidFill>
                          <a:latin typeface="Open Sans" panose="020B0606030504020204" pitchFamily="34" charset="0"/>
                          <a:ea typeface="Open Sans" panose="020B0606030504020204" pitchFamily="34" charset="0"/>
                          <a:cs typeface="Open Sans" panose="020B0606030504020204" pitchFamily="34" charset="0"/>
                        </a:rPr>
                        <a:t>IntFunction</a:t>
                      </a:r>
                      <a:r>
                        <a:rPr lang="en-US" sz="5400" b="0" dirty="0">
                          <a:solidFill>
                            <a:schemeClr val="tx1"/>
                          </a:solidFill>
                          <a:latin typeface="Open Sans" panose="020B0606030504020204" pitchFamily="34" charset="0"/>
                          <a:ea typeface="Open Sans" panose="020B0606030504020204" pitchFamily="34" charset="0"/>
                          <a:cs typeface="Open Sans" panose="020B0606030504020204" pitchFamily="34" charset="0"/>
                        </a:rPr>
                        <a:t>, </a:t>
                      </a:r>
                      <a:r>
                        <a:rPr lang="en-US" sz="5400" b="0" dirty="0" err="1">
                          <a:solidFill>
                            <a:schemeClr val="tx1"/>
                          </a:solidFill>
                          <a:latin typeface="Open Sans" panose="020B0606030504020204" pitchFamily="34" charset="0"/>
                          <a:ea typeface="Open Sans" panose="020B0606030504020204" pitchFamily="34" charset="0"/>
                          <a:cs typeface="Open Sans" panose="020B0606030504020204" pitchFamily="34" charset="0"/>
                        </a:rPr>
                        <a:t>DoubleFunction</a:t>
                      </a:r>
                      <a:r>
                        <a:rPr lang="en-US" sz="5400" b="0" dirty="0">
                          <a:solidFill>
                            <a:schemeClr val="tx1"/>
                          </a:solidFill>
                          <a:latin typeface="Open Sans" panose="020B0606030504020204" pitchFamily="34" charset="0"/>
                          <a:ea typeface="Open Sans" panose="020B0606030504020204" pitchFamily="34" charset="0"/>
                          <a:cs typeface="Open Sans" panose="020B0606030504020204" pitchFamily="34" charset="0"/>
                        </a:rPr>
                        <a:t>, </a:t>
                      </a:r>
                      <a:r>
                        <a:rPr lang="en-US" sz="5400" b="0" dirty="0" err="1">
                          <a:solidFill>
                            <a:schemeClr val="tx1"/>
                          </a:solidFill>
                          <a:latin typeface="Open Sans" panose="020B0606030504020204" pitchFamily="34" charset="0"/>
                          <a:ea typeface="Open Sans" panose="020B0606030504020204" pitchFamily="34" charset="0"/>
                          <a:cs typeface="Open Sans" panose="020B0606030504020204" pitchFamily="34" charset="0"/>
                        </a:rPr>
                        <a:t>LongFunction</a:t>
                      </a:r>
                      <a:endParaRPr lang="en-US" sz="5400" b="0" dirty="0">
                        <a:solidFill>
                          <a:schemeClr val="tx1"/>
                        </a:solidFill>
                        <a:latin typeface="Open Sans" panose="020B0606030504020204" pitchFamily="34" charset="0"/>
                        <a:ea typeface="Open Sans" panose="020B0606030504020204" pitchFamily="34" charset="0"/>
                        <a:cs typeface="Open Sans" panose="020B0606030504020204" pitchFamily="34" charset="0"/>
                      </a:endParaRPr>
                    </a:p>
                  </a:txBody>
                  <a:tcPr marL="86794" marR="86794" marT="43397" marB="43397">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640325450"/>
                  </a:ext>
                </a:extLst>
              </a:tr>
              <a:tr h="1418253">
                <a:tc>
                  <a:txBody>
                    <a:bodyPr/>
                    <a:lstStyle/>
                    <a:p>
                      <a:pPr marL="180000" marR="0" lvl="0" indent="0" algn="l" defTabSz="914400" rtl="0" eaLnBrk="1" fontAlgn="auto" latinLnBrk="0" hangingPunct="1">
                        <a:lnSpc>
                          <a:spcPct val="100000"/>
                        </a:lnSpc>
                        <a:spcBef>
                          <a:spcPts val="0"/>
                        </a:spcBef>
                        <a:spcAft>
                          <a:spcPts val="1000"/>
                        </a:spcAft>
                        <a:buClr>
                          <a:srgbClr val="000000"/>
                        </a:buClr>
                        <a:buSzTx/>
                        <a:buFont typeface="Arial" panose="020B0604020202020204" pitchFamily="34" charset="0"/>
                        <a:buNone/>
                        <a:tabLst/>
                        <a:defRPr/>
                      </a:pPr>
                      <a:r>
                        <a:rPr lang="en-US" sz="5400" b="0" dirty="0">
                          <a:solidFill>
                            <a:schemeClr val="tx1"/>
                          </a:solidFill>
                          <a:latin typeface="Open Sans" panose="020B0606030504020204" pitchFamily="34" charset="0"/>
                          <a:ea typeface="Open Sans" panose="020B0606030504020204" pitchFamily="34" charset="0"/>
                          <a:cs typeface="Open Sans" panose="020B0606030504020204" pitchFamily="34" charset="0"/>
                        </a:rPr>
                        <a:t>Function</a:t>
                      </a:r>
                    </a:p>
                  </a:txBody>
                  <a:tcPr marL="86794" marR="86794" marT="43397" marB="43397">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180000" marR="0" lvl="0" indent="0" algn="l" defTabSz="914400" rtl="0" eaLnBrk="1" fontAlgn="auto" latinLnBrk="0" hangingPunct="1">
                        <a:lnSpc>
                          <a:spcPct val="100000"/>
                        </a:lnSpc>
                        <a:spcBef>
                          <a:spcPts val="0"/>
                        </a:spcBef>
                        <a:spcAft>
                          <a:spcPts val="1000"/>
                        </a:spcAft>
                        <a:buClr>
                          <a:srgbClr val="000000"/>
                        </a:buClr>
                        <a:buSzTx/>
                        <a:buFont typeface="Arial" panose="020B0604020202020204" pitchFamily="34" charset="0"/>
                        <a:buNone/>
                        <a:tabLst/>
                        <a:defRPr/>
                      </a:pPr>
                      <a:r>
                        <a:rPr lang="en-US" sz="5400" b="0" dirty="0">
                          <a:solidFill>
                            <a:schemeClr val="tx1"/>
                          </a:solidFill>
                          <a:latin typeface="Open Sans" panose="020B0606030504020204" pitchFamily="34" charset="0"/>
                          <a:ea typeface="Open Sans" panose="020B0606030504020204" pitchFamily="34" charset="0"/>
                          <a:cs typeface="Open Sans" panose="020B0606030504020204" pitchFamily="34" charset="0"/>
                        </a:rPr>
                        <a:t>function2.</a:t>
                      </a:r>
                      <a:r>
                        <a:rPr lang="en-US" sz="5400" b="1" dirty="0">
                          <a:solidFill>
                            <a:schemeClr val="tx1"/>
                          </a:solidFill>
                          <a:latin typeface="Open Sans" panose="020B0606030504020204" pitchFamily="34" charset="0"/>
                          <a:ea typeface="Open Sans" panose="020B0606030504020204" pitchFamily="34" charset="0"/>
                          <a:cs typeface="Open Sans" panose="020B0606030504020204" pitchFamily="34" charset="0"/>
                        </a:rPr>
                        <a:t>compose</a:t>
                      </a:r>
                      <a:r>
                        <a:rPr lang="en-US" sz="5400" b="0" dirty="0">
                          <a:solidFill>
                            <a:schemeClr val="tx1"/>
                          </a:solidFill>
                          <a:latin typeface="Open Sans" panose="020B0606030504020204" pitchFamily="34" charset="0"/>
                          <a:ea typeface="Open Sans" panose="020B0606030504020204" pitchFamily="34" charset="0"/>
                          <a:cs typeface="Open Sans" panose="020B0606030504020204" pitchFamily="34" charset="0"/>
                        </a:rPr>
                        <a:t>(function1)</a:t>
                      </a:r>
                    </a:p>
                  </a:txBody>
                  <a:tcPr marL="86794" marR="86794" marT="43397" marB="43397">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180000" marR="0" lvl="0" indent="0" algn="l" defTabSz="914400" rtl="0" eaLnBrk="1" fontAlgn="auto" latinLnBrk="0" hangingPunct="1">
                        <a:lnSpc>
                          <a:spcPct val="100000"/>
                        </a:lnSpc>
                        <a:spcBef>
                          <a:spcPts val="0"/>
                        </a:spcBef>
                        <a:spcAft>
                          <a:spcPts val="1000"/>
                        </a:spcAft>
                        <a:buClr>
                          <a:srgbClr val="000000"/>
                        </a:buClr>
                        <a:buSzTx/>
                        <a:buFont typeface="Arial" panose="020B0604020202020204" pitchFamily="34" charset="0"/>
                        <a:buNone/>
                        <a:tabLst/>
                        <a:defRPr/>
                      </a:pPr>
                      <a:r>
                        <a:rPr lang="en-US" sz="5400" b="0" dirty="0">
                          <a:solidFill>
                            <a:schemeClr val="tx1"/>
                          </a:solidFill>
                          <a:latin typeface="Open Sans" panose="020B0606030504020204" pitchFamily="34" charset="0"/>
                          <a:ea typeface="Open Sans" panose="020B0606030504020204" pitchFamily="34" charset="0"/>
                          <a:cs typeface="Open Sans" panose="020B0606030504020204" pitchFamily="34" charset="0"/>
                        </a:rPr>
                        <a:t>Only implemented on Function &amp; </a:t>
                      </a:r>
                      <a:r>
                        <a:rPr lang="en-US" sz="5400" b="0" dirty="0" err="1">
                          <a:solidFill>
                            <a:schemeClr val="tx1"/>
                          </a:solidFill>
                          <a:latin typeface="Open Sans" panose="020B0606030504020204" pitchFamily="34" charset="0"/>
                          <a:ea typeface="Open Sans" panose="020B0606030504020204" pitchFamily="34" charset="0"/>
                          <a:cs typeface="Open Sans" panose="020B0606030504020204" pitchFamily="34" charset="0"/>
                        </a:rPr>
                        <a:t>UnaryOperator</a:t>
                      </a:r>
                      <a:endParaRPr lang="en-US" sz="5400" b="0" dirty="0">
                        <a:solidFill>
                          <a:schemeClr val="tx1"/>
                        </a:solidFill>
                        <a:latin typeface="Open Sans" panose="020B0606030504020204" pitchFamily="34" charset="0"/>
                        <a:ea typeface="Open Sans" panose="020B0606030504020204" pitchFamily="34" charset="0"/>
                        <a:cs typeface="Open Sans" panose="020B0606030504020204" pitchFamily="34" charset="0"/>
                      </a:endParaRPr>
                    </a:p>
                  </a:txBody>
                  <a:tcPr marL="86794" marR="86794" marT="43397" marB="43397">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521613951"/>
                  </a:ext>
                </a:extLst>
              </a:tr>
              <a:tr h="1064905">
                <a:tc>
                  <a:txBody>
                    <a:bodyPr/>
                    <a:lstStyle/>
                    <a:p>
                      <a:pPr marL="180000" marR="0" lvl="0" indent="0" algn="l" defTabSz="914400" rtl="0" eaLnBrk="1" fontAlgn="auto" latinLnBrk="0" hangingPunct="1">
                        <a:lnSpc>
                          <a:spcPct val="100000"/>
                        </a:lnSpc>
                        <a:spcBef>
                          <a:spcPts val="0"/>
                        </a:spcBef>
                        <a:spcAft>
                          <a:spcPts val="1000"/>
                        </a:spcAft>
                        <a:buClr>
                          <a:srgbClr val="000000"/>
                        </a:buClr>
                        <a:buSzTx/>
                        <a:buFont typeface="Arial" panose="020B0604020202020204" pitchFamily="34" charset="0"/>
                        <a:buNone/>
                        <a:tabLst/>
                        <a:defRPr/>
                      </a:pPr>
                      <a:r>
                        <a:rPr lang="en-US" sz="5400" b="0" dirty="0">
                          <a:solidFill>
                            <a:schemeClr val="tx1"/>
                          </a:solidFill>
                          <a:latin typeface="Open Sans" panose="020B0606030504020204" pitchFamily="34" charset="0"/>
                          <a:ea typeface="Open Sans" panose="020B0606030504020204" pitchFamily="34" charset="0"/>
                          <a:cs typeface="Open Sans" panose="020B0606030504020204" pitchFamily="34" charset="0"/>
                        </a:rPr>
                        <a:t>Consumer</a:t>
                      </a:r>
                    </a:p>
                  </a:txBody>
                  <a:tcPr marL="86794" marR="86794" marT="43397" marB="43397">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marL="180000" marR="0" lvl="0" indent="0" algn="l" defTabSz="914400" rtl="0" eaLnBrk="1" fontAlgn="auto" latinLnBrk="0" hangingPunct="1">
                        <a:lnSpc>
                          <a:spcPct val="100000"/>
                        </a:lnSpc>
                        <a:spcBef>
                          <a:spcPts val="0"/>
                        </a:spcBef>
                        <a:spcAft>
                          <a:spcPts val="1000"/>
                        </a:spcAft>
                        <a:buClr>
                          <a:srgbClr val="000000"/>
                        </a:buClr>
                        <a:buSzTx/>
                        <a:buFont typeface="Arial" panose="020B0604020202020204" pitchFamily="34" charset="0"/>
                        <a:buNone/>
                        <a:tabLst/>
                        <a:defRPr/>
                      </a:pPr>
                      <a:r>
                        <a:rPr lang="en-US" sz="5400" b="0" dirty="0">
                          <a:solidFill>
                            <a:schemeClr val="tx1"/>
                          </a:solidFill>
                          <a:latin typeface="Open Sans" panose="020B0606030504020204" pitchFamily="34" charset="0"/>
                          <a:ea typeface="Open Sans" panose="020B0606030504020204" pitchFamily="34" charset="0"/>
                          <a:cs typeface="Open Sans" panose="020B0606030504020204" pitchFamily="34" charset="0"/>
                        </a:rPr>
                        <a:t>consumer1.</a:t>
                      </a:r>
                      <a:r>
                        <a:rPr lang="en-US" sz="5400" b="1" dirty="0">
                          <a:solidFill>
                            <a:schemeClr val="tx1"/>
                          </a:solidFill>
                          <a:latin typeface="Open Sans" panose="020B0606030504020204" pitchFamily="34" charset="0"/>
                          <a:ea typeface="Open Sans" panose="020B0606030504020204" pitchFamily="34" charset="0"/>
                          <a:cs typeface="Open Sans" panose="020B0606030504020204" pitchFamily="34" charset="0"/>
                        </a:rPr>
                        <a:t>andThen</a:t>
                      </a:r>
                      <a:r>
                        <a:rPr lang="en-US" sz="5400" b="0" dirty="0">
                          <a:solidFill>
                            <a:schemeClr val="tx1"/>
                          </a:solidFill>
                          <a:latin typeface="Open Sans" panose="020B0606030504020204" pitchFamily="34" charset="0"/>
                          <a:ea typeface="Open Sans" panose="020B0606030504020204" pitchFamily="34" charset="0"/>
                          <a:cs typeface="Open Sans" panose="020B0606030504020204" pitchFamily="34" charset="0"/>
                        </a:rPr>
                        <a:t>(consumer2)</a:t>
                      </a:r>
                    </a:p>
                  </a:txBody>
                  <a:tcPr marL="86794" marR="86794" marT="43397" marB="43397">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marL="180000" marR="0" lvl="0" indent="0" algn="l" defTabSz="914400" rtl="0" eaLnBrk="1" fontAlgn="auto" latinLnBrk="0" hangingPunct="1">
                        <a:lnSpc>
                          <a:spcPct val="100000"/>
                        </a:lnSpc>
                        <a:spcBef>
                          <a:spcPts val="0"/>
                        </a:spcBef>
                        <a:spcAft>
                          <a:spcPts val="1000"/>
                        </a:spcAft>
                        <a:buClr>
                          <a:srgbClr val="000000"/>
                        </a:buClr>
                        <a:buSzTx/>
                        <a:buFont typeface="Arial" panose="020B0604020202020204" pitchFamily="34" charset="0"/>
                        <a:buNone/>
                        <a:tabLst/>
                        <a:defRPr/>
                      </a:pPr>
                      <a:endParaRPr lang="en-US" sz="5400" b="0" dirty="0">
                        <a:solidFill>
                          <a:schemeClr val="tx1"/>
                        </a:solidFill>
                        <a:latin typeface="Open Sans" panose="020B0606030504020204" pitchFamily="34" charset="0"/>
                        <a:ea typeface="Open Sans" panose="020B0606030504020204" pitchFamily="34" charset="0"/>
                        <a:cs typeface="Open Sans" panose="020B0606030504020204" pitchFamily="34" charset="0"/>
                      </a:endParaRPr>
                    </a:p>
                  </a:txBody>
                  <a:tcPr marL="86794" marR="86794" marT="43397" marB="43397">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2420160854"/>
                  </a:ext>
                </a:extLst>
              </a:tr>
              <a:tr h="1050325">
                <a:tc>
                  <a:txBody>
                    <a:bodyPr/>
                    <a:lstStyle/>
                    <a:p>
                      <a:pPr marL="180000" marR="0" lvl="0" indent="0" algn="l" defTabSz="914400" rtl="0" eaLnBrk="1" fontAlgn="auto" latinLnBrk="0" hangingPunct="1">
                        <a:lnSpc>
                          <a:spcPct val="100000"/>
                        </a:lnSpc>
                        <a:spcBef>
                          <a:spcPts val="0"/>
                        </a:spcBef>
                        <a:spcAft>
                          <a:spcPts val="1000"/>
                        </a:spcAft>
                        <a:buClr>
                          <a:srgbClr val="000000"/>
                        </a:buClr>
                        <a:buSzTx/>
                        <a:buFont typeface="Arial" panose="020B0604020202020204" pitchFamily="34" charset="0"/>
                        <a:buNone/>
                        <a:tabLst/>
                        <a:defRPr/>
                      </a:pPr>
                      <a:r>
                        <a:rPr lang="en-US" sz="5400" b="0" dirty="0">
                          <a:solidFill>
                            <a:schemeClr val="tx1"/>
                          </a:solidFill>
                          <a:latin typeface="Open Sans" panose="020B0606030504020204" pitchFamily="34" charset="0"/>
                          <a:ea typeface="Open Sans" panose="020B0606030504020204" pitchFamily="34" charset="0"/>
                          <a:cs typeface="Open Sans" panose="020B0606030504020204" pitchFamily="34" charset="0"/>
                        </a:rPr>
                        <a:t>Predicate</a:t>
                      </a:r>
                    </a:p>
                  </a:txBody>
                  <a:tcPr marL="86794" marR="86794" marT="43397" marB="43397">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180000" marR="0" lvl="0" indent="0" algn="l" defTabSz="914400" rtl="0" eaLnBrk="1" fontAlgn="auto" latinLnBrk="0" hangingPunct="1">
                        <a:lnSpc>
                          <a:spcPct val="100000"/>
                        </a:lnSpc>
                        <a:spcBef>
                          <a:spcPts val="0"/>
                        </a:spcBef>
                        <a:spcAft>
                          <a:spcPts val="1000"/>
                        </a:spcAft>
                        <a:buClr>
                          <a:srgbClr val="000000"/>
                        </a:buClr>
                        <a:buSzTx/>
                        <a:buFont typeface="Arial" panose="020B0604020202020204" pitchFamily="34" charset="0"/>
                        <a:buNone/>
                        <a:tabLst/>
                        <a:defRPr/>
                      </a:pPr>
                      <a:r>
                        <a:rPr lang="en-US" sz="5400" b="0" dirty="0">
                          <a:solidFill>
                            <a:schemeClr val="tx1"/>
                          </a:solidFill>
                          <a:latin typeface="Open Sans" panose="020B0606030504020204" pitchFamily="34" charset="0"/>
                          <a:ea typeface="Open Sans" panose="020B0606030504020204" pitchFamily="34" charset="0"/>
                          <a:cs typeface="Open Sans" panose="020B0606030504020204" pitchFamily="34" charset="0"/>
                        </a:rPr>
                        <a:t>predicate1.</a:t>
                      </a:r>
                      <a:r>
                        <a:rPr lang="en-US" sz="5400" b="1" dirty="0">
                          <a:solidFill>
                            <a:schemeClr val="tx1"/>
                          </a:solidFill>
                          <a:latin typeface="Open Sans" panose="020B0606030504020204" pitchFamily="34" charset="0"/>
                          <a:ea typeface="Open Sans" panose="020B0606030504020204" pitchFamily="34" charset="0"/>
                          <a:cs typeface="Open Sans" panose="020B0606030504020204" pitchFamily="34" charset="0"/>
                        </a:rPr>
                        <a:t>and</a:t>
                      </a:r>
                      <a:r>
                        <a:rPr lang="en-US" sz="5400" b="0" dirty="0">
                          <a:solidFill>
                            <a:schemeClr val="tx1"/>
                          </a:solidFill>
                          <a:latin typeface="Open Sans" panose="020B0606030504020204" pitchFamily="34" charset="0"/>
                          <a:ea typeface="Open Sans" panose="020B0606030504020204" pitchFamily="34" charset="0"/>
                          <a:cs typeface="Open Sans" panose="020B0606030504020204" pitchFamily="34" charset="0"/>
                        </a:rPr>
                        <a:t>(predicate2)</a:t>
                      </a:r>
                    </a:p>
                  </a:txBody>
                  <a:tcPr marL="86794" marR="86794" marT="43397" marB="43397">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180000" marR="0" lvl="0" indent="0" algn="l" defTabSz="914400" rtl="0" eaLnBrk="1" fontAlgn="auto" latinLnBrk="0" hangingPunct="1">
                        <a:lnSpc>
                          <a:spcPct val="100000"/>
                        </a:lnSpc>
                        <a:spcBef>
                          <a:spcPts val="0"/>
                        </a:spcBef>
                        <a:spcAft>
                          <a:spcPts val="1000"/>
                        </a:spcAft>
                        <a:buClr>
                          <a:srgbClr val="000000"/>
                        </a:buClr>
                        <a:buSzTx/>
                        <a:buFont typeface="Arial" panose="020B0604020202020204" pitchFamily="34" charset="0"/>
                        <a:buNone/>
                        <a:tabLst/>
                        <a:defRPr/>
                      </a:pPr>
                      <a:endParaRPr lang="en-US" sz="5400" b="0" dirty="0">
                        <a:solidFill>
                          <a:schemeClr val="tx1"/>
                        </a:solidFill>
                        <a:latin typeface="Open Sans" panose="020B0606030504020204" pitchFamily="34" charset="0"/>
                        <a:ea typeface="Open Sans" panose="020B0606030504020204" pitchFamily="34" charset="0"/>
                        <a:cs typeface="Open Sans" panose="020B0606030504020204" pitchFamily="34" charset="0"/>
                      </a:endParaRPr>
                    </a:p>
                  </a:txBody>
                  <a:tcPr marL="86794" marR="86794" marT="43397" marB="43397">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112155813"/>
                  </a:ext>
                </a:extLst>
              </a:tr>
              <a:tr h="1112108">
                <a:tc>
                  <a:txBody>
                    <a:bodyPr/>
                    <a:lstStyle/>
                    <a:p>
                      <a:pPr marL="180000" marR="0" lvl="0" indent="0" algn="l" defTabSz="914400" rtl="0" eaLnBrk="1" fontAlgn="auto" latinLnBrk="0" hangingPunct="1">
                        <a:lnSpc>
                          <a:spcPct val="100000"/>
                        </a:lnSpc>
                        <a:spcBef>
                          <a:spcPts val="0"/>
                        </a:spcBef>
                        <a:spcAft>
                          <a:spcPts val="1000"/>
                        </a:spcAft>
                        <a:buClr>
                          <a:srgbClr val="000000"/>
                        </a:buClr>
                        <a:buSzTx/>
                        <a:buFont typeface="Arial" panose="020B0604020202020204" pitchFamily="34" charset="0"/>
                        <a:buNone/>
                        <a:tabLst/>
                        <a:defRPr/>
                      </a:pPr>
                      <a:r>
                        <a:rPr lang="en-US" sz="5400" b="0" dirty="0">
                          <a:solidFill>
                            <a:schemeClr val="tx1"/>
                          </a:solidFill>
                          <a:latin typeface="Open Sans" panose="020B0606030504020204" pitchFamily="34" charset="0"/>
                          <a:ea typeface="Open Sans" panose="020B0606030504020204" pitchFamily="34" charset="0"/>
                          <a:cs typeface="Open Sans" panose="020B0606030504020204" pitchFamily="34" charset="0"/>
                        </a:rPr>
                        <a:t>Predicate</a:t>
                      </a:r>
                    </a:p>
                  </a:txBody>
                  <a:tcPr marL="86794" marR="86794" marT="43397" marB="43397">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180000" marR="0" lvl="0" indent="0" algn="l" defTabSz="914400" rtl="0" eaLnBrk="1" fontAlgn="auto" latinLnBrk="0" hangingPunct="1">
                        <a:lnSpc>
                          <a:spcPct val="100000"/>
                        </a:lnSpc>
                        <a:spcBef>
                          <a:spcPts val="0"/>
                        </a:spcBef>
                        <a:spcAft>
                          <a:spcPts val="1000"/>
                        </a:spcAft>
                        <a:buClr>
                          <a:srgbClr val="000000"/>
                        </a:buClr>
                        <a:buSzTx/>
                        <a:buFont typeface="Arial" panose="020B0604020202020204" pitchFamily="34" charset="0"/>
                        <a:buNone/>
                        <a:tabLst/>
                        <a:defRPr/>
                      </a:pPr>
                      <a:r>
                        <a:rPr lang="en-US" sz="5400" b="0" dirty="0">
                          <a:solidFill>
                            <a:schemeClr val="tx1"/>
                          </a:solidFill>
                          <a:latin typeface="Open Sans" panose="020B0606030504020204" pitchFamily="34" charset="0"/>
                          <a:ea typeface="Open Sans" panose="020B0606030504020204" pitchFamily="34" charset="0"/>
                          <a:cs typeface="Open Sans" panose="020B0606030504020204" pitchFamily="34" charset="0"/>
                        </a:rPr>
                        <a:t>predicate1.</a:t>
                      </a:r>
                      <a:r>
                        <a:rPr lang="en-US" sz="5400" b="1" dirty="0">
                          <a:solidFill>
                            <a:schemeClr val="tx1"/>
                          </a:solidFill>
                          <a:latin typeface="Open Sans" panose="020B0606030504020204" pitchFamily="34" charset="0"/>
                          <a:ea typeface="Open Sans" panose="020B0606030504020204" pitchFamily="34" charset="0"/>
                          <a:cs typeface="Open Sans" panose="020B0606030504020204" pitchFamily="34" charset="0"/>
                        </a:rPr>
                        <a:t>or</a:t>
                      </a:r>
                      <a:r>
                        <a:rPr lang="en-US" sz="5400" b="0" dirty="0">
                          <a:solidFill>
                            <a:schemeClr val="tx1"/>
                          </a:solidFill>
                          <a:latin typeface="Open Sans" panose="020B0606030504020204" pitchFamily="34" charset="0"/>
                          <a:ea typeface="Open Sans" panose="020B0606030504020204" pitchFamily="34" charset="0"/>
                          <a:cs typeface="Open Sans" panose="020B0606030504020204" pitchFamily="34" charset="0"/>
                        </a:rPr>
                        <a:t>(predicate2)</a:t>
                      </a:r>
                    </a:p>
                  </a:txBody>
                  <a:tcPr marL="86794" marR="86794" marT="43397" marB="43397">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180000" marR="0" lvl="0" indent="0" algn="l" defTabSz="914400" rtl="0" eaLnBrk="1" fontAlgn="auto" latinLnBrk="0" hangingPunct="1">
                        <a:lnSpc>
                          <a:spcPct val="100000"/>
                        </a:lnSpc>
                        <a:spcBef>
                          <a:spcPts val="0"/>
                        </a:spcBef>
                        <a:spcAft>
                          <a:spcPts val="1000"/>
                        </a:spcAft>
                        <a:buClr>
                          <a:srgbClr val="000000"/>
                        </a:buClr>
                        <a:buSzTx/>
                        <a:buFont typeface="Arial" panose="020B0604020202020204" pitchFamily="34" charset="0"/>
                        <a:buNone/>
                        <a:tabLst/>
                        <a:defRPr/>
                      </a:pPr>
                      <a:endParaRPr lang="en-US" sz="5400" b="0" dirty="0">
                        <a:solidFill>
                          <a:schemeClr val="tx1"/>
                        </a:solidFill>
                        <a:latin typeface="Open Sans" panose="020B0606030504020204" pitchFamily="34" charset="0"/>
                        <a:ea typeface="Open Sans" panose="020B0606030504020204" pitchFamily="34" charset="0"/>
                        <a:cs typeface="Open Sans" panose="020B0606030504020204" pitchFamily="34" charset="0"/>
                      </a:endParaRPr>
                    </a:p>
                  </a:txBody>
                  <a:tcPr marL="86794" marR="86794" marT="43397" marB="43397">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132363078"/>
                  </a:ext>
                </a:extLst>
              </a:tr>
              <a:tr h="1037967">
                <a:tc>
                  <a:txBody>
                    <a:bodyPr/>
                    <a:lstStyle/>
                    <a:p>
                      <a:pPr marL="180000" marR="0" lvl="0" indent="0" algn="l" defTabSz="914400" rtl="0" eaLnBrk="1" fontAlgn="auto" latinLnBrk="0" hangingPunct="1">
                        <a:lnSpc>
                          <a:spcPct val="100000"/>
                        </a:lnSpc>
                        <a:spcBef>
                          <a:spcPts val="0"/>
                        </a:spcBef>
                        <a:spcAft>
                          <a:spcPts val="1000"/>
                        </a:spcAft>
                        <a:buClr>
                          <a:srgbClr val="000000"/>
                        </a:buClr>
                        <a:buSzTx/>
                        <a:buFont typeface="Arial" panose="020B0604020202020204" pitchFamily="34" charset="0"/>
                        <a:buNone/>
                        <a:tabLst/>
                        <a:defRPr/>
                      </a:pPr>
                      <a:r>
                        <a:rPr lang="en-US" sz="5400" b="0" dirty="0">
                          <a:solidFill>
                            <a:schemeClr val="tx1"/>
                          </a:solidFill>
                          <a:latin typeface="Open Sans" panose="020B0606030504020204" pitchFamily="34" charset="0"/>
                          <a:ea typeface="Open Sans" panose="020B0606030504020204" pitchFamily="34" charset="0"/>
                          <a:cs typeface="Open Sans" panose="020B0606030504020204" pitchFamily="34" charset="0"/>
                        </a:rPr>
                        <a:t>Predicate</a:t>
                      </a:r>
                    </a:p>
                  </a:txBody>
                  <a:tcPr marL="86794" marR="86794" marT="43397" marB="43397">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180000" marR="0" lvl="0" indent="0" algn="l" defTabSz="914400" rtl="0" eaLnBrk="1" fontAlgn="auto" latinLnBrk="0" hangingPunct="1">
                        <a:lnSpc>
                          <a:spcPct val="100000"/>
                        </a:lnSpc>
                        <a:spcBef>
                          <a:spcPts val="0"/>
                        </a:spcBef>
                        <a:spcAft>
                          <a:spcPts val="1000"/>
                        </a:spcAft>
                        <a:buClr>
                          <a:srgbClr val="000000"/>
                        </a:buClr>
                        <a:buSzTx/>
                        <a:buFont typeface="Arial" panose="020B0604020202020204" pitchFamily="34" charset="0"/>
                        <a:buNone/>
                        <a:tabLst/>
                        <a:defRPr/>
                      </a:pPr>
                      <a:r>
                        <a:rPr lang="en-US" sz="5400" b="0" dirty="0">
                          <a:solidFill>
                            <a:schemeClr val="tx1"/>
                          </a:solidFill>
                          <a:latin typeface="Open Sans" panose="020B0606030504020204" pitchFamily="34" charset="0"/>
                          <a:ea typeface="Open Sans" panose="020B0606030504020204" pitchFamily="34" charset="0"/>
                          <a:cs typeface="Open Sans" panose="020B0606030504020204" pitchFamily="34" charset="0"/>
                        </a:rPr>
                        <a:t>predicate1.</a:t>
                      </a:r>
                      <a:r>
                        <a:rPr lang="en-US" sz="5400" b="1" dirty="0">
                          <a:solidFill>
                            <a:schemeClr val="tx1"/>
                          </a:solidFill>
                          <a:latin typeface="Open Sans" panose="020B0606030504020204" pitchFamily="34" charset="0"/>
                          <a:ea typeface="Open Sans" panose="020B0606030504020204" pitchFamily="34" charset="0"/>
                          <a:cs typeface="Open Sans" panose="020B0606030504020204" pitchFamily="34" charset="0"/>
                        </a:rPr>
                        <a:t>negate</a:t>
                      </a:r>
                      <a:r>
                        <a:rPr lang="en-US" sz="5400" b="0" dirty="0">
                          <a:solidFill>
                            <a:schemeClr val="tx1"/>
                          </a:solidFill>
                          <a:latin typeface="Open Sans" panose="020B0606030504020204" pitchFamily="34" charset="0"/>
                          <a:ea typeface="Open Sans" panose="020B0606030504020204" pitchFamily="34" charset="0"/>
                          <a:cs typeface="Open Sans" panose="020B0606030504020204" pitchFamily="34" charset="0"/>
                        </a:rPr>
                        <a:t>()</a:t>
                      </a:r>
                    </a:p>
                  </a:txBody>
                  <a:tcPr marL="86794" marR="86794" marT="43397" marB="43397">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180000" marR="0" lvl="0" indent="0" algn="l" defTabSz="914400" rtl="0" eaLnBrk="1" fontAlgn="auto" latinLnBrk="0" hangingPunct="1">
                        <a:lnSpc>
                          <a:spcPct val="100000"/>
                        </a:lnSpc>
                        <a:spcBef>
                          <a:spcPts val="0"/>
                        </a:spcBef>
                        <a:spcAft>
                          <a:spcPts val="1000"/>
                        </a:spcAft>
                        <a:buClr>
                          <a:srgbClr val="000000"/>
                        </a:buClr>
                        <a:buSzTx/>
                        <a:buFont typeface="Arial" panose="020B0604020202020204" pitchFamily="34" charset="0"/>
                        <a:buNone/>
                        <a:tabLst/>
                        <a:defRPr/>
                      </a:pPr>
                      <a:endParaRPr lang="en-US" sz="5400" b="0" dirty="0">
                        <a:solidFill>
                          <a:schemeClr val="tx1"/>
                        </a:solidFill>
                        <a:latin typeface="Open Sans" panose="020B0606030504020204" pitchFamily="34" charset="0"/>
                        <a:ea typeface="Open Sans" panose="020B0606030504020204" pitchFamily="34" charset="0"/>
                        <a:cs typeface="Open Sans" panose="020B0606030504020204" pitchFamily="34" charset="0"/>
                      </a:endParaRPr>
                    </a:p>
                  </a:txBody>
                  <a:tcPr marL="86794" marR="86794" marT="43397" marB="43397">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40830193"/>
                  </a:ext>
                </a:extLst>
              </a:tr>
            </a:tbl>
          </a:graphicData>
        </a:graphic>
      </p:graphicFrame>
      <p:sp>
        <p:nvSpPr>
          <p:cNvPr id="6" name="Rectangle 5">
            <a:extLst>
              <a:ext uri="{FF2B5EF4-FFF2-40B4-BE49-F238E27FC236}">
                <a16:creationId xmlns:a16="http://schemas.microsoft.com/office/drawing/2014/main" id="{C264E532-93E3-85B7-BAF5-7B2622AB6E82}"/>
              </a:ext>
            </a:extLst>
          </p:cNvPr>
          <p:cNvSpPr/>
          <p:nvPr/>
        </p:nvSpPr>
        <p:spPr>
          <a:xfrm>
            <a:off x="952501" y="12233189"/>
            <a:ext cx="34782670" cy="5816095"/>
          </a:xfrm>
          <a:prstGeom prst="rect">
            <a:avLst/>
          </a:prstGeom>
        </p:spPr>
        <p:txBody>
          <a:bodyPr wrap="square">
            <a:normAutofit/>
          </a:bodyPr>
          <a:lstStyle/>
          <a:p>
            <a:pPr algn="l">
              <a:spcAft>
                <a:spcPts val="5022"/>
              </a:spcAft>
            </a:pPr>
            <a:r>
              <a:rPr lang="en-US" sz="6400" dirty="0">
                <a:latin typeface="Open Sans" panose="020B0606030504020204" pitchFamily="34" charset="0"/>
                <a:ea typeface="Open Sans" panose="020B0606030504020204" pitchFamily="34" charset="0"/>
                <a:cs typeface="Open Sans" panose="020B0606030504020204" pitchFamily="34" charset="0"/>
              </a:rPr>
              <a:t>The Consumer's </a:t>
            </a:r>
            <a:r>
              <a:rPr lang="en-US" sz="6400" dirty="0" err="1">
                <a:latin typeface="Open Sans" panose="020B0606030504020204" pitchFamily="34" charset="0"/>
                <a:ea typeface="Open Sans" panose="020B0606030504020204" pitchFamily="34" charset="0"/>
                <a:cs typeface="Open Sans" panose="020B0606030504020204" pitchFamily="34" charset="0"/>
              </a:rPr>
              <a:t>andThen</a:t>
            </a:r>
            <a:r>
              <a:rPr lang="en-US" sz="6400" dirty="0">
                <a:latin typeface="Open Sans" panose="020B0606030504020204" pitchFamily="34" charset="0"/>
                <a:ea typeface="Open Sans" panose="020B0606030504020204" pitchFamily="34" charset="0"/>
                <a:cs typeface="Open Sans" panose="020B0606030504020204" pitchFamily="34" charset="0"/>
              </a:rPr>
              <a:t> method is different, because it never returns a result, so you use this when you're chaining methods independent of one another.</a:t>
            </a:r>
          </a:p>
          <a:p>
            <a:pPr algn="l">
              <a:spcAft>
                <a:spcPts val="5022"/>
              </a:spcAft>
            </a:pPr>
            <a:r>
              <a:rPr lang="en-US" sz="6400" dirty="0">
                <a:latin typeface="Open Sans" panose="020B0606030504020204" pitchFamily="34" charset="0"/>
                <a:ea typeface="Open Sans" panose="020B0606030504020204" pitchFamily="34" charset="0"/>
                <a:cs typeface="Open Sans" panose="020B0606030504020204" pitchFamily="34" charset="0"/>
              </a:rPr>
              <a:t>The Predicate methods always return a </a:t>
            </a:r>
            <a:r>
              <a:rPr lang="en-US" sz="6400" dirty="0" err="1">
                <a:latin typeface="Open Sans" panose="020B0606030504020204" pitchFamily="34" charset="0"/>
                <a:ea typeface="Open Sans" panose="020B0606030504020204" pitchFamily="34" charset="0"/>
                <a:cs typeface="Open Sans" panose="020B0606030504020204" pitchFamily="34" charset="0"/>
              </a:rPr>
              <a:t>boolean</a:t>
            </a:r>
            <a:r>
              <a:rPr lang="en-US" sz="6400" dirty="0">
                <a:latin typeface="Open Sans" panose="020B0606030504020204" pitchFamily="34" charset="0"/>
                <a:ea typeface="Open Sans" panose="020B0606030504020204" pitchFamily="34" charset="0"/>
                <a:cs typeface="Open Sans" panose="020B0606030504020204" pitchFamily="34" charset="0"/>
              </a:rPr>
              <a:t>, which will combine the output of the two expressions, to obtain a final </a:t>
            </a:r>
            <a:r>
              <a:rPr lang="en-US" sz="6400" dirty="0" err="1">
                <a:latin typeface="Open Sans" panose="020B0606030504020204" pitchFamily="34" charset="0"/>
                <a:ea typeface="Open Sans" panose="020B0606030504020204" pitchFamily="34" charset="0"/>
                <a:cs typeface="Open Sans" panose="020B0606030504020204" pitchFamily="34" charset="0"/>
              </a:rPr>
              <a:t>boolean</a:t>
            </a:r>
            <a:r>
              <a:rPr lang="en-US" sz="6400" dirty="0">
                <a:latin typeface="Open Sans" panose="020B0606030504020204" pitchFamily="34" charset="0"/>
                <a:ea typeface="Open Sans" panose="020B0606030504020204" pitchFamily="34" charset="0"/>
                <a:cs typeface="Open Sans" panose="020B0606030504020204" pitchFamily="34" charset="0"/>
              </a:rPr>
              <a:t> result.</a:t>
            </a:r>
          </a:p>
        </p:txBody>
      </p:sp>
    </p:spTree>
    <p:extLst>
      <p:ext uri="{BB962C8B-B14F-4D97-AF65-F5344CB8AC3E}">
        <p14:creationId xmlns:p14="http://schemas.microsoft.com/office/powerpoint/2010/main" val="1451615051"/>
      </p:ext>
    </p:extLst>
  </p:cSld>
  <p:clrMapOvr>
    <a:masterClrMapping/>
  </p:clrMapOvr>
  <p:transition spd="slow"/>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8" name="Shape 128"/>
          <p:cNvSpPr/>
          <p:nvPr/>
        </p:nvSpPr>
        <p:spPr>
          <a:xfrm>
            <a:off x="952500" y="18210515"/>
            <a:ext cx="34782668" cy="2"/>
          </a:xfrm>
          <a:prstGeom prst="line">
            <a:avLst/>
          </a:prstGeom>
          <a:ln w="76200">
            <a:solidFill>
              <a:schemeClr val="accent1">
                <a:satOff val="-3355"/>
                <a:lumOff val="26614"/>
              </a:schemeClr>
            </a:solidFill>
            <a:miter lim="400000"/>
          </a:ln>
        </p:spPr>
        <p:txBody>
          <a:bodyPr lIns="76200" tIns="76200" rIns="76200" bIns="76200" anchor="ctr"/>
          <a:lstStyle/>
          <a:p>
            <a:pPr>
              <a:defRPr sz="3200"/>
            </a:pPr>
            <a:endParaRPr sz="4800"/>
          </a:p>
        </p:txBody>
      </p:sp>
      <p:pic>
        <p:nvPicPr>
          <p:cNvPr id="129" name="Logo.png"/>
          <p:cNvPicPr>
            <a:picLocks noChangeAspect="1"/>
          </p:cNvPicPr>
          <p:nvPr/>
        </p:nvPicPr>
        <p:blipFill>
          <a:blip r:embed="rId3"/>
          <a:stretch>
            <a:fillRect/>
          </a:stretch>
        </p:blipFill>
        <p:spPr>
          <a:xfrm>
            <a:off x="14650974" y="18489726"/>
            <a:ext cx="6321552" cy="1392336"/>
          </a:xfrm>
          <a:prstGeom prst="rect">
            <a:avLst/>
          </a:prstGeom>
          <a:ln w="12700">
            <a:miter lim="400000"/>
          </a:ln>
        </p:spPr>
      </p:pic>
      <p:sp>
        <p:nvSpPr>
          <p:cNvPr id="9" name="Shape 127"/>
          <p:cNvSpPr/>
          <p:nvPr/>
        </p:nvSpPr>
        <p:spPr>
          <a:xfrm flipV="1">
            <a:off x="952499" y="2203340"/>
            <a:ext cx="34782670" cy="38132"/>
          </a:xfrm>
          <a:prstGeom prst="line">
            <a:avLst/>
          </a:prstGeom>
          <a:ln w="152400">
            <a:solidFill>
              <a:schemeClr val="accent1">
                <a:satOff val="-3355"/>
                <a:lumOff val="26614"/>
              </a:schemeClr>
            </a:solidFill>
            <a:miter lim="400000"/>
          </a:ln>
        </p:spPr>
        <p:txBody>
          <a:bodyPr lIns="76200" tIns="76200" rIns="76200" bIns="76200" anchor="ctr"/>
          <a:lstStyle/>
          <a:p>
            <a:pPr>
              <a:defRPr sz="3200"/>
            </a:pPr>
            <a:endParaRPr sz="4800"/>
          </a:p>
        </p:txBody>
      </p:sp>
      <p:sp>
        <p:nvSpPr>
          <p:cNvPr id="10" name="Shape 131"/>
          <p:cNvSpPr/>
          <p:nvPr/>
        </p:nvSpPr>
        <p:spPr>
          <a:xfrm>
            <a:off x="952500" y="18489726"/>
            <a:ext cx="16008688" cy="1231106"/>
          </a:xfrm>
          <a:prstGeom prst="rect">
            <a:avLst/>
          </a:prstGeom>
          <a:ln w="12700">
            <a:miter lim="400000"/>
          </a:ln>
          <a:extLst>
            <a:ext uri="{C572A759-6A51-4108-AA02-DFA0A04FC94B}">
              <ma14:wrappingTextBoxFlag xmlns:ma14="http://schemas.microsoft.com/office/mac/drawingml/2011/main" xmlns="" val="1"/>
            </a:ext>
          </a:extLst>
        </p:spPr>
        <p:txBody>
          <a:bodyPr lIns="76200" tIns="76200" rIns="76200" bIns="76200">
            <a:spAutoFit/>
          </a:bodyPr>
          <a:lstStyle/>
          <a:p>
            <a:pPr algn="l">
              <a:defRPr sz="2000">
                <a:latin typeface="Alright Sans"/>
                <a:ea typeface="Alright Sans"/>
                <a:cs typeface="Alright Sans"/>
                <a:sym typeface="Alright Sans"/>
              </a:defRPr>
            </a:pPr>
            <a:r>
              <a:rPr lang="en-US" sz="3000" dirty="0">
                <a:latin typeface="Open Sans" panose="020B0606030504020204" pitchFamily="34" charset="0"/>
                <a:ea typeface="Open Sans" panose="020B0606030504020204" pitchFamily="34" charset="0"/>
                <a:cs typeface="Open Sans" panose="020B0606030504020204" pitchFamily="34" charset="0"/>
              </a:rPr>
              <a:t>COMPLETE JAVA MASTERCLASS</a:t>
            </a:r>
          </a:p>
          <a:p>
            <a:pPr algn="l">
              <a:defRPr sz="3000">
                <a:latin typeface="Alright Sans"/>
                <a:ea typeface="Alright Sans"/>
                <a:cs typeface="Alright Sans"/>
                <a:sym typeface="Alright Sans"/>
              </a:defRPr>
            </a:pPr>
            <a:r>
              <a:rPr lang="en-US" sz="4000" dirty="0">
                <a:latin typeface="Open Sans" panose="020B0606030504020204" pitchFamily="34" charset="0"/>
                <a:ea typeface="Open Sans" panose="020B0606030504020204" pitchFamily="34" charset="0"/>
                <a:cs typeface="Open Sans" panose="020B0606030504020204" pitchFamily="34" charset="0"/>
              </a:rPr>
              <a:t>Convenience Methods, Continued, with the Comparator</a:t>
            </a:r>
          </a:p>
        </p:txBody>
      </p:sp>
      <p:sp>
        <p:nvSpPr>
          <p:cNvPr id="3" name="Rectangle 2">
            <a:extLst>
              <a:ext uri="{FF2B5EF4-FFF2-40B4-BE49-F238E27FC236}">
                <a16:creationId xmlns:a16="http://schemas.microsoft.com/office/drawing/2014/main" id="{1374D74B-F337-B775-45FC-E8CDC871FD07}"/>
              </a:ext>
            </a:extLst>
          </p:cNvPr>
          <p:cNvSpPr/>
          <p:nvPr/>
        </p:nvSpPr>
        <p:spPr>
          <a:xfrm>
            <a:off x="952498" y="2753791"/>
            <a:ext cx="34782670" cy="2462469"/>
          </a:xfrm>
          <a:prstGeom prst="rect">
            <a:avLst/>
          </a:prstGeom>
        </p:spPr>
        <p:txBody>
          <a:bodyPr wrap="square">
            <a:normAutofit/>
          </a:bodyPr>
          <a:lstStyle/>
          <a:p>
            <a:pPr algn="l">
              <a:spcAft>
                <a:spcPts val="5022"/>
              </a:spcAft>
            </a:pPr>
            <a:r>
              <a:rPr lang="en-US" sz="6400" dirty="0">
                <a:latin typeface="Open Sans" panose="020B0606030504020204" pitchFamily="34" charset="0"/>
                <a:ea typeface="Open Sans" panose="020B0606030504020204" pitchFamily="34" charset="0"/>
                <a:cs typeface="Open Sans" panose="020B0606030504020204" pitchFamily="34" charset="0"/>
              </a:rPr>
              <a:t>I want to cover the additional convenience methods now, since, as you can see from this table, many take a functional interface instance, as an argument.</a:t>
            </a:r>
          </a:p>
        </p:txBody>
      </p:sp>
      <p:graphicFrame>
        <p:nvGraphicFramePr>
          <p:cNvPr id="4" name="Table 3">
            <a:extLst>
              <a:ext uri="{FF2B5EF4-FFF2-40B4-BE49-F238E27FC236}">
                <a16:creationId xmlns:a16="http://schemas.microsoft.com/office/drawing/2014/main" id="{75CA2074-8D9E-3473-2327-8214B0260991}"/>
              </a:ext>
            </a:extLst>
          </p:cNvPr>
          <p:cNvGraphicFramePr>
            <a:graphicFrameLocks noGrp="1"/>
          </p:cNvGraphicFramePr>
          <p:nvPr/>
        </p:nvGraphicFramePr>
        <p:xfrm>
          <a:off x="952498" y="5294472"/>
          <a:ext cx="23381737" cy="9698005"/>
        </p:xfrm>
        <a:graphic>
          <a:graphicData uri="http://schemas.openxmlformats.org/drawingml/2006/table">
            <a:tbl>
              <a:tblPr firstRow="1" bandRow="1">
                <a:tableStyleId>{5C22544A-7EE6-4342-B048-85BDC9FD1C3A}</a:tableStyleId>
              </a:tblPr>
              <a:tblGrid>
                <a:gridCol w="6213410">
                  <a:extLst>
                    <a:ext uri="{9D8B030D-6E8A-4147-A177-3AD203B41FA5}">
                      <a16:colId xmlns:a16="http://schemas.microsoft.com/office/drawing/2014/main" val="2844207666"/>
                    </a:ext>
                  </a:extLst>
                </a:gridCol>
                <a:gridCol w="17168327">
                  <a:extLst>
                    <a:ext uri="{9D8B030D-6E8A-4147-A177-3AD203B41FA5}">
                      <a16:colId xmlns:a16="http://schemas.microsoft.com/office/drawing/2014/main" val="1891655341"/>
                    </a:ext>
                  </a:extLst>
                </a:gridCol>
              </a:tblGrid>
              <a:tr h="1188487">
                <a:tc>
                  <a:txBody>
                    <a:bodyPr/>
                    <a:lstStyle/>
                    <a:p>
                      <a:pPr marL="180000" algn="l"/>
                      <a:r>
                        <a:rPr lang="en-US" sz="5400" dirty="0">
                          <a:solidFill>
                            <a:schemeClr val="tx1"/>
                          </a:solidFill>
                          <a:latin typeface="Open Sans" panose="020B0606030504020204" pitchFamily="34" charset="0"/>
                          <a:ea typeface="Open Sans" panose="020B0606030504020204" pitchFamily="34" charset="0"/>
                          <a:cs typeface="Open Sans" panose="020B0606030504020204" pitchFamily="34" charset="0"/>
                        </a:rPr>
                        <a:t>Type of Method</a:t>
                      </a:r>
                      <a:endParaRPr lang="en-PH" sz="5400" dirty="0">
                        <a:solidFill>
                          <a:schemeClr val="tx1"/>
                        </a:solidFill>
                        <a:latin typeface="Open Sans" panose="020B0606030504020204" pitchFamily="34" charset="0"/>
                        <a:ea typeface="Open Sans" panose="020B0606030504020204" pitchFamily="34" charset="0"/>
                        <a:cs typeface="Open Sans" panose="020B0606030504020204" pitchFamily="34" charset="0"/>
                      </a:endParaRPr>
                    </a:p>
                  </a:txBody>
                  <a:tcPr marL="86794" marR="86794" marT="43397" marB="43397">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BE4D5"/>
                    </a:solidFill>
                  </a:tcPr>
                </a:tc>
                <a:tc>
                  <a:txBody>
                    <a:bodyPr/>
                    <a:lstStyle/>
                    <a:p>
                      <a:pPr marL="180000" algn="l"/>
                      <a:r>
                        <a:rPr lang="en-US" sz="5400" dirty="0">
                          <a:solidFill>
                            <a:schemeClr val="tx1"/>
                          </a:solidFill>
                          <a:latin typeface="Open Sans" panose="020B0606030504020204" pitchFamily="34" charset="0"/>
                          <a:ea typeface="Open Sans" panose="020B0606030504020204" pitchFamily="34" charset="0"/>
                          <a:cs typeface="Open Sans" panose="020B0606030504020204" pitchFamily="34" charset="0"/>
                        </a:rPr>
                        <a:t>Method Signature</a:t>
                      </a:r>
                      <a:endParaRPr lang="en-PH" sz="5400" dirty="0">
                        <a:solidFill>
                          <a:schemeClr val="tx1"/>
                        </a:solidFill>
                        <a:latin typeface="Open Sans" panose="020B0606030504020204" pitchFamily="34" charset="0"/>
                        <a:ea typeface="Open Sans" panose="020B0606030504020204" pitchFamily="34" charset="0"/>
                        <a:cs typeface="Open Sans" panose="020B0606030504020204" pitchFamily="34" charset="0"/>
                      </a:endParaRPr>
                    </a:p>
                  </a:txBody>
                  <a:tcPr marL="86794" marR="86794" marT="43397" marB="43397">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BE4D5"/>
                    </a:solidFill>
                  </a:tcPr>
                </a:tc>
                <a:extLst>
                  <a:ext uri="{0D108BD9-81ED-4DB2-BD59-A6C34878D82A}">
                    <a16:rowId xmlns:a16="http://schemas.microsoft.com/office/drawing/2014/main" val="3978129174"/>
                  </a:ext>
                </a:extLst>
              </a:tr>
              <a:tr h="1418253">
                <a:tc>
                  <a:txBody>
                    <a:bodyPr/>
                    <a:lstStyle/>
                    <a:p>
                      <a:pPr marL="180000" marR="0" lvl="0" indent="0" algn="l" defTabSz="914400" rtl="0" eaLnBrk="1" fontAlgn="auto" latinLnBrk="0" hangingPunct="1">
                        <a:lnSpc>
                          <a:spcPct val="100000"/>
                        </a:lnSpc>
                        <a:spcBef>
                          <a:spcPts val="0"/>
                        </a:spcBef>
                        <a:spcAft>
                          <a:spcPts val="1000"/>
                        </a:spcAft>
                        <a:buClr>
                          <a:srgbClr val="000000"/>
                        </a:buClr>
                        <a:buSzTx/>
                        <a:buFont typeface="Arial" panose="020B0604020202020204" pitchFamily="34" charset="0"/>
                        <a:buNone/>
                        <a:tabLst/>
                        <a:defRPr/>
                      </a:pPr>
                      <a:r>
                        <a:rPr lang="en-US" sz="5400" b="0" dirty="0">
                          <a:solidFill>
                            <a:schemeClr val="tx1"/>
                          </a:solidFill>
                          <a:latin typeface="Open Sans" panose="020B0606030504020204" pitchFamily="34" charset="0"/>
                          <a:ea typeface="Open Sans" panose="020B0606030504020204" pitchFamily="34" charset="0"/>
                          <a:cs typeface="Open Sans" panose="020B0606030504020204" pitchFamily="34" charset="0"/>
                        </a:rPr>
                        <a:t>static</a:t>
                      </a:r>
                    </a:p>
                  </a:txBody>
                  <a:tcPr marL="86794" marR="86794" marT="43397" marB="43397">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180000" marR="0" lvl="0" indent="0" algn="l" defTabSz="914400" rtl="0" eaLnBrk="1" fontAlgn="auto" latinLnBrk="0" hangingPunct="1">
                        <a:lnSpc>
                          <a:spcPct val="100000"/>
                        </a:lnSpc>
                        <a:spcBef>
                          <a:spcPts val="0"/>
                        </a:spcBef>
                        <a:spcAft>
                          <a:spcPts val="1000"/>
                        </a:spcAft>
                        <a:buClr>
                          <a:srgbClr val="000000"/>
                        </a:buClr>
                        <a:buSzTx/>
                        <a:buFont typeface="Arial" panose="020B0604020202020204" pitchFamily="34" charset="0"/>
                        <a:buNone/>
                        <a:tabLst/>
                        <a:defRPr/>
                      </a:pPr>
                      <a:r>
                        <a:rPr lang="en-US" sz="5400" b="0" dirty="0">
                          <a:solidFill>
                            <a:schemeClr val="tx1"/>
                          </a:solidFill>
                          <a:latin typeface="Open Sans" panose="020B0606030504020204" pitchFamily="34" charset="0"/>
                          <a:ea typeface="Open Sans" panose="020B0606030504020204" pitchFamily="34" charset="0"/>
                          <a:cs typeface="Open Sans" panose="020B0606030504020204" pitchFamily="34" charset="0"/>
                        </a:rPr>
                        <a:t>Comparator </a:t>
                      </a:r>
                      <a:r>
                        <a:rPr lang="en-US" sz="5400" b="1" dirty="0">
                          <a:solidFill>
                            <a:schemeClr val="tx1"/>
                          </a:solidFill>
                          <a:latin typeface="Open Sans" panose="020B0606030504020204" pitchFamily="34" charset="0"/>
                          <a:ea typeface="Open Sans" panose="020B0606030504020204" pitchFamily="34" charset="0"/>
                          <a:cs typeface="Open Sans" panose="020B0606030504020204" pitchFamily="34" charset="0"/>
                        </a:rPr>
                        <a:t>comparing</a:t>
                      </a:r>
                      <a:r>
                        <a:rPr lang="en-US" sz="5400" b="0" dirty="0">
                          <a:solidFill>
                            <a:schemeClr val="tx1"/>
                          </a:solidFill>
                          <a:latin typeface="Open Sans" panose="020B0606030504020204" pitchFamily="34" charset="0"/>
                          <a:ea typeface="Open Sans" panose="020B0606030504020204" pitchFamily="34" charset="0"/>
                          <a:cs typeface="Open Sans" panose="020B0606030504020204" pitchFamily="34" charset="0"/>
                        </a:rPr>
                        <a:t>(Function </a:t>
                      </a:r>
                      <a:r>
                        <a:rPr lang="en-US" sz="5400" b="0" dirty="0" err="1">
                          <a:solidFill>
                            <a:schemeClr val="tx1"/>
                          </a:solidFill>
                          <a:latin typeface="Open Sans" panose="020B0606030504020204" pitchFamily="34" charset="0"/>
                          <a:ea typeface="Open Sans" panose="020B0606030504020204" pitchFamily="34" charset="0"/>
                          <a:cs typeface="Open Sans" panose="020B0606030504020204" pitchFamily="34" charset="0"/>
                        </a:rPr>
                        <a:t>keyExtractor</a:t>
                      </a:r>
                      <a:r>
                        <a:rPr lang="en-US" sz="5400" b="0" dirty="0">
                          <a:solidFill>
                            <a:schemeClr val="tx1"/>
                          </a:solidFill>
                          <a:latin typeface="Open Sans" panose="020B0606030504020204" pitchFamily="34" charset="0"/>
                          <a:ea typeface="Open Sans" panose="020B0606030504020204" pitchFamily="34" charset="0"/>
                          <a:cs typeface="Open Sans" panose="020B0606030504020204" pitchFamily="34" charset="0"/>
                        </a:rPr>
                        <a:t>)</a:t>
                      </a:r>
                    </a:p>
                  </a:txBody>
                  <a:tcPr marL="86794" marR="86794" marT="43397" marB="43397">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40325450"/>
                  </a:ext>
                </a:extLst>
              </a:tr>
              <a:tr h="1418253">
                <a:tc>
                  <a:txBody>
                    <a:bodyPr/>
                    <a:lstStyle/>
                    <a:p>
                      <a:pPr marL="180000" marR="0" lvl="0" indent="0" algn="l" defTabSz="914400" rtl="0" eaLnBrk="1" fontAlgn="auto" latinLnBrk="0" hangingPunct="1">
                        <a:lnSpc>
                          <a:spcPct val="100000"/>
                        </a:lnSpc>
                        <a:spcBef>
                          <a:spcPts val="0"/>
                        </a:spcBef>
                        <a:spcAft>
                          <a:spcPts val="1000"/>
                        </a:spcAft>
                        <a:buClr>
                          <a:srgbClr val="000000"/>
                        </a:buClr>
                        <a:buSzTx/>
                        <a:buFont typeface="Arial" panose="020B0604020202020204" pitchFamily="34" charset="0"/>
                        <a:buNone/>
                        <a:tabLst/>
                        <a:defRPr/>
                      </a:pPr>
                      <a:r>
                        <a:rPr lang="en-US" sz="5400" b="0" dirty="0">
                          <a:solidFill>
                            <a:schemeClr val="tx1"/>
                          </a:solidFill>
                          <a:latin typeface="Open Sans" panose="020B0606030504020204" pitchFamily="34" charset="0"/>
                          <a:ea typeface="Open Sans" panose="020B0606030504020204" pitchFamily="34" charset="0"/>
                          <a:cs typeface="Open Sans" panose="020B0606030504020204" pitchFamily="34" charset="0"/>
                        </a:rPr>
                        <a:t>static</a:t>
                      </a:r>
                    </a:p>
                  </a:txBody>
                  <a:tcPr marL="86794" marR="86794" marT="43397" marB="43397">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180000" marR="0" lvl="0" indent="0" algn="l" defTabSz="914400" rtl="0" eaLnBrk="1" fontAlgn="auto" latinLnBrk="0" hangingPunct="1">
                        <a:lnSpc>
                          <a:spcPct val="100000"/>
                        </a:lnSpc>
                        <a:spcBef>
                          <a:spcPts val="0"/>
                        </a:spcBef>
                        <a:spcAft>
                          <a:spcPts val="1000"/>
                        </a:spcAft>
                        <a:buClr>
                          <a:srgbClr val="000000"/>
                        </a:buClr>
                        <a:buSzTx/>
                        <a:buFont typeface="Arial" panose="020B0604020202020204" pitchFamily="34" charset="0"/>
                        <a:buNone/>
                        <a:tabLst/>
                        <a:defRPr/>
                      </a:pPr>
                      <a:r>
                        <a:rPr lang="en-US" sz="5400" b="0" dirty="0">
                          <a:solidFill>
                            <a:schemeClr val="tx1"/>
                          </a:solidFill>
                          <a:latin typeface="Open Sans" panose="020B0606030504020204" pitchFamily="34" charset="0"/>
                          <a:ea typeface="Open Sans" panose="020B0606030504020204" pitchFamily="34" charset="0"/>
                          <a:cs typeface="Open Sans" panose="020B0606030504020204" pitchFamily="34" charset="0"/>
                        </a:rPr>
                        <a:t>Comparator </a:t>
                      </a:r>
                      <a:r>
                        <a:rPr lang="en-US" sz="5400" b="0" dirty="0" err="1">
                          <a:solidFill>
                            <a:schemeClr val="tx1"/>
                          </a:solidFill>
                          <a:latin typeface="Open Sans" panose="020B0606030504020204" pitchFamily="34" charset="0"/>
                          <a:ea typeface="Open Sans" panose="020B0606030504020204" pitchFamily="34" charset="0"/>
                          <a:cs typeface="Open Sans" panose="020B0606030504020204" pitchFamily="34" charset="0"/>
                        </a:rPr>
                        <a:t>naturalOrder</a:t>
                      </a:r>
                      <a:r>
                        <a:rPr lang="en-US" sz="5400" b="0" dirty="0">
                          <a:solidFill>
                            <a:schemeClr val="tx1"/>
                          </a:solidFill>
                          <a:latin typeface="Open Sans" panose="020B0606030504020204" pitchFamily="34" charset="0"/>
                          <a:ea typeface="Open Sans" panose="020B0606030504020204" pitchFamily="34" charset="0"/>
                          <a:cs typeface="Open Sans" panose="020B0606030504020204" pitchFamily="34" charset="0"/>
                        </a:rPr>
                        <a:t>()</a:t>
                      </a:r>
                    </a:p>
                  </a:txBody>
                  <a:tcPr marL="86794" marR="86794" marT="43397" marB="43397">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521613951"/>
                  </a:ext>
                </a:extLst>
              </a:tr>
              <a:tr h="1418253">
                <a:tc>
                  <a:txBody>
                    <a:bodyPr/>
                    <a:lstStyle/>
                    <a:p>
                      <a:pPr marL="180000" marR="0" lvl="0" indent="0" algn="l" defTabSz="914400" rtl="0" eaLnBrk="1" fontAlgn="auto" latinLnBrk="0" hangingPunct="1">
                        <a:lnSpc>
                          <a:spcPct val="100000"/>
                        </a:lnSpc>
                        <a:spcBef>
                          <a:spcPts val="0"/>
                        </a:spcBef>
                        <a:spcAft>
                          <a:spcPts val="1000"/>
                        </a:spcAft>
                        <a:buClr>
                          <a:srgbClr val="000000"/>
                        </a:buClr>
                        <a:buSzTx/>
                        <a:buFont typeface="Arial" panose="020B0604020202020204" pitchFamily="34" charset="0"/>
                        <a:buNone/>
                        <a:tabLst/>
                        <a:defRPr/>
                      </a:pPr>
                      <a:r>
                        <a:rPr lang="en-US" sz="5400" b="0" dirty="0">
                          <a:solidFill>
                            <a:schemeClr val="tx1"/>
                          </a:solidFill>
                          <a:latin typeface="Open Sans" panose="020B0606030504020204" pitchFamily="34" charset="0"/>
                          <a:ea typeface="Open Sans" panose="020B0606030504020204" pitchFamily="34" charset="0"/>
                          <a:cs typeface="Open Sans" panose="020B0606030504020204" pitchFamily="34" charset="0"/>
                        </a:rPr>
                        <a:t>static</a:t>
                      </a:r>
                    </a:p>
                  </a:txBody>
                  <a:tcPr marL="86794" marR="86794" marT="43397" marB="43397">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180000" marR="0" lvl="0" indent="0" algn="l" defTabSz="914400" rtl="0" eaLnBrk="1" fontAlgn="auto" latinLnBrk="0" hangingPunct="1">
                        <a:lnSpc>
                          <a:spcPct val="100000"/>
                        </a:lnSpc>
                        <a:spcBef>
                          <a:spcPts val="0"/>
                        </a:spcBef>
                        <a:spcAft>
                          <a:spcPts val="1000"/>
                        </a:spcAft>
                        <a:buClr>
                          <a:srgbClr val="000000"/>
                        </a:buClr>
                        <a:buSzTx/>
                        <a:buFont typeface="Arial" panose="020B0604020202020204" pitchFamily="34" charset="0"/>
                        <a:buNone/>
                        <a:tabLst/>
                        <a:defRPr/>
                      </a:pPr>
                      <a:r>
                        <a:rPr lang="en-US" sz="5400" b="0" dirty="0">
                          <a:solidFill>
                            <a:schemeClr val="tx1"/>
                          </a:solidFill>
                          <a:latin typeface="Open Sans" panose="020B0606030504020204" pitchFamily="34" charset="0"/>
                          <a:ea typeface="Open Sans" panose="020B0606030504020204" pitchFamily="34" charset="0"/>
                          <a:cs typeface="Open Sans" panose="020B0606030504020204" pitchFamily="34" charset="0"/>
                        </a:rPr>
                        <a:t>Comparator </a:t>
                      </a:r>
                      <a:r>
                        <a:rPr lang="en-US" sz="5400" b="0" dirty="0" err="1">
                          <a:solidFill>
                            <a:schemeClr val="tx1"/>
                          </a:solidFill>
                          <a:latin typeface="Open Sans" panose="020B0606030504020204" pitchFamily="34" charset="0"/>
                          <a:ea typeface="Open Sans" panose="020B0606030504020204" pitchFamily="34" charset="0"/>
                          <a:cs typeface="Open Sans" panose="020B0606030504020204" pitchFamily="34" charset="0"/>
                        </a:rPr>
                        <a:t>reverseOrder</a:t>
                      </a:r>
                      <a:r>
                        <a:rPr lang="en-US" sz="5400" b="0" dirty="0">
                          <a:solidFill>
                            <a:schemeClr val="tx1"/>
                          </a:solidFill>
                          <a:latin typeface="Open Sans" panose="020B0606030504020204" pitchFamily="34" charset="0"/>
                          <a:ea typeface="Open Sans" panose="020B0606030504020204" pitchFamily="34" charset="0"/>
                          <a:cs typeface="Open Sans" panose="020B0606030504020204" pitchFamily="34" charset="0"/>
                        </a:rPr>
                        <a:t>()</a:t>
                      </a:r>
                    </a:p>
                  </a:txBody>
                  <a:tcPr marL="86794" marR="86794" marT="43397" marB="43397">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420160854"/>
                  </a:ext>
                </a:extLst>
              </a:tr>
              <a:tr h="1418253">
                <a:tc>
                  <a:txBody>
                    <a:bodyPr/>
                    <a:lstStyle/>
                    <a:p>
                      <a:pPr marL="180000" marR="0" lvl="0" indent="0" algn="l" defTabSz="914400" rtl="0" eaLnBrk="1" fontAlgn="auto" latinLnBrk="0" hangingPunct="1">
                        <a:lnSpc>
                          <a:spcPct val="100000"/>
                        </a:lnSpc>
                        <a:spcBef>
                          <a:spcPts val="0"/>
                        </a:spcBef>
                        <a:spcAft>
                          <a:spcPts val="1000"/>
                        </a:spcAft>
                        <a:buClr>
                          <a:srgbClr val="000000"/>
                        </a:buClr>
                        <a:buSzTx/>
                        <a:buFont typeface="Arial" panose="020B0604020202020204" pitchFamily="34" charset="0"/>
                        <a:buNone/>
                        <a:tabLst/>
                        <a:defRPr/>
                      </a:pPr>
                      <a:r>
                        <a:rPr lang="en-US" sz="5400" b="0" dirty="0">
                          <a:solidFill>
                            <a:schemeClr val="tx1"/>
                          </a:solidFill>
                          <a:latin typeface="Open Sans" panose="020B0606030504020204" pitchFamily="34" charset="0"/>
                          <a:ea typeface="Open Sans" panose="020B0606030504020204" pitchFamily="34" charset="0"/>
                          <a:cs typeface="Open Sans" panose="020B0606030504020204" pitchFamily="34" charset="0"/>
                        </a:rPr>
                        <a:t>default</a:t>
                      </a:r>
                    </a:p>
                  </a:txBody>
                  <a:tcPr marL="86794" marR="86794" marT="43397" marB="43397">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180000" marR="0" lvl="0" indent="0" algn="l" defTabSz="914400" rtl="0" eaLnBrk="1" fontAlgn="auto" latinLnBrk="0" hangingPunct="1">
                        <a:lnSpc>
                          <a:spcPct val="100000"/>
                        </a:lnSpc>
                        <a:spcBef>
                          <a:spcPts val="0"/>
                        </a:spcBef>
                        <a:spcAft>
                          <a:spcPts val="1000"/>
                        </a:spcAft>
                        <a:buClr>
                          <a:srgbClr val="000000"/>
                        </a:buClr>
                        <a:buSzTx/>
                        <a:buFont typeface="Arial" panose="020B0604020202020204" pitchFamily="34" charset="0"/>
                        <a:buNone/>
                        <a:tabLst/>
                        <a:defRPr/>
                      </a:pPr>
                      <a:r>
                        <a:rPr lang="en-US" sz="5400" b="0" dirty="0">
                          <a:solidFill>
                            <a:schemeClr val="tx1"/>
                          </a:solidFill>
                          <a:latin typeface="Open Sans" panose="020B0606030504020204" pitchFamily="34" charset="0"/>
                          <a:ea typeface="Open Sans" panose="020B0606030504020204" pitchFamily="34" charset="0"/>
                          <a:cs typeface="Open Sans" panose="020B0606030504020204" pitchFamily="34" charset="0"/>
                        </a:rPr>
                        <a:t>Comparator </a:t>
                      </a:r>
                      <a:r>
                        <a:rPr lang="en-US" sz="5400" b="1" dirty="0" err="1">
                          <a:solidFill>
                            <a:schemeClr val="tx1"/>
                          </a:solidFill>
                          <a:latin typeface="Open Sans" panose="020B0606030504020204" pitchFamily="34" charset="0"/>
                          <a:ea typeface="Open Sans" panose="020B0606030504020204" pitchFamily="34" charset="0"/>
                          <a:cs typeface="Open Sans" panose="020B0606030504020204" pitchFamily="34" charset="0"/>
                        </a:rPr>
                        <a:t>thenComparing</a:t>
                      </a:r>
                      <a:r>
                        <a:rPr lang="en-US" sz="5400" b="0" dirty="0">
                          <a:solidFill>
                            <a:schemeClr val="tx1"/>
                          </a:solidFill>
                          <a:latin typeface="Open Sans" panose="020B0606030504020204" pitchFamily="34" charset="0"/>
                          <a:ea typeface="Open Sans" panose="020B0606030504020204" pitchFamily="34" charset="0"/>
                          <a:cs typeface="Open Sans" panose="020B0606030504020204" pitchFamily="34" charset="0"/>
                        </a:rPr>
                        <a:t>(Comparator other)</a:t>
                      </a:r>
                    </a:p>
                  </a:txBody>
                  <a:tcPr marL="86794" marR="86794" marT="43397" marB="43397">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112155813"/>
                  </a:ext>
                </a:extLst>
              </a:tr>
              <a:tr h="1418253">
                <a:tc>
                  <a:txBody>
                    <a:bodyPr/>
                    <a:lstStyle/>
                    <a:p>
                      <a:pPr marL="180000" marR="0" lvl="0" indent="0" algn="l" defTabSz="914400" rtl="0" eaLnBrk="1" fontAlgn="auto" latinLnBrk="0" hangingPunct="1">
                        <a:lnSpc>
                          <a:spcPct val="100000"/>
                        </a:lnSpc>
                        <a:spcBef>
                          <a:spcPts val="0"/>
                        </a:spcBef>
                        <a:spcAft>
                          <a:spcPts val="1000"/>
                        </a:spcAft>
                        <a:buClr>
                          <a:srgbClr val="000000"/>
                        </a:buClr>
                        <a:buSzTx/>
                        <a:buFont typeface="Arial" panose="020B0604020202020204" pitchFamily="34" charset="0"/>
                        <a:buNone/>
                        <a:tabLst/>
                        <a:defRPr/>
                      </a:pPr>
                      <a:r>
                        <a:rPr lang="en-US" sz="5400" b="0" dirty="0">
                          <a:solidFill>
                            <a:schemeClr val="tx1"/>
                          </a:solidFill>
                          <a:latin typeface="Open Sans" panose="020B0606030504020204" pitchFamily="34" charset="0"/>
                          <a:ea typeface="Open Sans" panose="020B0606030504020204" pitchFamily="34" charset="0"/>
                          <a:cs typeface="Open Sans" panose="020B0606030504020204" pitchFamily="34" charset="0"/>
                        </a:rPr>
                        <a:t>default</a:t>
                      </a:r>
                    </a:p>
                  </a:txBody>
                  <a:tcPr marL="86794" marR="86794" marT="43397" marB="43397">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180000" marR="0" lvl="0" indent="0" algn="l" defTabSz="914400" rtl="0" eaLnBrk="1" fontAlgn="auto" latinLnBrk="0" hangingPunct="1">
                        <a:lnSpc>
                          <a:spcPct val="100000"/>
                        </a:lnSpc>
                        <a:spcBef>
                          <a:spcPts val="0"/>
                        </a:spcBef>
                        <a:spcAft>
                          <a:spcPts val="1000"/>
                        </a:spcAft>
                        <a:buClr>
                          <a:srgbClr val="000000"/>
                        </a:buClr>
                        <a:buSzTx/>
                        <a:buFont typeface="Arial" panose="020B0604020202020204" pitchFamily="34" charset="0"/>
                        <a:buNone/>
                        <a:tabLst/>
                        <a:defRPr/>
                      </a:pPr>
                      <a:r>
                        <a:rPr lang="en-US" sz="5400" b="0" dirty="0">
                          <a:solidFill>
                            <a:schemeClr val="tx1"/>
                          </a:solidFill>
                          <a:latin typeface="Open Sans" panose="020B0606030504020204" pitchFamily="34" charset="0"/>
                          <a:ea typeface="Open Sans" panose="020B0606030504020204" pitchFamily="34" charset="0"/>
                          <a:cs typeface="Open Sans" panose="020B0606030504020204" pitchFamily="34" charset="0"/>
                        </a:rPr>
                        <a:t>Comparator </a:t>
                      </a:r>
                      <a:r>
                        <a:rPr lang="en-US" sz="5400" b="1" dirty="0" err="1">
                          <a:solidFill>
                            <a:schemeClr val="tx1"/>
                          </a:solidFill>
                          <a:latin typeface="Open Sans" panose="020B0606030504020204" pitchFamily="34" charset="0"/>
                          <a:ea typeface="Open Sans" panose="020B0606030504020204" pitchFamily="34" charset="0"/>
                          <a:cs typeface="Open Sans" panose="020B0606030504020204" pitchFamily="34" charset="0"/>
                        </a:rPr>
                        <a:t>thenComparing</a:t>
                      </a:r>
                      <a:r>
                        <a:rPr lang="en-US" sz="5400" b="0" dirty="0">
                          <a:solidFill>
                            <a:schemeClr val="tx1"/>
                          </a:solidFill>
                          <a:latin typeface="Open Sans" panose="020B0606030504020204" pitchFamily="34" charset="0"/>
                          <a:ea typeface="Open Sans" panose="020B0606030504020204" pitchFamily="34" charset="0"/>
                          <a:cs typeface="Open Sans" panose="020B0606030504020204" pitchFamily="34" charset="0"/>
                        </a:rPr>
                        <a:t>(Function </a:t>
                      </a:r>
                      <a:r>
                        <a:rPr lang="en-US" sz="5400" b="0" dirty="0" err="1">
                          <a:solidFill>
                            <a:schemeClr val="tx1"/>
                          </a:solidFill>
                          <a:latin typeface="Open Sans" panose="020B0606030504020204" pitchFamily="34" charset="0"/>
                          <a:ea typeface="Open Sans" panose="020B0606030504020204" pitchFamily="34" charset="0"/>
                          <a:cs typeface="Open Sans" panose="020B0606030504020204" pitchFamily="34" charset="0"/>
                        </a:rPr>
                        <a:t>keyExtractor</a:t>
                      </a:r>
                      <a:r>
                        <a:rPr lang="en-US" sz="5400" b="0" dirty="0">
                          <a:solidFill>
                            <a:schemeClr val="tx1"/>
                          </a:solidFill>
                          <a:latin typeface="Open Sans" panose="020B0606030504020204" pitchFamily="34" charset="0"/>
                          <a:ea typeface="Open Sans" panose="020B0606030504020204" pitchFamily="34" charset="0"/>
                          <a:cs typeface="Open Sans" panose="020B0606030504020204" pitchFamily="34" charset="0"/>
                        </a:rPr>
                        <a:t>)</a:t>
                      </a:r>
                    </a:p>
                  </a:txBody>
                  <a:tcPr marL="86794" marR="86794" marT="43397" marB="43397">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132363078"/>
                  </a:ext>
                </a:extLst>
              </a:tr>
              <a:tr h="1418253">
                <a:tc>
                  <a:txBody>
                    <a:bodyPr/>
                    <a:lstStyle/>
                    <a:p>
                      <a:pPr marL="180000" marR="0" lvl="0" indent="0" algn="l" defTabSz="914400" rtl="0" eaLnBrk="1" fontAlgn="auto" latinLnBrk="0" hangingPunct="1">
                        <a:lnSpc>
                          <a:spcPct val="100000"/>
                        </a:lnSpc>
                        <a:spcBef>
                          <a:spcPts val="0"/>
                        </a:spcBef>
                        <a:spcAft>
                          <a:spcPts val="1000"/>
                        </a:spcAft>
                        <a:buClr>
                          <a:srgbClr val="000000"/>
                        </a:buClr>
                        <a:buSzTx/>
                        <a:buFont typeface="Arial" panose="020B0604020202020204" pitchFamily="34" charset="0"/>
                        <a:buNone/>
                        <a:tabLst/>
                        <a:defRPr/>
                      </a:pPr>
                      <a:r>
                        <a:rPr lang="en-US" sz="5400" b="0" dirty="0">
                          <a:solidFill>
                            <a:schemeClr val="tx1"/>
                          </a:solidFill>
                          <a:latin typeface="Open Sans" panose="020B0606030504020204" pitchFamily="34" charset="0"/>
                          <a:ea typeface="Open Sans" panose="020B0606030504020204" pitchFamily="34" charset="0"/>
                          <a:cs typeface="Open Sans" panose="020B0606030504020204" pitchFamily="34" charset="0"/>
                        </a:rPr>
                        <a:t>default</a:t>
                      </a:r>
                    </a:p>
                  </a:txBody>
                  <a:tcPr marL="86794" marR="86794" marT="43397" marB="43397">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180000" marR="0" lvl="0" indent="0" algn="l" defTabSz="914400" rtl="0" eaLnBrk="1" fontAlgn="auto" latinLnBrk="0" hangingPunct="1">
                        <a:lnSpc>
                          <a:spcPct val="100000"/>
                        </a:lnSpc>
                        <a:spcBef>
                          <a:spcPts val="0"/>
                        </a:spcBef>
                        <a:spcAft>
                          <a:spcPts val="1000"/>
                        </a:spcAft>
                        <a:buClr>
                          <a:srgbClr val="000000"/>
                        </a:buClr>
                        <a:buSzTx/>
                        <a:buFont typeface="Arial" panose="020B0604020202020204" pitchFamily="34" charset="0"/>
                        <a:buNone/>
                        <a:tabLst/>
                        <a:defRPr/>
                      </a:pPr>
                      <a:r>
                        <a:rPr lang="en-US" sz="5400" b="0" dirty="0">
                          <a:solidFill>
                            <a:schemeClr val="tx1"/>
                          </a:solidFill>
                          <a:latin typeface="Open Sans" panose="020B0606030504020204" pitchFamily="34" charset="0"/>
                          <a:ea typeface="Open Sans" panose="020B0606030504020204" pitchFamily="34" charset="0"/>
                          <a:cs typeface="Open Sans" panose="020B0606030504020204" pitchFamily="34" charset="0"/>
                        </a:rPr>
                        <a:t>Comparator </a:t>
                      </a:r>
                      <a:r>
                        <a:rPr lang="en-US" sz="5400" b="1" dirty="0">
                          <a:solidFill>
                            <a:schemeClr val="tx1"/>
                          </a:solidFill>
                          <a:latin typeface="Open Sans" panose="020B0606030504020204" pitchFamily="34" charset="0"/>
                          <a:ea typeface="Open Sans" panose="020B0606030504020204" pitchFamily="34" charset="0"/>
                          <a:cs typeface="Open Sans" panose="020B0606030504020204" pitchFamily="34" charset="0"/>
                        </a:rPr>
                        <a:t>reversed</a:t>
                      </a:r>
                      <a:r>
                        <a:rPr lang="en-US" sz="5400" b="0" dirty="0">
                          <a:solidFill>
                            <a:schemeClr val="tx1"/>
                          </a:solidFill>
                          <a:latin typeface="Open Sans" panose="020B0606030504020204" pitchFamily="34" charset="0"/>
                          <a:ea typeface="Open Sans" panose="020B0606030504020204" pitchFamily="34" charset="0"/>
                          <a:cs typeface="Open Sans" panose="020B0606030504020204" pitchFamily="34" charset="0"/>
                        </a:rPr>
                        <a:t>()</a:t>
                      </a:r>
                    </a:p>
                  </a:txBody>
                  <a:tcPr marL="86794" marR="86794" marT="43397" marB="43397">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40830193"/>
                  </a:ext>
                </a:extLst>
              </a:tr>
            </a:tbl>
          </a:graphicData>
        </a:graphic>
      </p:graphicFrame>
      <p:sp>
        <p:nvSpPr>
          <p:cNvPr id="2" name="Shape 126">
            <a:extLst>
              <a:ext uri="{FF2B5EF4-FFF2-40B4-BE49-F238E27FC236}">
                <a16:creationId xmlns:a16="http://schemas.microsoft.com/office/drawing/2014/main" id="{34B04FE7-9B4E-D4D0-004C-926E357157AC}"/>
              </a:ext>
            </a:extLst>
          </p:cNvPr>
          <p:cNvSpPr/>
          <p:nvPr/>
        </p:nvSpPr>
        <p:spPr>
          <a:xfrm>
            <a:off x="952498" y="459786"/>
            <a:ext cx="26430312" cy="1815882"/>
          </a:xfrm>
          <a:prstGeom prst="rect">
            <a:avLst/>
          </a:prstGeom>
          <a:ln w="12700">
            <a:miter lim="400000"/>
          </a:ln>
          <a:extLst>
            <a:ext uri="{C572A759-6A51-4108-AA02-DFA0A04FC94B}">
              <ma14:wrappingTextBoxFlag xmlns:ma14="http://schemas.microsoft.com/office/mac/drawingml/2011/main" xmlns="" val="1"/>
            </a:ext>
          </a:extLst>
        </p:spPr>
        <p:txBody>
          <a:bodyPr wrap="none" lIns="76200" tIns="76200" rIns="76200" bIns="76200">
            <a:spAutoFit/>
          </a:bodyPr>
          <a:lstStyle>
            <a:lvl1pPr algn="l">
              <a:defRPr sz="7000">
                <a:latin typeface="Alright Sans"/>
                <a:ea typeface="Alright Sans"/>
                <a:cs typeface="Alright Sans"/>
                <a:sym typeface="Alright Sans"/>
              </a:defRPr>
            </a:lvl1pPr>
          </a:lstStyle>
          <a:p>
            <a:pPr>
              <a:defRPr sz="3000">
                <a:latin typeface="Alright Sans"/>
                <a:ea typeface="Alright Sans"/>
                <a:cs typeface="Alright Sans"/>
                <a:sym typeface="Alright Sans"/>
              </a:defRPr>
            </a:pPr>
            <a:r>
              <a:rPr lang="en-US" sz="10800" dirty="0">
                <a:latin typeface="Open Sans" panose="020B0606030504020204" pitchFamily="34" charset="0"/>
                <a:ea typeface="Open Sans" panose="020B0606030504020204" pitchFamily="34" charset="0"/>
                <a:cs typeface="Open Sans" panose="020B0606030504020204" pitchFamily="34" charset="0"/>
              </a:rPr>
              <a:t>Comparator's additional helper methods</a:t>
            </a:r>
          </a:p>
        </p:txBody>
      </p:sp>
      <p:sp>
        <p:nvSpPr>
          <p:cNvPr id="5" name="Rectangle 4">
            <a:extLst>
              <a:ext uri="{FF2B5EF4-FFF2-40B4-BE49-F238E27FC236}">
                <a16:creationId xmlns:a16="http://schemas.microsoft.com/office/drawing/2014/main" id="{6A624084-D17E-E5F9-5793-13B6E0D50A73}"/>
              </a:ext>
            </a:extLst>
          </p:cNvPr>
          <p:cNvSpPr/>
          <p:nvPr/>
        </p:nvSpPr>
        <p:spPr>
          <a:xfrm>
            <a:off x="952498" y="15269923"/>
            <a:ext cx="34782670" cy="2779360"/>
          </a:xfrm>
          <a:prstGeom prst="rect">
            <a:avLst/>
          </a:prstGeom>
        </p:spPr>
        <p:txBody>
          <a:bodyPr wrap="square">
            <a:normAutofit/>
          </a:bodyPr>
          <a:lstStyle/>
          <a:p>
            <a:pPr algn="l">
              <a:spcAft>
                <a:spcPts val="5022"/>
              </a:spcAft>
            </a:pPr>
            <a:r>
              <a:rPr lang="en-US" sz="6400" dirty="0">
                <a:latin typeface="Open Sans" panose="020B0606030504020204" pitchFamily="34" charset="0"/>
                <a:ea typeface="Open Sans" panose="020B0606030504020204" pitchFamily="34" charset="0"/>
                <a:cs typeface="Open Sans" panose="020B0606030504020204" pitchFamily="34" charset="0"/>
              </a:rPr>
              <a:t>There is a comparing static method, and an overloaded default method named </a:t>
            </a:r>
            <a:r>
              <a:rPr lang="en-US" sz="6400" dirty="0" err="1">
                <a:latin typeface="Open Sans" panose="020B0606030504020204" pitchFamily="34" charset="0"/>
                <a:ea typeface="Open Sans" panose="020B0606030504020204" pitchFamily="34" charset="0"/>
                <a:cs typeface="Open Sans" panose="020B0606030504020204" pitchFamily="34" charset="0"/>
              </a:rPr>
              <a:t>thenComparing</a:t>
            </a:r>
            <a:r>
              <a:rPr lang="en-US" sz="6400" dirty="0">
                <a:latin typeface="Open Sans" panose="020B0606030504020204" pitchFamily="34" charset="0"/>
                <a:ea typeface="Open Sans" panose="020B0606030504020204" pitchFamily="34" charset="0"/>
                <a:cs typeface="Open Sans" panose="020B0606030504020204" pitchFamily="34" charset="0"/>
              </a:rPr>
              <a:t>, and finally a default reversed method.</a:t>
            </a:r>
          </a:p>
        </p:txBody>
      </p:sp>
    </p:spTree>
    <p:extLst>
      <p:ext uri="{BB962C8B-B14F-4D97-AF65-F5344CB8AC3E}">
        <p14:creationId xmlns:p14="http://schemas.microsoft.com/office/powerpoint/2010/main" val="2283502138"/>
      </p:ext>
    </p:extLst>
  </p:cSld>
  <p:clrMapOvr>
    <a:masterClrMapping/>
  </p:clrMapOvr>
  <p:transition spd="slow"/>
</p:sld>
</file>

<file path=ppt/theme/_rels/theme1.xml.rels><?xml version="1.0" encoding="UTF-8" standalone="yes"?>
<Relationships xmlns="http://schemas.openxmlformats.org/package/2006/relationships"><Relationship Id="rId1" Type="http://schemas.openxmlformats.org/officeDocument/2006/relationships/image" Target="../media/image1.png"/></Relationships>
</file>

<file path=ppt/theme/_rels/theme2.xml.rels><?xml version="1.0" encoding="UTF-8" standalone="yes"?>
<Relationships xmlns="http://schemas.openxmlformats.org/package/2006/relationships"><Relationship Id="rId1" Type="http://schemas.openxmlformats.org/officeDocument/2006/relationships/image" Target="../media/image1.png"/></Relationships>
</file>

<file path=ppt/theme/theme1.xml><?xml version="1.0" encoding="utf-8"?>
<a:theme xmlns:a="http://schemas.openxmlformats.org/drawingml/2006/main" name="White">
  <a:themeElements>
    <a:clrScheme name="White">
      <a:dk1>
        <a:srgbClr val="000000"/>
      </a:dk1>
      <a:lt1>
        <a:srgbClr val="FFFFFF"/>
      </a:lt1>
      <a:dk2>
        <a:srgbClr val="53585F"/>
      </a:dk2>
      <a:lt2>
        <a:srgbClr val="DCDEE0"/>
      </a:lt2>
      <a:accent1>
        <a:srgbClr val="0365C0"/>
      </a:accent1>
      <a:accent2>
        <a:srgbClr val="00882B"/>
      </a:accent2>
      <a:accent3>
        <a:srgbClr val="DCBD23"/>
      </a:accent3>
      <a:accent4>
        <a:srgbClr val="DE6A10"/>
      </a:accent4>
      <a:accent5>
        <a:srgbClr val="C82506"/>
      </a:accent5>
      <a:accent6>
        <a:srgbClr val="773F9B"/>
      </a:accent6>
      <a:hlink>
        <a:srgbClr val="0000FF"/>
      </a:hlink>
      <a:folHlink>
        <a:srgbClr val="FF00FF"/>
      </a:folHlink>
    </a:clrScheme>
    <a:fontScheme name="White">
      <a:majorFont>
        <a:latin typeface="Helvetica Light"/>
        <a:ea typeface="Helvetica Light"/>
        <a:cs typeface="Helvetica Light"/>
      </a:majorFont>
      <a:minorFont>
        <a:latin typeface="Helvetica Light"/>
        <a:ea typeface="Helvetica Light"/>
        <a:cs typeface="Helvetica Light"/>
      </a:minorFont>
    </a:fontScheme>
    <a:fmtScheme name="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38100" dist="25400" dir="5400000" rotWithShape="0">
              <a:srgbClr val="000000">
                <a:alpha val="50000"/>
              </a:srgbClr>
            </a:outerShdw>
          </a:effectLst>
        </a:effectStyle>
        <a:effectStyle>
          <a:effectLst>
            <a:outerShdw blurRad="50800" dist="12700" rotWithShape="0">
              <a:srgbClr val="000000">
                <a:alpha val="50000"/>
              </a:srgbClr>
            </a:outerShdw>
          </a:effectLst>
        </a:effectStyle>
        <a:effectStyle>
          <a:effectLst>
            <a:outerShdw blurRad="38100" dist="25400" dir="5400000" rotWithShape="0">
              <a:srgbClr val="000000">
                <a:alpha val="50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lipFill rotWithShape="1">
          <a:blip xmlns:r="http://schemas.openxmlformats.org/officeDocument/2006/relationships" r:embed="rId1"/>
          <a:srcRect/>
          <a:tile tx="0" ty="0" sx="100000" sy="100000" flip="none" algn="tl"/>
        </a:blipFill>
        <a:ln w="12700" cap="flat">
          <a:noFill/>
          <a:miter lim="400000"/>
        </a:ln>
        <a:effectLst>
          <a:outerShdw blurRad="38100" dist="25400" dir="5400000" rotWithShape="0">
            <a:srgbClr val="000000">
              <a:alpha val="50000"/>
            </a:srgbClr>
          </a:outerShdw>
        </a:effectLst>
        <a:sp3d/>
      </a:spPr>
      <a:bodyPr rot="0" spcFirstLastPara="1" vertOverflow="overflow" horzOverflow="overflow" vert="horz" wrap="square" lIns="50800" tIns="50800" rIns="50800" bIns="50800" numCol="1" spcCol="38100" rtlCol="0" anchor="ctr">
        <a:spAutoFit/>
      </a:bodyPr>
      <a:lstStyle>
        <a:defPPr marL="0" marR="0" indent="0" algn="ctr" defTabSz="825500" rtl="0" fontAlgn="auto" latinLnBrk="0" hangingPunct="0">
          <a:lnSpc>
            <a:spcPct val="100000"/>
          </a:lnSpc>
          <a:spcBef>
            <a:spcPts val="0"/>
          </a:spcBef>
          <a:spcAft>
            <a:spcPts val="0"/>
          </a:spcAft>
          <a:buClrTx/>
          <a:buSzTx/>
          <a:buFontTx/>
          <a:buNone/>
          <a:tabLst/>
          <a:defRPr kumimoji="0" sz="3200" b="0" i="0" u="none" strike="noStrike" cap="none" spc="0" normalizeH="0" baseline="0">
            <a:ln>
              <a:noFill/>
            </a:ln>
            <a:solidFill>
              <a:srgbClr val="FFFFFF"/>
            </a:solidFill>
            <a:effectLst/>
            <a:uFillTx/>
            <a:latin typeface="+mn-lt"/>
            <a:ea typeface="+mn-ea"/>
            <a:cs typeface="+mn-cs"/>
            <a:sym typeface="Helvetica Light"/>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825500" rtl="0" fontAlgn="auto" latinLnBrk="0" hangingPunct="0">
          <a:lnSpc>
            <a:spcPct val="100000"/>
          </a:lnSpc>
          <a:spcBef>
            <a:spcPts val="0"/>
          </a:spcBef>
          <a:spcAft>
            <a:spcPts val="0"/>
          </a:spcAft>
          <a:buClrTx/>
          <a:buSzTx/>
          <a:buFontTx/>
          <a:buNone/>
          <a:tabLst/>
          <a:defRPr kumimoji="0" sz="5000" b="0" i="0" u="none" strike="noStrike" cap="none" spc="0" normalizeH="0" baseline="0">
            <a:ln>
              <a:noFill/>
            </a:ln>
            <a:solidFill>
              <a:srgbClr val="000000"/>
            </a:solidFill>
            <a:effectLst/>
            <a:uFillTx/>
            <a:latin typeface="+mn-lt"/>
            <a:ea typeface="+mn-ea"/>
            <a:cs typeface="+mn-cs"/>
            <a:sym typeface="Helvetica Light"/>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ppt/theme/theme2.xml><?xml version="1.0" encoding="utf-8"?>
<a:theme xmlns:a="http://schemas.openxmlformats.org/drawingml/2006/main" name="White">
  <a:themeElements>
    <a:clrScheme name="White">
      <a:dk1>
        <a:srgbClr val="000000"/>
      </a:dk1>
      <a:lt1>
        <a:srgbClr val="FFFFFF"/>
      </a:lt1>
      <a:dk2>
        <a:srgbClr val="53585F"/>
      </a:dk2>
      <a:lt2>
        <a:srgbClr val="DCDEE0"/>
      </a:lt2>
      <a:accent1>
        <a:srgbClr val="0365C0"/>
      </a:accent1>
      <a:accent2>
        <a:srgbClr val="00882B"/>
      </a:accent2>
      <a:accent3>
        <a:srgbClr val="DCBD23"/>
      </a:accent3>
      <a:accent4>
        <a:srgbClr val="DE6A10"/>
      </a:accent4>
      <a:accent5>
        <a:srgbClr val="C82506"/>
      </a:accent5>
      <a:accent6>
        <a:srgbClr val="773F9B"/>
      </a:accent6>
      <a:hlink>
        <a:srgbClr val="0000FF"/>
      </a:hlink>
      <a:folHlink>
        <a:srgbClr val="FF00FF"/>
      </a:folHlink>
    </a:clrScheme>
    <a:fontScheme name="White">
      <a:majorFont>
        <a:latin typeface="Helvetica Light"/>
        <a:ea typeface="Helvetica Light"/>
        <a:cs typeface="Helvetica Light"/>
      </a:majorFont>
      <a:minorFont>
        <a:latin typeface="Helvetica Light"/>
        <a:ea typeface="Helvetica Light"/>
        <a:cs typeface="Helvetica Light"/>
      </a:minorFont>
    </a:fontScheme>
    <a:fmtScheme name="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38100" dist="25400" dir="5400000" rotWithShape="0">
              <a:srgbClr val="000000">
                <a:alpha val="50000"/>
              </a:srgbClr>
            </a:outerShdw>
          </a:effectLst>
        </a:effectStyle>
        <a:effectStyle>
          <a:effectLst>
            <a:outerShdw blurRad="50800" dist="12700" rotWithShape="0">
              <a:srgbClr val="000000">
                <a:alpha val="50000"/>
              </a:srgbClr>
            </a:outerShdw>
          </a:effectLst>
        </a:effectStyle>
        <a:effectStyle>
          <a:effectLst>
            <a:outerShdw blurRad="38100" dist="25400" dir="5400000" rotWithShape="0">
              <a:srgbClr val="000000">
                <a:alpha val="50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lipFill rotWithShape="1">
          <a:blip xmlns:r="http://schemas.openxmlformats.org/officeDocument/2006/relationships" r:embed="rId1"/>
          <a:srcRect/>
          <a:tile tx="0" ty="0" sx="100000" sy="100000" flip="none" algn="tl"/>
        </a:blipFill>
        <a:ln w="12700" cap="flat">
          <a:noFill/>
          <a:miter lim="400000"/>
        </a:ln>
        <a:effectLst>
          <a:outerShdw blurRad="38100" dist="25400" dir="5400000" rotWithShape="0">
            <a:srgbClr val="000000">
              <a:alpha val="50000"/>
            </a:srgbClr>
          </a:outerShdw>
        </a:effectLst>
        <a:sp3d/>
      </a:spPr>
      <a:bodyPr rot="0" spcFirstLastPara="1" vertOverflow="overflow" horzOverflow="overflow" vert="horz" wrap="square" lIns="50800" tIns="50800" rIns="50800" bIns="50800" numCol="1" spcCol="38100" rtlCol="0" anchor="ctr">
        <a:spAutoFit/>
      </a:bodyPr>
      <a:lstStyle>
        <a:defPPr marL="0" marR="0" indent="0" algn="ctr" defTabSz="825500" rtl="0" fontAlgn="auto" latinLnBrk="0" hangingPunct="0">
          <a:lnSpc>
            <a:spcPct val="100000"/>
          </a:lnSpc>
          <a:spcBef>
            <a:spcPts val="0"/>
          </a:spcBef>
          <a:spcAft>
            <a:spcPts val="0"/>
          </a:spcAft>
          <a:buClrTx/>
          <a:buSzTx/>
          <a:buFontTx/>
          <a:buNone/>
          <a:tabLst/>
          <a:defRPr kumimoji="0" sz="3200" b="0" i="0" u="none" strike="noStrike" cap="none" spc="0" normalizeH="0" baseline="0">
            <a:ln>
              <a:noFill/>
            </a:ln>
            <a:solidFill>
              <a:srgbClr val="FFFFFF"/>
            </a:solidFill>
            <a:effectLst/>
            <a:uFillTx/>
            <a:latin typeface="+mn-lt"/>
            <a:ea typeface="+mn-ea"/>
            <a:cs typeface="+mn-cs"/>
            <a:sym typeface="Helvetica Light"/>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825500" rtl="0" fontAlgn="auto" latinLnBrk="0" hangingPunct="0">
          <a:lnSpc>
            <a:spcPct val="100000"/>
          </a:lnSpc>
          <a:spcBef>
            <a:spcPts val="0"/>
          </a:spcBef>
          <a:spcAft>
            <a:spcPts val="0"/>
          </a:spcAft>
          <a:buClrTx/>
          <a:buSzTx/>
          <a:buFontTx/>
          <a:buNone/>
          <a:tabLst/>
          <a:defRPr kumimoji="0" sz="5000" b="0" i="0" u="none" strike="noStrike" cap="none" spc="0" normalizeH="0" baseline="0">
            <a:ln>
              <a:noFill/>
            </a:ln>
            <a:solidFill>
              <a:srgbClr val="000000"/>
            </a:solidFill>
            <a:effectLst/>
            <a:uFillTx/>
            <a:latin typeface="+mn-lt"/>
            <a:ea typeface="+mn-ea"/>
            <a:cs typeface="+mn-cs"/>
            <a:sym typeface="Helvetica Light"/>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docProps/app.xml><?xml version="1.0" encoding="utf-8"?>
<Properties xmlns="http://schemas.openxmlformats.org/officeDocument/2006/extended-properties" xmlns:vt="http://schemas.openxmlformats.org/officeDocument/2006/docPropsVTypes">
  <TotalTime>618</TotalTime>
  <Words>5637</Words>
  <Application>Microsoft Office PowerPoint</Application>
  <PresentationFormat>Custom</PresentationFormat>
  <Paragraphs>619</Paragraphs>
  <Slides>64</Slides>
  <Notes>64</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64</vt:i4>
      </vt:variant>
    </vt:vector>
  </HeadingPairs>
  <TitlesOfParts>
    <vt:vector size="71" baseType="lpstr">
      <vt:lpstr>Arial</vt:lpstr>
      <vt:lpstr>Helvetica</vt:lpstr>
      <vt:lpstr>Helvetica Light</vt:lpstr>
      <vt:lpstr>Helvetica Neue</vt:lpstr>
      <vt:lpstr>Open Sans</vt:lpstr>
      <vt:lpstr>Roboto Mono</vt:lpstr>
      <vt:lpstr>White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Gigabyte</dc:creator>
  <cp:lastModifiedBy>Pratheevraj Kalyanasundaram</cp:lastModifiedBy>
  <cp:revision>166</cp:revision>
  <dcterms:modified xsi:type="dcterms:W3CDTF">2026-03-23T06:15:10Z</dcterms:modified>
</cp:coreProperties>
</file>