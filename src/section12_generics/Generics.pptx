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80" r:id="rId2"/>
    <p:sldId id="281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279" r:id="rId26"/>
    <p:sldId id="259" r:id="rId27"/>
    <p:sldId id="260" r:id="rId28"/>
    <p:sldId id="261" r:id="rId29"/>
    <p:sldId id="305" r:id="rId30"/>
    <p:sldId id="306" r:id="rId31"/>
    <p:sldId id="307" r:id="rId32"/>
    <p:sldId id="308" r:id="rId33"/>
    <p:sldId id="309" r:id="rId34"/>
    <p:sldId id="310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8" r:id="rId45"/>
    <p:sldId id="311" r:id="rId46"/>
    <p:sldId id="312" r:id="rId47"/>
    <p:sldId id="28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925F7-6A31-4BA8-9EED-E7E692FF7FAE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84E0B-861B-4FFF-96D5-A7531974F8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940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19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795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118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636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864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46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17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69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87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619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0159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39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63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60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37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59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816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280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974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7866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703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654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08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41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08471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221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9798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17675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7071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0314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0391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6157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7129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40191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0551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32572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8804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9988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059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1262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99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39959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9501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34738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20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49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D9CA-650B-F72D-DAE7-83DD1578D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61EF0-B406-00B9-D963-491C37292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AE7D5-8399-3ACC-016A-8311DC6E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47891-ACE6-605F-5E33-E8F46C7D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6FFE1-2B57-4F67-0E57-934F749B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71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44124-7106-8D20-212A-B3F38804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72EB2-0F1F-38AF-B136-13F7C2C19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48449-6682-6A6D-ECB6-7AB5A00B3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BED5C-97E9-7807-8D81-9E08D9E24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C0981-6FC3-34D3-ABC5-2F6D5B57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05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B16A-17CC-9D90-8227-295E140F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9F8EA-5658-AC0F-75B3-C77A1B48D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077A7-0D6D-3D9D-79D0-1AE710F7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25460-7CE8-CA26-139F-D1A37A7A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EEEF8-9783-40BD-FAB8-BE78F671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F20E7-33FC-2FA7-3AB1-80CAA847F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0A23-5532-9818-FF58-D9351A3A6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EF68F-25CE-4AB4-5893-5DB766EC5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7194B-42DC-BCFB-D880-62F9182DF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4F556-CCDD-BBEB-4F74-52DD0A827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FB1C0-A547-C5CC-F101-12270EC3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97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5972F-DF8F-CA31-78C0-8EA5490FA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7833F-280F-C1BF-BBDB-19068285D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B15B8-3730-A141-A912-878326A46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FDFE9-6426-0252-AF87-33F74498EB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8A0A4D-6E72-46D1-FCAE-BD5F229F1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27EBC-B2E6-72DF-40C2-EF6E6D73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075E8-4A62-454F-DD0C-1D5994E5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496C44-13AB-F82F-FAAA-C990BCE1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591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E5819-B898-09FB-B0FA-B0299971E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462F4-79F3-E70A-E662-DE0EDBF8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79415E-270D-5A90-A703-BBE209BE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7BB15-0B0D-AFDA-24D5-3593AF30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4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05240E-EC82-D9CD-8704-9EFC6D87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A9DCD-1FB1-4F24-185E-26ABDA2A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5C5FE-1608-29B8-5433-DC0CC516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81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FC47D-0C51-964C-FB8E-5065A1A51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7ADA-980A-6B9A-35BC-EEEBC6C44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0D3D7-E304-BF28-2C58-6F93BE146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A8EFA-B2BF-DDA0-240A-B9181F53F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6DF92-DE54-4BA6-31DC-077EF764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BCDAF-37C8-3F5A-7BB6-19764379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9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9BA5-B8A1-223E-5F80-B5FFC8C9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934DE-EF72-0833-C7EB-3E41347FA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5BA42-BB6B-A92F-9864-1E80D7D90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40385-94C4-3785-302D-46DA4B6F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49FA1-0F6E-5401-D247-B5F55D8D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1789-C273-DA59-4C78-40E3ED18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99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6EB1-E9F5-D576-5E38-6F765F2A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38F81-7491-28AF-1A5B-3BC475ED3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0D193-11F2-4FE8-0A9E-F5463F6E2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CBB5-09FA-D418-1C32-10187E51B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81AB8-8E89-3F35-7485-39502382B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91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606630-0D59-C39B-DA3B-DB0FC11683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E00C2-BBED-1C26-D94F-107E136EF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53240-EE72-DD5E-EB07-89FFD771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DC50D-B50C-6E1D-A9C6-D640FBC6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0EBA3-BC21-2A26-65B4-6D3E4DD6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121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311715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8F486-C2F0-E3D1-5C15-0D2183C2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B2E80-5F2E-11CF-61BF-5ED3CE0EB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DBBFE-3526-9818-B514-E14B6A7E6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DE8F0-7809-4045-A477-E49F6BD126B4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4BE81-3C4E-EC77-B9F4-2E61F55BF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017D-3C40-DBD9-68B3-5693D835B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3832E-C7C9-4C37-B673-19672903A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9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471962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Introduction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Generics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Welcome to a new section focusing on another crucial topic in Java: Generics.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you’ve been following this course sequentially, you should now be comfortable with generalizing your class designs conceptually.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involves identifying commonalities among your classes to think about them in a broader sense.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enable us to create and design classes in a generalized manner, without being concerned about the specific details of the elements they might contain.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prime example of a generic class in Java is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3098702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471962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Introduction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 to Generics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can use an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for any type of object because many of its methods are applicable to any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Let’s dive in to learn how to create generic types, explore their usage, and understand when they should be used.</a:t>
            </a:r>
          </a:p>
        </p:txBody>
      </p:sp>
    </p:spTree>
    <p:extLst>
      <p:ext uri="{BB962C8B-B14F-4D97-AF65-F5344CB8AC3E}">
        <p14:creationId xmlns:p14="http://schemas.microsoft.com/office/powerpoint/2010/main" val="410194141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420345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are Generics?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Java supports generic types, such as classes, records and interfaces.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also supports generic methods. Sound confusing?</a:t>
            </a:r>
          </a:p>
        </p:txBody>
      </p:sp>
    </p:spTree>
    <p:extLst>
      <p:ext uri="{BB962C8B-B14F-4D97-AF65-F5344CB8AC3E}">
        <p14:creationId xmlns:p14="http://schemas.microsoft.com/office/powerpoint/2010/main" val="292355351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9836026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Declaring a Class vs. Declaring a generic Class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840227"/>
            <a:ext cx="11594223" cy="454846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this slide, I'm showing you a regular class declaration, next to a generic class.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thing to notice with the generic class, is that the class declaration has angle brackets with a T in them, directly after the class name.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 is the placeholder for a type that will be specified later.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called a type identifier, and it can be any letter or word, but T which is short for Type is most commonly used.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E410F3-FE74-2934-4B3D-AACD7CDC97A7}"/>
              </a:ext>
            </a:extLst>
          </p:cNvPr>
          <p:cNvGraphicFramePr>
            <a:graphicFrameLocks noGrp="1"/>
          </p:cNvGraphicFramePr>
          <p:nvPr/>
        </p:nvGraphicFramePr>
        <p:xfrm>
          <a:off x="317501" y="3551463"/>
          <a:ext cx="11594222" cy="2413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381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5790841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416447"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Regular Class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Generic Class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1996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4999EF8F-95E2-2CD5-549C-66B933E64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94" y="4085558"/>
            <a:ext cx="4139683" cy="17269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7DD406-CB80-06B2-525C-07C2CF936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290" y="4067413"/>
            <a:ext cx="4139683" cy="17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1050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9836026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Declaring a Class vs. Declaring a generic Class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840227"/>
            <a:ext cx="11594223" cy="454846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the generic class, the field's type is that placeholder, just T, and this means it can be any type at all.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 in the angle brackets means it's the same type as the T, specified as the type of the field.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1D8628-4DF6-3A4A-4775-B56B7BB15756}"/>
              </a:ext>
            </a:extLst>
          </p:cNvPr>
          <p:cNvGraphicFramePr>
            <a:graphicFrameLocks noGrp="1"/>
          </p:cNvGraphicFramePr>
          <p:nvPr/>
        </p:nvGraphicFramePr>
        <p:xfrm>
          <a:off x="317501" y="3551463"/>
          <a:ext cx="11594222" cy="2413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381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5790841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416447"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Regular Class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Generic Class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1996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F345B16-22F3-889E-76B2-81407C484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94" y="4085558"/>
            <a:ext cx="4139683" cy="17269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ACF970-9DFD-7467-EC99-67CB5B004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7290" y="4067413"/>
            <a:ext cx="4139683" cy="170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19152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FF902E0-8072-F11B-9F6E-C8C909162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862" y="3522322"/>
            <a:ext cx="5144277" cy="2553285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317500" y="153262"/>
            <a:ext cx="870347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generic class as a reference type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this slide, I have a variable declaration of the generic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declaration of a reference type that uses generics, the type parameter is declared in angle brackets.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reference type is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the type parameter (or parameterized type) is String, which is declared in angle brackets, and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listOfString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the variable name.</a:t>
            </a:r>
          </a:p>
        </p:txBody>
      </p:sp>
    </p:spTree>
    <p:extLst>
      <p:ext uri="{BB962C8B-B14F-4D97-AF65-F5344CB8AC3E}">
        <p14:creationId xmlns:p14="http://schemas.microsoft.com/office/powerpoint/2010/main" val="3204128915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5FF902E0-8072-F11B-9F6E-C8C9091625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862" y="3522322"/>
            <a:ext cx="5144277" cy="2553285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317500" y="153262"/>
            <a:ext cx="870347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a generic class as a reference type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Many of Java's libraries are written using generic classes and interfaces, so we'll be using them a lot moving forward.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It's still a good idea to learn to write your own generic class though, to help you understand the concept.</a:t>
            </a:r>
          </a:p>
        </p:txBody>
      </p:sp>
    </p:spTree>
    <p:extLst>
      <p:ext uri="{BB962C8B-B14F-4D97-AF65-F5344CB8AC3E}">
        <p14:creationId xmlns:p14="http://schemas.microsoft.com/office/powerpoint/2010/main" val="53986832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565218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1: Duplicate code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658715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could copy and paste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BaseballTeam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rename everything for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FootballTeam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and create a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FootballPlayer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as I'm showing on this slide.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means I'd have to make sure any changes I make to one team or player that made sense for the other team and player, had to be made in both sets of code.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rarely a recommended approach, unless team operations are significantly different.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4AEF9-90B4-2475-2870-D8C7FAC0C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842" y="1676531"/>
            <a:ext cx="5101631" cy="35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47565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321212"/>
            <a:ext cx="11712694" cy="399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226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Solution 2: Use a Player Interface or abstract class to support different types of players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6074801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could change Baseball team to simply Team and use an interface type (or either an abstract or base class) called Player.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this slide, I show a Team Class and on this class the members are a List of Players.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I've made Player an interface and have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BaseballPlayer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FootballPlayer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classes that implement that interface.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a better design than the previous one, but it's still got problems.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3072944A-4198-4477-2E63-B0B14E036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302" y="1786893"/>
            <a:ext cx="5724247" cy="32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1240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546861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Type Parameters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I've already shown you that one way to declare a generic class, is to include a type parameter which I show here, in the angle brackets.</a:t>
            </a:r>
          </a:p>
          <a:p>
            <a:pPr>
              <a:spcAft>
                <a:spcPts val="1674"/>
              </a:spcAft>
            </a:pP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Now, using T is just a convention, short for whatever type you want to use this Team class for.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you can put anything you want in there.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letter types are the convention however, and they're a lot easier to spot in the class code, so I encourage you to stick to this convention.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EAD2E2-5671-887B-6674-77D12F689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2271097"/>
            <a:ext cx="3676677" cy="35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850116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546861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Type Parameters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have more than one type parameter, so I could have T1, T2 and T3, etc.</a:t>
            </a:r>
          </a:p>
          <a:p>
            <a:pPr>
              <a:spcAft>
                <a:spcPts val="1674"/>
              </a:spcAft>
            </a:pP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Convention says that instead of using type parameters like this, it's easier to read the code with alternate letter selections.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these are usually S, U, and V, in that order.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So, if we had three types, you'd probably want to declare this class as shown here, with T, S, and U.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FF3F26-E527-07E4-7033-ABAF22667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951475"/>
            <a:ext cx="5156237" cy="374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218F82-FF99-BE86-4039-28778CF1A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499" y="4835149"/>
            <a:ext cx="4673635" cy="4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73572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546861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Type Parameters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few letters are reserved for special use cases.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most commonly used type parameter identifiers are: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 for Element (used extensively by the Java Collections Framework).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 for Key (used for mapped types).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 for Number.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 for Type.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 for Value.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S, U, V etc. for 2nd, 3rd, 4th types.</a:t>
            </a:r>
          </a:p>
        </p:txBody>
      </p:sp>
    </p:spTree>
    <p:extLst>
      <p:ext uri="{BB962C8B-B14F-4D97-AF65-F5344CB8AC3E}">
        <p14:creationId xmlns:p14="http://schemas.microsoft.com/office/powerpoint/2010/main" val="492079661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6359113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usage of generic classes.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 use generic classes, either referencing them or instantiating them, it's definitely recommended that you include a type parameter.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But you can still use them without specifying one.  This is called the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Raw Use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reference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raw use of these classes is still available for backwards compatibility, but it's discouraged for several reasons.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allow the compiler to do compile-time type checking when adding and processing elements in the list.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simplify code, because we don't have to do our own type checking and casting, as we would if the type of our elements was Object.</a:t>
            </a:r>
          </a:p>
        </p:txBody>
      </p:sp>
    </p:spTree>
    <p:extLst>
      <p:ext uri="{BB962C8B-B14F-4D97-AF65-F5344CB8AC3E}">
        <p14:creationId xmlns:p14="http://schemas.microsoft.com/office/powerpoint/2010/main" val="416143447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11594223" cy="502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29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classes can be bounded, limiting the types that can use it.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 this slide, I'm showing the code from my class.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extends keyword doesn't have the same meaning as extends when it's used in a class declaration.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isn't saying our type T extends Player although it could.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saying the parameterized type T, has to be a Player or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subtype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Player.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Player in this case could have been either a class or an interface, the syntax would be the same.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declaration establishes what is called an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upper bound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on the types that are allowed to be used with this class.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630E55-4CDB-3358-6ED1-99BE17D6D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76" y="5301972"/>
            <a:ext cx="6354795" cy="3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62720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6410409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specify an upper bound?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Part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upper bound permits access to the bounded type's functionality.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upper bound limits the kind of type parameters you can use when using a generic class.  The type used must be equal to or a subtype of the bounded type.</a:t>
            </a:r>
          </a:p>
        </p:txBody>
      </p:sp>
    </p:spTree>
    <p:extLst>
      <p:ext uri="{BB962C8B-B14F-4D97-AF65-F5344CB8AC3E}">
        <p14:creationId xmlns:p14="http://schemas.microsoft.com/office/powerpoint/2010/main" val="177604977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5184111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 it's your turn to create your own generic class.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Interface Challenge, I created a Mappable Interface and introduced you to different Map geometry types, POINT, LINE, and POLYGON.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challenge then created a map marker or icon, and a map label, but didn't do anything with locations.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challenge, you'll use another Mapping example, but use location data in the output.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you are probably aware, you can use Google Maps to determine the location of any point on a map.</a:t>
            </a:r>
          </a:p>
        </p:txBody>
      </p:sp>
    </p:spTree>
    <p:extLst>
      <p:ext uri="{BB962C8B-B14F-4D97-AF65-F5344CB8AC3E}">
        <p14:creationId xmlns:p14="http://schemas.microsoft.com/office/powerpoint/2010/main" val="153255489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603049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You'll start with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Mappable Interface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has one abstract method called render.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You'll create two classes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Line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that implement this interface.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You'll also create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two specific classes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extend each of these, for a mappable item of interest.</a:t>
            </a:r>
          </a:p>
        </p:txBody>
      </p:sp>
    </p:spTree>
    <p:extLst>
      <p:ext uri="{BB962C8B-B14F-4D97-AF65-F5344CB8AC3E}">
        <p14:creationId xmlns:p14="http://schemas.microsoft.com/office/powerpoint/2010/main" val="1414830396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603049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A5F8E5-C924-F509-9377-C8E22CEC4416}"/>
              </a:ext>
            </a:extLst>
          </p:cNvPr>
          <p:cNvGraphicFramePr>
            <a:graphicFrameLocks noGrp="1"/>
          </p:cNvGraphicFramePr>
          <p:nvPr/>
        </p:nvGraphicFramePr>
        <p:xfrm>
          <a:off x="3558074" y="1449355"/>
          <a:ext cx="8353649" cy="371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6085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3757564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338383"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US National Parks &amp; selected locations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US Rivers &amp; selected locations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3375201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3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3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6BE0B7-879F-C6AC-2F5A-E9AA2EC611B1}"/>
              </a:ext>
            </a:extLst>
          </p:cNvPr>
          <p:cNvGraphicFramePr>
            <a:graphicFrameLocks noGrp="1"/>
          </p:cNvGraphicFramePr>
          <p:nvPr/>
        </p:nvGraphicFramePr>
        <p:xfrm>
          <a:off x="3654190" y="1892164"/>
          <a:ext cx="4380593" cy="1454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6638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1327359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  <a:gridCol w="1766596">
                  <a:extLst>
                    <a:ext uri="{9D8B030D-6E8A-4147-A177-3AD203B41FA5}">
                      <a16:colId xmlns:a16="http://schemas.microsoft.com/office/drawing/2014/main" val="733890650"/>
                    </a:ext>
                  </a:extLst>
                </a:gridCol>
              </a:tblGrid>
              <a:tr h="277912"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Name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Type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Googled Locations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326292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Yellowstone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National Park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44.4882, -110.5916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327464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Grand Canyon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National Park	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36.0636, -112.1079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906375"/>
                  </a:ext>
                </a:extLst>
              </a:tr>
              <a:tr h="32473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Yosemite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National Park	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37.8855, -119.5360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73873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EB762B-FC68-F17B-5BC4-EFDBA6957297}"/>
              </a:ext>
            </a:extLst>
          </p:cNvPr>
          <p:cNvGraphicFramePr>
            <a:graphicFrameLocks noGrp="1"/>
          </p:cNvGraphicFramePr>
          <p:nvPr/>
        </p:nvGraphicFramePr>
        <p:xfrm>
          <a:off x="8321846" y="1892164"/>
          <a:ext cx="3477647" cy="360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468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690465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733890650"/>
                    </a:ext>
                  </a:extLst>
                </a:gridCol>
              </a:tblGrid>
              <a:tr h="294802"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Name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Type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3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Googled Locations</a:t>
                      </a:r>
                      <a:endParaRPr lang="en-PH" sz="13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767150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Mississippi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River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47.2160, -95.2348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35.1556, -90.0659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29.1566, -89.2495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506694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Missouri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River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45.9239, -111.4983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38.8146, -90.1218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906375"/>
                  </a:ext>
                </a:extLst>
              </a:tr>
              <a:tr h="1027605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Colorado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River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40.4708, -105.8286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36.1015, -112.0892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34.2964, -114.1148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31.7811, -114.7724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738733"/>
                  </a:ext>
                </a:extLst>
              </a:tr>
              <a:tr h="506694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Delaware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River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42.2026, -75.00836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39.4955, -75.5592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78954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23E87A8-47EA-ACCE-94F8-AEEBE56CC47F}"/>
              </a:ext>
            </a:extLst>
          </p:cNvPr>
          <p:cNvSpPr/>
          <p:nvPr/>
        </p:nvSpPr>
        <p:spPr>
          <a:xfrm>
            <a:off x="317501" y="895749"/>
            <a:ext cx="2956321" cy="4988757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my solution, I'll be mapping US National Parks and a couple of major rivers in the US. The parks will be points and the rivers will be lines.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data I'll be using is shown here.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I'll be creating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Park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that extends Point, and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River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 that extends Line, to support this data.</a:t>
            </a:r>
          </a:p>
        </p:txBody>
      </p:sp>
    </p:spTree>
    <p:extLst>
      <p:ext uri="{BB962C8B-B14F-4D97-AF65-F5344CB8AC3E}">
        <p14:creationId xmlns:p14="http://schemas.microsoft.com/office/powerpoint/2010/main" val="3240924575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9B272B-C2D0-0B5E-0EAF-17D7A022E42F}"/>
              </a:ext>
            </a:extLst>
          </p:cNvPr>
          <p:cNvSpPr/>
          <p:nvPr/>
        </p:nvSpPr>
        <p:spPr>
          <a:xfrm>
            <a:off x="317501" y="982825"/>
            <a:ext cx="11594223" cy="440586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should have constructors or methods to support adding a couple of attributes, and some location data to your two specific classes.</a:t>
            </a:r>
          </a:p>
          <a:p>
            <a:pPr>
              <a:spcAft>
                <a:spcPts val="1674"/>
              </a:spcAft>
            </a:pP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Aft>
                <a:spcPts val="1674"/>
              </a:spcAft>
            </a:pP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pass the location data of a point type, as a String, or a set of double values, representing latitude and longitude.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pass the multiple locations of a line, as a set of strings, or a two-dimensional array of doubles that represents the multiple points on your line.</a:t>
            </a:r>
          </a:p>
        </p:txBody>
      </p:sp>
      <p:sp>
        <p:nvSpPr>
          <p:cNvPr id="126" name="Shape 126"/>
          <p:cNvSpPr/>
          <p:nvPr/>
        </p:nvSpPr>
        <p:spPr>
          <a:xfrm>
            <a:off x="317500" y="153262"/>
            <a:ext cx="603049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6BE0B7-879F-C6AC-2F5A-E9AA2EC611B1}"/>
              </a:ext>
            </a:extLst>
          </p:cNvPr>
          <p:cNvGraphicFramePr>
            <a:graphicFrameLocks noGrp="1"/>
          </p:cNvGraphicFramePr>
          <p:nvPr/>
        </p:nvGraphicFramePr>
        <p:xfrm>
          <a:off x="2892399" y="1979583"/>
          <a:ext cx="6407202" cy="62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300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3383902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303251"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Name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Googled Location of a Point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326292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Yellowstone National Park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44.4882, -110.5916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EB762B-FC68-F17B-5BC4-EFDBA6957297}"/>
              </a:ext>
            </a:extLst>
          </p:cNvPr>
          <p:cNvGraphicFramePr>
            <a:graphicFrameLocks noGrp="1"/>
          </p:cNvGraphicFramePr>
          <p:nvPr/>
        </p:nvGraphicFramePr>
        <p:xfrm>
          <a:off x="2802249" y="4602596"/>
          <a:ext cx="6587503" cy="144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781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4529722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</a:tblGrid>
              <a:tr h="336022"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Name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Googled Locations of Points in a River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936558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Mississippi River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47.2160, -95.2348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35.1556, -90.0659</a:t>
                      </a:r>
                    </a:p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29.1566, -89.2495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36290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603049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addition to these classes, you'll create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called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Layer class should have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one type parameter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should only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allow Mappable elements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as that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generic class should have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single private field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 of elements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be mapped.  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class should have a method or constructor, or both, to add elements.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should create a method, called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renderLayer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loops through all elements and executes the method render on each element.</a:t>
            </a:r>
          </a:p>
        </p:txBody>
      </p:sp>
    </p:spTree>
    <p:extLst>
      <p:ext uri="{BB962C8B-B14F-4D97-AF65-F5344CB8AC3E}">
        <p14:creationId xmlns:p14="http://schemas.microsoft.com/office/powerpoint/2010/main" val="4053103616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603049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Class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main method should create some instances of your specific classes that include some location data.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should get added to a typed Layer, and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renderLayer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method called on that.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Sample output is shown here: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C1E297-1873-7119-FC1E-8EDB50625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3431704"/>
            <a:ext cx="11594223" cy="47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61768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1606581-F20D-8C33-4879-69A685DDA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85" y="1111808"/>
            <a:ext cx="6473950" cy="4634384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317500" y="153262"/>
            <a:ext cx="617355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plan -  the class diagram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970385"/>
            <a:ext cx="5604328" cy="5006717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diagram shows how I plan to build this.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see my Mappable interface has the method render on it, and by default that's both public and abstract.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I've also added a static method that will take a String, and split it into a double array, which will have the latitude and longitude values in them.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I've made two classes, Point and Line, abstract because I don't really want anyone to instantiate these classes.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 has a location field, which is a double array, and will just have two doubles the latitude and longitude.</a:t>
            </a:r>
          </a:p>
        </p:txBody>
      </p:sp>
    </p:spTree>
    <p:extLst>
      <p:ext uri="{BB962C8B-B14F-4D97-AF65-F5344CB8AC3E}">
        <p14:creationId xmlns:p14="http://schemas.microsoft.com/office/powerpoint/2010/main" val="264522335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B0E21A7F-2F7E-910B-7CD6-06012A52E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85" y="1111808"/>
            <a:ext cx="6473950" cy="4634384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317500" y="153262"/>
            <a:ext cx="617355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plan -  the class diagram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0" y="970385"/>
            <a:ext cx="5473700" cy="500671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also have a method that will print that array to a string, called location.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then the render method is implemented.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the same with abstract Line, except a line will have multiple latitude, longitude pairs, and these will be represented as a two-dimensional array.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Then I'm going to have a Park class extend Point with just a name field.</a:t>
            </a:r>
          </a:p>
        </p:txBody>
      </p:sp>
    </p:spTree>
    <p:extLst>
      <p:ext uri="{BB962C8B-B14F-4D97-AF65-F5344CB8AC3E}">
        <p14:creationId xmlns:p14="http://schemas.microsoft.com/office/powerpoint/2010/main" val="270959575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5B4C7323-4824-48C6-7BD7-C2F7BCFF32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85" y="1111808"/>
            <a:ext cx="6473950" cy="4634384"/>
          </a:xfrm>
          <a:prstGeom prst="rect">
            <a:avLst/>
          </a:prstGeom>
        </p:spPr>
      </p:pic>
      <p:sp>
        <p:nvSpPr>
          <p:cNvPr id="126" name="Shape 126"/>
          <p:cNvSpPr/>
          <p:nvPr/>
        </p:nvSpPr>
        <p:spPr>
          <a:xfrm>
            <a:off x="317500" y="153262"/>
            <a:ext cx="617355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plan -  the class diagram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970385"/>
            <a:ext cx="5523463" cy="500671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River will extend Line and that has just a name as well, for simplicity.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Lastly, there's the Layer class. This is the generic class, and it has a list of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layerElements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methods to add one or more of these.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also has the method,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renderLayer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0365973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6689332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Challenge, Part 2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/>
            <a:r>
              <a:rPr lang="en-PH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 Class Challenge, Part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A47C72-4096-563F-60E6-023EF86CDEBC}"/>
              </a:ext>
            </a:extLst>
          </p:cNvPr>
          <p:cNvSpPr/>
          <p:nvPr/>
        </p:nvSpPr>
        <p:spPr>
          <a:xfrm>
            <a:off x="317500" y="1428635"/>
            <a:ext cx="567897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I'm showing my class diagram here again, as a reminder of what I'm working towards.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I'll start with the Park class that extends Point.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4925EB9-10D3-C620-8F02-FF4B9F1B4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085" y="1111808"/>
            <a:ext cx="6473950" cy="46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40766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317500" y="153258"/>
            <a:ext cx="6673300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PH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Interfaces used for sorting</a:t>
            </a:r>
            <a:endParaRPr sz="600"/>
          </a:p>
        </p:txBody>
      </p:sp>
      <p:cxnSp>
        <p:nvCxnSpPr>
          <p:cNvPr id="56" name="Google Shape;56;p1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9" name="Google Shape;59;p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en-PH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PH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Revisiting Comparable</a:t>
            </a:r>
            <a:endParaRPr sz="6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AC8BB6-542F-D43E-96AE-06F72B31C6C4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Now that I've covered interfaces and generic classes, I want to review interfaces we used in previous lectures, in more detail.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first is Comparable.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an array, we can simply call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Arrays.sort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pass it an array, but as I've previously mentioned, the elements in the array need to implement Comparable.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Types like String or primitive wrapper classes like Integer or Character are sortable, and this is because they do actually implement this interface.</a:t>
            </a:r>
          </a:p>
        </p:txBody>
      </p:sp>
    </p:spTree>
    <p:extLst>
      <p:ext uri="{BB962C8B-B14F-4D97-AF65-F5344CB8AC3E}">
        <p14:creationId xmlns:p14="http://schemas.microsoft.com/office/powerpoint/2010/main" val="35208696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317501" y="1428635"/>
            <a:ext cx="11594222" cy="4548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/>
          </a:bodyPr>
          <a:lstStyle/>
          <a:p>
            <a:pPr>
              <a:buClr>
                <a:schemeClr val="dk1"/>
              </a:buClr>
              <a:buSzPts val="6400"/>
            </a:pP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interface declaration in Java.</a:t>
            </a:r>
            <a:endParaRPr lang="en-US" sz="600" dirty="0"/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chemeClr val="dk1"/>
              </a:buClr>
              <a:buSzPts val="6400"/>
            </a:pP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It's a generic type, meaning it's parameterized.</a:t>
            </a:r>
            <a:endParaRPr lang="en-US" sz="600" dirty="0"/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chemeClr val="dk1"/>
              </a:buClr>
              <a:buSzPts val="6400"/>
            </a:pP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Any class that implements this interface, needs to implement the </a:t>
            </a:r>
            <a:r>
              <a:rPr lang="en-US" sz="2133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compareTo</a:t>
            </a: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method.</a:t>
            </a: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17500" y="153262"/>
            <a:ext cx="4860839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PH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Comparable Interface</a:t>
            </a:r>
            <a:endParaRPr sz="600"/>
          </a:p>
        </p:txBody>
      </p:sp>
      <p:cxnSp>
        <p:nvCxnSpPr>
          <p:cNvPr id="68" name="Google Shape;68;p2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2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1" name="Google Shape;71;p2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en-PH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PH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Revisiting Comparable</a:t>
            </a:r>
            <a:endParaRPr sz="600"/>
          </a:p>
        </p:txBody>
      </p:sp>
      <p:pic>
        <p:nvPicPr>
          <p:cNvPr id="2" name="Google Shape;76;p3">
            <a:extLst>
              <a:ext uri="{FF2B5EF4-FFF2-40B4-BE49-F238E27FC236}">
                <a16:creationId xmlns:a16="http://schemas.microsoft.com/office/drawing/2014/main" id="{94DEB236-5A44-7715-F645-CA5ECB4CF57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7" t="46977"/>
          <a:stretch/>
        </p:blipFill>
        <p:spPr>
          <a:xfrm>
            <a:off x="3419061" y="1908231"/>
            <a:ext cx="5036378" cy="15004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3852241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l="237" t="46977"/>
          <a:stretch/>
        </p:blipFill>
        <p:spPr>
          <a:xfrm>
            <a:off x="3419061" y="641753"/>
            <a:ext cx="5036378" cy="150043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317500" y="153262"/>
            <a:ext cx="4860839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PH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Comparable Interface</a:t>
            </a:r>
            <a:endParaRPr sz="600"/>
          </a:p>
        </p:txBody>
      </p:sp>
      <p:cxnSp>
        <p:nvCxnSpPr>
          <p:cNvPr id="78" name="Google Shape;78;p3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9" name="Google Shape;79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3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1" name="Google Shape;81;p3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en-PH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PH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Revisiting Comparable</a:t>
            </a:r>
            <a:endParaRPr sz="600"/>
          </a:p>
        </p:txBody>
      </p:sp>
      <p:sp>
        <p:nvSpPr>
          <p:cNvPr id="82" name="Google Shape;82;p3"/>
          <p:cNvSpPr/>
          <p:nvPr/>
        </p:nvSpPr>
        <p:spPr>
          <a:xfrm>
            <a:off x="317501" y="2216596"/>
            <a:ext cx="11594223" cy="3825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/>
          </a:bodyPr>
          <a:lstStyle/>
          <a:p>
            <a:pPr>
              <a:buClr>
                <a:schemeClr val="dk1"/>
              </a:buClr>
              <a:buSzPts val="6400"/>
            </a:pP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method takes one object as an argument, shown on this slide as the letter o, and compares it to the current instance, shown as this.</a:t>
            </a:r>
            <a:endParaRPr lang="en-US" sz="600" dirty="0"/>
          </a:p>
          <a:p>
            <a:pPr>
              <a:spcBef>
                <a:spcPts val="800"/>
              </a:spcBef>
              <a:buClr>
                <a:schemeClr val="dk1"/>
              </a:buClr>
              <a:buSzPts val="6400"/>
            </a:pP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table on this slide shows what the results of the </a:t>
            </a:r>
            <a:r>
              <a:rPr lang="en-US" sz="2133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compareTo</a:t>
            </a:r>
            <a:r>
              <a:rPr lang="en-US" sz="2133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method should produce, when implemented.</a:t>
            </a:r>
            <a:endParaRPr lang="en-US" sz="600" dirty="0"/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800"/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spcBef>
                <a:spcPts val="800"/>
              </a:spcBef>
              <a:buClr>
                <a:srgbClr val="000000"/>
              </a:buClr>
              <a:buSzPts val="4400"/>
            </a:pPr>
            <a:endParaRPr lang="en-US" sz="1467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3" name="Google Shape;83;p3"/>
          <p:cNvGraphicFramePr/>
          <p:nvPr/>
        </p:nvGraphicFramePr>
        <p:xfrm>
          <a:off x="2471209" y="3869094"/>
          <a:ext cx="7249583" cy="19384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366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425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PH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resulting Value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PH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Meaning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08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zero</a:t>
                      </a:r>
                      <a:endParaRPr sz="60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 == this</a:t>
                      </a:r>
                      <a:endParaRPr sz="60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642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negative value</a:t>
                      </a:r>
                      <a:endParaRPr sz="60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this &lt; o</a:t>
                      </a: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358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positive value</a:t>
                      </a:r>
                      <a:endParaRPr sz="60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r>
                        <a:rPr lang="en-PH" sz="2100" b="0" u="none" strike="noStrike" cap="none" dirty="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this &gt; o</a:t>
                      </a: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17620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Google Shape;63;p2"/>
          <p:cNvGraphicFramePr/>
          <p:nvPr/>
        </p:nvGraphicFramePr>
        <p:xfrm>
          <a:off x="317499" y="3810324"/>
          <a:ext cx="11594225" cy="176938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232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Comparator</a:t>
                      </a:r>
                      <a:endParaRPr sz="210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Comparable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150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Google Shape;57;p2"/>
          <p:cNvSpPr/>
          <p:nvPr/>
        </p:nvSpPr>
        <p:spPr>
          <a:xfrm>
            <a:off x="317499" y="153262"/>
            <a:ext cx="6124540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Comparator Interface</a:t>
            </a:r>
            <a:endParaRPr sz="600"/>
          </a:p>
        </p:txBody>
      </p:sp>
      <p:cxnSp>
        <p:nvCxnSpPr>
          <p:cNvPr id="58" name="Google Shape;58;p2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9" name="Google Shape;5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" name="Google Shape;60;p2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1" name="Google Shape;61;p2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Comparable vs. Comparator</a:t>
            </a:r>
            <a:endParaRPr sz="600"/>
          </a:p>
        </p:txBody>
      </p:sp>
      <p:sp>
        <p:nvSpPr>
          <p:cNvPr id="62" name="Google Shape;62;p2"/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/>
          </a:bodyPr>
          <a:lstStyle/>
          <a:p>
            <a:pPr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Comparator interface is similar to the Comparable interface, and the two can often be confused with each other.</a:t>
            </a:r>
            <a:endParaRPr lang="en-US"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Its declaration and primary abstract method are shown here, in comparison to Comparable.</a:t>
            </a:r>
            <a:endParaRPr lang="en-US"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Notice that the method names are different, compare vs.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compareTo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600" dirty="0"/>
          </a:p>
        </p:txBody>
      </p:sp>
      <p:pic>
        <p:nvPicPr>
          <p:cNvPr id="56" name="Google Shape;56;p2"/>
          <p:cNvPicPr preferRelativeResize="0"/>
          <p:nvPr/>
        </p:nvPicPr>
        <p:blipFill rotWithShape="1">
          <a:blip r:embed="rId4">
            <a:alphaModFix/>
          </a:blip>
          <a:srcRect l="-233" t="1" r="233" b="55067"/>
          <a:stretch/>
        </p:blipFill>
        <p:spPr>
          <a:xfrm>
            <a:off x="453643" y="4378427"/>
            <a:ext cx="4707654" cy="115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"/>
          <p:cNvPicPr preferRelativeResize="0"/>
          <p:nvPr/>
        </p:nvPicPr>
        <p:blipFill rotWithShape="1">
          <a:blip r:embed="rId4">
            <a:alphaModFix/>
          </a:blip>
          <a:srcRect l="183" t="52951" b="444"/>
          <a:stretch/>
        </p:blipFill>
        <p:spPr>
          <a:xfrm>
            <a:off x="6273137" y="4317642"/>
            <a:ext cx="4526748" cy="11943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921585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/>
          <p:nvPr/>
        </p:nvSpPr>
        <p:spPr>
          <a:xfrm>
            <a:off x="317499" y="153262"/>
            <a:ext cx="6124540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Comparator Interface</a:t>
            </a:r>
            <a:endParaRPr sz="600"/>
          </a:p>
        </p:txBody>
      </p:sp>
      <p:cxnSp>
        <p:nvCxnSpPr>
          <p:cNvPr id="71" name="Google Shape;71;p3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" name="Google Shape;73;p3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4" name="Google Shape;74;p3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Comparable vs. Comparator</a:t>
            </a:r>
            <a:endParaRPr sz="600"/>
          </a:p>
        </p:txBody>
      </p:sp>
      <p:sp>
        <p:nvSpPr>
          <p:cNvPr id="75" name="Google Shape;75;p3"/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/>
          </a:bodyPr>
          <a:lstStyle/>
          <a:p>
            <a:pPr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compare method takes two arguments vs. one for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compareTo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meaning that it will compare the two arguments to one another and not one object to the instance itself.</a:t>
            </a:r>
            <a:endParaRPr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I'll review Comparator in code, but in a slightly manufactured way. </a:t>
            </a:r>
            <a:endParaRPr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It's common practice to include a Comparator as a nested class.</a:t>
            </a:r>
            <a:endParaRPr sz="600" dirty="0"/>
          </a:p>
        </p:txBody>
      </p:sp>
      <p:graphicFrame>
        <p:nvGraphicFramePr>
          <p:cNvPr id="5" name="Google Shape;63;p2">
            <a:extLst>
              <a:ext uri="{FF2B5EF4-FFF2-40B4-BE49-F238E27FC236}">
                <a16:creationId xmlns:a16="http://schemas.microsoft.com/office/drawing/2014/main" id="{7181641F-C6BD-C7E5-5058-1DC1746C292D}"/>
              </a:ext>
            </a:extLst>
          </p:cNvPr>
          <p:cNvGraphicFramePr/>
          <p:nvPr/>
        </p:nvGraphicFramePr>
        <p:xfrm>
          <a:off x="317499" y="3810324"/>
          <a:ext cx="11594225" cy="176938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232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 dirty="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Comparator</a:t>
                      </a:r>
                      <a:endParaRPr sz="210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Comparable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150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Google Shape;56;p2">
            <a:extLst>
              <a:ext uri="{FF2B5EF4-FFF2-40B4-BE49-F238E27FC236}">
                <a16:creationId xmlns:a16="http://schemas.microsoft.com/office/drawing/2014/main" id="{33551B7E-3727-F2C0-C97D-F3A5C6F111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233" t="1" r="233" b="55067"/>
          <a:stretch/>
        </p:blipFill>
        <p:spPr>
          <a:xfrm>
            <a:off x="453643" y="4378427"/>
            <a:ext cx="4707654" cy="1150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55;p2">
            <a:extLst>
              <a:ext uri="{FF2B5EF4-FFF2-40B4-BE49-F238E27FC236}">
                <a16:creationId xmlns:a16="http://schemas.microsoft.com/office/drawing/2014/main" id="{E3A765D6-D33B-79E9-8C5E-F19BC19510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3" t="52951" b="444"/>
          <a:stretch/>
        </p:blipFill>
        <p:spPr>
          <a:xfrm>
            <a:off x="6273137" y="4317642"/>
            <a:ext cx="4526748" cy="11943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68756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6442039" y="1790174"/>
            <a:ext cx="4670134" cy="198409"/>
          </a:xfrm>
          <a:prstGeom prst="rect">
            <a:avLst/>
          </a:prstGeom>
          <a:noFill/>
          <a:ln w="12700" cap="flat" cmpd="sng">
            <a:solidFill>
              <a:schemeClr val="lt2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16933" tIns="16933" rIns="16933" bIns="16933" anchor="ctr" anchorCtr="0">
            <a:spAutoFit/>
          </a:bodyPr>
          <a:lstStyle/>
          <a:p>
            <a:pPr algn="ctr">
              <a:buClr>
                <a:srgbClr val="000000"/>
              </a:buClr>
              <a:buSzPts val="3200"/>
            </a:pPr>
            <a:endParaRPr sz="1067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82" name="Google Shape;82;p4"/>
          <p:cNvGraphicFramePr/>
          <p:nvPr/>
        </p:nvGraphicFramePr>
        <p:xfrm>
          <a:off x="317499" y="966484"/>
          <a:ext cx="11594225" cy="490163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8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25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Comparable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Comparator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208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5400"/>
                        <a:buFont typeface="Arial"/>
                        <a:buNone/>
                      </a:pPr>
                      <a:endParaRPr sz="1800" b="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" name="Google Shape;83;p4"/>
          <p:cNvSpPr/>
          <p:nvPr/>
        </p:nvSpPr>
        <p:spPr>
          <a:xfrm>
            <a:off x="317499" y="153262"/>
            <a:ext cx="5131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10800"/>
            </a:pPr>
            <a:endParaRPr sz="3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4" name="Google Shape;84;p4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85" name="Google Shape;8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4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7" name="Google Shape;87;p4"/>
          <p:cNvSpPr/>
          <p:nvPr/>
        </p:nvSpPr>
        <p:spPr>
          <a:xfrm>
            <a:off x="317500" y="6163242"/>
            <a:ext cx="5336229" cy="58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en-US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br>
              <a:rPr lang="en-US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Comparable vs. Comparator</a:t>
            </a:r>
            <a:endParaRPr sz="600"/>
          </a:p>
          <a:p>
            <a:pPr>
              <a:buClr>
                <a:srgbClr val="000000"/>
              </a:buClr>
              <a:buSzPts val="3000"/>
            </a:pPr>
            <a:endParaRPr sz="10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475150" y="1805174"/>
            <a:ext cx="4803648" cy="19840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2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16933" tIns="16933" rIns="16933" bIns="16933" anchor="ctr" anchorCtr="0">
            <a:spAutoFit/>
          </a:bodyPr>
          <a:lstStyle/>
          <a:p>
            <a:pPr algn="ctr">
              <a:buClr>
                <a:srgbClr val="000000"/>
              </a:buClr>
              <a:buSzPts val="3200"/>
            </a:pPr>
            <a:endParaRPr sz="1067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17499" y="153262"/>
            <a:ext cx="6124540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Summary of Differences</a:t>
            </a:r>
            <a:endParaRPr sz="600"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4">
            <a:alphaModFix/>
          </a:blip>
          <a:srcRect l="563" t="18686" r="234" b="66035"/>
          <a:stretch/>
        </p:blipFill>
        <p:spPr>
          <a:xfrm>
            <a:off x="6541907" y="1642198"/>
            <a:ext cx="4670134" cy="391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4">
            <a:alphaModFix/>
          </a:blip>
          <a:srcRect l="-2916" t="75292" r="-7992" b="12466"/>
          <a:stretch/>
        </p:blipFill>
        <p:spPr>
          <a:xfrm>
            <a:off x="841248" y="1720366"/>
            <a:ext cx="5401056" cy="3047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 txBox="1"/>
          <p:nvPr/>
        </p:nvSpPr>
        <p:spPr>
          <a:xfrm>
            <a:off x="368817" y="2401374"/>
            <a:ext cx="5782369" cy="259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spAutoFit/>
          </a:bodyPr>
          <a:lstStyle/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Compares the argument with the current instance.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Called from the instance of the class that implements Comparable.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Best practice is to have </a:t>
            </a:r>
            <a:r>
              <a:rPr lang="en-US" sz="1667" dirty="0" err="1">
                <a:latin typeface="Open Sans"/>
                <a:ea typeface="Open Sans"/>
                <a:cs typeface="Open Sans"/>
                <a:sym typeface="Open Sans"/>
              </a:rPr>
              <a:t>this.compareTo</a:t>
            </a: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(o) == 0 result in </a:t>
            </a:r>
            <a:r>
              <a:rPr lang="en-US" sz="1667" dirty="0" err="1">
                <a:latin typeface="Open Sans"/>
                <a:ea typeface="Open Sans"/>
                <a:cs typeface="Open Sans"/>
                <a:sym typeface="Open Sans"/>
              </a:rPr>
              <a:t>this.equals</a:t>
            </a: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(o) being true.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fr-FR" sz="1667" dirty="0" err="1">
                <a:latin typeface="Open Sans"/>
                <a:ea typeface="Open Sans"/>
                <a:cs typeface="Open Sans"/>
                <a:sym typeface="Open Sans"/>
              </a:rPr>
              <a:t>Arrays.sort</a:t>
            </a:r>
            <a:r>
              <a:rPr lang="fr-FR" sz="1667" dirty="0">
                <a:latin typeface="Open Sans"/>
                <a:ea typeface="Open Sans"/>
                <a:cs typeface="Open Sans"/>
                <a:sym typeface="Open Sans"/>
              </a:rPr>
              <a:t>(T[] </a:t>
            </a:r>
            <a:r>
              <a:rPr lang="fr-FR" sz="1667" dirty="0" err="1">
                <a:latin typeface="Open Sans"/>
                <a:ea typeface="Open Sans"/>
                <a:cs typeface="Open Sans"/>
                <a:sym typeface="Open Sans"/>
              </a:rPr>
              <a:t>elements</a:t>
            </a:r>
            <a:r>
              <a:rPr lang="fr-FR" sz="1667" dirty="0">
                <a:latin typeface="Open Sans"/>
                <a:ea typeface="Open Sans"/>
                <a:cs typeface="Open Sans"/>
                <a:sym typeface="Open Sans"/>
              </a:rPr>
              <a:t>) </a:t>
            </a:r>
            <a:r>
              <a:rPr lang="fr-FR" sz="1667" dirty="0" err="1">
                <a:latin typeface="Open Sans"/>
                <a:ea typeface="Open Sans"/>
                <a:cs typeface="Open Sans"/>
                <a:sym typeface="Open Sans"/>
              </a:rPr>
              <a:t>requires</a:t>
            </a:r>
            <a:r>
              <a:rPr lang="fr-FR" sz="1667" dirty="0">
                <a:latin typeface="Open Sans"/>
                <a:ea typeface="Open Sans"/>
                <a:cs typeface="Open Sans"/>
                <a:sym typeface="Open Sans"/>
              </a:rPr>
              <a:t> T to </a:t>
            </a:r>
            <a:r>
              <a:rPr lang="fr-FR" sz="1667" dirty="0" err="1">
                <a:latin typeface="Open Sans"/>
                <a:ea typeface="Open Sans"/>
                <a:cs typeface="Open Sans"/>
                <a:sym typeface="Open Sans"/>
              </a:rPr>
              <a:t>implement</a:t>
            </a:r>
            <a:r>
              <a:rPr lang="fr-FR" sz="1667" dirty="0">
                <a:latin typeface="Open Sans"/>
                <a:ea typeface="Open Sans"/>
                <a:cs typeface="Open Sans"/>
                <a:sym typeface="Open Sans"/>
              </a:rPr>
              <a:t> Comparable</a:t>
            </a: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600" dirty="0"/>
          </a:p>
        </p:txBody>
      </p:sp>
      <p:sp>
        <p:nvSpPr>
          <p:cNvPr id="93" name="Google Shape;93;p4"/>
          <p:cNvSpPr txBox="1"/>
          <p:nvPr/>
        </p:nvSpPr>
        <p:spPr>
          <a:xfrm>
            <a:off x="6279525" y="2403559"/>
            <a:ext cx="5632197" cy="2856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spAutoFit/>
          </a:bodyPr>
          <a:lstStyle/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Compares two arguments of the same type with each other.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Called from an instance of Comparator.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Does not require the class itself to implement Comparator, though you could also implement it this way.</a:t>
            </a:r>
            <a:endParaRPr lang="en-US" sz="600" dirty="0"/>
          </a:p>
          <a:p>
            <a:pPr>
              <a:buClr>
                <a:srgbClr val="000000"/>
              </a:buClr>
              <a:buSzPts val="5000"/>
            </a:pPr>
            <a:endParaRPr lang="en-US" sz="1667" dirty="0"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91E42"/>
              </a:buClr>
              <a:buSzPts val="5000"/>
            </a:pPr>
            <a:r>
              <a:rPr lang="en-US" sz="1667" dirty="0">
                <a:latin typeface="Open Sans"/>
                <a:ea typeface="Open Sans"/>
                <a:cs typeface="Open Sans"/>
                <a:sym typeface="Open Sans"/>
              </a:rPr>
              <a:t>Array.sort(T[] elements, Comparator&lt;T&gt;) does not require T to implement Comparable.</a:t>
            </a:r>
            <a:endParaRPr lang="en-US" sz="600" dirty="0"/>
          </a:p>
        </p:txBody>
      </p:sp>
      <p:sp>
        <p:nvSpPr>
          <p:cNvPr id="94" name="Google Shape;94;p4"/>
          <p:cNvSpPr/>
          <p:nvPr/>
        </p:nvSpPr>
        <p:spPr>
          <a:xfrm>
            <a:off x="816266" y="1790404"/>
            <a:ext cx="4670134" cy="198409"/>
          </a:xfrm>
          <a:prstGeom prst="rect">
            <a:avLst/>
          </a:prstGeom>
          <a:noFill/>
          <a:ln w="12700" cap="flat" cmpd="sng">
            <a:solidFill>
              <a:schemeClr val="lt2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16933" tIns="16933" rIns="16933" bIns="16933" anchor="ctr" anchorCtr="0">
            <a:spAutoFit/>
          </a:bodyPr>
          <a:lstStyle/>
          <a:p>
            <a:pPr algn="ctr">
              <a:buClr>
                <a:srgbClr val="000000"/>
              </a:buClr>
              <a:buSzPts val="3200"/>
            </a:pPr>
            <a:endParaRPr sz="1067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088789962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/>
          <p:nvPr/>
        </p:nvSpPr>
        <p:spPr>
          <a:xfrm>
            <a:off x="317500" y="153258"/>
            <a:ext cx="9893600" cy="115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What's left to know about Generics?</a:t>
            </a:r>
            <a:endParaRPr sz="600"/>
          </a:p>
          <a:p>
            <a:pPr>
              <a:buClr>
                <a:srgbClr val="000000"/>
              </a:buClr>
              <a:buSzPts val="10800"/>
            </a:pP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9" name="Google Shape;59;p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rgbClr val="000000"/>
              </a:buClr>
              <a:buSzPts val="3000"/>
            </a:pPr>
            <a:r>
              <a:rPr lang="en-US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 sz="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EEBA0-0679-F611-459A-BA1410495DE7}"/>
              </a:ext>
            </a:extLst>
          </p:cNvPr>
          <p:cNvSpPr/>
          <p:nvPr/>
        </p:nvSpPr>
        <p:spPr>
          <a:xfrm>
            <a:off x="317500" y="1428635"/>
            <a:ext cx="11594222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the next few videos, I want to cover the following topics.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generic references that use type arguments, declared in method parameters and local variables.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Creating generic methods, apart from generic classes.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wildcards in the type argument.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 static methods with generic types.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multiple upper bounds.</a:t>
            </a:r>
          </a:p>
        </p:txBody>
      </p:sp>
    </p:spTree>
    <p:extLst>
      <p:ext uri="{BB962C8B-B14F-4D97-AF65-F5344CB8AC3E}">
        <p14:creationId xmlns:p14="http://schemas.microsoft.com/office/powerpoint/2010/main" val="385440759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317499" y="153262"/>
            <a:ext cx="7413889" cy="115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isn't inheritance</a:t>
            </a:r>
            <a:endParaRPr sz="600"/>
          </a:p>
          <a:p>
            <a:pPr>
              <a:buClr>
                <a:srgbClr val="000000"/>
              </a:buClr>
              <a:buSzPts val="10800"/>
            </a:pP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7" name="Google Shape;6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2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9" name="Google Shape;69;p2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 sz="600"/>
          </a:p>
        </p:txBody>
      </p:sp>
      <p:sp>
        <p:nvSpPr>
          <p:cNvPr id="70" name="Google Shape;70;p2"/>
          <p:cNvSpPr/>
          <p:nvPr/>
        </p:nvSpPr>
        <p:spPr>
          <a:xfrm>
            <a:off x="317500" y="901960"/>
            <a:ext cx="4739692" cy="539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know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inherits from Student, and we can pass an instance of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any method, or assign it to any reference type, declared with the type of Student.</a:t>
            </a:r>
            <a:endParaRPr lang="en-US" sz="600" dirty="0"/>
          </a:p>
          <a:p>
            <a:pPr>
              <a:lnSpc>
                <a:spcPct val="90000"/>
              </a:lnSpc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 also know that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implements List, and we can pass an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a method or assign it to a reference of the List type, and we saw this in both cases for our Student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sz="600" dirty="0"/>
          </a:p>
          <a:p>
            <a:pPr>
              <a:lnSpc>
                <a:spcPct val="90000"/>
              </a:lnSpc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why can't we pass an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ArrayList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of LPA Student, to the method parameter that's declared as a List of Student?</a:t>
            </a:r>
            <a:endParaRPr lang="en-US" sz="600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AC4DF36B-4EDF-D63D-EAE8-C63492420C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7" t="9859" r="4141" b="9600"/>
          <a:stretch/>
        </p:blipFill>
        <p:spPr>
          <a:xfrm>
            <a:off x="5220705" y="1922856"/>
            <a:ext cx="6790904" cy="30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85637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1BCF9429-AD7F-BF90-BF66-E073AEAA5C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7" t="9859" r="4141" b="9600"/>
          <a:stretch/>
        </p:blipFill>
        <p:spPr>
          <a:xfrm>
            <a:off x="5220705" y="1922856"/>
            <a:ext cx="6790904" cy="3012289"/>
          </a:xfrm>
          <a:prstGeom prst="rect">
            <a:avLst/>
          </a:prstGeom>
        </p:spPr>
      </p:pic>
      <p:sp>
        <p:nvSpPr>
          <p:cNvPr id="76" name="Google Shape;76;p3"/>
          <p:cNvSpPr/>
          <p:nvPr/>
        </p:nvSpPr>
        <p:spPr>
          <a:xfrm>
            <a:off x="317499" y="153262"/>
            <a:ext cx="7413889" cy="115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isn't inheritance</a:t>
            </a:r>
            <a:endParaRPr sz="600"/>
          </a:p>
          <a:p>
            <a:pPr>
              <a:buClr>
                <a:srgbClr val="000000"/>
              </a:buClr>
              <a:buSzPts val="10800"/>
            </a:pPr>
            <a:endParaRPr sz="3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3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80" name="Google Shape;80;p3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sp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 classes as reference types</a:t>
            </a:r>
            <a:endParaRPr sz="600"/>
          </a:p>
        </p:txBody>
      </p:sp>
      <p:sp>
        <p:nvSpPr>
          <p:cNvPr id="81" name="Google Shape;81;p3"/>
          <p:cNvSpPr/>
          <p:nvPr/>
        </p:nvSpPr>
        <p:spPr>
          <a:xfrm>
            <a:off x="317500" y="901960"/>
            <a:ext cx="4777014" cy="507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15233" rIns="30475" bIns="15233" anchor="t" anchorCtr="0">
            <a:normAutofit lnSpcReduction="10000"/>
          </a:bodyPr>
          <a:lstStyle/>
          <a:p>
            <a:pPr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Surely, if an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a Student, a List of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ultimately a List of Student.</a:t>
            </a:r>
          </a:p>
          <a:p>
            <a:pPr>
              <a:buClr>
                <a:srgbClr val="000000"/>
              </a:buClr>
              <a:buSzPts val="6400"/>
            </a:pPr>
            <a:endParaRPr lang="en-US" sz="2133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It's very natural to assume that a method that takes a List with Students should accept a List with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LPAStudents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because </a:t>
            </a:r>
            <a:r>
              <a:rPr lang="en-US" sz="213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LPAStudent</a:t>
            </a: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a Student after all.</a:t>
            </a:r>
            <a:endParaRPr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But that's not how it works.</a:t>
            </a:r>
            <a:endParaRPr sz="600" dirty="0"/>
          </a:p>
          <a:p>
            <a:pPr>
              <a:spcBef>
                <a:spcPts val="1674"/>
              </a:spcBef>
              <a:buClr>
                <a:srgbClr val="000000"/>
              </a:buClr>
              <a:buSzPts val="6400"/>
            </a:pPr>
            <a:r>
              <a:rPr lang="en-US" sz="213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When used as reference types, a container of one type has no relationship to the same container of another type, even if the contained types do have a relationship.</a:t>
            </a:r>
            <a:endParaRPr sz="600" dirty="0"/>
          </a:p>
        </p:txBody>
      </p:sp>
    </p:spTree>
    <p:extLst>
      <p:ext uri="{BB962C8B-B14F-4D97-AF65-F5344CB8AC3E}">
        <p14:creationId xmlns:p14="http://schemas.microsoft.com/office/powerpoint/2010/main" val="194280115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317500" y="165958"/>
            <a:ext cx="11690350" cy="6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US" sz="3200" dirty="0">
                <a:latin typeface="Open Sans"/>
                <a:ea typeface="Open Sans"/>
                <a:cs typeface="Open Sans"/>
                <a:sym typeface="Open Sans"/>
              </a:rPr>
              <a:t>Limitation of a reference of generic class with a list argument</a:t>
            </a:r>
            <a:endParaRPr sz="400" dirty="0"/>
          </a:p>
        </p:txBody>
      </p:sp>
      <p:cxnSp>
        <p:nvCxnSpPr>
          <p:cNvPr id="56" name="Google Shape;56;p13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3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9" name="Google Shape;59;p13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29C3CE-C6DC-860A-5E88-4E2A21F5E316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you declare a variable or method parameter with:</a:t>
            </a:r>
          </a:p>
          <a:p>
            <a:pPr marL="1245475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List&lt;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Student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&gt;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Only List subtypes with Student elements can be assigned to this variable or method argument.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can't assign a list of Student subtypes to this!</a:t>
            </a:r>
          </a:p>
          <a:p>
            <a:pPr>
              <a:spcAft>
                <a:spcPts val="1674"/>
              </a:spcAft>
            </a:pPr>
            <a:endParaRPr lang="en-US" sz="2133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42655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17499" y="153262"/>
            <a:ext cx="1013578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PH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method </a:t>
            </a: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68" name="Google Shape;68;p14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l="-1100" b="82760"/>
          <a:stretch/>
        </p:blipFill>
        <p:spPr>
          <a:xfrm>
            <a:off x="2226549" y="4653532"/>
            <a:ext cx="6854360" cy="10803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720628-BE25-900C-8814-3CC03E405F3D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a method, type parameters are placed after any modifiers and before the method's return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type parameter can be referenced in method parameters, as the method return type, and in the method code block, much as we have seen how a class's type parameter be used.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generic method can be used for collections with type arguments, as we just saw, to allow for variability of the elements in the collection, without using a raw version of the collection.</a:t>
            </a:r>
          </a:p>
        </p:txBody>
      </p:sp>
    </p:spTree>
    <p:extLst>
      <p:ext uri="{BB962C8B-B14F-4D97-AF65-F5344CB8AC3E}">
        <p14:creationId xmlns:p14="http://schemas.microsoft.com/office/powerpoint/2010/main" val="390744006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17499" y="153262"/>
            <a:ext cx="1013578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r>
              <a:rPr lang="en-PH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method </a:t>
            </a:r>
            <a:endParaRPr lang="en-US" sz="36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6" name="Google Shape;66;p14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68" name="Google Shape;68;p14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l="-1100" b="82760"/>
          <a:stretch/>
        </p:blipFill>
        <p:spPr>
          <a:xfrm>
            <a:off x="2226549" y="4653532"/>
            <a:ext cx="6854360" cy="108031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C756585-16B6-8E10-5577-82C0CE48A61C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generic method can be used for static methods on a generic class, because static methods can't use class type parameters.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generic method can be used on a non-generic class, to enforce type rules on a specific method.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generic method type parameter is separate from a generic class type parameter.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fact, if you've used T for both, the T declared on the method means a different type, than the T for the class.</a:t>
            </a:r>
          </a:p>
        </p:txBody>
      </p:sp>
    </p:spTree>
    <p:extLst>
      <p:ext uri="{BB962C8B-B14F-4D97-AF65-F5344CB8AC3E}">
        <p14:creationId xmlns:p14="http://schemas.microsoft.com/office/powerpoint/2010/main" val="2172022698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6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0" name="Google Shape;90;p16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graphicFrame>
        <p:nvGraphicFramePr>
          <p:cNvPr id="93" name="Google Shape;93;p16"/>
          <p:cNvGraphicFramePr/>
          <p:nvPr/>
        </p:nvGraphicFramePr>
        <p:xfrm>
          <a:off x="317499" y="3576762"/>
          <a:ext cx="11594223" cy="159710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563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0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05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Generic class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Generic Method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960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US" sz="21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PH" sz="21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sz="2100" b="0" u="none" strike="noStrike" cap="none" dirty="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F7087EA-7AD8-34F9-C5BA-F6DDD5D23540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generic class, or generic method's declaration of the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both of these examples, T is said to be the type parameter.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bind a type parameter with the use of the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extends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keyword, to specify an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upper bound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966DC9-AC8C-D73A-BC86-DE079C8FA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52" y="4240745"/>
            <a:ext cx="4081348" cy="366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C9534-90B1-8647-0DF4-3B6770798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869" y="4205577"/>
            <a:ext cx="6173714" cy="401714"/>
          </a:xfrm>
          <a:prstGeom prst="rect">
            <a:avLst/>
          </a:prstGeom>
        </p:spPr>
      </p:pic>
      <p:sp>
        <p:nvSpPr>
          <p:cNvPr id="7" name="Shape 126">
            <a:extLst>
              <a:ext uri="{FF2B5EF4-FFF2-40B4-BE49-F238E27FC236}">
                <a16:creationId xmlns:a16="http://schemas.microsoft.com/office/drawing/2014/main" id="{91B0A6CB-10E3-4420-C9E3-C7149D73AE29}"/>
              </a:ext>
            </a:extLst>
          </p:cNvPr>
          <p:cNvSpPr/>
          <p:nvPr/>
        </p:nvSpPr>
        <p:spPr>
          <a:xfrm>
            <a:off x="317499" y="146777"/>
            <a:ext cx="11457304" cy="57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4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Parameters, Type Arguments and using a Wildcard</a:t>
            </a:r>
          </a:p>
        </p:txBody>
      </p:sp>
    </p:spTree>
    <p:extLst>
      <p:ext uri="{BB962C8B-B14F-4D97-AF65-F5344CB8AC3E}">
        <p14:creationId xmlns:p14="http://schemas.microsoft.com/office/powerpoint/2010/main" val="185517162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7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1" name="Google Shape;101;p17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graphicFrame>
        <p:nvGraphicFramePr>
          <p:cNvPr id="104" name="Google Shape;104;p17"/>
          <p:cNvGraphicFramePr/>
          <p:nvPr/>
        </p:nvGraphicFramePr>
        <p:xfrm>
          <a:off x="1025285" y="3576761"/>
          <a:ext cx="9256892" cy="8865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56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05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Generic class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US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PH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PH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9F45434-5FD0-8875-F64D-CA89941B4812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argument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declares the type to be used, and is specified in a type reference, such as a local variable reference, method parameter declaration, or field declaration.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example,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BaseballPlayer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the type argument for the Team class.</a:t>
            </a:r>
          </a:p>
        </p:txBody>
      </p:sp>
      <p:sp>
        <p:nvSpPr>
          <p:cNvPr id="3" name="Shape 126">
            <a:extLst>
              <a:ext uri="{FF2B5EF4-FFF2-40B4-BE49-F238E27FC236}">
                <a16:creationId xmlns:a16="http://schemas.microsoft.com/office/drawing/2014/main" id="{ADBFAA0B-5A28-E44F-4604-F3BBCF702332}"/>
              </a:ext>
            </a:extLst>
          </p:cNvPr>
          <p:cNvSpPr/>
          <p:nvPr/>
        </p:nvSpPr>
        <p:spPr>
          <a:xfrm>
            <a:off x="317499" y="146777"/>
            <a:ext cx="11457304" cy="57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4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Parameters, Type Arguments and using a Wildcard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12476-6F6D-5292-E7A0-75AD2EC92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246" y="4026540"/>
            <a:ext cx="7223810" cy="3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04507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/>
          <p:nvPr/>
        </p:nvSpPr>
        <p:spPr>
          <a:xfrm>
            <a:off x="317499" y="153262"/>
            <a:ext cx="1013578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endParaRPr sz="600" dirty="0"/>
          </a:p>
        </p:txBody>
      </p:sp>
      <p:cxnSp>
        <p:nvCxnSpPr>
          <p:cNvPr id="110" name="Google Shape;110;p18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12" name="Google Shape;112;p18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graphicFrame>
        <p:nvGraphicFramePr>
          <p:cNvPr id="115" name="Google Shape;115;p18"/>
          <p:cNvGraphicFramePr/>
          <p:nvPr/>
        </p:nvGraphicFramePr>
        <p:xfrm>
          <a:off x="1196398" y="4389561"/>
          <a:ext cx="9256892" cy="8865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56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05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List declaration using a wildcard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US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PH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PH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hape 126">
            <a:extLst>
              <a:ext uri="{FF2B5EF4-FFF2-40B4-BE49-F238E27FC236}">
                <a16:creationId xmlns:a16="http://schemas.microsoft.com/office/drawing/2014/main" id="{CFBC7028-E773-617B-BCA5-C3FED357C39E}"/>
              </a:ext>
            </a:extLst>
          </p:cNvPr>
          <p:cNvSpPr/>
          <p:nvPr/>
        </p:nvSpPr>
        <p:spPr>
          <a:xfrm>
            <a:off x="317499" y="146777"/>
            <a:ext cx="11457304" cy="57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4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Parameters, Type Arguments and using a Wildcard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194B7-C9CE-00C0-C318-30387C6A04F1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wildcard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can only be used in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argument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not in the type parameter declaration.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wildcard is represented by the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?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character.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wildcard means the type is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unknown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this reason, a wildcard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limits what you can do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when you specify a type this way.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D219CC-B891-9C4E-9A62-A56970E1D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788" y="4862888"/>
            <a:ext cx="3509714" cy="3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487169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317499" y="153262"/>
            <a:ext cx="1013578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endParaRPr sz="600" dirty="0"/>
          </a:p>
        </p:txBody>
      </p:sp>
      <p:cxnSp>
        <p:nvCxnSpPr>
          <p:cNvPr id="121" name="Google Shape;121;p19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23" name="Google Shape;123;p19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1196398" y="3260672"/>
          <a:ext cx="9256892" cy="88658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256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405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Open Sans"/>
                        <a:buNone/>
                      </a:pPr>
                      <a:r>
                        <a:rPr lang="en-US" sz="2100" u="none" strike="noStrike" cap="none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Invalid! You can’t use a wildcard in an instantiation expression</a:t>
                      </a:r>
                      <a:endParaRPr sz="2100" u="none" strike="noStrike" cap="none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3">
                <a:tc>
                  <a:txBody>
                    <a:bodyPr/>
                    <a:lstStyle/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lang="en-US" sz="600" dirty="0"/>
                    </a:p>
                    <a:p>
                      <a:pPr marL="180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400"/>
                        <a:buFont typeface="Arial"/>
                        <a:buNone/>
                      </a:pPr>
                      <a:endParaRPr sz="600" dirty="0"/>
                    </a:p>
                  </a:txBody>
                  <a:tcPr marL="28933" marR="28933" marT="14467" marB="1446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hape 126">
            <a:extLst>
              <a:ext uri="{FF2B5EF4-FFF2-40B4-BE49-F238E27FC236}">
                <a16:creationId xmlns:a16="http://schemas.microsoft.com/office/drawing/2014/main" id="{A61E48AD-EC51-4A6D-30FF-FDE2B5997F4A}"/>
              </a:ext>
            </a:extLst>
          </p:cNvPr>
          <p:cNvSpPr/>
          <p:nvPr/>
        </p:nvSpPr>
        <p:spPr>
          <a:xfrm>
            <a:off x="317499" y="146777"/>
            <a:ext cx="11457304" cy="57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4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Parameters, Type Arguments and using a Wildcard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2DA13-220B-D9E3-34EC-BEE43DDEC4DB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wild card can't be used in an instantiation of a generic class.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code shown here is invalid.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44278-E6DF-B09E-23B0-4AE44F4DF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32" y="3690996"/>
            <a:ext cx="5609904" cy="38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05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Google Shape;132;p20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34" name="Google Shape;134;p20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sp>
        <p:nvSpPr>
          <p:cNvPr id="2" name="Shape 126">
            <a:extLst>
              <a:ext uri="{FF2B5EF4-FFF2-40B4-BE49-F238E27FC236}">
                <a16:creationId xmlns:a16="http://schemas.microsoft.com/office/drawing/2014/main" id="{5A668A32-A154-CBDA-0A56-3F74A1EA55E2}"/>
              </a:ext>
            </a:extLst>
          </p:cNvPr>
          <p:cNvSpPr/>
          <p:nvPr/>
        </p:nvSpPr>
        <p:spPr>
          <a:xfrm>
            <a:off x="317499" y="146777"/>
            <a:ext cx="11457304" cy="5795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4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Parameters, Type Arguments and using a Wildcard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323FA0-57C7-A7D9-8592-F8B846E2AF91}"/>
              </a:ext>
            </a:extLst>
          </p:cNvPr>
          <p:cNvSpPr/>
          <p:nvPr/>
        </p:nvSpPr>
        <p:spPr>
          <a:xfrm>
            <a:off x="317501" y="959215"/>
            <a:ext cx="11594223" cy="442947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wildcard can be unbounded, or alternately specify either an upper bound or lower bound.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can't specify both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upper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bound and a </a:t>
            </a:r>
            <a:r>
              <a:rPr lang="en-US" sz="2133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bound, in the same declaration.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031DE77-80BE-A3F4-D059-B17172589B3F}"/>
              </a:ext>
            </a:extLst>
          </p:cNvPr>
          <p:cNvGraphicFramePr>
            <a:graphicFrameLocks noGrp="1"/>
          </p:cNvGraphicFramePr>
          <p:nvPr/>
        </p:nvGraphicFramePr>
        <p:xfrm>
          <a:off x="317500" y="2343605"/>
          <a:ext cx="11594223" cy="379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0705">
                  <a:extLst>
                    <a:ext uri="{9D8B030D-6E8A-4147-A177-3AD203B41FA5}">
                      <a16:colId xmlns:a16="http://schemas.microsoft.com/office/drawing/2014/main" val="2844207666"/>
                    </a:ext>
                  </a:extLst>
                </a:gridCol>
                <a:gridCol w="4038898">
                  <a:extLst>
                    <a:ext uri="{9D8B030D-6E8A-4147-A177-3AD203B41FA5}">
                      <a16:colId xmlns:a16="http://schemas.microsoft.com/office/drawing/2014/main" val="1891655341"/>
                    </a:ext>
                  </a:extLst>
                </a:gridCol>
                <a:gridCol w="5784620">
                  <a:extLst>
                    <a:ext uri="{9D8B030D-6E8A-4147-A177-3AD203B41FA5}">
                      <a16:colId xmlns:a16="http://schemas.microsoft.com/office/drawing/2014/main" val="2118105124"/>
                    </a:ext>
                  </a:extLst>
                </a:gridCol>
              </a:tblGrid>
              <a:tr h="433494"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Argument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Example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marL="180000" algn="l"/>
                      <a:r>
                        <a:rPr lang="en-US" sz="180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Description</a:t>
                      </a:r>
                      <a:endParaRPr lang="en-PH" sz="18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129174"/>
                  </a:ext>
                </a:extLst>
              </a:tr>
              <a:tr h="782287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unbounded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List of any type can be passed or assigned to a List using this wildcard.  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325450"/>
                  </a:ext>
                </a:extLst>
              </a:tr>
              <a:tr h="1007012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upper bound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list containing any type that is a Student or a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sub type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of Student can be assigned or passed to an argument specifying this wildcard..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828347"/>
                  </a:ext>
                </a:extLst>
              </a:tr>
              <a:tr h="1332388"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lower bound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0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 list containing any type that is an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LPAStudent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or a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super type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of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LPAStudent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, so in our case, that would be Student AND Object.</a:t>
                      </a:r>
                    </a:p>
                  </a:txBody>
                  <a:tcPr marL="28931" marR="28931" marT="14466" marB="1446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34978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20EEC45E-8CB2-0C23-7625-4C091EB39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388" y="2817104"/>
            <a:ext cx="1123809" cy="2793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73E5E-D0C9-C4DC-663D-BA1815BA9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3388" y="3614149"/>
            <a:ext cx="3828571" cy="2793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9BF4E5-B676-C955-A9C7-133B0712F3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3388" y="4600932"/>
            <a:ext cx="3828571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91009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/>
        </p:nvSpPr>
        <p:spPr>
          <a:xfrm>
            <a:off x="317499" y="153262"/>
            <a:ext cx="10135788" cy="60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10800"/>
            </a:pPr>
            <a:endParaRPr sz="600" dirty="0"/>
          </a:p>
        </p:txBody>
      </p:sp>
      <p:cxnSp>
        <p:nvCxnSpPr>
          <p:cNvPr id="121" name="Google Shape;121;p19"/>
          <p:cNvCxnSpPr/>
          <p:nvPr/>
        </p:nvCxnSpPr>
        <p:spPr>
          <a:xfrm rot="10800000" flipH="1">
            <a:off x="317500" y="734447"/>
            <a:ext cx="11594223" cy="12711"/>
          </a:xfrm>
          <a:prstGeom prst="straightConnector1">
            <a:avLst/>
          </a:prstGeom>
          <a:noFill/>
          <a:ln w="1524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23" name="Google Shape;123;p19"/>
          <p:cNvCxnSpPr/>
          <p:nvPr/>
        </p:nvCxnSpPr>
        <p:spPr>
          <a:xfrm>
            <a:off x="317500" y="6070172"/>
            <a:ext cx="11594223" cy="1"/>
          </a:xfrm>
          <a:prstGeom prst="straightConnector1">
            <a:avLst/>
          </a:prstGeom>
          <a:noFill/>
          <a:ln w="76200" cap="flat" cmpd="sng">
            <a:solidFill>
              <a:srgbClr val="50A7F9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3658" y="6163242"/>
            <a:ext cx="2107184" cy="46411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>
              <a:buClr>
                <a:schemeClr val="dk1"/>
              </a:buClr>
              <a:buSzPts val="3000"/>
            </a:pP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COMPLETE JAVA MASTERCLASS</a:t>
            </a:r>
            <a:endParaRPr sz="600"/>
          </a:p>
          <a:p>
            <a:pPr>
              <a:buClr>
                <a:schemeClr val="dk1"/>
              </a:buClr>
              <a:buSzPts val="4500"/>
            </a:pPr>
            <a:r>
              <a:rPr lang="en-US" sz="15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Generics methods, wildcards, and type erasure</a:t>
            </a:r>
            <a:endParaRPr sz="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2DA13-220B-D9E3-34EC-BEE43DDEC4DB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Generics exist to enforce tighter type checks at compile time.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compiler transforms a generic class into a typed class, meaning the byte code or class file contains no type parameters. 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Everywhere a type parameter is used in a class, it gets replaced with either the type Object, if no upper bound was specified, or the upper bound type itself.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transformation process is called type erasure, because the T parameter (or S, U, V), is erased or replaced with a true type.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Why is this important?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 how type erasure works for overloaded methods is important.</a:t>
            </a:r>
          </a:p>
        </p:txBody>
      </p:sp>
      <p:sp>
        <p:nvSpPr>
          <p:cNvPr id="2" name="Shape 126">
            <a:extLst>
              <a:ext uri="{FF2B5EF4-FFF2-40B4-BE49-F238E27FC236}">
                <a16:creationId xmlns:a16="http://schemas.microsoft.com/office/drawing/2014/main" id="{60F89DA7-AF9F-69D8-B1C3-43D25FE04742}"/>
              </a:ext>
            </a:extLst>
          </p:cNvPr>
          <p:cNvSpPr/>
          <p:nvPr/>
        </p:nvSpPr>
        <p:spPr>
          <a:xfrm>
            <a:off x="317499" y="153262"/>
            <a:ext cx="2827249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 Erasure</a:t>
            </a:r>
          </a:p>
        </p:txBody>
      </p:sp>
    </p:spTree>
    <p:extLst>
      <p:ext uri="{BB962C8B-B14F-4D97-AF65-F5344CB8AC3E}">
        <p14:creationId xmlns:p14="http://schemas.microsoft.com/office/powerpoint/2010/main" val="340936951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499" y="153262"/>
            <a:ext cx="1035257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Multiple types to declare an Upper Bound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Static methods &amp; multiple upper bounds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6D8DEB-1512-EF44-895E-792A1F6AB4BE}"/>
              </a:ext>
            </a:extLst>
          </p:cNvPr>
          <p:cNvSpPr/>
          <p:nvPr/>
        </p:nvSpPr>
        <p:spPr>
          <a:xfrm>
            <a:off x="317501" y="901959"/>
            <a:ext cx="4994728" cy="5075143"/>
          </a:xfrm>
          <a:prstGeom prst="rect">
            <a:avLst/>
          </a:prstGeom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use multiple types to set a more restrictive upper bound with the use of an ampersand between types.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conditions require a type argument to implement all interfaces declared, and to be a subtype of any class specified.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can extend only one class at most, and zero to many interfaces.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 use extends for either a class or an interface or both.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do extend a class as well as an interface or two, the class must be the first type listed.</a:t>
            </a:r>
          </a:p>
        </p:txBody>
      </p:sp>
      <p:pic>
        <p:nvPicPr>
          <p:cNvPr id="6" name="Picture 5" descr="Shape, arrow&#10;&#10;Description automatically generated">
            <a:extLst>
              <a:ext uri="{FF2B5EF4-FFF2-40B4-BE49-F238E27FC236}">
                <a16:creationId xmlns:a16="http://schemas.microsoft.com/office/drawing/2014/main" id="{4E3004CA-C0B8-FD3B-6C37-C6A6C3AF5E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5" t="4101" r="2514" b="1311"/>
          <a:stretch/>
        </p:blipFill>
        <p:spPr>
          <a:xfrm>
            <a:off x="5312229" y="1562310"/>
            <a:ext cx="6599494" cy="373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31262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976228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challenge, I want you to start with some of the code I just talked about in the last video.</a:t>
            </a:r>
          </a:p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 sure to start with the Student and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LPAStudent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classes, as well as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QueryItem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interface and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QueryList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595267958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976228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challenge, you'll want to do the following items: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QueryList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extend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ArrayList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removing the items field.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a student id field to the Student class, and implement a way to compare Students, so that students are naturally ordered by a student id.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Implement at least one other mechanism for comparing Students by course or year, or for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LPAStudents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by percent complete.</a:t>
            </a:r>
          </a:p>
        </p:txBody>
      </p:sp>
    </p:spTree>
    <p:extLst>
      <p:ext uri="{BB962C8B-B14F-4D97-AF65-F5344CB8AC3E}">
        <p14:creationId xmlns:p14="http://schemas.microsoft.com/office/powerpoint/2010/main" val="4023539370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/>
        </p:nvSpPr>
        <p:spPr>
          <a:xfrm>
            <a:off x="317500" y="153262"/>
            <a:ext cx="9762288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lvl1pPr algn="l">
              <a:defRPr sz="7000">
                <a:latin typeface="Alright Sans"/>
                <a:ea typeface="Alright Sans"/>
                <a:cs typeface="Alright Sans"/>
                <a:sym typeface="Alright Sans"/>
              </a:defRPr>
            </a:lvl1pPr>
          </a:lstStyle>
          <a:p>
            <a:pPr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128" name="Shape 128"/>
          <p:cNvSpPr/>
          <p:nvPr/>
        </p:nvSpPr>
        <p:spPr>
          <a:xfrm>
            <a:off x="317500" y="6070172"/>
            <a:ext cx="11594223" cy="1"/>
          </a:xfrm>
          <a:prstGeom prst="line">
            <a:avLst/>
          </a:prstGeom>
          <a:ln w="762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pic>
        <p:nvPicPr>
          <p:cNvPr id="129" name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58" y="6163242"/>
            <a:ext cx="2107184" cy="464112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hape 127"/>
          <p:cNvSpPr/>
          <p:nvPr/>
        </p:nvSpPr>
        <p:spPr>
          <a:xfrm flipV="1">
            <a:off x="317500" y="734447"/>
            <a:ext cx="11594223" cy="12711"/>
          </a:xfrm>
          <a:prstGeom prst="line">
            <a:avLst/>
          </a:prstGeom>
          <a:ln w="1524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pPr>
              <a:defRPr sz="3200"/>
            </a:pPr>
            <a:endParaRPr sz="1600"/>
          </a:p>
        </p:txBody>
      </p:sp>
      <p:sp>
        <p:nvSpPr>
          <p:cNvPr id="10" name="Shape 131"/>
          <p:cNvSpPr/>
          <p:nvPr/>
        </p:nvSpPr>
        <p:spPr>
          <a:xfrm>
            <a:off x="317500" y="6163242"/>
            <a:ext cx="5336229" cy="43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>
            <a:spAutoFit/>
          </a:bodyPr>
          <a:lstStyle/>
          <a:p>
            <a:pPr algn="l">
              <a:defRPr sz="2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COMPLETE JAVA MASTERCLASS</a:t>
            </a:r>
          </a:p>
          <a:p>
            <a:pPr algn="l">
              <a:defRPr sz="3000">
                <a:latin typeface="Alright Sans"/>
                <a:ea typeface="Alright Sans"/>
                <a:cs typeface="Alright Sans"/>
                <a:sym typeface="Alright Sans"/>
              </a:defRPr>
            </a:pPr>
            <a:r>
              <a:rPr lang="en-US" sz="15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Putting it all together, Final Section Challenge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BB243-EF27-4345-872D-E76597E95619}"/>
              </a:ext>
            </a:extLst>
          </p:cNvPr>
          <p:cNvSpPr/>
          <p:nvPr/>
        </p:nvSpPr>
        <p:spPr>
          <a:xfrm>
            <a:off x="317501" y="1428635"/>
            <a:ext cx="11594223" cy="3960059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>
              <a:spcAft>
                <a:spcPts val="1674"/>
              </a:spcAft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this challenge, you'll want to do the following items: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Override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matchFieldValue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method on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LPAStudent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class, so that you return students not matched on percent complete equal to a value, but on percent less than or equal to a submitted value.  Note: an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LPAStudent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should be searchable by the same fields as Student as well.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Run your code for 25 random students selecting students who have completed less than or equal to 50% of their course, and print out the list, sorted in at least two ways. First by using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List.sort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the </a:t>
            </a:r>
            <a:r>
              <a:rPr lang="en-US" sz="2133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Comparator.naturalOrder</a:t>
            </a: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comparator, and then using your own Comparator, so first by student id, as well as one of the other ways you selected.</a:t>
            </a:r>
          </a:p>
          <a:p>
            <a:pPr marL="285721" indent="-285721">
              <a:spcAft>
                <a:spcPts val="1674"/>
              </a:spcAft>
              <a:buFont typeface="Arial" panose="020B0604020202020204" pitchFamily="34" charset="0"/>
              <a:buChar char="•"/>
            </a:pPr>
            <a:r>
              <a:rPr lang="en-US" sz="2133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be sure to have some fun!</a:t>
            </a:r>
          </a:p>
        </p:txBody>
      </p:sp>
    </p:spTree>
    <p:extLst>
      <p:ext uri="{BB962C8B-B14F-4D97-AF65-F5344CB8AC3E}">
        <p14:creationId xmlns:p14="http://schemas.microsoft.com/office/powerpoint/2010/main" val="5855842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4149</Words>
  <Application>Microsoft Office PowerPoint</Application>
  <PresentationFormat>Widescreen</PresentationFormat>
  <Paragraphs>424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Arial</vt:lpstr>
      <vt:lpstr>Helvetica Neue Light</vt:lpstr>
      <vt:lpstr>Open Sans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Pratheevraj Kalyanasundaram</dc:creator>
  <cp:lastModifiedBy>Pratheevraj Kalyanasundaram</cp:lastModifiedBy>
  <cp:revision>1</cp:revision>
  <dcterms:created xsi:type="dcterms:W3CDTF">2026-03-21T11:56:44Z</dcterms:created>
  <dcterms:modified xsi:type="dcterms:W3CDTF">2026-03-21T12:07:14Z</dcterms:modified>
</cp:coreProperties>
</file>