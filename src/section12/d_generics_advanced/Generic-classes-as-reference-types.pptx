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36576000" cy="20574000"/>
  <p:notesSz cx="6858000" cy="9144000"/>
  <p:embeddedFontLst>
    <p:embeddedFont>
      <p:font typeface="Helvetica Neue" charset="0"/>
      <p:regular r:id="rId6"/>
      <p:bold r:id="rId7"/>
      <p:italic r:id="rId8"/>
      <p:boldItalic r:id="rId9"/>
    </p:embeddedFont>
    <p:embeddedFont>
      <p:font typeface="Helvetica Neue Light" panose="020B0604020202020204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QzqVFx2vcJIj2W8i70zVWbEEB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4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93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211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024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18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>
            <a:spLocks noGrp="1"/>
          </p:cNvSpPr>
          <p:nvPr>
            <p:ph type="pic" idx="2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8"/>
          <p:cNvSpPr txBox="1"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8"/>
              <a:buFont typeface="Helvetica Neue Light"/>
              <a:buNone/>
              <a:defRPr sz="1259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body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 Light"/>
              <a:buNone/>
              <a:defRPr sz="6600"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>
            <a:spLocks noGrp="1"/>
          </p:cNvSpPr>
          <p:nvPr>
            <p:ph type="pic" idx="2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550068" algn="l">
              <a:lnSpc>
                <a:spcPct val="100000"/>
              </a:lnSpc>
              <a:spcBef>
                <a:spcPts val="6750"/>
              </a:spcBef>
              <a:spcAft>
                <a:spcPts val="0"/>
              </a:spcAft>
              <a:buClr>
                <a:srgbClr val="000000"/>
              </a:buClr>
              <a:buSzPts val="5063"/>
              <a:buFont typeface="Helvetica Neue Light"/>
              <a:buChar char="•"/>
              <a:defRPr sz="6750"/>
            </a:lvl1pPr>
            <a:lvl2pPr marL="914400" lvl="1" indent="-550068" algn="l">
              <a:lnSpc>
                <a:spcPct val="100000"/>
              </a:lnSpc>
              <a:spcBef>
                <a:spcPts val="6750"/>
              </a:spcBef>
              <a:spcAft>
                <a:spcPts val="0"/>
              </a:spcAft>
              <a:buClr>
                <a:srgbClr val="000000"/>
              </a:buClr>
              <a:buSzPts val="5063"/>
              <a:buFont typeface="Helvetica Neue Light"/>
              <a:buChar char="•"/>
              <a:defRPr sz="6750"/>
            </a:lvl2pPr>
            <a:lvl3pPr marL="1371600" lvl="2" indent="-550068" algn="l">
              <a:lnSpc>
                <a:spcPct val="100000"/>
              </a:lnSpc>
              <a:spcBef>
                <a:spcPts val="6750"/>
              </a:spcBef>
              <a:spcAft>
                <a:spcPts val="0"/>
              </a:spcAft>
              <a:buClr>
                <a:srgbClr val="000000"/>
              </a:buClr>
              <a:buSzPts val="5063"/>
              <a:buFont typeface="Helvetica Neue Light"/>
              <a:buChar char="•"/>
              <a:defRPr sz="6750"/>
            </a:lvl3pPr>
            <a:lvl4pPr marL="1828800" lvl="3" indent="-550068" algn="l">
              <a:lnSpc>
                <a:spcPct val="100000"/>
              </a:lnSpc>
              <a:spcBef>
                <a:spcPts val="6750"/>
              </a:spcBef>
              <a:spcAft>
                <a:spcPts val="0"/>
              </a:spcAft>
              <a:buClr>
                <a:srgbClr val="000000"/>
              </a:buClr>
              <a:buSzPts val="5063"/>
              <a:buFont typeface="Helvetica Neue Light"/>
              <a:buChar char="•"/>
              <a:defRPr sz="6750"/>
            </a:lvl4pPr>
            <a:lvl5pPr marL="2286000" lvl="4" indent="-550068" algn="l">
              <a:lnSpc>
                <a:spcPct val="100000"/>
              </a:lnSpc>
              <a:spcBef>
                <a:spcPts val="6750"/>
              </a:spcBef>
              <a:spcAft>
                <a:spcPts val="0"/>
              </a:spcAft>
              <a:buClr>
                <a:srgbClr val="000000"/>
              </a:buClr>
              <a:buSzPts val="5063"/>
              <a:buFont typeface="Helvetica Neue Light"/>
              <a:buChar char="•"/>
              <a:defRPr sz="6750"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>
            <a:spLocks noGrp="1"/>
          </p:cNvSpPr>
          <p:nvPr>
            <p:ph type="pic" idx="2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2"/>
          <p:cNvSpPr>
            <a:spLocks noGrp="1"/>
          </p:cNvSpPr>
          <p:nvPr>
            <p:ph type="pic" idx="3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2"/>
          <p:cNvSpPr>
            <a:spLocks noGrp="1"/>
          </p:cNvSpPr>
          <p:nvPr>
            <p:ph type="pic" idx="4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2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Helvetica Neue"/>
              <a:buNone/>
              <a:defRPr sz="5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>
            <a:spLocks noGrp="1"/>
          </p:cNvSpPr>
          <p:nvPr>
            <p:ph type="pic" idx="2"/>
          </p:nvPr>
        </p:nvSpPr>
        <p:spPr>
          <a:xfrm>
            <a:off x="0" y="2"/>
            <a:ext cx="36576000" cy="20574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0"/>
              <a:buFont typeface="Helvetica Neue Light"/>
              <a:buNone/>
              <a:defRPr sz="16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599979" algn="l" rtl="0">
              <a:lnSpc>
                <a:spcPct val="100000"/>
              </a:lnSpc>
              <a:spcBef>
                <a:spcPts val="8850"/>
              </a:spcBef>
              <a:spcAft>
                <a:spcPts val="0"/>
              </a:spcAft>
              <a:buClr>
                <a:srgbClr val="000000"/>
              </a:buClr>
              <a:buSzPts val="5849"/>
              <a:buFont typeface="Helvetica Neue Light"/>
              <a:buChar char="•"/>
              <a:defRPr sz="7798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952501" y="459775"/>
            <a:ext cx="29680800" cy="3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Open Sans"/>
              <a:buNone/>
            </a:pPr>
            <a:r>
              <a:rPr lang="en-US" sz="10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What's left to know about Generics?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endParaRPr sz="10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952500" y="18210515"/>
            <a:ext cx="34782668" cy="2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50974" y="18489726"/>
            <a:ext cx="6321552" cy="13923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 rot="10800000" flipH="1">
            <a:off x="952499" y="2203340"/>
            <a:ext cx="34782670" cy="38132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9" name="Google Shape;59;p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Open Sans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</a:pPr>
            <a:r>
              <a:rPr lang="en-US" sz="4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classes as reference types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EEBA0-0679-F611-459A-BA1410495DE7}"/>
              </a:ext>
            </a:extLst>
          </p:cNvPr>
          <p:cNvSpPr/>
          <p:nvPr/>
        </p:nvSpPr>
        <p:spPr>
          <a:xfrm>
            <a:off x="952499" y="4285904"/>
            <a:ext cx="34782667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next few videos, I want to cover the following topics.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generic references that use type arguments, declared in method parameters and local variables.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generic methods, apart from generic classes.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wildcards in the type argument.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Understanding static methods with generic types.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multiple upper bounds.</a:t>
            </a:r>
          </a:p>
        </p:txBody>
      </p:sp>
    </p:spTree>
    <p:extLst>
      <p:ext uri="{BB962C8B-B14F-4D97-AF65-F5344CB8AC3E}">
        <p14:creationId xmlns:p14="http://schemas.microsoft.com/office/powerpoint/2010/main" val="3273966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952498" y="459786"/>
            <a:ext cx="22241666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Open Sans"/>
              <a:buNone/>
            </a:pPr>
            <a:r>
              <a:rPr lang="en-US" sz="10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isn't inheritance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endParaRPr sz="10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952500" y="18210515"/>
            <a:ext cx="34782668" cy="2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50974" y="18489726"/>
            <a:ext cx="6321552" cy="13923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2"/>
          <p:cNvCxnSpPr/>
          <p:nvPr/>
        </p:nvCxnSpPr>
        <p:spPr>
          <a:xfrm rot="10800000" flipH="1">
            <a:off x="952499" y="2203340"/>
            <a:ext cx="34782670" cy="38132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9" name="Google Shape;69;p2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</a:pPr>
            <a:r>
              <a:rPr lang="en-US" sz="4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classes as reference types</a:t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952501" y="2705880"/>
            <a:ext cx="14219075" cy="1617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know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inherits from Student, and we can pass an instance of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any method, or assign it to any reference type, declared with the type of Student.</a:t>
            </a:r>
            <a:endParaRPr lang="en-US" dirty="0"/>
          </a:p>
          <a:p>
            <a:pPr marL="0" marR="0" lvl="0" indent="0" algn="l" rtl="0">
              <a:lnSpc>
                <a:spcPct val="90000"/>
              </a:lnSpc>
              <a:spcBef>
                <a:spcPts val="5022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also know that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implements List, and we can pass an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a method or assign it to a reference of the List type, and we saw this in both cases for our Student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dirty="0"/>
          </a:p>
          <a:p>
            <a:pPr marL="0" marR="0" lvl="0" indent="0" algn="l" rtl="0">
              <a:lnSpc>
                <a:spcPct val="90000"/>
              </a:lnSpc>
              <a:spcBef>
                <a:spcPts val="5022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 why can't we pass an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of LPA Student, to the method parameter that's declared as a List of Student?</a:t>
            </a:r>
            <a:endParaRPr lang="en-US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AC4DF36B-4EDF-D63D-EAE8-C63492420C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7" t="9859" r="4141" b="9600"/>
          <a:stretch/>
        </p:blipFill>
        <p:spPr>
          <a:xfrm>
            <a:off x="15662116" y="5768566"/>
            <a:ext cx="20372711" cy="903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5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BCF9429-AD7F-BF90-BF66-E073AEAA5C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7" t="9859" r="4141" b="9600"/>
          <a:stretch/>
        </p:blipFill>
        <p:spPr>
          <a:xfrm>
            <a:off x="15662116" y="5768566"/>
            <a:ext cx="20372711" cy="9036868"/>
          </a:xfrm>
          <a:prstGeom prst="rect">
            <a:avLst/>
          </a:prstGeom>
        </p:spPr>
      </p:pic>
      <p:sp>
        <p:nvSpPr>
          <p:cNvPr id="76" name="Google Shape;76;p3"/>
          <p:cNvSpPr/>
          <p:nvPr/>
        </p:nvSpPr>
        <p:spPr>
          <a:xfrm>
            <a:off x="952498" y="459786"/>
            <a:ext cx="22241666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Open Sans"/>
              <a:buNone/>
            </a:pPr>
            <a:r>
              <a:rPr lang="en-US" sz="10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isn't inheritance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endParaRPr sz="10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952500" y="18210515"/>
            <a:ext cx="34782668" cy="2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50974" y="18489726"/>
            <a:ext cx="6321552" cy="13923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3"/>
          <p:cNvCxnSpPr/>
          <p:nvPr/>
        </p:nvCxnSpPr>
        <p:spPr>
          <a:xfrm rot="10800000" flipH="1">
            <a:off x="952499" y="2203340"/>
            <a:ext cx="34782670" cy="38132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0" name="Google Shape;80;p3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</a:pPr>
            <a:r>
              <a:rPr lang="en-US" sz="4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classes as reference types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52501" y="2705880"/>
            <a:ext cx="14331041" cy="1522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Surely, if an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a Student, a List of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ultimately a List of Student.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endParaRPr lang="en-US" sz="6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It's very natural to assume that a method that takes a List with Students should accept a List with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LPAStudents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because </a:t>
            </a:r>
            <a:r>
              <a:rPr lang="en-US" sz="6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a Student after all.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22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 that's not how it works.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22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Open Sans"/>
              <a:buNone/>
            </a:pPr>
            <a:r>
              <a:rPr lang="en-US" sz="6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When used as reference types, a container of one type has no relationship to the same container of another type, even if the contained types do have a relationship.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174736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280</Words>
  <Application>Microsoft Office PowerPoint</Application>
  <PresentationFormat>Custom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Helvetica Neue</vt:lpstr>
      <vt:lpstr>Arial</vt:lpstr>
      <vt:lpstr>Open Sans</vt:lpstr>
      <vt:lpstr>Helvetica Neue Light</vt:lpstr>
      <vt:lpstr>White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Pratheevraj Kalyanasundaram</cp:lastModifiedBy>
  <cp:revision>3</cp:revision>
  <dcterms:modified xsi:type="dcterms:W3CDTF">2026-02-23T21:14:21Z</dcterms:modified>
</cp:coreProperties>
</file>