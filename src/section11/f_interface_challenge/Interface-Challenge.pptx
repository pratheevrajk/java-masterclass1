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86" r:id="rId2"/>
    <p:sldId id="287" r:id="rId3"/>
    <p:sldId id="288" r:id="rId4"/>
    <p:sldId id="289" r:id="rId5"/>
    <p:sldId id="290" r:id="rId6"/>
    <p:sldId id="291" r:id="rId7"/>
    <p:sldId id="292" r:id="rId8"/>
    <p:sldId id="293" r:id="rId9"/>
  </p:sldIdLst>
  <p:sldSz cx="36576000" cy="20574000"/>
  <p:notesSz cx="6858000" cy="9144000"/>
  <p:defaultTextStyle>
    <a:defPPr marL="0" marR="0" indent="0" algn="l" defTabSz="1369222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696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1236104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7488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1pPr>
    <a:lvl2pPr marL="0" marR="0" indent="342306" algn="ctr" defTabSz="1236104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7488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2pPr>
    <a:lvl3pPr marL="0" marR="0" indent="684612" algn="ctr" defTabSz="1236104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7488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3pPr>
    <a:lvl4pPr marL="0" marR="0" indent="1026916" algn="ctr" defTabSz="1236104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7488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4pPr>
    <a:lvl5pPr marL="0" marR="0" indent="1369222" algn="ctr" defTabSz="1236104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7488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5pPr>
    <a:lvl6pPr marL="0" marR="0" indent="1711528" algn="ctr" defTabSz="1236104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7488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6pPr>
    <a:lvl7pPr marL="0" marR="0" indent="2053834" algn="ctr" defTabSz="1236104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7488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7pPr>
    <a:lvl8pPr marL="0" marR="0" indent="2396140" algn="ctr" defTabSz="1236104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7488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8pPr>
    <a:lvl9pPr marL="0" marR="0" indent="2738446" algn="ctr" defTabSz="1236104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7488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1E1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398CCE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5AC831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2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E6E4D7"/>
          </a:solidFill>
        </a:fill>
      </a:tcStyle>
    </a:wholeTbl>
    <a:band2H>
      <a:tcTxStyle/>
      <a:tcStyle>
        <a:tcBdr/>
        <a:fill>
          <a:solidFill>
            <a:srgbClr val="C3C2C2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09C99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CE5E6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D0D1D2"/>
          </a:solidFill>
        </a:fill>
      </a:tcStyle>
    </a:wholeTbl>
    <a:band2H>
      <a:tcTxStyle/>
      <a:tcStyle>
        <a:tcBdr/>
        <a:fill>
          <a:solidFill>
            <a:srgbClr val="DEDEDF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761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09398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67C85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132" autoAdjust="0"/>
    <p:restoredTop sz="94660"/>
  </p:normalViewPr>
  <p:slideViewPr>
    <p:cSldViewPr snapToGrid="0">
      <p:cViewPr varScale="1">
        <p:scale>
          <a:sx n="24" d="100"/>
          <a:sy n="24" d="100"/>
        </p:scale>
        <p:origin x="74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116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7" name="Shape 117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78303747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684612" latinLnBrk="0">
      <a:lnSpc>
        <a:spcPct val="117999"/>
      </a:lnSpc>
      <a:defRPr sz="3294">
        <a:latin typeface="Helvetica Neue"/>
        <a:ea typeface="Helvetica Neue"/>
        <a:cs typeface="Helvetica Neue"/>
        <a:sym typeface="Helvetica Neue"/>
      </a:defRPr>
    </a:lvl1pPr>
    <a:lvl2pPr indent="342306" defTabSz="684612" latinLnBrk="0">
      <a:lnSpc>
        <a:spcPct val="117999"/>
      </a:lnSpc>
      <a:defRPr sz="3294">
        <a:latin typeface="Helvetica Neue"/>
        <a:ea typeface="Helvetica Neue"/>
        <a:cs typeface="Helvetica Neue"/>
        <a:sym typeface="Helvetica Neue"/>
      </a:defRPr>
    </a:lvl2pPr>
    <a:lvl3pPr indent="684612" defTabSz="684612" latinLnBrk="0">
      <a:lnSpc>
        <a:spcPct val="117999"/>
      </a:lnSpc>
      <a:defRPr sz="3294">
        <a:latin typeface="Helvetica Neue"/>
        <a:ea typeface="Helvetica Neue"/>
        <a:cs typeface="Helvetica Neue"/>
        <a:sym typeface="Helvetica Neue"/>
      </a:defRPr>
    </a:lvl3pPr>
    <a:lvl4pPr indent="1026916" defTabSz="684612" latinLnBrk="0">
      <a:lnSpc>
        <a:spcPct val="117999"/>
      </a:lnSpc>
      <a:defRPr sz="3294">
        <a:latin typeface="Helvetica Neue"/>
        <a:ea typeface="Helvetica Neue"/>
        <a:cs typeface="Helvetica Neue"/>
        <a:sym typeface="Helvetica Neue"/>
      </a:defRPr>
    </a:lvl4pPr>
    <a:lvl5pPr indent="1369222" defTabSz="684612" latinLnBrk="0">
      <a:lnSpc>
        <a:spcPct val="117999"/>
      </a:lnSpc>
      <a:defRPr sz="3294">
        <a:latin typeface="Helvetica Neue"/>
        <a:ea typeface="Helvetica Neue"/>
        <a:cs typeface="Helvetica Neue"/>
        <a:sym typeface="Helvetica Neue"/>
      </a:defRPr>
    </a:lvl5pPr>
    <a:lvl6pPr indent="1711528" defTabSz="684612" latinLnBrk="0">
      <a:lnSpc>
        <a:spcPct val="117999"/>
      </a:lnSpc>
      <a:defRPr sz="3294">
        <a:latin typeface="Helvetica Neue"/>
        <a:ea typeface="Helvetica Neue"/>
        <a:cs typeface="Helvetica Neue"/>
        <a:sym typeface="Helvetica Neue"/>
      </a:defRPr>
    </a:lvl6pPr>
    <a:lvl7pPr indent="2053834" defTabSz="684612" latinLnBrk="0">
      <a:lnSpc>
        <a:spcPct val="117999"/>
      </a:lnSpc>
      <a:defRPr sz="3294">
        <a:latin typeface="Helvetica Neue"/>
        <a:ea typeface="Helvetica Neue"/>
        <a:cs typeface="Helvetica Neue"/>
        <a:sym typeface="Helvetica Neue"/>
      </a:defRPr>
    </a:lvl7pPr>
    <a:lvl8pPr indent="2396140" defTabSz="684612" latinLnBrk="0">
      <a:lnSpc>
        <a:spcPct val="117999"/>
      </a:lnSpc>
      <a:defRPr sz="3294">
        <a:latin typeface="Helvetica Neue"/>
        <a:ea typeface="Helvetica Neue"/>
        <a:cs typeface="Helvetica Neue"/>
        <a:sym typeface="Helvetica Neue"/>
      </a:defRPr>
    </a:lvl8pPr>
    <a:lvl9pPr indent="2738446" defTabSz="684612" latinLnBrk="0">
      <a:lnSpc>
        <a:spcPct val="117999"/>
      </a:lnSpc>
      <a:defRPr sz="3294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59917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68845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37008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83728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24500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63339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87807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80845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20"/>
          <p:cNvSpPr>
            <a:spLocks noGrp="1"/>
          </p:cNvSpPr>
          <p:nvPr>
            <p:ph type="pic" idx="13"/>
          </p:nvPr>
        </p:nvSpPr>
        <p:spPr>
          <a:xfrm>
            <a:off x="4688955" y="1009652"/>
            <a:ext cx="27203402" cy="131064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21" name="Shape 21"/>
          <p:cNvSpPr>
            <a:spLocks noGrp="1"/>
          </p:cNvSpPr>
          <p:nvPr>
            <p:ph type="title"/>
          </p:nvPr>
        </p:nvSpPr>
        <p:spPr>
          <a:xfrm>
            <a:off x="952500" y="14173202"/>
            <a:ext cx="34671000" cy="3009900"/>
          </a:xfrm>
          <a:prstGeom prst="rect">
            <a:avLst/>
          </a:prstGeom>
        </p:spPr>
        <p:txBody>
          <a:bodyPr anchor="b"/>
          <a:lstStyle/>
          <a:p>
            <a:r>
              <a:t>Title Text</a:t>
            </a:r>
          </a:p>
        </p:txBody>
      </p:sp>
      <p:sp>
        <p:nvSpPr>
          <p:cNvPr id="22" name="Shape 22"/>
          <p:cNvSpPr>
            <a:spLocks noGrp="1"/>
          </p:cNvSpPr>
          <p:nvPr>
            <p:ph type="body" sz="quarter" idx="1"/>
          </p:nvPr>
        </p:nvSpPr>
        <p:spPr>
          <a:xfrm>
            <a:off x="952500" y="17278351"/>
            <a:ext cx="34671000" cy="238125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6600"/>
            </a:lvl1pPr>
            <a:lvl2pPr marL="0" indent="342882" algn="ctr">
              <a:spcBef>
                <a:spcPts val="0"/>
              </a:spcBef>
              <a:buSzTx/>
              <a:buNone/>
              <a:defRPr sz="6600"/>
            </a:lvl2pPr>
            <a:lvl3pPr marL="0" indent="685764" algn="ctr">
              <a:spcBef>
                <a:spcPts val="0"/>
              </a:spcBef>
              <a:buSzTx/>
              <a:buNone/>
              <a:defRPr sz="6600"/>
            </a:lvl3pPr>
            <a:lvl4pPr marL="0" indent="1028644" algn="ctr">
              <a:spcBef>
                <a:spcPts val="0"/>
              </a:spcBef>
              <a:buSzTx/>
              <a:buNone/>
              <a:defRPr sz="6600"/>
            </a:lvl4pPr>
            <a:lvl5pPr marL="0" indent="1371526" algn="ctr">
              <a:spcBef>
                <a:spcPts val="0"/>
              </a:spcBef>
              <a:buSzTx/>
              <a:buNone/>
              <a:defRPr sz="6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3" name="Shape 23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30"/>
          <p:cNvSpPr>
            <a:spLocks noGrp="1"/>
          </p:cNvSpPr>
          <p:nvPr>
            <p:ph type="title"/>
          </p:nvPr>
        </p:nvSpPr>
        <p:spPr>
          <a:xfrm>
            <a:off x="2667000" y="6800852"/>
            <a:ext cx="31242000" cy="6972300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1" name="Shape 31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38"/>
          <p:cNvSpPr>
            <a:spLocks noGrp="1"/>
          </p:cNvSpPr>
          <p:nvPr>
            <p:ph type="pic" sz="half" idx="13"/>
          </p:nvPr>
        </p:nvSpPr>
        <p:spPr>
          <a:xfrm>
            <a:off x="19748973" y="1657352"/>
            <a:ext cx="14287502" cy="172593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39" name="Shape 39"/>
          <p:cNvSpPr>
            <a:spLocks noGrp="1"/>
          </p:cNvSpPr>
          <p:nvPr>
            <p:ph type="title"/>
          </p:nvPr>
        </p:nvSpPr>
        <p:spPr>
          <a:xfrm>
            <a:off x="2476503" y="1657350"/>
            <a:ext cx="15335250" cy="8420100"/>
          </a:xfrm>
          <a:prstGeom prst="rect">
            <a:avLst/>
          </a:prstGeom>
        </p:spPr>
        <p:txBody>
          <a:bodyPr anchor="b"/>
          <a:lstStyle>
            <a:lvl1pPr>
              <a:defRPr sz="12598"/>
            </a:lvl1pPr>
          </a:lstStyle>
          <a:p>
            <a:r>
              <a:t>Title Text</a:t>
            </a:r>
          </a:p>
        </p:txBody>
      </p:sp>
      <p:sp>
        <p:nvSpPr>
          <p:cNvPr id="40" name="Shape 40"/>
          <p:cNvSpPr>
            <a:spLocks noGrp="1"/>
          </p:cNvSpPr>
          <p:nvPr>
            <p:ph type="body" sz="quarter" idx="1"/>
          </p:nvPr>
        </p:nvSpPr>
        <p:spPr>
          <a:xfrm>
            <a:off x="2476503" y="10267950"/>
            <a:ext cx="15335250" cy="86487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6600"/>
            </a:lvl1pPr>
            <a:lvl2pPr marL="0" indent="342882" algn="ctr">
              <a:spcBef>
                <a:spcPts val="0"/>
              </a:spcBef>
              <a:buSzTx/>
              <a:buNone/>
              <a:defRPr sz="6600"/>
            </a:lvl2pPr>
            <a:lvl3pPr marL="0" indent="685764" algn="ctr">
              <a:spcBef>
                <a:spcPts val="0"/>
              </a:spcBef>
              <a:buSzTx/>
              <a:buNone/>
              <a:defRPr sz="6600"/>
            </a:lvl3pPr>
            <a:lvl4pPr marL="0" indent="1028644" algn="ctr">
              <a:spcBef>
                <a:spcPts val="0"/>
              </a:spcBef>
              <a:buSzTx/>
              <a:buNone/>
              <a:defRPr sz="6600"/>
            </a:lvl4pPr>
            <a:lvl5pPr marL="0" indent="1371526" algn="ctr">
              <a:spcBef>
                <a:spcPts val="0"/>
              </a:spcBef>
              <a:buSzTx/>
              <a:buNone/>
              <a:defRPr sz="6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1" name="Shape 41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Shape 4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9" name="Shape 49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Shape 56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7" name="Shape 57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8" name="Shape 58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hape 65"/>
          <p:cNvSpPr>
            <a:spLocks noGrp="1"/>
          </p:cNvSpPr>
          <p:nvPr>
            <p:ph type="pic" sz="half" idx="13"/>
          </p:nvPr>
        </p:nvSpPr>
        <p:spPr>
          <a:xfrm>
            <a:off x="19754850" y="4857753"/>
            <a:ext cx="14287500" cy="1381125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66" name="Shape 66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67" name="Shape 67"/>
          <p:cNvSpPr>
            <a:spLocks noGrp="1"/>
          </p:cNvSpPr>
          <p:nvPr>
            <p:ph type="body" sz="half" idx="1"/>
          </p:nvPr>
        </p:nvSpPr>
        <p:spPr>
          <a:xfrm>
            <a:off x="2533650" y="4857753"/>
            <a:ext cx="15011400" cy="13811250"/>
          </a:xfrm>
          <a:prstGeom prst="rect">
            <a:avLst/>
          </a:prstGeom>
        </p:spPr>
        <p:txBody>
          <a:bodyPr/>
          <a:lstStyle>
            <a:lvl1pPr marL="838154" indent="-838154">
              <a:spcBef>
                <a:spcPts val="6750"/>
              </a:spcBef>
              <a:defRPr sz="6750"/>
            </a:lvl1pPr>
            <a:lvl2pPr marL="1676310" indent="-838154">
              <a:spcBef>
                <a:spcPts val="6750"/>
              </a:spcBef>
              <a:defRPr sz="6750"/>
            </a:lvl2pPr>
            <a:lvl3pPr marL="2514464" indent="-838154">
              <a:spcBef>
                <a:spcPts val="6750"/>
              </a:spcBef>
              <a:defRPr sz="6750"/>
            </a:lvl3pPr>
            <a:lvl4pPr marL="3352620" indent="-838154">
              <a:spcBef>
                <a:spcPts val="6750"/>
              </a:spcBef>
              <a:defRPr sz="6750"/>
            </a:lvl4pPr>
            <a:lvl5pPr marL="4190774" indent="-838154">
              <a:spcBef>
                <a:spcPts val="6750"/>
              </a:spcBef>
              <a:defRPr sz="675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8" name="Shape 68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75"/>
          <p:cNvSpPr>
            <a:spLocks noGrp="1"/>
          </p:cNvSpPr>
          <p:nvPr>
            <p:ph type="body" idx="1"/>
          </p:nvPr>
        </p:nvSpPr>
        <p:spPr>
          <a:xfrm>
            <a:off x="2533650" y="2667001"/>
            <a:ext cx="31508700" cy="15220950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6" name="Shape 76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Shape 83"/>
          <p:cNvSpPr>
            <a:spLocks noGrp="1"/>
          </p:cNvSpPr>
          <p:nvPr>
            <p:ph type="pic" sz="quarter" idx="13"/>
          </p:nvPr>
        </p:nvSpPr>
        <p:spPr>
          <a:xfrm>
            <a:off x="23641053" y="10572751"/>
            <a:ext cx="11106150" cy="832485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4" name="Shape 84"/>
          <p:cNvSpPr>
            <a:spLocks noGrp="1"/>
          </p:cNvSpPr>
          <p:nvPr>
            <p:ph type="pic" sz="quarter" idx="14"/>
          </p:nvPr>
        </p:nvSpPr>
        <p:spPr>
          <a:xfrm>
            <a:off x="23641053" y="1695451"/>
            <a:ext cx="11106150" cy="832485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5" name="Shape 85"/>
          <p:cNvSpPr>
            <a:spLocks noGrp="1"/>
          </p:cNvSpPr>
          <p:nvPr>
            <p:ph type="pic" idx="15"/>
          </p:nvPr>
        </p:nvSpPr>
        <p:spPr>
          <a:xfrm>
            <a:off x="1809750" y="1695451"/>
            <a:ext cx="21259800" cy="1720215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6" name="Shape 86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Shape 93"/>
          <p:cNvSpPr>
            <a:spLocks noGrp="1"/>
          </p:cNvSpPr>
          <p:nvPr>
            <p:ph type="body" sz="quarter" idx="13"/>
          </p:nvPr>
        </p:nvSpPr>
        <p:spPr>
          <a:xfrm>
            <a:off x="3581403" y="13430251"/>
            <a:ext cx="29432250" cy="979755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57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–Johnny Appleseed</a:t>
            </a:r>
          </a:p>
        </p:txBody>
      </p:sp>
      <p:sp>
        <p:nvSpPr>
          <p:cNvPr id="94" name="Shape 94"/>
          <p:cNvSpPr>
            <a:spLocks noGrp="1"/>
          </p:cNvSpPr>
          <p:nvPr>
            <p:ph type="body" sz="quarter" idx="14"/>
          </p:nvPr>
        </p:nvSpPr>
        <p:spPr>
          <a:xfrm>
            <a:off x="3581403" y="9083251"/>
            <a:ext cx="29432250" cy="1302601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</a:lvl1pPr>
          </a:lstStyle>
          <a:p>
            <a:r>
              <a:t>“Type a quote here.” </a:t>
            </a:r>
          </a:p>
        </p:txBody>
      </p:sp>
      <p:sp>
        <p:nvSpPr>
          <p:cNvPr id="95" name="Shape 95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Shape 102"/>
          <p:cNvSpPr>
            <a:spLocks noGrp="1"/>
          </p:cNvSpPr>
          <p:nvPr>
            <p:ph type="pic" idx="13"/>
          </p:nvPr>
        </p:nvSpPr>
        <p:spPr>
          <a:xfrm>
            <a:off x="0" y="2"/>
            <a:ext cx="36576000" cy="205740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03" name="Shape 103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hape 110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>
            <a:spLocks noGrp="1"/>
          </p:cNvSpPr>
          <p:nvPr>
            <p:ph type="title"/>
          </p:nvPr>
        </p:nvSpPr>
        <p:spPr>
          <a:xfrm>
            <a:off x="2533650" y="1428750"/>
            <a:ext cx="31508700" cy="3429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Shape 3"/>
          <p:cNvSpPr>
            <a:spLocks noGrp="1"/>
          </p:cNvSpPr>
          <p:nvPr>
            <p:ph type="body" idx="1"/>
          </p:nvPr>
        </p:nvSpPr>
        <p:spPr>
          <a:xfrm>
            <a:off x="2533650" y="4857753"/>
            <a:ext cx="31508700" cy="13811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hape 4"/>
          <p:cNvSpPr>
            <a:spLocks noGrp="1"/>
          </p:cNvSpPr>
          <p:nvPr>
            <p:ph type="sldNum" sz="quarter" idx="2"/>
          </p:nvPr>
        </p:nvSpPr>
        <p:spPr>
          <a:xfrm>
            <a:off x="17880931" y="19621502"/>
            <a:ext cx="795089" cy="65659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>
              <a:defRPr sz="36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ransition spd="med"/>
  <p:txStyles>
    <p:titleStyle>
      <a:lvl1pPr marL="0" marR="0" indent="0" algn="ctr" defTabSz="123818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8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1pPr>
      <a:lvl2pPr marL="0" marR="0" indent="342882" algn="ctr" defTabSz="123818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8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2pPr>
      <a:lvl3pPr marL="0" marR="0" indent="685764" algn="ctr" defTabSz="123818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8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3pPr>
      <a:lvl4pPr marL="0" marR="0" indent="1028644" algn="ctr" defTabSz="123818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8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4pPr>
      <a:lvl5pPr marL="0" marR="0" indent="1371526" algn="ctr" defTabSz="123818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8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5pPr>
      <a:lvl6pPr marL="0" marR="0" indent="1714408" algn="ctr" defTabSz="123818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8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6pPr>
      <a:lvl7pPr marL="0" marR="0" indent="2057290" algn="ctr" defTabSz="123818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8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7pPr>
      <a:lvl8pPr marL="0" marR="0" indent="2400170" algn="ctr" defTabSz="123818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8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8pPr>
      <a:lvl9pPr marL="0" marR="0" indent="2743052" algn="ctr" defTabSz="123818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8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9pPr>
    </p:titleStyle>
    <p:bodyStyle>
      <a:lvl1pPr marL="952448" marR="0" indent="-952448" algn="l" defTabSz="1238182" rtl="0" latinLnBrk="0">
        <a:lnSpc>
          <a:spcPct val="100000"/>
        </a:lnSpc>
        <a:spcBef>
          <a:spcPts val="8850"/>
        </a:spcBef>
        <a:spcAft>
          <a:spcPts val="0"/>
        </a:spcAft>
        <a:buClrTx/>
        <a:buSzPct val="75000"/>
        <a:buFontTx/>
        <a:buChar char="•"/>
        <a:tabLst/>
        <a:defRPr sz="7798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1pPr>
      <a:lvl2pPr marL="1904898" marR="0" indent="-952448" algn="l" defTabSz="1238182" rtl="0" latinLnBrk="0">
        <a:lnSpc>
          <a:spcPct val="100000"/>
        </a:lnSpc>
        <a:spcBef>
          <a:spcPts val="8850"/>
        </a:spcBef>
        <a:spcAft>
          <a:spcPts val="0"/>
        </a:spcAft>
        <a:buClrTx/>
        <a:buSzPct val="75000"/>
        <a:buFontTx/>
        <a:buChar char="•"/>
        <a:tabLst/>
        <a:defRPr sz="7798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2pPr>
      <a:lvl3pPr marL="2857346" marR="0" indent="-952448" algn="l" defTabSz="1238182" rtl="0" latinLnBrk="0">
        <a:lnSpc>
          <a:spcPct val="100000"/>
        </a:lnSpc>
        <a:spcBef>
          <a:spcPts val="8850"/>
        </a:spcBef>
        <a:spcAft>
          <a:spcPts val="0"/>
        </a:spcAft>
        <a:buClrTx/>
        <a:buSzPct val="75000"/>
        <a:buFontTx/>
        <a:buChar char="•"/>
        <a:tabLst/>
        <a:defRPr sz="7798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3pPr>
      <a:lvl4pPr marL="3809796" marR="0" indent="-952448" algn="l" defTabSz="1238182" rtl="0" latinLnBrk="0">
        <a:lnSpc>
          <a:spcPct val="100000"/>
        </a:lnSpc>
        <a:spcBef>
          <a:spcPts val="8850"/>
        </a:spcBef>
        <a:spcAft>
          <a:spcPts val="0"/>
        </a:spcAft>
        <a:buClrTx/>
        <a:buSzPct val="75000"/>
        <a:buFontTx/>
        <a:buChar char="•"/>
        <a:tabLst/>
        <a:defRPr sz="7798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4pPr>
      <a:lvl5pPr marL="4762244" marR="0" indent="-952448" algn="l" defTabSz="1238182" rtl="0" latinLnBrk="0">
        <a:lnSpc>
          <a:spcPct val="100000"/>
        </a:lnSpc>
        <a:spcBef>
          <a:spcPts val="8850"/>
        </a:spcBef>
        <a:spcAft>
          <a:spcPts val="0"/>
        </a:spcAft>
        <a:buClrTx/>
        <a:buSzPct val="75000"/>
        <a:buFontTx/>
        <a:buChar char="•"/>
        <a:tabLst/>
        <a:defRPr sz="7798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5pPr>
      <a:lvl6pPr marL="5714692" marR="0" indent="-952448" algn="l" defTabSz="1238182" rtl="0" latinLnBrk="0">
        <a:lnSpc>
          <a:spcPct val="100000"/>
        </a:lnSpc>
        <a:spcBef>
          <a:spcPts val="8850"/>
        </a:spcBef>
        <a:spcAft>
          <a:spcPts val="0"/>
        </a:spcAft>
        <a:buClrTx/>
        <a:buSzPct val="75000"/>
        <a:buFontTx/>
        <a:buChar char="•"/>
        <a:tabLst/>
        <a:defRPr sz="7798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6pPr>
      <a:lvl7pPr marL="6667142" marR="0" indent="-952448" algn="l" defTabSz="1238182" rtl="0" latinLnBrk="0">
        <a:lnSpc>
          <a:spcPct val="100000"/>
        </a:lnSpc>
        <a:spcBef>
          <a:spcPts val="8850"/>
        </a:spcBef>
        <a:spcAft>
          <a:spcPts val="0"/>
        </a:spcAft>
        <a:buClrTx/>
        <a:buSzPct val="75000"/>
        <a:buFontTx/>
        <a:buChar char="•"/>
        <a:tabLst/>
        <a:defRPr sz="7798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7pPr>
      <a:lvl8pPr marL="7619590" marR="0" indent="-952448" algn="l" defTabSz="1238182" rtl="0" latinLnBrk="0">
        <a:lnSpc>
          <a:spcPct val="100000"/>
        </a:lnSpc>
        <a:spcBef>
          <a:spcPts val="8850"/>
        </a:spcBef>
        <a:spcAft>
          <a:spcPts val="0"/>
        </a:spcAft>
        <a:buClrTx/>
        <a:buSzPct val="75000"/>
        <a:buFontTx/>
        <a:buChar char="•"/>
        <a:tabLst/>
        <a:defRPr sz="7798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8pPr>
      <a:lvl9pPr marL="8572040" marR="0" indent="-952448" algn="l" defTabSz="1238182" rtl="0" latinLnBrk="0">
        <a:lnSpc>
          <a:spcPct val="100000"/>
        </a:lnSpc>
        <a:spcBef>
          <a:spcPts val="8850"/>
        </a:spcBef>
        <a:spcAft>
          <a:spcPts val="0"/>
        </a:spcAft>
        <a:buClrTx/>
        <a:buSzPct val="75000"/>
        <a:buFontTx/>
        <a:buChar char="•"/>
        <a:tabLst/>
        <a:defRPr sz="7798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9pPr>
    </p:bodyStyle>
    <p:otherStyle>
      <a:lvl1pPr marL="0" marR="0" indent="0" algn="ctr" defTabSz="123818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1pPr>
      <a:lvl2pPr marL="0" marR="0" indent="342882" algn="ctr" defTabSz="123818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2pPr>
      <a:lvl3pPr marL="0" marR="0" indent="685764" algn="ctr" defTabSz="123818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3pPr>
      <a:lvl4pPr marL="0" marR="0" indent="1028644" algn="ctr" defTabSz="123818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4pPr>
      <a:lvl5pPr marL="0" marR="0" indent="1371526" algn="ctr" defTabSz="123818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5pPr>
      <a:lvl6pPr marL="0" marR="0" indent="1714408" algn="ctr" defTabSz="123818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6pPr>
      <a:lvl7pPr marL="0" marR="0" indent="2057290" algn="ctr" defTabSz="123818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7pPr>
      <a:lvl8pPr marL="0" marR="0" indent="2400170" algn="ctr" defTabSz="123818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8pPr>
      <a:lvl9pPr marL="0" marR="0" indent="2743052" algn="ctr" defTabSz="123818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Shape 126"/>
          <p:cNvSpPr/>
          <p:nvPr/>
        </p:nvSpPr>
        <p:spPr>
          <a:xfrm>
            <a:off x="952498" y="459786"/>
            <a:ext cx="15334326" cy="18158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76200" tIns="76200" rIns="76200" bIns="76200">
            <a:spAutoFit/>
          </a:bodyPr>
          <a:lstStyle>
            <a:lvl1pPr algn="l">
              <a:defRPr sz="7000">
                <a:latin typeface="Alright Sans"/>
                <a:ea typeface="Alright Sans"/>
                <a:cs typeface="Alright Sans"/>
                <a:sym typeface="Alright Sans"/>
              </a:defRPr>
            </a:lvl1pPr>
          </a:lstStyle>
          <a:p>
            <a:pPr>
              <a:defRPr sz="3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10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interface Challenge</a:t>
            </a:r>
          </a:p>
        </p:txBody>
      </p:sp>
      <p:sp>
        <p:nvSpPr>
          <p:cNvPr id="128" name="Shape 128"/>
          <p:cNvSpPr/>
          <p:nvPr/>
        </p:nvSpPr>
        <p:spPr>
          <a:xfrm>
            <a:off x="952500" y="18210515"/>
            <a:ext cx="34782668" cy="2"/>
          </a:xfrm>
          <a:prstGeom prst="line">
            <a:avLst/>
          </a:prstGeom>
          <a:ln w="76200">
            <a:solidFill>
              <a:schemeClr val="accent1">
                <a:satOff val="-3355"/>
                <a:lumOff val="26614"/>
              </a:schemeClr>
            </a:solidFill>
            <a:miter lim="400000"/>
          </a:ln>
        </p:spPr>
        <p:txBody>
          <a:bodyPr lIns="76200" tIns="76200" rIns="76200" bIns="76200" anchor="ctr"/>
          <a:lstStyle/>
          <a:p>
            <a:pPr>
              <a:defRPr sz="3200"/>
            </a:pPr>
            <a:endParaRPr sz="4800"/>
          </a:p>
        </p:txBody>
      </p:sp>
      <p:pic>
        <p:nvPicPr>
          <p:cNvPr id="129" name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50974" y="18489726"/>
            <a:ext cx="6321552" cy="1392336"/>
          </a:xfrm>
          <a:prstGeom prst="rect">
            <a:avLst/>
          </a:prstGeom>
          <a:ln w="12700">
            <a:miter lim="400000"/>
          </a:ln>
        </p:spPr>
      </p:pic>
      <p:sp>
        <p:nvSpPr>
          <p:cNvPr id="9" name="Shape 127"/>
          <p:cNvSpPr/>
          <p:nvPr/>
        </p:nvSpPr>
        <p:spPr>
          <a:xfrm flipV="1">
            <a:off x="952499" y="2203340"/>
            <a:ext cx="34782670" cy="38132"/>
          </a:xfrm>
          <a:prstGeom prst="line">
            <a:avLst/>
          </a:prstGeom>
          <a:ln w="152400">
            <a:solidFill>
              <a:schemeClr val="accent1">
                <a:satOff val="-3355"/>
                <a:lumOff val="26614"/>
              </a:schemeClr>
            </a:solidFill>
            <a:miter lim="400000"/>
          </a:ln>
        </p:spPr>
        <p:txBody>
          <a:bodyPr lIns="76200" tIns="76200" rIns="76200" bIns="76200" anchor="ctr"/>
          <a:lstStyle/>
          <a:p>
            <a:pPr>
              <a:defRPr sz="3200"/>
            </a:pPr>
            <a:endParaRPr sz="4800"/>
          </a:p>
        </p:txBody>
      </p:sp>
      <p:sp>
        <p:nvSpPr>
          <p:cNvPr id="10" name="Shape 131"/>
          <p:cNvSpPr/>
          <p:nvPr/>
        </p:nvSpPr>
        <p:spPr>
          <a:xfrm>
            <a:off x="952500" y="18489726"/>
            <a:ext cx="16008688" cy="13080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76200" tIns="76200" rIns="76200" bIns="76200">
            <a:spAutoFit/>
          </a:bodyPr>
          <a:lstStyle/>
          <a:p>
            <a:pPr algn="l">
              <a:defRPr sz="2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3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COMPLETE JAVA MASTERCLASS</a:t>
            </a:r>
          </a:p>
          <a:p>
            <a:pPr algn="l">
              <a:defRPr sz="3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45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Interface Challenge Part 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9DBB243-EF27-4345-872D-E76597E95619}"/>
              </a:ext>
            </a:extLst>
          </p:cNvPr>
          <p:cNvSpPr/>
          <p:nvPr/>
        </p:nvSpPr>
        <p:spPr>
          <a:xfrm>
            <a:off x="952501" y="4285904"/>
            <a:ext cx="34782670" cy="11880176"/>
          </a:xfrm>
          <a:prstGeom prst="rect">
            <a:avLst/>
          </a:prstGeom>
        </p:spPr>
        <p:txBody>
          <a:bodyPr wrap="square">
            <a:normAutofit lnSpcReduction="10000"/>
          </a:bodyPr>
          <a:lstStyle/>
          <a:p>
            <a:pPr algn="l">
              <a:spcAft>
                <a:spcPts val="5022"/>
              </a:spcAft>
            </a:pP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 this challenge, you'll be working on creating some mappable output.</a:t>
            </a:r>
          </a:p>
          <a:p>
            <a:pPr algn="l">
              <a:spcAft>
                <a:spcPts val="5022"/>
              </a:spcAft>
            </a:pP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 the past decade or so, maps have become part of so many applications.</a:t>
            </a:r>
          </a:p>
          <a:p>
            <a:pPr algn="l">
              <a:spcAft>
                <a:spcPts val="5022"/>
              </a:spcAft>
            </a:pP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Most things, when drawn on a map, fall into three categories, a point, a line, or a polygon or geometric shape. </a:t>
            </a:r>
          </a:p>
          <a:p>
            <a:pPr algn="l">
              <a:spcAft>
                <a:spcPts val="5022"/>
              </a:spcAft>
            </a:pP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result of your code will be text that could be printed out to a file for exchanging data with a mapping application.</a:t>
            </a:r>
          </a:p>
          <a:p>
            <a:pPr algn="l">
              <a:spcAft>
                <a:spcPts val="5022"/>
              </a:spcAft>
            </a:pP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One such file is a specially formatted file, called </a:t>
            </a:r>
            <a:r>
              <a:rPr lang="en-US" sz="64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geojson</a:t>
            </a: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which is a JSON file extended for geographical elements.</a:t>
            </a:r>
          </a:p>
          <a:p>
            <a:pPr algn="l">
              <a:spcAft>
                <a:spcPts val="5022"/>
              </a:spcAft>
            </a:pP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You don't have to know JSON or </a:t>
            </a:r>
            <a:r>
              <a:rPr lang="en-US" sz="64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geojson</a:t>
            </a: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to be successful at this challenge.</a:t>
            </a:r>
          </a:p>
        </p:txBody>
      </p:sp>
    </p:spTree>
    <p:extLst>
      <p:ext uri="{BB962C8B-B14F-4D97-AF65-F5344CB8AC3E}">
        <p14:creationId xmlns:p14="http://schemas.microsoft.com/office/powerpoint/2010/main" val="1741290334"/>
      </p:ext>
    </p:extLst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Shape 126"/>
          <p:cNvSpPr/>
          <p:nvPr/>
        </p:nvSpPr>
        <p:spPr>
          <a:xfrm>
            <a:off x="952498" y="459786"/>
            <a:ext cx="15334326" cy="18158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76200" tIns="76200" rIns="76200" bIns="76200">
            <a:spAutoFit/>
          </a:bodyPr>
          <a:lstStyle>
            <a:lvl1pPr algn="l">
              <a:defRPr sz="7000">
                <a:latin typeface="Alright Sans"/>
                <a:ea typeface="Alright Sans"/>
                <a:cs typeface="Alright Sans"/>
                <a:sym typeface="Alright Sans"/>
              </a:defRPr>
            </a:lvl1pPr>
          </a:lstStyle>
          <a:p>
            <a:pPr>
              <a:defRPr sz="3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10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interface Challenge</a:t>
            </a:r>
          </a:p>
        </p:txBody>
      </p:sp>
      <p:sp>
        <p:nvSpPr>
          <p:cNvPr id="128" name="Shape 128"/>
          <p:cNvSpPr/>
          <p:nvPr/>
        </p:nvSpPr>
        <p:spPr>
          <a:xfrm>
            <a:off x="952500" y="18210515"/>
            <a:ext cx="34782668" cy="2"/>
          </a:xfrm>
          <a:prstGeom prst="line">
            <a:avLst/>
          </a:prstGeom>
          <a:ln w="76200">
            <a:solidFill>
              <a:schemeClr val="accent1">
                <a:satOff val="-3355"/>
                <a:lumOff val="26614"/>
              </a:schemeClr>
            </a:solidFill>
            <a:miter lim="400000"/>
          </a:ln>
        </p:spPr>
        <p:txBody>
          <a:bodyPr lIns="76200" tIns="76200" rIns="76200" bIns="76200" anchor="ctr"/>
          <a:lstStyle/>
          <a:p>
            <a:pPr>
              <a:defRPr sz="3200"/>
            </a:pPr>
            <a:endParaRPr sz="4800"/>
          </a:p>
        </p:txBody>
      </p:sp>
      <p:pic>
        <p:nvPicPr>
          <p:cNvPr id="129" name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50974" y="18489726"/>
            <a:ext cx="6321552" cy="1392336"/>
          </a:xfrm>
          <a:prstGeom prst="rect">
            <a:avLst/>
          </a:prstGeom>
          <a:ln w="12700">
            <a:miter lim="400000"/>
          </a:ln>
        </p:spPr>
      </p:pic>
      <p:sp>
        <p:nvSpPr>
          <p:cNvPr id="9" name="Shape 127"/>
          <p:cNvSpPr/>
          <p:nvPr/>
        </p:nvSpPr>
        <p:spPr>
          <a:xfrm flipV="1">
            <a:off x="952499" y="2203340"/>
            <a:ext cx="34782670" cy="38132"/>
          </a:xfrm>
          <a:prstGeom prst="line">
            <a:avLst/>
          </a:prstGeom>
          <a:ln w="152400">
            <a:solidFill>
              <a:schemeClr val="accent1">
                <a:satOff val="-3355"/>
                <a:lumOff val="26614"/>
              </a:schemeClr>
            </a:solidFill>
            <a:miter lim="400000"/>
          </a:ln>
        </p:spPr>
        <p:txBody>
          <a:bodyPr lIns="76200" tIns="76200" rIns="76200" bIns="76200" anchor="ctr"/>
          <a:lstStyle/>
          <a:p>
            <a:pPr>
              <a:defRPr sz="3200"/>
            </a:pPr>
            <a:endParaRPr sz="4800"/>
          </a:p>
        </p:txBody>
      </p:sp>
      <p:sp>
        <p:nvSpPr>
          <p:cNvPr id="10" name="Shape 131"/>
          <p:cNvSpPr/>
          <p:nvPr/>
        </p:nvSpPr>
        <p:spPr>
          <a:xfrm>
            <a:off x="952500" y="18489726"/>
            <a:ext cx="16008688" cy="13080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76200" tIns="76200" rIns="76200" bIns="76200">
            <a:spAutoFit/>
          </a:bodyPr>
          <a:lstStyle/>
          <a:p>
            <a:pPr algn="l">
              <a:defRPr sz="2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3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COMPLETE JAVA MASTERCLASS</a:t>
            </a:r>
          </a:p>
          <a:p>
            <a:pPr algn="l">
              <a:defRPr sz="3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45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Interface Challenge Part 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9DBB243-EF27-4345-872D-E76597E95619}"/>
              </a:ext>
            </a:extLst>
          </p:cNvPr>
          <p:cNvSpPr/>
          <p:nvPr/>
        </p:nvSpPr>
        <p:spPr>
          <a:xfrm>
            <a:off x="952501" y="4285904"/>
            <a:ext cx="34782670" cy="11880176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l">
              <a:spcAft>
                <a:spcPts val="5022"/>
              </a:spcAft>
            </a:pP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For this challenge, you'll simply create a String for every feature that will be mapped.</a:t>
            </a:r>
          </a:p>
          <a:p>
            <a:pPr algn="l">
              <a:spcAft>
                <a:spcPts val="5022"/>
              </a:spcAft>
            </a:pP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An example of such a String is shown on this slide.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736E35F-220E-BE09-AAB5-A704A9B075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498" y="7670034"/>
            <a:ext cx="32936286" cy="1141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6987982"/>
      </p:ext>
    </p:extLst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Shape 126"/>
          <p:cNvSpPr/>
          <p:nvPr/>
        </p:nvSpPr>
        <p:spPr>
          <a:xfrm>
            <a:off x="952498" y="459786"/>
            <a:ext cx="15334326" cy="18158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76200" tIns="76200" rIns="76200" bIns="76200">
            <a:spAutoFit/>
          </a:bodyPr>
          <a:lstStyle>
            <a:lvl1pPr algn="l">
              <a:defRPr sz="7000">
                <a:latin typeface="Alright Sans"/>
                <a:ea typeface="Alright Sans"/>
                <a:cs typeface="Alright Sans"/>
                <a:sym typeface="Alright Sans"/>
              </a:defRPr>
            </a:lvl1pPr>
          </a:lstStyle>
          <a:p>
            <a:pPr>
              <a:defRPr sz="3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10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interface Challenge</a:t>
            </a:r>
          </a:p>
        </p:txBody>
      </p:sp>
      <p:sp>
        <p:nvSpPr>
          <p:cNvPr id="128" name="Shape 128"/>
          <p:cNvSpPr/>
          <p:nvPr/>
        </p:nvSpPr>
        <p:spPr>
          <a:xfrm>
            <a:off x="952500" y="18210515"/>
            <a:ext cx="34782668" cy="2"/>
          </a:xfrm>
          <a:prstGeom prst="line">
            <a:avLst/>
          </a:prstGeom>
          <a:ln w="76200">
            <a:solidFill>
              <a:schemeClr val="accent1">
                <a:satOff val="-3355"/>
                <a:lumOff val="26614"/>
              </a:schemeClr>
            </a:solidFill>
            <a:miter lim="400000"/>
          </a:ln>
        </p:spPr>
        <p:txBody>
          <a:bodyPr lIns="76200" tIns="76200" rIns="76200" bIns="76200" anchor="ctr"/>
          <a:lstStyle/>
          <a:p>
            <a:pPr>
              <a:defRPr sz="3200"/>
            </a:pPr>
            <a:endParaRPr sz="4800"/>
          </a:p>
        </p:txBody>
      </p:sp>
      <p:pic>
        <p:nvPicPr>
          <p:cNvPr id="129" name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50974" y="18489726"/>
            <a:ext cx="6321552" cy="1392336"/>
          </a:xfrm>
          <a:prstGeom prst="rect">
            <a:avLst/>
          </a:prstGeom>
          <a:ln w="12700">
            <a:miter lim="400000"/>
          </a:ln>
        </p:spPr>
      </p:pic>
      <p:sp>
        <p:nvSpPr>
          <p:cNvPr id="9" name="Shape 127"/>
          <p:cNvSpPr/>
          <p:nvPr/>
        </p:nvSpPr>
        <p:spPr>
          <a:xfrm flipV="1">
            <a:off x="952499" y="2203340"/>
            <a:ext cx="34782670" cy="38132"/>
          </a:xfrm>
          <a:prstGeom prst="line">
            <a:avLst/>
          </a:prstGeom>
          <a:ln w="152400">
            <a:solidFill>
              <a:schemeClr val="accent1">
                <a:satOff val="-3355"/>
                <a:lumOff val="26614"/>
              </a:schemeClr>
            </a:solidFill>
            <a:miter lim="400000"/>
          </a:ln>
        </p:spPr>
        <p:txBody>
          <a:bodyPr lIns="76200" tIns="76200" rIns="76200" bIns="76200" anchor="ctr"/>
          <a:lstStyle/>
          <a:p>
            <a:pPr>
              <a:defRPr sz="3200"/>
            </a:pPr>
            <a:endParaRPr sz="4800"/>
          </a:p>
        </p:txBody>
      </p:sp>
      <p:sp>
        <p:nvSpPr>
          <p:cNvPr id="10" name="Shape 131"/>
          <p:cNvSpPr/>
          <p:nvPr/>
        </p:nvSpPr>
        <p:spPr>
          <a:xfrm>
            <a:off x="952500" y="18489726"/>
            <a:ext cx="16008688" cy="13080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76200" tIns="76200" rIns="76200" bIns="76200">
            <a:spAutoFit/>
          </a:bodyPr>
          <a:lstStyle/>
          <a:p>
            <a:pPr algn="l">
              <a:defRPr sz="2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3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COMPLETE JAVA MASTERCLASS</a:t>
            </a:r>
          </a:p>
          <a:p>
            <a:pPr algn="l">
              <a:defRPr sz="3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45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Interface Challenge Part 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9DBB243-EF27-4345-872D-E76597E95619}"/>
              </a:ext>
            </a:extLst>
          </p:cNvPr>
          <p:cNvSpPr/>
          <p:nvPr/>
        </p:nvSpPr>
        <p:spPr>
          <a:xfrm>
            <a:off x="952501" y="4285904"/>
            <a:ext cx="34782670" cy="11880176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l">
              <a:spcAft>
                <a:spcPts val="5022"/>
              </a:spcAft>
            </a:pP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First, create a </a:t>
            </a:r>
            <a:r>
              <a:rPr lang="en-US" sz="6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Mappable</a:t>
            </a: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Interface.</a:t>
            </a:r>
          </a:p>
          <a:p>
            <a:pPr algn="l">
              <a:spcAft>
                <a:spcPts val="5022"/>
              </a:spcAft>
            </a:pP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interface should </a:t>
            </a:r>
            <a:r>
              <a:rPr lang="en-US" sz="6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force classes to implement three methods</a:t>
            </a: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</a:p>
          <a:p>
            <a:pPr marL="857250" indent="-857250" algn="l">
              <a:spcAft>
                <a:spcPts val="5022"/>
              </a:spcAft>
              <a:buFont typeface="Arial" panose="020B0604020202020204" pitchFamily="34" charset="0"/>
              <a:buChar char="•"/>
            </a:pP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One method should return a </a:t>
            </a:r>
            <a:r>
              <a:rPr lang="en-US" sz="6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label</a:t>
            </a: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(how the item will be described on the map).</a:t>
            </a:r>
          </a:p>
          <a:p>
            <a:pPr marL="857250" indent="-857250" algn="l">
              <a:spcAft>
                <a:spcPts val="5022"/>
              </a:spcAft>
              <a:buFont typeface="Arial" panose="020B0604020202020204" pitchFamily="34" charset="0"/>
              <a:buChar char="•"/>
            </a:pP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One should return a </a:t>
            </a:r>
            <a:r>
              <a:rPr lang="en-US" sz="6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geometry type</a:t>
            </a: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(POINT or LINE) which is what the type will look like on the map.</a:t>
            </a:r>
          </a:p>
          <a:p>
            <a:pPr marL="857250" indent="-857250" algn="l">
              <a:spcAft>
                <a:spcPts val="5022"/>
              </a:spcAft>
              <a:buFont typeface="Arial" panose="020B0604020202020204" pitchFamily="34" charset="0"/>
              <a:buChar char="•"/>
            </a:pP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last should return an </a:t>
            </a:r>
            <a:r>
              <a:rPr lang="en-US" sz="6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icon type</a:t>
            </a: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(sometimes called a map marker).</a:t>
            </a:r>
          </a:p>
        </p:txBody>
      </p:sp>
    </p:spTree>
    <p:extLst>
      <p:ext uri="{BB962C8B-B14F-4D97-AF65-F5344CB8AC3E}">
        <p14:creationId xmlns:p14="http://schemas.microsoft.com/office/powerpoint/2010/main" val="802701013"/>
      </p:ext>
    </p:extLst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Shape 126"/>
          <p:cNvSpPr/>
          <p:nvPr/>
        </p:nvSpPr>
        <p:spPr>
          <a:xfrm>
            <a:off x="952498" y="459786"/>
            <a:ext cx="15334326" cy="18158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76200" tIns="76200" rIns="76200" bIns="76200">
            <a:spAutoFit/>
          </a:bodyPr>
          <a:lstStyle>
            <a:lvl1pPr algn="l">
              <a:defRPr sz="7000">
                <a:latin typeface="Alright Sans"/>
                <a:ea typeface="Alright Sans"/>
                <a:cs typeface="Alright Sans"/>
                <a:sym typeface="Alright Sans"/>
              </a:defRPr>
            </a:lvl1pPr>
          </a:lstStyle>
          <a:p>
            <a:pPr>
              <a:defRPr sz="3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10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interface Challenge</a:t>
            </a:r>
          </a:p>
        </p:txBody>
      </p:sp>
      <p:sp>
        <p:nvSpPr>
          <p:cNvPr id="128" name="Shape 128"/>
          <p:cNvSpPr/>
          <p:nvPr/>
        </p:nvSpPr>
        <p:spPr>
          <a:xfrm>
            <a:off x="952500" y="18210515"/>
            <a:ext cx="34782668" cy="2"/>
          </a:xfrm>
          <a:prstGeom prst="line">
            <a:avLst/>
          </a:prstGeom>
          <a:ln w="76200">
            <a:solidFill>
              <a:schemeClr val="accent1">
                <a:satOff val="-3355"/>
                <a:lumOff val="26614"/>
              </a:schemeClr>
            </a:solidFill>
            <a:miter lim="400000"/>
          </a:ln>
        </p:spPr>
        <p:txBody>
          <a:bodyPr lIns="76200" tIns="76200" rIns="76200" bIns="76200" anchor="ctr"/>
          <a:lstStyle/>
          <a:p>
            <a:pPr>
              <a:defRPr sz="3200"/>
            </a:pPr>
            <a:endParaRPr sz="4800"/>
          </a:p>
        </p:txBody>
      </p:sp>
      <p:pic>
        <p:nvPicPr>
          <p:cNvPr id="129" name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50974" y="18489726"/>
            <a:ext cx="6321552" cy="1392336"/>
          </a:xfrm>
          <a:prstGeom prst="rect">
            <a:avLst/>
          </a:prstGeom>
          <a:ln w="12700">
            <a:miter lim="400000"/>
          </a:ln>
        </p:spPr>
      </p:pic>
      <p:sp>
        <p:nvSpPr>
          <p:cNvPr id="9" name="Shape 127"/>
          <p:cNvSpPr/>
          <p:nvPr/>
        </p:nvSpPr>
        <p:spPr>
          <a:xfrm flipV="1">
            <a:off x="952499" y="2203340"/>
            <a:ext cx="34782670" cy="38132"/>
          </a:xfrm>
          <a:prstGeom prst="line">
            <a:avLst/>
          </a:prstGeom>
          <a:ln w="152400">
            <a:solidFill>
              <a:schemeClr val="accent1">
                <a:satOff val="-3355"/>
                <a:lumOff val="26614"/>
              </a:schemeClr>
            </a:solidFill>
            <a:miter lim="400000"/>
          </a:ln>
        </p:spPr>
        <p:txBody>
          <a:bodyPr lIns="76200" tIns="76200" rIns="76200" bIns="76200" anchor="ctr"/>
          <a:lstStyle/>
          <a:p>
            <a:pPr>
              <a:defRPr sz="3200"/>
            </a:pPr>
            <a:endParaRPr sz="4800"/>
          </a:p>
        </p:txBody>
      </p:sp>
      <p:sp>
        <p:nvSpPr>
          <p:cNvPr id="10" name="Shape 131"/>
          <p:cNvSpPr/>
          <p:nvPr/>
        </p:nvSpPr>
        <p:spPr>
          <a:xfrm>
            <a:off x="952500" y="18489726"/>
            <a:ext cx="16008688" cy="13080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76200" tIns="76200" rIns="76200" bIns="76200">
            <a:spAutoFit/>
          </a:bodyPr>
          <a:lstStyle/>
          <a:p>
            <a:pPr algn="l">
              <a:defRPr sz="2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3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COMPLETE JAVA MASTERCLASS</a:t>
            </a:r>
          </a:p>
          <a:p>
            <a:pPr algn="l">
              <a:defRPr sz="3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45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Interface Challenge Part 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9DBB243-EF27-4345-872D-E76597E95619}"/>
              </a:ext>
            </a:extLst>
          </p:cNvPr>
          <p:cNvSpPr/>
          <p:nvPr/>
        </p:nvSpPr>
        <p:spPr>
          <a:xfrm>
            <a:off x="952501" y="4285904"/>
            <a:ext cx="34782670" cy="11880176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l">
              <a:spcAft>
                <a:spcPts val="5022"/>
              </a:spcAft>
            </a:pP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 addition to the three methods described, the interface should also include:</a:t>
            </a:r>
          </a:p>
          <a:p>
            <a:pPr marL="857250" indent="-857250" algn="l">
              <a:spcAft>
                <a:spcPts val="5022"/>
              </a:spcAft>
              <a:buFont typeface="Arial" panose="020B0604020202020204" pitchFamily="34" charset="0"/>
              <a:buChar char="•"/>
            </a:pP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 constant String value called JSON_PROPERTY, which is equal to: "properties":{%s}.  A hint here, using a text block will help maintain quotation marks in your output.</a:t>
            </a:r>
          </a:p>
          <a:p>
            <a:pPr marL="857250" indent="-857250" algn="l">
              <a:spcAft>
                <a:spcPts val="5022"/>
              </a:spcAft>
              <a:buFont typeface="Arial" panose="020B0604020202020204" pitchFamily="34" charset="0"/>
              <a:buChar char="•"/>
            </a:pP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Include a default method called </a:t>
            </a:r>
            <a:r>
              <a:rPr lang="en-US" sz="64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toJSON</a:t>
            </a: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() that prints out the type, label, and marker.  I'll show examples shortly.</a:t>
            </a:r>
          </a:p>
          <a:p>
            <a:pPr marL="857250" indent="-857250" algn="l">
              <a:spcAft>
                <a:spcPts val="5022"/>
              </a:spcAft>
              <a:buFont typeface="Arial" panose="020B0604020202020204" pitchFamily="34" charset="0"/>
              <a:buChar char="•"/>
            </a:pP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 </a:t>
            </a:r>
            <a:r>
              <a:rPr lang="en-US" sz="6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static method</a:t>
            </a: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that takes a Mappable instance as an argument. This method should print out the properties for each mappable type, including those mentioned above, but also any other fields on the business classes.</a:t>
            </a:r>
          </a:p>
        </p:txBody>
      </p:sp>
    </p:spTree>
    <p:extLst>
      <p:ext uri="{BB962C8B-B14F-4D97-AF65-F5344CB8AC3E}">
        <p14:creationId xmlns:p14="http://schemas.microsoft.com/office/powerpoint/2010/main" val="369932530"/>
      </p:ext>
    </p:extLst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Shape 126"/>
          <p:cNvSpPr/>
          <p:nvPr/>
        </p:nvSpPr>
        <p:spPr>
          <a:xfrm>
            <a:off x="952498" y="459786"/>
            <a:ext cx="15334326" cy="18158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76200" tIns="76200" rIns="76200" bIns="76200">
            <a:spAutoFit/>
          </a:bodyPr>
          <a:lstStyle>
            <a:lvl1pPr algn="l">
              <a:defRPr sz="7000">
                <a:latin typeface="Alright Sans"/>
                <a:ea typeface="Alright Sans"/>
                <a:cs typeface="Alright Sans"/>
                <a:sym typeface="Alright Sans"/>
              </a:defRPr>
            </a:lvl1pPr>
          </a:lstStyle>
          <a:p>
            <a:pPr>
              <a:defRPr sz="3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10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interface Challenge</a:t>
            </a:r>
          </a:p>
        </p:txBody>
      </p:sp>
      <p:sp>
        <p:nvSpPr>
          <p:cNvPr id="128" name="Shape 128"/>
          <p:cNvSpPr/>
          <p:nvPr/>
        </p:nvSpPr>
        <p:spPr>
          <a:xfrm>
            <a:off x="952500" y="18210515"/>
            <a:ext cx="34782668" cy="2"/>
          </a:xfrm>
          <a:prstGeom prst="line">
            <a:avLst/>
          </a:prstGeom>
          <a:ln w="76200">
            <a:solidFill>
              <a:schemeClr val="accent1">
                <a:satOff val="-3355"/>
                <a:lumOff val="26614"/>
              </a:schemeClr>
            </a:solidFill>
            <a:miter lim="400000"/>
          </a:ln>
        </p:spPr>
        <p:txBody>
          <a:bodyPr lIns="76200" tIns="76200" rIns="76200" bIns="76200" anchor="ctr"/>
          <a:lstStyle/>
          <a:p>
            <a:pPr>
              <a:defRPr sz="3200"/>
            </a:pPr>
            <a:endParaRPr sz="4800"/>
          </a:p>
        </p:txBody>
      </p:sp>
      <p:pic>
        <p:nvPicPr>
          <p:cNvPr id="129" name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50974" y="18489726"/>
            <a:ext cx="6321552" cy="1392336"/>
          </a:xfrm>
          <a:prstGeom prst="rect">
            <a:avLst/>
          </a:prstGeom>
          <a:ln w="12700">
            <a:miter lim="400000"/>
          </a:ln>
        </p:spPr>
      </p:pic>
      <p:sp>
        <p:nvSpPr>
          <p:cNvPr id="9" name="Shape 127"/>
          <p:cNvSpPr/>
          <p:nvPr/>
        </p:nvSpPr>
        <p:spPr>
          <a:xfrm flipV="1">
            <a:off x="952499" y="2203340"/>
            <a:ext cx="34782670" cy="38132"/>
          </a:xfrm>
          <a:prstGeom prst="line">
            <a:avLst/>
          </a:prstGeom>
          <a:ln w="152400">
            <a:solidFill>
              <a:schemeClr val="accent1">
                <a:satOff val="-3355"/>
                <a:lumOff val="26614"/>
              </a:schemeClr>
            </a:solidFill>
            <a:miter lim="400000"/>
          </a:ln>
        </p:spPr>
        <p:txBody>
          <a:bodyPr lIns="76200" tIns="76200" rIns="76200" bIns="76200" anchor="ctr"/>
          <a:lstStyle/>
          <a:p>
            <a:pPr>
              <a:defRPr sz="3200"/>
            </a:pPr>
            <a:endParaRPr sz="4800"/>
          </a:p>
        </p:txBody>
      </p:sp>
      <p:sp>
        <p:nvSpPr>
          <p:cNvPr id="10" name="Shape 131"/>
          <p:cNvSpPr/>
          <p:nvPr/>
        </p:nvSpPr>
        <p:spPr>
          <a:xfrm>
            <a:off x="952500" y="18489726"/>
            <a:ext cx="16008688" cy="13080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76200" tIns="76200" rIns="76200" bIns="76200">
            <a:spAutoFit/>
          </a:bodyPr>
          <a:lstStyle/>
          <a:p>
            <a:pPr algn="l">
              <a:defRPr sz="2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3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COMPLETE JAVA MASTERCLASS</a:t>
            </a:r>
          </a:p>
          <a:p>
            <a:pPr algn="l">
              <a:defRPr sz="3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45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Interface Challenge Part 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9DBB243-EF27-4345-872D-E76597E95619}"/>
              </a:ext>
            </a:extLst>
          </p:cNvPr>
          <p:cNvSpPr/>
          <p:nvPr/>
        </p:nvSpPr>
        <p:spPr>
          <a:xfrm>
            <a:off x="952501" y="4285904"/>
            <a:ext cx="34782670" cy="11880176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l">
              <a:spcAft>
                <a:spcPts val="5022"/>
              </a:spcAft>
            </a:pP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You'll also want to create two classes that implement this interface, a </a:t>
            </a:r>
            <a:r>
              <a:rPr lang="en-US" sz="6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Building</a:t>
            </a: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and </a:t>
            </a:r>
            <a:r>
              <a:rPr lang="en-US" sz="6400" b="1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UtilityLine</a:t>
            </a: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</a:p>
          <a:p>
            <a:pPr marL="857250" indent="-857250" algn="l">
              <a:spcAft>
                <a:spcPts val="5022"/>
              </a:spcAft>
              <a:buFont typeface="Arial" panose="020B0604020202020204" pitchFamily="34" charset="0"/>
              <a:buChar char="•"/>
            </a:pP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One class, in my case the Building, should have a geometry type of POINT, </a:t>
            </a:r>
            <a:r>
              <a:rPr lang="en-US" sz="6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and one </a:t>
            </a: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class should have a geometry type of Line.  The </a:t>
            </a:r>
            <a:r>
              <a:rPr lang="en-US" sz="64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UtilityLine</a:t>
            </a: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class will be my example for a class that will be a LINE on a map.</a:t>
            </a:r>
          </a:p>
          <a:p>
            <a:pPr marL="857250" indent="-857250" algn="l">
              <a:spcAft>
                <a:spcPts val="5022"/>
              </a:spcAft>
              <a:buFont typeface="Arial" panose="020B0604020202020204" pitchFamily="34" charset="0"/>
              <a:buChar char="•"/>
            </a:pP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Building will be shown on a city map, as a point with the icon and label specified and the Utility Line will be a line on the map. </a:t>
            </a:r>
          </a:p>
        </p:txBody>
      </p:sp>
    </p:spTree>
    <p:extLst>
      <p:ext uri="{BB962C8B-B14F-4D97-AF65-F5344CB8AC3E}">
        <p14:creationId xmlns:p14="http://schemas.microsoft.com/office/powerpoint/2010/main" val="1281926039"/>
      </p:ext>
    </p:extLst>
  </p:cSld>
  <p:clrMapOvr>
    <a:masterClrMapping/>
  </p:clrMapOvr>
  <p:transition spd="slow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Shape 126"/>
          <p:cNvSpPr/>
          <p:nvPr/>
        </p:nvSpPr>
        <p:spPr>
          <a:xfrm>
            <a:off x="952498" y="459786"/>
            <a:ext cx="15334326" cy="18158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76200" tIns="76200" rIns="76200" bIns="76200">
            <a:spAutoFit/>
          </a:bodyPr>
          <a:lstStyle>
            <a:lvl1pPr algn="l">
              <a:defRPr sz="7000">
                <a:latin typeface="Alright Sans"/>
                <a:ea typeface="Alright Sans"/>
                <a:cs typeface="Alright Sans"/>
                <a:sym typeface="Alright Sans"/>
              </a:defRPr>
            </a:lvl1pPr>
          </a:lstStyle>
          <a:p>
            <a:pPr>
              <a:defRPr sz="3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10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interface Challenge</a:t>
            </a:r>
          </a:p>
        </p:txBody>
      </p:sp>
      <p:sp>
        <p:nvSpPr>
          <p:cNvPr id="128" name="Shape 128"/>
          <p:cNvSpPr/>
          <p:nvPr/>
        </p:nvSpPr>
        <p:spPr>
          <a:xfrm>
            <a:off x="952500" y="18210515"/>
            <a:ext cx="34782668" cy="2"/>
          </a:xfrm>
          <a:prstGeom prst="line">
            <a:avLst/>
          </a:prstGeom>
          <a:ln w="76200">
            <a:solidFill>
              <a:schemeClr val="accent1">
                <a:satOff val="-3355"/>
                <a:lumOff val="26614"/>
              </a:schemeClr>
            </a:solidFill>
            <a:miter lim="400000"/>
          </a:ln>
        </p:spPr>
        <p:txBody>
          <a:bodyPr lIns="76200" tIns="76200" rIns="76200" bIns="76200" anchor="ctr"/>
          <a:lstStyle/>
          <a:p>
            <a:pPr>
              <a:defRPr sz="3200"/>
            </a:pPr>
            <a:endParaRPr sz="4800"/>
          </a:p>
        </p:txBody>
      </p:sp>
      <p:pic>
        <p:nvPicPr>
          <p:cNvPr id="129" name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50974" y="18489726"/>
            <a:ext cx="6321552" cy="1392336"/>
          </a:xfrm>
          <a:prstGeom prst="rect">
            <a:avLst/>
          </a:prstGeom>
          <a:ln w="12700">
            <a:miter lim="400000"/>
          </a:ln>
        </p:spPr>
      </p:pic>
      <p:sp>
        <p:nvSpPr>
          <p:cNvPr id="9" name="Shape 127"/>
          <p:cNvSpPr/>
          <p:nvPr/>
        </p:nvSpPr>
        <p:spPr>
          <a:xfrm flipV="1">
            <a:off x="952499" y="2203340"/>
            <a:ext cx="34782670" cy="38132"/>
          </a:xfrm>
          <a:prstGeom prst="line">
            <a:avLst/>
          </a:prstGeom>
          <a:ln w="152400">
            <a:solidFill>
              <a:schemeClr val="accent1">
                <a:satOff val="-3355"/>
                <a:lumOff val="26614"/>
              </a:schemeClr>
            </a:solidFill>
            <a:miter lim="400000"/>
          </a:ln>
        </p:spPr>
        <p:txBody>
          <a:bodyPr lIns="76200" tIns="76200" rIns="76200" bIns="76200" anchor="ctr"/>
          <a:lstStyle/>
          <a:p>
            <a:pPr>
              <a:defRPr sz="3200"/>
            </a:pPr>
            <a:endParaRPr sz="4800"/>
          </a:p>
        </p:txBody>
      </p:sp>
      <p:sp>
        <p:nvSpPr>
          <p:cNvPr id="10" name="Shape 131"/>
          <p:cNvSpPr/>
          <p:nvPr/>
        </p:nvSpPr>
        <p:spPr>
          <a:xfrm>
            <a:off x="952500" y="18489726"/>
            <a:ext cx="16008688" cy="13080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76200" tIns="76200" rIns="76200" bIns="76200">
            <a:spAutoFit/>
          </a:bodyPr>
          <a:lstStyle/>
          <a:p>
            <a:pPr algn="l">
              <a:defRPr sz="2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3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COMPLETE JAVA MASTERCLASS</a:t>
            </a:r>
          </a:p>
          <a:p>
            <a:pPr algn="l">
              <a:defRPr sz="3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45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Interface Challenge Part 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9DBB243-EF27-4345-872D-E76597E95619}"/>
              </a:ext>
            </a:extLst>
          </p:cNvPr>
          <p:cNvSpPr/>
          <p:nvPr/>
        </p:nvSpPr>
        <p:spPr>
          <a:xfrm>
            <a:off x="952501" y="2929812"/>
            <a:ext cx="34782670" cy="1466772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l">
              <a:spcAft>
                <a:spcPts val="5022"/>
              </a:spcAft>
            </a:pP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Your final output should look something like I show on this slide.</a:t>
            </a:r>
          </a:p>
          <a:p>
            <a:pPr algn="l">
              <a:spcAft>
                <a:spcPts val="5022"/>
              </a:spcAft>
            </a:pP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You should output the geometry type, the icon information, and the label.</a:t>
            </a:r>
          </a:p>
          <a:p>
            <a:pPr algn="l">
              <a:spcAft>
                <a:spcPts val="5022"/>
              </a:spcAft>
            </a:pP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Here is an example for a building, including type, label, and marker, but also the building name and usage, which are fields on Building.</a:t>
            </a:r>
          </a:p>
          <a:p>
            <a:pPr algn="l">
              <a:spcAft>
                <a:spcPts val="5022"/>
              </a:spcAft>
            </a:pPr>
            <a:endParaRPr lang="en-US" sz="6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l">
              <a:spcAft>
                <a:spcPts val="5022"/>
              </a:spcAft>
            </a:pP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And here is an example for a fiber optic Utility line, so a LINE, a green dotted line, would get drawn for a fiber optic cable on College Street.</a:t>
            </a:r>
          </a:p>
          <a:p>
            <a:pPr algn="l">
              <a:spcAft>
                <a:spcPts val="5022"/>
              </a:spcAft>
            </a:pPr>
            <a:endParaRPr lang="en-US" sz="6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l">
              <a:spcAft>
                <a:spcPts val="5022"/>
              </a:spcAft>
            </a:pP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You can see that the properties are a comma delimited list in curly braces with the property or field name in quotes, then a colon, followed by the property value or field value, and that's also in double quotes.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2ED83F-1279-F87D-C8B6-F707F18A51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498" y="8991234"/>
            <a:ext cx="35026343" cy="55246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ECFD4B2-5443-A430-C730-D0131B3E3D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498" y="13213630"/>
            <a:ext cx="35026343" cy="573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983682"/>
      </p:ext>
    </p:extLst>
  </p:cSld>
  <p:clrMapOvr>
    <a:masterClrMapping/>
  </p:clrMapOvr>
  <p:transition spd="slow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Diagram&#10;&#10;Description automatically generated">
            <a:extLst>
              <a:ext uri="{FF2B5EF4-FFF2-40B4-BE49-F238E27FC236}">
                <a16:creationId xmlns:a16="http://schemas.microsoft.com/office/drawing/2014/main" id="{626BDC30-EF7B-E386-663E-28B88ECD71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53339" y="1717200"/>
            <a:ext cx="21768100" cy="17083047"/>
          </a:xfrm>
          <a:prstGeom prst="rect">
            <a:avLst/>
          </a:prstGeom>
        </p:spPr>
      </p:pic>
      <p:sp>
        <p:nvSpPr>
          <p:cNvPr id="126" name="Shape 126"/>
          <p:cNvSpPr/>
          <p:nvPr/>
        </p:nvSpPr>
        <p:spPr>
          <a:xfrm>
            <a:off x="952498" y="459786"/>
            <a:ext cx="12097864" cy="18158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76200" tIns="76200" rIns="76200" bIns="76200">
            <a:spAutoFit/>
          </a:bodyPr>
          <a:lstStyle>
            <a:lvl1pPr algn="l">
              <a:defRPr sz="7000">
                <a:latin typeface="Alright Sans"/>
                <a:ea typeface="Alright Sans"/>
                <a:cs typeface="Alright Sans"/>
                <a:sym typeface="Alright Sans"/>
              </a:defRPr>
            </a:lvl1pPr>
          </a:lstStyle>
          <a:p>
            <a:pPr>
              <a:defRPr sz="3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10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Class Diagram</a:t>
            </a:r>
          </a:p>
        </p:txBody>
      </p:sp>
      <p:sp>
        <p:nvSpPr>
          <p:cNvPr id="128" name="Shape 128"/>
          <p:cNvSpPr/>
          <p:nvPr/>
        </p:nvSpPr>
        <p:spPr>
          <a:xfrm>
            <a:off x="952500" y="18210515"/>
            <a:ext cx="34782668" cy="2"/>
          </a:xfrm>
          <a:prstGeom prst="line">
            <a:avLst/>
          </a:prstGeom>
          <a:ln w="76200">
            <a:solidFill>
              <a:schemeClr val="accent1">
                <a:satOff val="-3355"/>
                <a:lumOff val="26614"/>
              </a:schemeClr>
            </a:solidFill>
            <a:miter lim="400000"/>
          </a:ln>
        </p:spPr>
        <p:txBody>
          <a:bodyPr lIns="76200" tIns="76200" rIns="76200" bIns="76200" anchor="ctr"/>
          <a:lstStyle/>
          <a:p>
            <a:pPr>
              <a:defRPr sz="3200"/>
            </a:pPr>
            <a:endParaRPr sz="4800"/>
          </a:p>
        </p:txBody>
      </p:sp>
      <p:pic>
        <p:nvPicPr>
          <p:cNvPr id="129" name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50974" y="18489726"/>
            <a:ext cx="6321552" cy="1392336"/>
          </a:xfrm>
          <a:prstGeom prst="rect">
            <a:avLst/>
          </a:prstGeom>
          <a:ln w="12700">
            <a:miter lim="400000"/>
          </a:ln>
        </p:spPr>
      </p:pic>
      <p:sp>
        <p:nvSpPr>
          <p:cNvPr id="9" name="Shape 127"/>
          <p:cNvSpPr/>
          <p:nvPr/>
        </p:nvSpPr>
        <p:spPr>
          <a:xfrm flipV="1">
            <a:off x="952499" y="2203340"/>
            <a:ext cx="34782670" cy="38132"/>
          </a:xfrm>
          <a:prstGeom prst="line">
            <a:avLst/>
          </a:prstGeom>
          <a:ln w="152400">
            <a:solidFill>
              <a:schemeClr val="accent1">
                <a:satOff val="-3355"/>
                <a:lumOff val="26614"/>
              </a:schemeClr>
            </a:solidFill>
            <a:miter lim="400000"/>
          </a:ln>
        </p:spPr>
        <p:txBody>
          <a:bodyPr lIns="76200" tIns="76200" rIns="76200" bIns="76200" anchor="ctr"/>
          <a:lstStyle/>
          <a:p>
            <a:pPr>
              <a:defRPr sz="3200"/>
            </a:pPr>
            <a:endParaRPr sz="4800"/>
          </a:p>
        </p:txBody>
      </p:sp>
      <p:sp>
        <p:nvSpPr>
          <p:cNvPr id="10" name="Shape 131"/>
          <p:cNvSpPr/>
          <p:nvPr/>
        </p:nvSpPr>
        <p:spPr>
          <a:xfrm>
            <a:off x="952500" y="18489726"/>
            <a:ext cx="16008688" cy="13080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76200" tIns="76200" rIns="76200" bIns="76200">
            <a:spAutoFit/>
          </a:bodyPr>
          <a:lstStyle/>
          <a:p>
            <a:pPr algn="l">
              <a:defRPr sz="2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3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COMPLETE JAVA MASTERCLASS</a:t>
            </a:r>
          </a:p>
          <a:p>
            <a:pPr algn="l">
              <a:defRPr sz="3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45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Interface Challenge Part 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9DBB243-EF27-4345-872D-E76597E95619}"/>
              </a:ext>
            </a:extLst>
          </p:cNvPr>
          <p:cNvSpPr/>
          <p:nvPr/>
        </p:nvSpPr>
        <p:spPr>
          <a:xfrm>
            <a:off x="952502" y="2554877"/>
            <a:ext cx="13698472" cy="15338297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l">
              <a:spcAft>
                <a:spcPts val="5022"/>
              </a:spcAft>
            </a:pP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On the Mappable interface, I have one constant, JSON_PROPERTY, and 3 abstract methods, </a:t>
            </a:r>
            <a:r>
              <a:rPr lang="en-US" sz="6400" dirty="0" err="1">
                <a:latin typeface="Roboto Mono" panose="00000009000000000000" pitchFamily="49" charset="0"/>
                <a:ea typeface="Roboto Mono" panose="00000009000000000000" pitchFamily="49" charset="0"/>
                <a:cs typeface="Open Sans" panose="020B0606030504020204" pitchFamily="34" charset="0"/>
              </a:rPr>
              <a:t>getLabel</a:t>
            </a: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en-US" sz="6400" dirty="0" err="1">
                <a:latin typeface="Roboto Mono" panose="00000009000000000000" pitchFamily="49" charset="0"/>
                <a:ea typeface="Roboto Mono" panose="00000009000000000000" pitchFamily="49" charset="0"/>
                <a:cs typeface="Open Sans" panose="020B0606030504020204" pitchFamily="34" charset="0"/>
              </a:rPr>
              <a:t>getMarker</a:t>
            </a: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and </a:t>
            </a:r>
            <a:r>
              <a:rPr lang="en-US" sz="6400" dirty="0" err="1">
                <a:latin typeface="Roboto Mono" panose="00000009000000000000" pitchFamily="49" charset="0"/>
                <a:ea typeface="Roboto Mono" panose="00000009000000000000" pitchFamily="49" charset="0"/>
                <a:cs typeface="Open Sans" panose="020B0606030504020204" pitchFamily="34" charset="0"/>
              </a:rPr>
              <a:t>getShape</a:t>
            </a: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</a:p>
          <a:p>
            <a:pPr algn="l">
              <a:spcAft>
                <a:spcPts val="5022"/>
              </a:spcAft>
            </a:pP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I'm also including a default method, </a:t>
            </a:r>
            <a:r>
              <a:rPr lang="en-US" sz="64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toJSON</a:t>
            </a: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which is going to return a String.</a:t>
            </a:r>
          </a:p>
          <a:p>
            <a:pPr algn="l">
              <a:spcAft>
                <a:spcPts val="5022"/>
              </a:spcAft>
            </a:pP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</a:t>
            </a:r>
            <a:r>
              <a:rPr lang="en-US" sz="6400" dirty="0" err="1">
                <a:latin typeface="Roboto Mono" panose="00000009000000000000" pitchFamily="49" charset="0"/>
                <a:ea typeface="Roboto Mono" panose="00000009000000000000" pitchFamily="49" charset="0"/>
                <a:cs typeface="Open Sans" panose="020B0606030504020204" pitchFamily="34" charset="0"/>
              </a:rPr>
              <a:t>getShape</a:t>
            </a: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method returns an </a:t>
            </a:r>
            <a:r>
              <a:rPr lang="en-US" sz="64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enum</a:t>
            </a: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type, Geometry, and the valid types on this </a:t>
            </a:r>
            <a:r>
              <a:rPr lang="en-US" sz="64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enum</a:t>
            </a: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are LINE, POINT, and POLYGON.</a:t>
            </a:r>
          </a:p>
          <a:p>
            <a:pPr algn="l">
              <a:spcAft>
                <a:spcPts val="5022"/>
              </a:spcAft>
            </a:pP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Use </a:t>
            </a:r>
            <a:r>
              <a:rPr lang="en-US" sz="64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enums</a:t>
            </a: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for Color, and the </a:t>
            </a:r>
            <a:r>
              <a:rPr lang="en-US" sz="64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PointMarker</a:t>
            </a: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and </a:t>
            </a:r>
            <a:r>
              <a:rPr lang="en-US" sz="64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LineMarker</a:t>
            </a: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types.</a:t>
            </a:r>
          </a:p>
        </p:txBody>
      </p:sp>
    </p:spTree>
    <p:extLst>
      <p:ext uri="{BB962C8B-B14F-4D97-AF65-F5344CB8AC3E}">
        <p14:creationId xmlns:p14="http://schemas.microsoft.com/office/powerpoint/2010/main" val="4254939282"/>
      </p:ext>
    </p:extLst>
  </p:cSld>
  <p:clrMapOvr>
    <a:masterClrMapping/>
  </p:clrMapOvr>
  <p:transition spd="slow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iagram&#10;&#10;Description automatically generated">
            <a:extLst>
              <a:ext uri="{FF2B5EF4-FFF2-40B4-BE49-F238E27FC236}">
                <a16:creationId xmlns:a16="http://schemas.microsoft.com/office/drawing/2014/main" id="{0D1407BF-C446-A0DB-1E63-363626CB41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53339" y="1717200"/>
            <a:ext cx="21768100" cy="17083047"/>
          </a:xfrm>
          <a:prstGeom prst="rect">
            <a:avLst/>
          </a:prstGeom>
        </p:spPr>
      </p:pic>
      <p:sp>
        <p:nvSpPr>
          <p:cNvPr id="126" name="Shape 126"/>
          <p:cNvSpPr/>
          <p:nvPr/>
        </p:nvSpPr>
        <p:spPr>
          <a:xfrm>
            <a:off x="952498" y="459786"/>
            <a:ext cx="12097864" cy="18158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76200" tIns="76200" rIns="76200" bIns="76200">
            <a:spAutoFit/>
          </a:bodyPr>
          <a:lstStyle>
            <a:lvl1pPr algn="l">
              <a:defRPr sz="7000">
                <a:latin typeface="Alright Sans"/>
                <a:ea typeface="Alright Sans"/>
                <a:cs typeface="Alright Sans"/>
                <a:sym typeface="Alright Sans"/>
              </a:defRPr>
            </a:lvl1pPr>
          </a:lstStyle>
          <a:p>
            <a:pPr>
              <a:defRPr sz="3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10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Class Diagram</a:t>
            </a:r>
          </a:p>
        </p:txBody>
      </p:sp>
      <p:sp>
        <p:nvSpPr>
          <p:cNvPr id="128" name="Shape 128"/>
          <p:cNvSpPr/>
          <p:nvPr/>
        </p:nvSpPr>
        <p:spPr>
          <a:xfrm>
            <a:off x="952500" y="18210515"/>
            <a:ext cx="34782668" cy="2"/>
          </a:xfrm>
          <a:prstGeom prst="line">
            <a:avLst/>
          </a:prstGeom>
          <a:ln w="76200">
            <a:solidFill>
              <a:schemeClr val="accent1">
                <a:satOff val="-3355"/>
                <a:lumOff val="26614"/>
              </a:schemeClr>
            </a:solidFill>
            <a:miter lim="400000"/>
          </a:ln>
        </p:spPr>
        <p:txBody>
          <a:bodyPr lIns="76200" tIns="76200" rIns="76200" bIns="76200" anchor="ctr"/>
          <a:lstStyle/>
          <a:p>
            <a:pPr>
              <a:defRPr sz="3200"/>
            </a:pPr>
            <a:endParaRPr sz="4800"/>
          </a:p>
        </p:txBody>
      </p:sp>
      <p:pic>
        <p:nvPicPr>
          <p:cNvPr id="129" name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50974" y="18489726"/>
            <a:ext cx="6321552" cy="1392336"/>
          </a:xfrm>
          <a:prstGeom prst="rect">
            <a:avLst/>
          </a:prstGeom>
          <a:ln w="12700">
            <a:miter lim="400000"/>
          </a:ln>
        </p:spPr>
      </p:pic>
      <p:sp>
        <p:nvSpPr>
          <p:cNvPr id="9" name="Shape 127"/>
          <p:cNvSpPr/>
          <p:nvPr/>
        </p:nvSpPr>
        <p:spPr>
          <a:xfrm flipV="1">
            <a:off x="952499" y="2203340"/>
            <a:ext cx="34782670" cy="38132"/>
          </a:xfrm>
          <a:prstGeom prst="line">
            <a:avLst/>
          </a:prstGeom>
          <a:ln w="152400">
            <a:solidFill>
              <a:schemeClr val="accent1">
                <a:satOff val="-3355"/>
                <a:lumOff val="26614"/>
              </a:schemeClr>
            </a:solidFill>
            <a:miter lim="400000"/>
          </a:ln>
        </p:spPr>
        <p:txBody>
          <a:bodyPr lIns="76200" tIns="76200" rIns="76200" bIns="76200" anchor="ctr"/>
          <a:lstStyle/>
          <a:p>
            <a:pPr>
              <a:defRPr sz="3200"/>
            </a:pPr>
            <a:endParaRPr sz="4800"/>
          </a:p>
        </p:txBody>
      </p:sp>
      <p:sp>
        <p:nvSpPr>
          <p:cNvPr id="10" name="Shape 131"/>
          <p:cNvSpPr/>
          <p:nvPr/>
        </p:nvSpPr>
        <p:spPr>
          <a:xfrm>
            <a:off x="952500" y="18489726"/>
            <a:ext cx="16008688" cy="13080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76200" tIns="76200" rIns="76200" bIns="76200">
            <a:spAutoFit/>
          </a:bodyPr>
          <a:lstStyle/>
          <a:p>
            <a:pPr algn="l">
              <a:defRPr sz="2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3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COMPLETE JAVA MASTERCLASS</a:t>
            </a:r>
          </a:p>
          <a:p>
            <a:pPr algn="l">
              <a:defRPr sz="3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45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Interface Challenge Part 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F76AE40-9464-DCD2-A39C-B4F84DA651CE}"/>
              </a:ext>
            </a:extLst>
          </p:cNvPr>
          <p:cNvSpPr/>
          <p:nvPr/>
        </p:nvSpPr>
        <p:spPr>
          <a:xfrm>
            <a:off x="952502" y="2554877"/>
            <a:ext cx="13698472" cy="15338297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l">
              <a:spcAft>
                <a:spcPts val="5022"/>
              </a:spcAft>
            </a:pP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Two business classes to be mapped, Building and </a:t>
            </a:r>
            <a:r>
              <a:rPr lang="en-US" sz="64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UtilityLine</a:t>
            </a: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</a:p>
          <a:p>
            <a:pPr algn="l">
              <a:spcAft>
                <a:spcPts val="5022"/>
              </a:spcAft>
            </a:pP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For Building, Use an </a:t>
            </a:r>
            <a:r>
              <a:rPr lang="en-US" sz="64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enum</a:t>
            </a: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to describe the building type.</a:t>
            </a:r>
          </a:p>
          <a:p>
            <a:pPr algn="l">
              <a:spcAft>
                <a:spcPts val="5022"/>
              </a:spcAft>
            </a:pP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For the </a:t>
            </a:r>
            <a:r>
              <a:rPr lang="en-US" sz="64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UtilityLine</a:t>
            </a: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use </a:t>
            </a:r>
            <a:r>
              <a:rPr lang="en-US" sz="64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enum</a:t>
            </a: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to describe the type of utility it is.</a:t>
            </a:r>
          </a:p>
        </p:txBody>
      </p:sp>
    </p:spTree>
    <p:extLst>
      <p:ext uri="{BB962C8B-B14F-4D97-AF65-F5344CB8AC3E}">
        <p14:creationId xmlns:p14="http://schemas.microsoft.com/office/powerpoint/2010/main" val="4138862072"/>
      </p:ext>
    </p:extLst>
  </p:cSld>
  <p:clrMapOvr>
    <a:masterClrMapping/>
  </p:clrMapOvr>
  <p:transition spd="slow"/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5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5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991</TotalTime>
  <Words>757</Words>
  <Application>Microsoft Office PowerPoint</Application>
  <PresentationFormat>Custom</PresentationFormat>
  <Paragraphs>58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Helvetica</vt:lpstr>
      <vt:lpstr>Helvetica Light</vt:lpstr>
      <vt:lpstr>Helvetica Neue</vt:lpstr>
      <vt:lpstr>Open Sans</vt:lpstr>
      <vt:lpstr>Roboto Mono</vt:lpstr>
      <vt:lpstr>White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Gigabyte</dc:creator>
  <cp:lastModifiedBy>Pratheevraj Kalyanasundaram</cp:lastModifiedBy>
  <cp:revision>168</cp:revision>
  <dcterms:modified xsi:type="dcterms:W3CDTF">2025-08-31T14:58:34Z</dcterms:modified>
</cp:coreProperties>
</file>